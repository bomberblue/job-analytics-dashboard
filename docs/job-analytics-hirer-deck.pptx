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presProps" Target="presProps.xml"/><Relationship Id="rId1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1 - Business case, budget 2:00] [~15s] Singapore Jobs Analytics: Before You Post - a decision tool for the hiring side of the market. Built on 1.04 million postings, March 2023 to May 2024, on Streamlit and DuckDB.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 The hirer sets three things - pay range, minimum years, position level - with no reliable benchmark. Today they decide from what they paid last time, or a colleague's guess - no reference point. That costs real money: 30% of postings end up under-filled, 17.8% get reposted. The question this tool answers: before I post, is my offer competitive, and what response should I realistically expect?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[~25s] What a posting SAYS - pay, level, years, dates - is fixed the moment it goes live; we have all 1.04 million rows of it. What it GOT - views, applications, reposts - only accumulates afterward, and only a subset can measure it reliably. Same dataset, different evidentiary limits - that split shapes everything from here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2 - Process &amp; data handling, budget 3:00] [~15s] Cleaning removed just 0.38% of rows - ghost rows and synthetic test IDs - and zero cells were imputed, because inventing a salary would contaminate the thing we're measuring. Salary coverage: 99.0%.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[~25s] Two edge cases, same rule. $1-to-$1 postings - 1,804 of them - are placeholder junk, so they're nulled. $150,000-a-month postings - 269 of them - might be real, might be a typo, so they're flagged and kept, filterable in one line depending on the question being asked.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 Four fixes that change the answer, not just the format. Dates: parsed, reformatted, and compared - any mismatch refuses the conversion. Text: invisible zero-width characters split 184 titles in two. Duplicates: 16,990 of 21,344 same-day groups had different view counts - real listings, so flagged, not dropped. Categories: exploding the JSON array instead of keeping just the first value preserved 723,000 category assignments.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 The finding that shaped the product. Median views collapse from 51 in June 2023 to just 2 in July - and a July posting has had ten extra months to accumulate views, yet has fewer. That only makes sense if counters freeze at day zero after a crawl boundary. Those postings aren't low-response - they're unmeasured. That's why the response cohort has to end before the boundary.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[~25s] The funnel: 1,044,587 cleaned, 1,009,709 deduplicated - that's Layer 1, the whole market. Then 118,749 with complete counters, 96,028 thirty-day listings for repost risk, and 78,942 first-cycle listings for views and applications - that's Layer 2. Each metric uses the smallest cohort that's still defensible.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[~20s] One pipeline: CSV, clean, enrich, DuckDB, Streamlit, four boards. Notebook and dashboard import the same tested pipeline code, so they can't drift apart. DuckDB is what makes a million-row aggregation happen inside a click.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3 - Dashboard walkthrough, budget 3:45] [~20s script + ~85s live demo = ~105s block] That's the foundation - now the live app. Five tabs, five decisions in one hirer workflow: salary benchmark, experience norms, applicant response, reach vs conversion, repost risk. SWITCH TO LIVE DEMO HERE - budget about 85 seconds. Prioritize the Repost Risk tab since slide 12 is its payoff; move quickly through the other four.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[~40s] Low pay costs twice. Entry roles draw a median of 2 applications and a 43.3% under-fill rate; by executive, that's 10 applications and 12.6%. Worth saying out loud: median is 3, but the mean is 9.6 - quoting averages would set expectations three times too high. And entry roles get about half the views of exec roles - 53 versus 116 - and convert at about a third the rate - 3.2% versus 8.9%. Two problems compounding, not one. Based on 78,430 postings with a valid pay band, Mar-Jun 2023.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 the payoff slide, do not rush] Aggregate data lies here. Market-wide, reposting falls from 18.7% to 16.2% as the experience ask rises past 3 years - reads as 'raise the bar, get fewer reposts.' True number, wrong advice: it's comparing $3,000 roles to $5,400 roles - pay is doing the work. Split by pay band instead: at Entry, under $3k, asking 3-plus years actually raises reposting by 5.3 points, 19.4% to 24.6%. Every other band goes the other way - Mid roughly flat, Senior down 2.4 points, Exec down 2.9. This isn't noise - Breslow-Day p is about 6 times ten-to-the-minus-12, odds ratio 1.36, 95% CI 1.23 to 1.51, on 95,289 postings with a valid pay band. That's why the board never shows the unstratified view.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 4 - Challenges &amp; learnings, budget 1:00 for slides 13+14] [~35s] Three fast lessons. Earning the right to use 78,942 rows instead of a million was the hard part - that's the difference between a number and a trustworthy one. Two features got built and deleted along the way - skill_count and competitiveness_score - a weak proxy is worse than no proxy. And nothing here claims causation or that a role actually filled - one open thread: high-volume employers see markedly less engagement per posting, rho about minus 0.53.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[~25s] So: three checks before you post. Is the pay competitive against comparable roles, not the whole market? Is the experience ask normal? And what response should you realistically expect, from fully observed postings only? The clearest risk zone here is low pay paired with a high experience ask. One board, one vacancy, three checks before you post.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3">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page3">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59200"/>
            <a:ext cx="10972080" cy="1084680"/>
          </a:xfrm>
          <a:prstGeom prst="rect">
            <a:avLst/>
          </a:prstGeom>
          <a:noFill/>
          <a:ln w="0">
            <a:noFill/>
          </a:ln>
        </p:spPr>
        <p:txBody>
          <a:bodyPr lIns="0" tIns="0" rIns="0" bIns="0" anchor="ctr">
            <a:spAutoFit/>
          </a:bodyPr>
          <a:p>
            <a:pPr indent="0" algn="ctr">
              <a:buNone/>
            </a:pPr>
            <a:endParaRPr lang="en-SG" sz="4400" b="0" u="none" strike="noStrike">
              <a:solidFill>
                <a:srgbClr val="000000"/>
              </a:solidFill>
              <a:effectLst/>
              <a:uFillTx/>
              <a:latin typeface="Arial"/>
            </a:endParaRPr>
          </a:p>
        </p:txBody>
      </p:sp>
      <p:sp>
        <p:nvSpPr>
          <p:cNvPr id="5" name="PlaceHolder 2"/>
          <p:cNvSpPr>
            <a:spLocks noGrp="1"/>
          </p:cNvSpPr>
          <p:nvPr>
            <p:ph type="subTitle"/>
          </p:nvPr>
        </p:nvSpPr>
        <p:spPr>
          <a:xfrm>
            <a:off x="609480" y="1520280"/>
            <a:ext cx="10972080" cy="3768480"/>
          </a:xfrm>
          <a:prstGeom prst="rect">
            <a:avLst/>
          </a:prstGeom>
          <a:noFill/>
          <a:ln w="0">
            <a:noFill/>
          </a:ln>
        </p:spPr>
        <p:txBody>
          <a:bodyPr lIns="0" tIns="0" rIns="0" bIns="0" anchor="ctr">
            <a:spAutoFit/>
          </a:bodyPr>
          <a:p>
            <a:pPr indent="0" algn="ctr">
              <a:buNone/>
            </a:pPr>
            <a:endParaRPr lang="en-SG" sz="3200" b="0" u="none" strike="noStrike">
              <a:solidFill>
                <a:srgbClr val="000000"/>
              </a:solidFill>
              <a:effectLst/>
              <a:uFillTx/>
              <a:latin typeface="Arial"/>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lvl1pPr indent="0" algn="ctr">
              <a:buNone/>
              <a:defRPr lang="en-SG" sz="4400" b="0" u="none" strike="noStrike">
                <a:solidFill>
                  <a:srgbClr val="000000"/>
                </a:solidFill>
                <a:effectLst/>
                <a:uFillTx/>
                <a:latin typeface="Arial"/>
              </a:defRPr>
            </a:lvl1pPr>
          </a:lstStyle>
          <a:p>
            <a:pPr indent="0" algn="ctr">
              <a:buNone/>
            </a:pPr>
            <a:r>
              <a:rPr lang="en-SG" sz="4400" b="0" u="none" strike="noStrike">
                <a:solidFill>
                  <a:srgbClr val="000000"/>
                </a:solidFill>
                <a:effectLst/>
                <a:uFillTx/>
                <a:latin typeface="Arial"/>
              </a:rPr>
              <a:t>Click to edit the title text format</a:t>
            </a:r>
            <a:endParaRPr lang="en-SG" sz="4400" b="0" u="none" strike="noStrike">
              <a:solidFill>
                <a:srgbClr val="000000"/>
              </a:solidFill>
              <a:effectLst/>
              <a:uFillTx/>
              <a:latin typeface="Arial"/>
            </a:endParaRPr>
          </a:p>
        </p:txBody>
      </p:sp>
      <p:sp>
        <p:nvSpPr>
          <p:cNvPr id="3" name="PlaceHolder 2"/>
          <p:cNvSpPr>
            <a:spLocks noGrp="1"/>
          </p:cNvSpPr>
          <p:nvPr>
            <p:ph type="body"/>
          </p:nvPr>
        </p:nvSpPr>
        <p:spPr>
          <a:xfrm>
            <a:off x="609480" y="1520280"/>
            <a:ext cx="10972080" cy="37684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SG"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SG"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SG"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SG"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SG"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SG"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SG"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SG" sz="3200" b="0" u="none" strike="noStrike">
                <a:solidFill>
                  <a:srgbClr val="000000"/>
                </a:solidFill>
                <a:effectLst/>
                <a:uFillTx/>
                <a:latin typeface="Arial"/>
              </a:rPr>
              <a:t>Click to edit the outline text format</a:t>
            </a:r>
            <a:endParaRPr lang="en-SG"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SG" sz="2800" b="0" u="none" strike="noStrike">
                <a:solidFill>
                  <a:srgbClr val="000000"/>
                </a:solidFill>
                <a:effectLst/>
                <a:uFillTx/>
                <a:latin typeface="Arial"/>
              </a:rPr>
              <a:t>Second Outline Level</a:t>
            </a:r>
            <a:endParaRPr lang="en-SG"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SG" sz="2400" b="0" u="none" strike="noStrike">
                <a:solidFill>
                  <a:srgbClr val="000000"/>
                </a:solidFill>
                <a:effectLst/>
                <a:uFillTx/>
                <a:latin typeface="Arial"/>
              </a:rPr>
              <a:t>Third Outline Level</a:t>
            </a:r>
            <a:endParaRPr lang="en-SG"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SG" sz="2000" b="0" u="none" strike="noStrike">
                <a:solidFill>
                  <a:srgbClr val="000000"/>
                </a:solidFill>
                <a:effectLst/>
                <a:uFillTx/>
                <a:latin typeface="Arial"/>
              </a:rPr>
              <a:t>Fourth Outline Level</a:t>
            </a:r>
            <a:endParaRPr lang="en-SG"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SG" sz="2000" b="0" u="none" strike="noStrike">
                <a:solidFill>
                  <a:srgbClr val="000000"/>
                </a:solidFill>
                <a:effectLst/>
                <a:uFillTx/>
                <a:latin typeface="Arial"/>
              </a:rPr>
              <a:t>Fifth Outline Level</a:t>
            </a:r>
            <a:endParaRPr lang="en-SG"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SG" sz="2000" b="0" u="none" strike="noStrike">
                <a:solidFill>
                  <a:srgbClr val="000000"/>
                </a:solidFill>
                <a:effectLst/>
                <a:uFillTx/>
                <a:latin typeface="Arial"/>
              </a:rPr>
              <a:t>Sixth Outline Level</a:t>
            </a:r>
            <a:endParaRPr lang="en-SG"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SG" sz="2000" b="0" u="none" strike="noStrike">
                <a:solidFill>
                  <a:srgbClr val="000000"/>
                </a:solidFill>
                <a:effectLst/>
                <a:uFillTx/>
                <a:latin typeface="Arial"/>
              </a:rPr>
              <a:t>Seventh Outline Level</a:t>
            </a:r>
            <a:endParaRPr lang="en-SG"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SG" sz="2400" b="0" u="none" strike="noStrike">
              <a:solidFill>
                <a:srgbClr val="000000"/>
              </a:solidFill>
              <a:effectLst/>
              <a:uFillTx/>
              <a:latin typeface="Times New Roman"/>
            </a:endParaRPr>
          </a:p>
        </p:txBody>
      </p:sp>
      <p:sp>
        <p:nvSpPr>
          <p:cNvPr id="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SG" sz="2400" b="0" u="none" strike="noStrike">
              <a:solidFill>
                <a:srgbClr val="000000"/>
              </a:solidFill>
              <a:effectLst/>
              <a:uFillTx/>
              <a:latin typeface="Times New Roman"/>
            </a:endParaRPr>
          </a:p>
        </p:txBody>
      </p:sp>
      <p:sp>
        <p:nvSpPr>
          <p:cNvPr id="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000000"/>
          </a:solidFill>
          <a:ln w="0">
            <a:noFill/>
          </a:ln>
        </p:spPr>
        <p:txBody>
          <a:bodyPr lIns="0" tIns="0" rIns="0" bIns="0" anchor="t">
            <a:noAutofit/>
          </a:bodyPr>
          <a:p>
            <a:endParaRPr lang="en-SG" sz="2400" b="0" u="none" strike="noStrike">
              <a:solidFill>
                <a:srgbClr val="FFFFFF"/>
              </a:solidFill>
              <a:effectLst/>
              <a:uFillTx/>
              <a:latin typeface="Times New Roman"/>
            </a:endParaRPr>
          </a:p>
        </p:txBody>
      </p:sp>
      <p:pic>
        <p:nvPicPr>
          <p:cNvPr id="9" name=""/>
          <p:cNvPicPr/>
          <p:nvPr/>
        </p:nvPicPr>
        <p:blipFill>
          <a:blip r:embed="rId1"/>
          <a:stretch/>
        </p:blipFill>
        <p:spPr>
          <a:xfrm>
            <a:off x="-2880" y="-2880"/>
            <a:ext cx="12197880" cy="6863760"/>
          </a:xfrm>
          <a:prstGeom prst="rect">
            <a:avLst/>
          </a:prstGeom>
          <a:noFill/>
          <a:ln w="0">
            <a:noFill/>
          </a:ln>
        </p:spPr>
      </p:pic>
      <p:sp>
        <p:nvSpPr>
          <p:cNvPr id="10" name=""/>
          <p:cNvSpPr txBox="1"/>
          <p:nvPr/>
        </p:nvSpPr>
        <p:spPr>
          <a:xfrm>
            <a:off x="4784400" y="2032920"/>
            <a:ext cx="3667320" cy="215280"/>
          </a:xfrm>
          <a:prstGeom prst="rect">
            <a:avLst/>
          </a:prstGeom>
          <a:noFill/>
          <a:ln w="0">
            <a:noFill/>
          </a:ln>
        </p:spPr>
        <p:txBody>
          <a:bodyPr wrap="none" lIns="0" tIns="0" rIns="0" bIns="0" anchor="t">
            <a:spAutoFit/>
          </a:bodyPr>
          <a:p>
            <a:pPr/>
            <a:r>
              <a:rPr lang="en-SG" sz="1200" b="1" u="none" strike="noStrike">
                <a:solidFill>
                  <a:srgbClr val="FF6B1A"/>
                </a:solidFill>
                <a:effectLst/>
                <a:uFillTx/>
                <a:latin typeface="Outfit-Thin_Semi"/>
                <a:ea typeface="Outfit-Thin_Semi"/>
              </a:rPr>
              <a:t>S I N G A P O R E   J O B S   A N A LY T I C S</a:t>
            </a:r>
            <a:endParaRPr lang="en-SG" sz="1200" b="0" u="none" strike="noStrike">
              <a:solidFill>
                <a:srgbClr val="000000"/>
              </a:solidFill>
              <a:effectLst/>
              <a:uFillTx/>
              <a:latin typeface="Times New Roman"/>
            </a:endParaRPr>
          </a:p>
        </p:txBody>
      </p:sp>
      <p:sp>
        <p:nvSpPr>
          <p:cNvPr id="11" name=""/>
          <p:cNvSpPr txBox="1"/>
          <p:nvPr/>
        </p:nvSpPr>
        <p:spPr>
          <a:xfrm>
            <a:off x="2691360" y="2194560"/>
            <a:ext cx="8778960" cy="1402560"/>
          </a:xfrm>
          <a:prstGeom prst="rect">
            <a:avLst/>
          </a:prstGeom>
          <a:noFill/>
          <a:ln w="0">
            <a:noFill/>
          </a:ln>
        </p:spPr>
        <p:txBody>
          <a:bodyPr wrap="none" lIns="0" tIns="0" rIns="0" bIns="0" anchor="t">
            <a:spAutoFit/>
          </a:bodyPr>
          <a:p>
            <a:pPr/>
            <a:r>
              <a:rPr lang="en-SG" sz="7830" b="1" u="none" strike="noStrike">
                <a:solidFill>
                  <a:srgbClr val="FFFFFF"/>
                </a:solidFill>
                <a:effectLst/>
                <a:uFillTx/>
                <a:latin typeface="Outfit-Thin_"/>
                <a:ea typeface="Outfit-Thin_"/>
              </a:rPr>
              <a:t>Before You Post</a:t>
            </a:r>
            <a:endParaRPr lang="en-SG" sz="7830" b="0" u="none" strike="noStrike">
              <a:solidFill>
                <a:srgbClr val="000000"/>
              </a:solidFill>
              <a:effectLst/>
              <a:uFillTx/>
              <a:latin typeface="Times New Roman"/>
            </a:endParaRPr>
          </a:p>
        </p:txBody>
      </p:sp>
      <p:sp>
        <p:nvSpPr>
          <p:cNvPr id="12" name=""/>
          <p:cNvSpPr/>
          <p:nvPr/>
        </p:nvSpPr>
        <p:spPr>
          <a:xfrm>
            <a:off x="3862080" y="4519440"/>
            <a:ext cx="1200600" cy="295560"/>
          </a:xfrm>
          <a:custGeom>
            <a:avLst/>
            <a:gdLst/>
            <a:ahLst/>
            <a:rect l="0" t="0" r="r" b="b"/>
            <a:pathLst>
              <a:path w="3335" h="821">
                <a:moveTo>
                  <a:pt x="0" y="411"/>
                </a:moveTo>
                <a:cubicBezTo>
                  <a:pt x="0" y="384"/>
                  <a:pt x="3" y="357"/>
                  <a:pt x="8" y="331"/>
                </a:cubicBezTo>
                <a:cubicBezTo>
                  <a:pt x="13" y="305"/>
                  <a:pt x="21" y="279"/>
                  <a:pt x="32" y="254"/>
                </a:cubicBezTo>
                <a:cubicBezTo>
                  <a:pt x="42" y="229"/>
                  <a:pt x="55" y="206"/>
                  <a:pt x="69" y="183"/>
                </a:cubicBezTo>
                <a:cubicBezTo>
                  <a:pt x="84" y="161"/>
                  <a:pt x="101" y="139"/>
                  <a:pt x="120" y="120"/>
                </a:cubicBezTo>
                <a:cubicBezTo>
                  <a:pt x="140" y="101"/>
                  <a:pt x="160" y="84"/>
                  <a:pt x="183" y="69"/>
                </a:cubicBezTo>
                <a:cubicBezTo>
                  <a:pt x="205" y="54"/>
                  <a:pt x="229" y="41"/>
                  <a:pt x="254" y="31"/>
                </a:cubicBezTo>
                <a:cubicBezTo>
                  <a:pt x="278" y="21"/>
                  <a:pt x="304" y="13"/>
                  <a:pt x="330" y="8"/>
                </a:cubicBezTo>
                <a:cubicBezTo>
                  <a:pt x="357" y="3"/>
                  <a:pt x="384" y="0"/>
                  <a:pt x="410" y="0"/>
                </a:cubicBezTo>
                <a:lnTo>
                  <a:pt x="2925" y="0"/>
                </a:lnTo>
                <a:cubicBezTo>
                  <a:pt x="2952" y="0"/>
                  <a:pt x="2979" y="3"/>
                  <a:pt x="3005" y="8"/>
                </a:cubicBezTo>
                <a:cubicBezTo>
                  <a:pt x="3031" y="13"/>
                  <a:pt x="3057" y="21"/>
                  <a:pt x="3082" y="31"/>
                </a:cubicBezTo>
                <a:cubicBezTo>
                  <a:pt x="3107" y="41"/>
                  <a:pt x="3130" y="54"/>
                  <a:pt x="3153" y="69"/>
                </a:cubicBezTo>
                <a:cubicBezTo>
                  <a:pt x="3175" y="84"/>
                  <a:pt x="3196" y="101"/>
                  <a:pt x="3215" y="120"/>
                </a:cubicBezTo>
                <a:cubicBezTo>
                  <a:pt x="3234" y="139"/>
                  <a:pt x="3251" y="161"/>
                  <a:pt x="3266" y="183"/>
                </a:cubicBezTo>
                <a:cubicBezTo>
                  <a:pt x="3281" y="206"/>
                  <a:pt x="3294" y="229"/>
                  <a:pt x="3304" y="254"/>
                </a:cubicBezTo>
                <a:cubicBezTo>
                  <a:pt x="3314" y="279"/>
                  <a:pt x="3322" y="305"/>
                  <a:pt x="3327" y="331"/>
                </a:cubicBezTo>
                <a:cubicBezTo>
                  <a:pt x="3332" y="357"/>
                  <a:pt x="3335" y="384"/>
                  <a:pt x="3335" y="411"/>
                </a:cubicBezTo>
                <a:cubicBezTo>
                  <a:pt x="3335" y="438"/>
                  <a:pt x="3332" y="465"/>
                  <a:pt x="3327" y="491"/>
                </a:cubicBezTo>
                <a:cubicBezTo>
                  <a:pt x="3322" y="517"/>
                  <a:pt x="3314" y="543"/>
                  <a:pt x="3304" y="568"/>
                </a:cubicBezTo>
                <a:cubicBezTo>
                  <a:pt x="3294" y="593"/>
                  <a:pt x="3281" y="617"/>
                  <a:pt x="3266" y="639"/>
                </a:cubicBezTo>
                <a:cubicBezTo>
                  <a:pt x="3251" y="661"/>
                  <a:pt x="3234" y="682"/>
                  <a:pt x="3215" y="701"/>
                </a:cubicBezTo>
                <a:cubicBezTo>
                  <a:pt x="3196" y="720"/>
                  <a:pt x="3175" y="737"/>
                  <a:pt x="3153" y="752"/>
                </a:cubicBezTo>
                <a:cubicBezTo>
                  <a:pt x="3130" y="767"/>
                  <a:pt x="3107" y="780"/>
                  <a:pt x="3082" y="790"/>
                </a:cubicBezTo>
                <a:cubicBezTo>
                  <a:pt x="3057" y="800"/>
                  <a:pt x="3031" y="808"/>
                  <a:pt x="3005" y="813"/>
                </a:cubicBezTo>
                <a:cubicBezTo>
                  <a:pt x="2979" y="819"/>
                  <a:pt x="2952" y="821"/>
                  <a:pt x="2925" y="821"/>
                </a:cubicBezTo>
                <a:lnTo>
                  <a:pt x="410" y="821"/>
                </a:lnTo>
                <a:cubicBezTo>
                  <a:pt x="384" y="821"/>
                  <a:pt x="357" y="819"/>
                  <a:pt x="330" y="813"/>
                </a:cubicBezTo>
                <a:cubicBezTo>
                  <a:pt x="304" y="808"/>
                  <a:pt x="278" y="800"/>
                  <a:pt x="254" y="790"/>
                </a:cubicBezTo>
                <a:cubicBezTo>
                  <a:pt x="229" y="780"/>
                  <a:pt x="205" y="767"/>
                  <a:pt x="183" y="752"/>
                </a:cubicBezTo>
                <a:cubicBezTo>
                  <a:pt x="160" y="737"/>
                  <a:pt x="140" y="720"/>
                  <a:pt x="120" y="701"/>
                </a:cubicBezTo>
                <a:cubicBezTo>
                  <a:pt x="101" y="682"/>
                  <a:pt x="84" y="661"/>
                  <a:pt x="69" y="639"/>
                </a:cubicBezTo>
                <a:cubicBezTo>
                  <a:pt x="55" y="617"/>
                  <a:pt x="42" y="593"/>
                  <a:pt x="32" y="568"/>
                </a:cubicBezTo>
                <a:cubicBezTo>
                  <a:pt x="21" y="543"/>
                  <a:pt x="13" y="517"/>
                  <a:pt x="8" y="491"/>
                </a:cubicBezTo>
                <a:cubicBezTo>
                  <a:pt x="3" y="465"/>
                  <a:pt x="0" y="438"/>
                  <a:pt x="0" y="411"/>
                </a:cubicBezTo>
                <a:close/>
              </a:path>
            </a:pathLst>
          </a:custGeom>
          <a:solidFill>
            <a:srgbClr val="1C0E06"/>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13" name=""/>
          <p:cNvSpPr/>
          <p:nvPr/>
        </p:nvSpPr>
        <p:spPr>
          <a:xfrm>
            <a:off x="3862080" y="4519440"/>
            <a:ext cx="1200600" cy="295560"/>
          </a:xfrm>
          <a:custGeom>
            <a:avLst/>
            <a:gdLst/>
            <a:ahLst/>
            <a:rect l="0" t="0" r="r" b="b"/>
            <a:pathLst>
              <a:path w="3335" h="821">
                <a:moveTo>
                  <a:pt x="0" y="411"/>
                </a:moveTo>
                <a:cubicBezTo>
                  <a:pt x="0" y="384"/>
                  <a:pt x="3" y="357"/>
                  <a:pt x="8" y="331"/>
                </a:cubicBezTo>
                <a:cubicBezTo>
                  <a:pt x="13" y="305"/>
                  <a:pt x="21" y="279"/>
                  <a:pt x="32" y="254"/>
                </a:cubicBezTo>
                <a:cubicBezTo>
                  <a:pt x="42" y="229"/>
                  <a:pt x="55" y="206"/>
                  <a:pt x="69" y="183"/>
                </a:cubicBezTo>
                <a:cubicBezTo>
                  <a:pt x="84" y="161"/>
                  <a:pt x="101" y="139"/>
                  <a:pt x="120" y="120"/>
                </a:cubicBezTo>
                <a:cubicBezTo>
                  <a:pt x="140" y="101"/>
                  <a:pt x="160" y="84"/>
                  <a:pt x="183" y="69"/>
                </a:cubicBezTo>
                <a:cubicBezTo>
                  <a:pt x="205" y="54"/>
                  <a:pt x="229" y="41"/>
                  <a:pt x="254" y="31"/>
                </a:cubicBezTo>
                <a:cubicBezTo>
                  <a:pt x="278" y="21"/>
                  <a:pt x="304" y="13"/>
                  <a:pt x="330" y="8"/>
                </a:cubicBezTo>
                <a:cubicBezTo>
                  <a:pt x="357" y="3"/>
                  <a:pt x="384" y="0"/>
                  <a:pt x="410" y="0"/>
                </a:cubicBezTo>
                <a:lnTo>
                  <a:pt x="2925" y="0"/>
                </a:lnTo>
                <a:cubicBezTo>
                  <a:pt x="2952" y="0"/>
                  <a:pt x="2979" y="3"/>
                  <a:pt x="3005" y="8"/>
                </a:cubicBezTo>
                <a:cubicBezTo>
                  <a:pt x="3031" y="13"/>
                  <a:pt x="3057" y="21"/>
                  <a:pt x="3082" y="31"/>
                </a:cubicBezTo>
                <a:cubicBezTo>
                  <a:pt x="3107" y="41"/>
                  <a:pt x="3130" y="54"/>
                  <a:pt x="3153" y="69"/>
                </a:cubicBezTo>
                <a:cubicBezTo>
                  <a:pt x="3175" y="84"/>
                  <a:pt x="3196" y="101"/>
                  <a:pt x="3215" y="120"/>
                </a:cubicBezTo>
                <a:cubicBezTo>
                  <a:pt x="3234" y="139"/>
                  <a:pt x="3251" y="161"/>
                  <a:pt x="3266" y="183"/>
                </a:cubicBezTo>
                <a:cubicBezTo>
                  <a:pt x="3281" y="206"/>
                  <a:pt x="3294" y="229"/>
                  <a:pt x="3304" y="254"/>
                </a:cubicBezTo>
                <a:cubicBezTo>
                  <a:pt x="3314" y="279"/>
                  <a:pt x="3322" y="305"/>
                  <a:pt x="3327" y="331"/>
                </a:cubicBezTo>
                <a:cubicBezTo>
                  <a:pt x="3332" y="357"/>
                  <a:pt x="3335" y="384"/>
                  <a:pt x="3335" y="411"/>
                </a:cubicBezTo>
                <a:cubicBezTo>
                  <a:pt x="3335" y="438"/>
                  <a:pt x="3332" y="465"/>
                  <a:pt x="3327" y="491"/>
                </a:cubicBezTo>
                <a:cubicBezTo>
                  <a:pt x="3322" y="517"/>
                  <a:pt x="3314" y="543"/>
                  <a:pt x="3304" y="568"/>
                </a:cubicBezTo>
                <a:cubicBezTo>
                  <a:pt x="3294" y="593"/>
                  <a:pt x="3281" y="617"/>
                  <a:pt x="3266" y="639"/>
                </a:cubicBezTo>
                <a:cubicBezTo>
                  <a:pt x="3251" y="661"/>
                  <a:pt x="3234" y="682"/>
                  <a:pt x="3215" y="701"/>
                </a:cubicBezTo>
                <a:cubicBezTo>
                  <a:pt x="3196" y="720"/>
                  <a:pt x="3175" y="737"/>
                  <a:pt x="3153" y="752"/>
                </a:cubicBezTo>
                <a:cubicBezTo>
                  <a:pt x="3130" y="767"/>
                  <a:pt x="3107" y="780"/>
                  <a:pt x="3082" y="790"/>
                </a:cubicBezTo>
                <a:cubicBezTo>
                  <a:pt x="3057" y="800"/>
                  <a:pt x="3031" y="808"/>
                  <a:pt x="3005" y="813"/>
                </a:cubicBezTo>
                <a:cubicBezTo>
                  <a:pt x="2979" y="819"/>
                  <a:pt x="2952" y="821"/>
                  <a:pt x="2925" y="821"/>
                </a:cubicBezTo>
                <a:lnTo>
                  <a:pt x="410" y="821"/>
                </a:lnTo>
                <a:cubicBezTo>
                  <a:pt x="384" y="821"/>
                  <a:pt x="357" y="819"/>
                  <a:pt x="330" y="813"/>
                </a:cubicBezTo>
                <a:cubicBezTo>
                  <a:pt x="304" y="808"/>
                  <a:pt x="278" y="800"/>
                  <a:pt x="254" y="790"/>
                </a:cubicBezTo>
                <a:cubicBezTo>
                  <a:pt x="229" y="780"/>
                  <a:pt x="205" y="767"/>
                  <a:pt x="183" y="752"/>
                </a:cubicBezTo>
                <a:cubicBezTo>
                  <a:pt x="160" y="737"/>
                  <a:pt x="140" y="720"/>
                  <a:pt x="120" y="701"/>
                </a:cubicBezTo>
                <a:cubicBezTo>
                  <a:pt x="101" y="682"/>
                  <a:pt x="84" y="661"/>
                  <a:pt x="69" y="639"/>
                </a:cubicBezTo>
                <a:cubicBezTo>
                  <a:pt x="55" y="617"/>
                  <a:pt x="42" y="593"/>
                  <a:pt x="32" y="568"/>
                </a:cubicBezTo>
                <a:cubicBezTo>
                  <a:pt x="21" y="543"/>
                  <a:pt x="13" y="517"/>
                  <a:pt x="8" y="491"/>
                </a:cubicBezTo>
                <a:cubicBezTo>
                  <a:pt x="3" y="465"/>
                  <a:pt x="0" y="438"/>
                  <a:pt x="0" y="411"/>
                </a:cubicBezTo>
                <a:close/>
              </a:path>
            </a:pathLst>
          </a:custGeom>
          <a:noFill/>
          <a:ln w="9360">
            <a:solidFill>
              <a:srgbClr val="5A3010"/>
            </a:solidFill>
            <a:miter/>
          </a:ln>
        </p:spPr>
        <p:txBody>
          <a:bodyPr lIns="4680" tIns="4680" rIns="4680" bIns="4680" anchor="t">
            <a:noAutofit/>
          </a:bodyPr>
          <a:p>
            <a:endParaRPr lang="en-SG" sz="2400" b="0" u="none" strike="noStrike">
              <a:solidFill>
                <a:srgbClr val="000000"/>
              </a:solidFill>
              <a:effectLst/>
              <a:uFillTx/>
              <a:latin typeface="Times New Roman"/>
            </a:endParaRPr>
          </a:p>
        </p:txBody>
      </p:sp>
      <p:sp>
        <p:nvSpPr>
          <p:cNvPr id="14" name=""/>
          <p:cNvSpPr txBox="1"/>
          <p:nvPr/>
        </p:nvSpPr>
        <p:spPr>
          <a:xfrm>
            <a:off x="3104280" y="3833280"/>
            <a:ext cx="5955840" cy="289800"/>
          </a:xfrm>
          <a:prstGeom prst="rect">
            <a:avLst/>
          </a:prstGeom>
          <a:noFill/>
          <a:ln w="0">
            <a:noFill/>
          </a:ln>
        </p:spPr>
        <p:txBody>
          <a:bodyPr wrap="square" lIns="0" tIns="0" rIns="0" bIns="0" anchor="t">
            <a:spAutoFit/>
          </a:bodyPr>
          <a:p>
            <a:pPr/>
            <a:r>
              <a:rPr sz="1600" b="0">
                <a:solidFill>
                  <a:srgbClr val="AAAAAA"/>
                </a:solidFill>
                <a:latin typeface="Aptos"/>
              </a:rPr>
              <a:t>Benchmark the offer · test the ask · set realistic response expectations</a:t>
            </a:r>
            <a:endParaRPr lang="en-SG" sz="2280" b="0" u="none" strike="noStrike">
              <a:solidFill>
                <a:srgbClr val="000000"/>
              </a:solidFill>
              <a:effectLst/>
              <a:uFillTx/>
              <a:latin typeface="Times New Roman"/>
            </a:endParaRPr>
          </a:p>
        </p:txBody>
      </p:sp>
      <p:sp>
        <p:nvSpPr>
          <p:cNvPr id="15" name=""/>
          <p:cNvSpPr/>
          <p:nvPr/>
        </p:nvSpPr>
        <p:spPr>
          <a:xfrm>
            <a:off x="5148000" y="4519440"/>
            <a:ext cx="1619640" cy="295560"/>
          </a:xfrm>
          <a:custGeom>
            <a:avLst/>
            <a:gdLst/>
            <a:ahLst/>
            <a:rect l="0" t="0" r="r" b="b"/>
            <a:pathLst>
              <a:path w="4499" h="821">
                <a:moveTo>
                  <a:pt x="0" y="411"/>
                </a:moveTo>
                <a:cubicBezTo>
                  <a:pt x="0" y="384"/>
                  <a:pt x="3" y="357"/>
                  <a:pt x="8" y="331"/>
                </a:cubicBezTo>
                <a:cubicBezTo>
                  <a:pt x="13" y="305"/>
                  <a:pt x="21" y="279"/>
                  <a:pt x="31" y="254"/>
                </a:cubicBezTo>
                <a:cubicBezTo>
                  <a:pt x="42" y="229"/>
                  <a:pt x="54" y="206"/>
                  <a:pt x="69" y="183"/>
                </a:cubicBezTo>
                <a:cubicBezTo>
                  <a:pt x="84" y="161"/>
                  <a:pt x="101" y="139"/>
                  <a:pt x="120" y="120"/>
                </a:cubicBezTo>
                <a:cubicBezTo>
                  <a:pt x="139" y="101"/>
                  <a:pt x="160" y="84"/>
                  <a:pt x="182" y="69"/>
                </a:cubicBezTo>
                <a:cubicBezTo>
                  <a:pt x="205" y="54"/>
                  <a:pt x="229" y="41"/>
                  <a:pt x="253" y="31"/>
                </a:cubicBezTo>
                <a:cubicBezTo>
                  <a:pt x="278" y="21"/>
                  <a:pt x="304" y="13"/>
                  <a:pt x="330" y="8"/>
                </a:cubicBezTo>
                <a:cubicBezTo>
                  <a:pt x="357" y="3"/>
                  <a:pt x="383" y="0"/>
                  <a:pt x="410" y="0"/>
                </a:cubicBezTo>
                <a:lnTo>
                  <a:pt x="4089" y="0"/>
                </a:lnTo>
                <a:cubicBezTo>
                  <a:pt x="4116" y="0"/>
                  <a:pt x="4143" y="3"/>
                  <a:pt x="4169" y="8"/>
                </a:cubicBezTo>
                <a:cubicBezTo>
                  <a:pt x="4195" y="13"/>
                  <a:pt x="4221" y="21"/>
                  <a:pt x="4246" y="31"/>
                </a:cubicBezTo>
                <a:cubicBezTo>
                  <a:pt x="4271" y="41"/>
                  <a:pt x="4294" y="54"/>
                  <a:pt x="4317" y="69"/>
                </a:cubicBezTo>
                <a:cubicBezTo>
                  <a:pt x="4339" y="84"/>
                  <a:pt x="4360" y="101"/>
                  <a:pt x="4379" y="120"/>
                </a:cubicBezTo>
                <a:cubicBezTo>
                  <a:pt x="4398" y="139"/>
                  <a:pt x="4415" y="161"/>
                  <a:pt x="4430" y="183"/>
                </a:cubicBezTo>
                <a:cubicBezTo>
                  <a:pt x="4445" y="206"/>
                  <a:pt x="4458" y="229"/>
                  <a:pt x="4468" y="254"/>
                </a:cubicBezTo>
                <a:cubicBezTo>
                  <a:pt x="4478" y="279"/>
                  <a:pt x="4486" y="305"/>
                  <a:pt x="4491" y="331"/>
                </a:cubicBezTo>
                <a:cubicBezTo>
                  <a:pt x="4497" y="357"/>
                  <a:pt x="4499" y="384"/>
                  <a:pt x="4499" y="411"/>
                </a:cubicBezTo>
                <a:cubicBezTo>
                  <a:pt x="4499" y="438"/>
                  <a:pt x="4497" y="465"/>
                  <a:pt x="4491" y="491"/>
                </a:cubicBezTo>
                <a:cubicBezTo>
                  <a:pt x="4486" y="517"/>
                  <a:pt x="4478" y="543"/>
                  <a:pt x="4468" y="568"/>
                </a:cubicBezTo>
                <a:cubicBezTo>
                  <a:pt x="4458" y="593"/>
                  <a:pt x="4445" y="617"/>
                  <a:pt x="4430" y="639"/>
                </a:cubicBezTo>
                <a:cubicBezTo>
                  <a:pt x="4415" y="661"/>
                  <a:pt x="4398" y="682"/>
                  <a:pt x="4379" y="701"/>
                </a:cubicBezTo>
                <a:cubicBezTo>
                  <a:pt x="4360" y="720"/>
                  <a:pt x="4339" y="737"/>
                  <a:pt x="4317" y="752"/>
                </a:cubicBezTo>
                <a:cubicBezTo>
                  <a:pt x="4294" y="767"/>
                  <a:pt x="4271" y="780"/>
                  <a:pt x="4246" y="790"/>
                </a:cubicBezTo>
                <a:cubicBezTo>
                  <a:pt x="4221" y="800"/>
                  <a:pt x="4195" y="808"/>
                  <a:pt x="4169" y="813"/>
                </a:cubicBezTo>
                <a:cubicBezTo>
                  <a:pt x="4143" y="819"/>
                  <a:pt x="4116" y="821"/>
                  <a:pt x="4089" y="821"/>
                </a:cubicBezTo>
                <a:lnTo>
                  <a:pt x="410" y="821"/>
                </a:lnTo>
                <a:cubicBezTo>
                  <a:pt x="383" y="821"/>
                  <a:pt x="357" y="819"/>
                  <a:pt x="330" y="813"/>
                </a:cubicBezTo>
                <a:cubicBezTo>
                  <a:pt x="304" y="808"/>
                  <a:pt x="278" y="800"/>
                  <a:pt x="253" y="790"/>
                </a:cubicBezTo>
                <a:cubicBezTo>
                  <a:pt x="229" y="780"/>
                  <a:pt x="205" y="767"/>
                  <a:pt x="182" y="752"/>
                </a:cubicBezTo>
                <a:cubicBezTo>
                  <a:pt x="160" y="737"/>
                  <a:pt x="139" y="720"/>
                  <a:pt x="120" y="701"/>
                </a:cubicBezTo>
                <a:cubicBezTo>
                  <a:pt x="101" y="682"/>
                  <a:pt x="84" y="661"/>
                  <a:pt x="69" y="639"/>
                </a:cubicBezTo>
                <a:cubicBezTo>
                  <a:pt x="54" y="617"/>
                  <a:pt x="42" y="593"/>
                  <a:pt x="31" y="568"/>
                </a:cubicBezTo>
                <a:cubicBezTo>
                  <a:pt x="21" y="543"/>
                  <a:pt x="13" y="517"/>
                  <a:pt x="8" y="491"/>
                </a:cubicBezTo>
                <a:cubicBezTo>
                  <a:pt x="3" y="465"/>
                  <a:pt x="0" y="438"/>
                  <a:pt x="0" y="411"/>
                </a:cubicBezTo>
                <a:close/>
              </a:path>
            </a:pathLst>
          </a:custGeom>
          <a:solidFill>
            <a:srgbClr val="1C0E06"/>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16" name=""/>
          <p:cNvSpPr/>
          <p:nvPr/>
        </p:nvSpPr>
        <p:spPr>
          <a:xfrm>
            <a:off x="5148000" y="4519440"/>
            <a:ext cx="1619640" cy="295560"/>
          </a:xfrm>
          <a:custGeom>
            <a:avLst/>
            <a:gdLst/>
            <a:ahLst/>
            <a:rect l="0" t="0" r="r" b="b"/>
            <a:pathLst>
              <a:path w="4499" h="821">
                <a:moveTo>
                  <a:pt x="0" y="411"/>
                </a:moveTo>
                <a:cubicBezTo>
                  <a:pt x="0" y="384"/>
                  <a:pt x="3" y="357"/>
                  <a:pt x="8" y="331"/>
                </a:cubicBezTo>
                <a:cubicBezTo>
                  <a:pt x="13" y="305"/>
                  <a:pt x="21" y="279"/>
                  <a:pt x="31" y="254"/>
                </a:cubicBezTo>
                <a:cubicBezTo>
                  <a:pt x="42" y="229"/>
                  <a:pt x="54" y="206"/>
                  <a:pt x="69" y="183"/>
                </a:cubicBezTo>
                <a:cubicBezTo>
                  <a:pt x="84" y="161"/>
                  <a:pt x="101" y="139"/>
                  <a:pt x="120" y="120"/>
                </a:cubicBezTo>
                <a:cubicBezTo>
                  <a:pt x="139" y="101"/>
                  <a:pt x="160" y="84"/>
                  <a:pt x="182" y="69"/>
                </a:cubicBezTo>
                <a:cubicBezTo>
                  <a:pt x="205" y="54"/>
                  <a:pt x="229" y="41"/>
                  <a:pt x="253" y="31"/>
                </a:cubicBezTo>
                <a:cubicBezTo>
                  <a:pt x="278" y="21"/>
                  <a:pt x="304" y="13"/>
                  <a:pt x="330" y="8"/>
                </a:cubicBezTo>
                <a:cubicBezTo>
                  <a:pt x="357" y="3"/>
                  <a:pt x="383" y="0"/>
                  <a:pt x="410" y="0"/>
                </a:cubicBezTo>
                <a:lnTo>
                  <a:pt x="4089" y="0"/>
                </a:lnTo>
                <a:cubicBezTo>
                  <a:pt x="4116" y="0"/>
                  <a:pt x="4143" y="3"/>
                  <a:pt x="4169" y="8"/>
                </a:cubicBezTo>
                <a:cubicBezTo>
                  <a:pt x="4195" y="13"/>
                  <a:pt x="4221" y="21"/>
                  <a:pt x="4246" y="31"/>
                </a:cubicBezTo>
                <a:cubicBezTo>
                  <a:pt x="4271" y="41"/>
                  <a:pt x="4294" y="54"/>
                  <a:pt x="4317" y="69"/>
                </a:cubicBezTo>
                <a:cubicBezTo>
                  <a:pt x="4339" y="84"/>
                  <a:pt x="4360" y="101"/>
                  <a:pt x="4379" y="120"/>
                </a:cubicBezTo>
                <a:cubicBezTo>
                  <a:pt x="4398" y="139"/>
                  <a:pt x="4415" y="161"/>
                  <a:pt x="4430" y="183"/>
                </a:cubicBezTo>
                <a:cubicBezTo>
                  <a:pt x="4445" y="206"/>
                  <a:pt x="4458" y="229"/>
                  <a:pt x="4468" y="254"/>
                </a:cubicBezTo>
                <a:cubicBezTo>
                  <a:pt x="4478" y="279"/>
                  <a:pt x="4486" y="305"/>
                  <a:pt x="4491" y="331"/>
                </a:cubicBezTo>
                <a:cubicBezTo>
                  <a:pt x="4497" y="357"/>
                  <a:pt x="4499" y="384"/>
                  <a:pt x="4499" y="411"/>
                </a:cubicBezTo>
                <a:cubicBezTo>
                  <a:pt x="4499" y="438"/>
                  <a:pt x="4497" y="465"/>
                  <a:pt x="4491" y="491"/>
                </a:cubicBezTo>
                <a:cubicBezTo>
                  <a:pt x="4486" y="517"/>
                  <a:pt x="4478" y="543"/>
                  <a:pt x="4468" y="568"/>
                </a:cubicBezTo>
                <a:cubicBezTo>
                  <a:pt x="4458" y="593"/>
                  <a:pt x="4445" y="617"/>
                  <a:pt x="4430" y="639"/>
                </a:cubicBezTo>
                <a:cubicBezTo>
                  <a:pt x="4415" y="661"/>
                  <a:pt x="4398" y="682"/>
                  <a:pt x="4379" y="701"/>
                </a:cubicBezTo>
                <a:cubicBezTo>
                  <a:pt x="4360" y="720"/>
                  <a:pt x="4339" y="737"/>
                  <a:pt x="4317" y="752"/>
                </a:cubicBezTo>
                <a:cubicBezTo>
                  <a:pt x="4294" y="767"/>
                  <a:pt x="4271" y="780"/>
                  <a:pt x="4246" y="790"/>
                </a:cubicBezTo>
                <a:cubicBezTo>
                  <a:pt x="4221" y="800"/>
                  <a:pt x="4195" y="808"/>
                  <a:pt x="4169" y="813"/>
                </a:cubicBezTo>
                <a:cubicBezTo>
                  <a:pt x="4143" y="819"/>
                  <a:pt x="4116" y="821"/>
                  <a:pt x="4089" y="821"/>
                </a:cubicBezTo>
                <a:lnTo>
                  <a:pt x="410" y="821"/>
                </a:lnTo>
                <a:cubicBezTo>
                  <a:pt x="383" y="821"/>
                  <a:pt x="357" y="819"/>
                  <a:pt x="330" y="813"/>
                </a:cubicBezTo>
                <a:cubicBezTo>
                  <a:pt x="304" y="808"/>
                  <a:pt x="278" y="800"/>
                  <a:pt x="253" y="790"/>
                </a:cubicBezTo>
                <a:cubicBezTo>
                  <a:pt x="229" y="780"/>
                  <a:pt x="205" y="767"/>
                  <a:pt x="182" y="752"/>
                </a:cubicBezTo>
                <a:cubicBezTo>
                  <a:pt x="160" y="737"/>
                  <a:pt x="139" y="720"/>
                  <a:pt x="120" y="701"/>
                </a:cubicBezTo>
                <a:cubicBezTo>
                  <a:pt x="101" y="682"/>
                  <a:pt x="84" y="661"/>
                  <a:pt x="69" y="639"/>
                </a:cubicBezTo>
                <a:cubicBezTo>
                  <a:pt x="54" y="617"/>
                  <a:pt x="42" y="593"/>
                  <a:pt x="31" y="568"/>
                </a:cubicBezTo>
                <a:cubicBezTo>
                  <a:pt x="21" y="543"/>
                  <a:pt x="13" y="517"/>
                  <a:pt x="8" y="491"/>
                </a:cubicBezTo>
                <a:cubicBezTo>
                  <a:pt x="3" y="465"/>
                  <a:pt x="0" y="438"/>
                  <a:pt x="0" y="411"/>
                </a:cubicBezTo>
                <a:close/>
              </a:path>
            </a:pathLst>
          </a:custGeom>
          <a:noFill/>
          <a:ln w="9360">
            <a:solidFill>
              <a:srgbClr val="5A3010"/>
            </a:solidFill>
            <a:miter/>
          </a:ln>
        </p:spPr>
        <p:txBody>
          <a:bodyPr lIns="4680" tIns="4680" rIns="4680" bIns="4680" anchor="t">
            <a:noAutofit/>
          </a:bodyPr>
          <a:p>
            <a:endParaRPr lang="en-SG" sz="2400" b="0" u="none" strike="noStrike">
              <a:solidFill>
                <a:srgbClr val="000000"/>
              </a:solidFill>
              <a:effectLst/>
              <a:uFillTx/>
              <a:latin typeface="Times New Roman"/>
            </a:endParaRPr>
          </a:p>
        </p:txBody>
      </p:sp>
      <p:sp>
        <p:nvSpPr>
          <p:cNvPr id="17" name=""/>
          <p:cNvSpPr txBox="1"/>
          <p:nvPr/>
        </p:nvSpPr>
        <p:spPr>
          <a:xfrm>
            <a:off x="4004640" y="4567320"/>
            <a:ext cx="941400" cy="186480"/>
          </a:xfrm>
          <a:prstGeom prst="rect">
            <a:avLst/>
          </a:prstGeom>
          <a:noFill/>
          <a:ln w="0">
            <a:noFill/>
          </a:ln>
        </p:spPr>
        <p:txBody>
          <a:bodyPr wrap="none" lIns="0" tIns="0" rIns="0" bIns="0" anchor="t">
            <a:spAutoFit/>
          </a:bodyPr>
          <a:p>
            <a:pPr/>
            <a:r>
              <a:rPr lang="en-SG" sz="1090" b="0" u="none" strike="noStrike">
                <a:solidFill>
                  <a:srgbClr val="D2884D"/>
                </a:solidFill>
                <a:effectLst/>
                <a:uFillTx/>
                <a:latin typeface="Outfit-Thin_"/>
                <a:ea typeface="Outfit-Thin_"/>
              </a:rPr>
              <a:t>1.04M postings</a:t>
            </a:r>
            <a:endParaRPr lang="en-SG" sz="1090" b="0" u="none" strike="noStrike">
              <a:solidFill>
                <a:srgbClr val="000000"/>
              </a:solidFill>
              <a:effectLst/>
              <a:uFillTx/>
              <a:latin typeface="Times New Roman"/>
            </a:endParaRPr>
          </a:p>
        </p:txBody>
      </p:sp>
      <p:sp>
        <p:nvSpPr>
          <p:cNvPr id="18" name=""/>
          <p:cNvSpPr/>
          <p:nvPr/>
        </p:nvSpPr>
        <p:spPr>
          <a:xfrm>
            <a:off x="6852960" y="4519440"/>
            <a:ext cx="1476720" cy="295560"/>
          </a:xfrm>
          <a:custGeom>
            <a:avLst/>
            <a:gdLst/>
            <a:ahLst/>
            <a:rect l="0" t="0" r="r" b="b"/>
            <a:pathLst>
              <a:path w="4102" h="821">
                <a:moveTo>
                  <a:pt x="0" y="411"/>
                </a:moveTo>
                <a:cubicBezTo>
                  <a:pt x="0" y="384"/>
                  <a:pt x="3" y="357"/>
                  <a:pt x="8" y="331"/>
                </a:cubicBezTo>
                <a:cubicBezTo>
                  <a:pt x="13" y="305"/>
                  <a:pt x="21" y="279"/>
                  <a:pt x="31" y="254"/>
                </a:cubicBezTo>
                <a:cubicBezTo>
                  <a:pt x="42" y="229"/>
                  <a:pt x="54" y="206"/>
                  <a:pt x="69" y="183"/>
                </a:cubicBezTo>
                <a:cubicBezTo>
                  <a:pt x="84" y="161"/>
                  <a:pt x="101" y="139"/>
                  <a:pt x="120" y="120"/>
                </a:cubicBezTo>
                <a:cubicBezTo>
                  <a:pt x="139" y="101"/>
                  <a:pt x="160" y="84"/>
                  <a:pt x="183" y="69"/>
                </a:cubicBezTo>
                <a:cubicBezTo>
                  <a:pt x="205" y="54"/>
                  <a:pt x="229" y="41"/>
                  <a:pt x="253" y="31"/>
                </a:cubicBezTo>
                <a:cubicBezTo>
                  <a:pt x="278" y="21"/>
                  <a:pt x="304" y="13"/>
                  <a:pt x="330" y="8"/>
                </a:cubicBezTo>
                <a:cubicBezTo>
                  <a:pt x="357" y="3"/>
                  <a:pt x="383" y="0"/>
                  <a:pt x="410" y="0"/>
                </a:cubicBezTo>
                <a:lnTo>
                  <a:pt x="3692" y="0"/>
                </a:lnTo>
                <a:cubicBezTo>
                  <a:pt x="3719" y="0"/>
                  <a:pt x="3746" y="3"/>
                  <a:pt x="3772" y="8"/>
                </a:cubicBezTo>
                <a:cubicBezTo>
                  <a:pt x="3799" y="13"/>
                  <a:pt x="3824" y="21"/>
                  <a:pt x="3849" y="31"/>
                </a:cubicBezTo>
                <a:cubicBezTo>
                  <a:pt x="3874" y="41"/>
                  <a:pt x="3898" y="54"/>
                  <a:pt x="3920" y="69"/>
                </a:cubicBezTo>
                <a:cubicBezTo>
                  <a:pt x="3942" y="84"/>
                  <a:pt x="3963" y="101"/>
                  <a:pt x="3982" y="120"/>
                </a:cubicBezTo>
                <a:cubicBezTo>
                  <a:pt x="4001" y="139"/>
                  <a:pt x="4018" y="161"/>
                  <a:pt x="4033" y="183"/>
                </a:cubicBezTo>
                <a:cubicBezTo>
                  <a:pt x="4048" y="206"/>
                  <a:pt x="4061" y="229"/>
                  <a:pt x="4071" y="254"/>
                </a:cubicBezTo>
                <a:cubicBezTo>
                  <a:pt x="4081" y="279"/>
                  <a:pt x="4089" y="305"/>
                  <a:pt x="4094" y="331"/>
                </a:cubicBezTo>
                <a:cubicBezTo>
                  <a:pt x="4100" y="357"/>
                  <a:pt x="4102" y="384"/>
                  <a:pt x="4102" y="411"/>
                </a:cubicBezTo>
                <a:cubicBezTo>
                  <a:pt x="4102" y="438"/>
                  <a:pt x="4100" y="465"/>
                  <a:pt x="4094" y="491"/>
                </a:cubicBezTo>
                <a:cubicBezTo>
                  <a:pt x="4089" y="517"/>
                  <a:pt x="4081" y="543"/>
                  <a:pt x="4071" y="568"/>
                </a:cubicBezTo>
                <a:cubicBezTo>
                  <a:pt x="4061" y="593"/>
                  <a:pt x="4048" y="617"/>
                  <a:pt x="4033" y="639"/>
                </a:cubicBezTo>
                <a:cubicBezTo>
                  <a:pt x="4018" y="661"/>
                  <a:pt x="4001" y="682"/>
                  <a:pt x="3982" y="701"/>
                </a:cubicBezTo>
                <a:cubicBezTo>
                  <a:pt x="3963" y="720"/>
                  <a:pt x="3942" y="737"/>
                  <a:pt x="3920" y="752"/>
                </a:cubicBezTo>
                <a:cubicBezTo>
                  <a:pt x="3898" y="767"/>
                  <a:pt x="3874" y="780"/>
                  <a:pt x="3849" y="790"/>
                </a:cubicBezTo>
                <a:cubicBezTo>
                  <a:pt x="3824" y="800"/>
                  <a:pt x="3799" y="808"/>
                  <a:pt x="3772" y="813"/>
                </a:cubicBezTo>
                <a:cubicBezTo>
                  <a:pt x="3746" y="819"/>
                  <a:pt x="3719" y="821"/>
                  <a:pt x="3692" y="821"/>
                </a:cubicBezTo>
                <a:lnTo>
                  <a:pt x="410" y="821"/>
                </a:lnTo>
                <a:cubicBezTo>
                  <a:pt x="383" y="821"/>
                  <a:pt x="357" y="819"/>
                  <a:pt x="330" y="813"/>
                </a:cubicBezTo>
                <a:cubicBezTo>
                  <a:pt x="304" y="808"/>
                  <a:pt x="278" y="800"/>
                  <a:pt x="253" y="790"/>
                </a:cubicBezTo>
                <a:cubicBezTo>
                  <a:pt x="229" y="780"/>
                  <a:pt x="205" y="767"/>
                  <a:pt x="183" y="752"/>
                </a:cubicBezTo>
                <a:cubicBezTo>
                  <a:pt x="160" y="737"/>
                  <a:pt x="139" y="720"/>
                  <a:pt x="120" y="701"/>
                </a:cubicBezTo>
                <a:cubicBezTo>
                  <a:pt x="101" y="682"/>
                  <a:pt x="84" y="661"/>
                  <a:pt x="69" y="639"/>
                </a:cubicBezTo>
                <a:cubicBezTo>
                  <a:pt x="54" y="617"/>
                  <a:pt x="42" y="593"/>
                  <a:pt x="31" y="568"/>
                </a:cubicBezTo>
                <a:cubicBezTo>
                  <a:pt x="21" y="543"/>
                  <a:pt x="13" y="517"/>
                  <a:pt x="8" y="491"/>
                </a:cubicBezTo>
                <a:cubicBezTo>
                  <a:pt x="3" y="465"/>
                  <a:pt x="0" y="438"/>
                  <a:pt x="0" y="411"/>
                </a:cubicBezTo>
                <a:close/>
              </a:path>
            </a:pathLst>
          </a:custGeom>
          <a:solidFill>
            <a:srgbClr val="1C0E06"/>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19" name=""/>
          <p:cNvSpPr/>
          <p:nvPr/>
        </p:nvSpPr>
        <p:spPr>
          <a:xfrm>
            <a:off x="6852960" y="4519440"/>
            <a:ext cx="1476720" cy="295560"/>
          </a:xfrm>
          <a:custGeom>
            <a:avLst/>
            <a:gdLst/>
            <a:ahLst/>
            <a:rect l="0" t="0" r="r" b="b"/>
            <a:pathLst>
              <a:path w="4102" h="821">
                <a:moveTo>
                  <a:pt x="0" y="411"/>
                </a:moveTo>
                <a:cubicBezTo>
                  <a:pt x="0" y="384"/>
                  <a:pt x="3" y="357"/>
                  <a:pt x="8" y="331"/>
                </a:cubicBezTo>
                <a:cubicBezTo>
                  <a:pt x="13" y="305"/>
                  <a:pt x="21" y="279"/>
                  <a:pt x="31" y="254"/>
                </a:cubicBezTo>
                <a:cubicBezTo>
                  <a:pt x="42" y="229"/>
                  <a:pt x="54" y="206"/>
                  <a:pt x="69" y="183"/>
                </a:cubicBezTo>
                <a:cubicBezTo>
                  <a:pt x="84" y="161"/>
                  <a:pt x="101" y="139"/>
                  <a:pt x="120" y="120"/>
                </a:cubicBezTo>
                <a:cubicBezTo>
                  <a:pt x="139" y="101"/>
                  <a:pt x="160" y="84"/>
                  <a:pt x="183" y="69"/>
                </a:cubicBezTo>
                <a:cubicBezTo>
                  <a:pt x="205" y="54"/>
                  <a:pt x="229" y="41"/>
                  <a:pt x="253" y="31"/>
                </a:cubicBezTo>
                <a:cubicBezTo>
                  <a:pt x="278" y="21"/>
                  <a:pt x="304" y="13"/>
                  <a:pt x="330" y="8"/>
                </a:cubicBezTo>
                <a:cubicBezTo>
                  <a:pt x="357" y="3"/>
                  <a:pt x="383" y="0"/>
                  <a:pt x="410" y="0"/>
                </a:cubicBezTo>
                <a:lnTo>
                  <a:pt x="3692" y="0"/>
                </a:lnTo>
                <a:cubicBezTo>
                  <a:pt x="3719" y="0"/>
                  <a:pt x="3746" y="3"/>
                  <a:pt x="3772" y="8"/>
                </a:cubicBezTo>
                <a:cubicBezTo>
                  <a:pt x="3799" y="13"/>
                  <a:pt x="3824" y="21"/>
                  <a:pt x="3849" y="31"/>
                </a:cubicBezTo>
                <a:cubicBezTo>
                  <a:pt x="3874" y="41"/>
                  <a:pt x="3898" y="54"/>
                  <a:pt x="3920" y="69"/>
                </a:cubicBezTo>
                <a:cubicBezTo>
                  <a:pt x="3942" y="84"/>
                  <a:pt x="3963" y="101"/>
                  <a:pt x="3982" y="120"/>
                </a:cubicBezTo>
                <a:cubicBezTo>
                  <a:pt x="4001" y="139"/>
                  <a:pt x="4018" y="161"/>
                  <a:pt x="4033" y="183"/>
                </a:cubicBezTo>
                <a:cubicBezTo>
                  <a:pt x="4048" y="206"/>
                  <a:pt x="4061" y="229"/>
                  <a:pt x="4071" y="254"/>
                </a:cubicBezTo>
                <a:cubicBezTo>
                  <a:pt x="4081" y="279"/>
                  <a:pt x="4089" y="305"/>
                  <a:pt x="4094" y="331"/>
                </a:cubicBezTo>
                <a:cubicBezTo>
                  <a:pt x="4100" y="357"/>
                  <a:pt x="4102" y="384"/>
                  <a:pt x="4102" y="411"/>
                </a:cubicBezTo>
                <a:cubicBezTo>
                  <a:pt x="4102" y="438"/>
                  <a:pt x="4100" y="465"/>
                  <a:pt x="4094" y="491"/>
                </a:cubicBezTo>
                <a:cubicBezTo>
                  <a:pt x="4089" y="517"/>
                  <a:pt x="4081" y="543"/>
                  <a:pt x="4071" y="568"/>
                </a:cubicBezTo>
                <a:cubicBezTo>
                  <a:pt x="4061" y="593"/>
                  <a:pt x="4048" y="617"/>
                  <a:pt x="4033" y="639"/>
                </a:cubicBezTo>
                <a:cubicBezTo>
                  <a:pt x="4018" y="661"/>
                  <a:pt x="4001" y="682"/>
                  <a:pt x="3982" y="701"/>
                </a:cubicBezTo>
                <a:cubicBezTo>
                  <a:pt x="3963" y="720"/>
                  <a:pt x="3942" y="737"/>
                  <a:pt x="3920" y="752"/>
                </a:cubicBezTo>
                <a:cubicBezTo>
                  <a:pt x="3898" y="767"/>
                  <a:pt x="3874" y="780"/>
                  <a:pt x="3849" y="790"/>
                </a:cubicBezTo>
                <a:cubicBezTo>
                  <a:pt x="3824" y="800"/>
                  <a:pt x="3799" y="808"/>
                  <a:pt x="3772" y="813"/>
                </a:cubicBezTo>
                <a:cubicBezTo>
                  <a:pt x="3746" y="819"/>
                  <a:pt x="3719" y="821"/>
                  <a:pt x="3692" y="821"/>
                </a:cubicBezTo>
                <a:lnTo>
                  <a:pt x="410" y="821"/>
                </a:lnTo>
                <a:cubicBezTo>
                  <a:pt x="383" y="821"/>
                  <a:pt x="357" y="819"/>
                  <a:pt x="330" y="813"/>
                </a:cubicBezTo>
                <a:cubicBezTo>
                  <a:pt x="304" y="808"/>
                  <a:pt x="278" y="800"/>
                  <a:pt x="253" y="790"/>
                </a:cubicBezTo>
                <a:cubicBezTo>
                  <a:pt x="229" y="780"/>
                  <a:pt x="205" y="767"/>
                  <a:pt x="183" y="752"/>
                </a:cubicBezTo>
                <a:cubicBezTo>
                  <a:pt x="160" y="737"/>
                  <a:pt x="139" y="720"/>
                  <a:pt x="120" y="701"/>
                </a:cubicBezTo>
                <a:cubicBezTo>
                  <a:pt x="101" y="682"/>
                  <a:pt x="84" y="661"/>
                  <a:pt x="69" y="639"/>
                </a:cubicBezTo>
                <a:cubicBezTo>
                  <a:pt x="54" y="617"/>
                  <a:pt x="42" y="593"/>
                  <a:pt x="31" y="568"/>
                </a:cubicBezTo>
                <a:cubicBezTo>
                  <a:pt x="21" y="543"/>
                  <a:pt x="13" y="517"/>
                  <a:pt x="8" y="491"/>
                </a:cubicBezTo>
                <a:cubicBezTo>
                  <a:pt x="3" y="465"/>
                  <a:pt x="0" y="438"/>
                  <a:pt x="0" y="411"/>
                </a:cubicBezTo>
                <a:close/>
              </a:path>
            </a:pathLst>
          </a:custGeom>
          <a:noFill/>
          <a:ln w="9360">
            <a:solidFill>
              <a:srgbClr val="5A3010"/>
            </a:solidFill>
            <a:miter/>
          </a:ln>
        </p:spPr>
        <p:txBody>
          <a:bodyPr lIns="4680" tIns="4680" rIns="4680" bIns="4680" anchor="t">
            <a:noAutofit/>
          </a:bodyPr>
          <a:p>
            <a:endParaRPr lang="en-SG" sz="2400" b="0" u="none" strike="noStrike">
              <a:solidFill>
                <a:srgbClr val="000000"/>
              </a:solidFill>
              <a:effectLst/>
              <a:uFillTx/>
              <a:latin typeface="Times New Roman"/>
            </a:endParaRPr>
          </a:p>
        </p:txBody>
      </p:sp>
      <p:sp>
        <p:nvSpPr>
          <p:cNvPr id="20" name=""/>
          <p:cNvSpPr txBox="1"/>
          <p:nvPr/>
        </p:nvSpPr>
        <p:spPr>
          <a:xfrm>
            <a:off x="5281920" y="4567320"/>
            <a:ext cx="1342080" cy="186480"/>
          </a:xfrm>
          <a:prstGeom prst="rect">
            <a:avLst/>
          </a:prstGeom>
          <a:noFill/>
          <a:ln w="0">
            <a:noFill/>
          </a:ln>
        </p:spPr>
        <p:txBody>
          <a:bodyPr wrap="none" lIns="0" tIns="0" rIns="0" bIns="0" anchor="t">
            <a:spAutoFit/>
          </a:bodyPr>
          <a:p>
            <a:pPr/>
            <a:r>
              <a:rPr lang="en-SG" sz="1090" b="0" u="none" strike="noStrike">
                <a:solidFill>
                  <a:srgbClr val="D2884D"/>
                </a:solidFill>
                <a:effectLst/>
                <a:uFillTx/>
                <a:latin typeface="Outfit-Thin_"/>
                <a:ea typeface="Outfit-Thin_"/>
              </a:rPr>
              <a:t>Mar 2023 – May 2024</a:t>
            </a:r>
            <a:endParaRPr lang="en-SG" sz="1090" b="0" u="none" strike="noStrike">
              <a:solidFill>
                <a:srgbClr val="000000"/>
              </a:solidFill>
              <a:effectLst/>
              <a:uFillTx/>
              <a:latin typeface="Times New Roman"/>
            </a:endParaRPr>
          </a:p>
        </p:txBody>
      </p:sp>
      <p:sp>
        <p:nvSpPr>
          <p:cNvPr id="21" name=""/>
          <p:cNvSpPr txBox="1"/>
          <p:nvPr/>
        </p:nvSpPr>
        <p:spPr>
          <a:xfrm>
            <a:off x="6991920" y="4567320"/>
            <a:ext cx="1214640" cy="186480"/>
          </a:xfrm>
          <a:prstGeom prst="rect">
            <a:avLst/>
          </a:prstGeom>
          <a:noFill/>
          <a:ln w="0">
            <a:noFill/>
          </a:ln>
        </p:spPr>
        <p:txBody>
          <a:bodyPr wrap="none" lIns="0" tIns="0" rIns="0" bIns="0" anchor="t">
            <a:spAutoFit/>
          </a:bodyPr>
          <a:p>
            <a:pPr/>
            <a:r>
              <a:rPr lang="en-SG" sz="1090" b="0" u="none" strike="noStrike">
                <a:solidFill>
                  <a:srgbClr val="D2884D"/>
                </a:solidFill>
                <a:effectLst/>
                <a:uFillTx/>
                <a:latin typeface="Outfit-Thin_"/>
                <a:ea typeface="Outfit-Thin_"/>
              </a:rPr>
              <a:t>Streamlit + DuckDB</a:t>
            </a:r>
            <a:endParaRPr lang="en-SG" sz="109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SG" sz="2400" b="0" u="none" strike="noStrike">
              <a:solidFill>
                <a:srgbClr val="000000"/>
              </a:solidFill>
              <a:effectLst/>
              <a:uFillTx/>
              <a:latin typeface="Times New Roman"/>
            </a:endParaRPr>
          </a:p>
        </p:txBody>
      </p:sp>
      <p:sp>
        <p:nvSpPr>
          <p:cNvPr id="2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SG" sz="2400" b="0" u="none" strike="noStrike">
              <a:solidFill>
                <a:srgbClr val="000000"/>
              </a:solidFill>
              <a:effectLst/>
              <a:uFillTx/>
              <a:latin typeface="Times New Roman"/>
            </a:endParaRPr>
          </a:p>
        </p:txBody>
      </p:sp>
      <p:sp>
        <p:nvSpPr>
          <p:cNvPr id="2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000000"/>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25" name=""/>
          <p:cNvSpPr/>
          <p:nvPr/>
        </p:nvSpPr>
        <p:spPr>
          <a:xfrm>
            <a:off x="657000" y="4667040"/>
            <a:ext cx="10887480" cy="686160"/>
          </a:xfrm>
          <a:custGeom>
            <a:avLst/>
            <a:gdLst/>
            <a:ahLst/>
            <a:rect l="0" t="0" r="r" b="b"/>
            <a:pathLst>
              <a:path w="30243" h="1906">
                <a:moveTo>
                  <a:pt x="0" y="1906"/>
                </a:moveTo>
                <a:lnTo>
                  <a:pt x="0" y="0"/>
                </a:lnTo>
                <a:lnTo>
                  <a:pt x="30031" y="0"/>
                </a:lnTo>
                <a:cubicBezTo>
                  <a:pt x="30045" y="0"/>
                  <a:pt x="30059" y="1"/>
                  <a:pt x="30073" y="4"/>
                </a:cubicBezTo>
                <a:cubicBezTo>
                  <a:pt x="30086" y="7"/>
                  <a:pt x="30099" y="11"/>
                  <a:pt x="30112" y="16"/>
                </a:cubicBezTo>
                <a:cubicBezTo>
                  <a:pt x="30125" y="22"/>
                  <a:pt x="30137" y="28"/>
                  <a:pt x="30149" y="36"/>
                </a:cubicBezTo>
                <a:cubicBezTo>
                  <a:pt x="30160" y="43"/>
                  <a:pt x="30171" y="52"/>
                  <a:pt x="30181" y="62"/>
                </a:cubicBezTo>
                <a:cubicBezTo>
                  <a:pt x="30191" y="72"/>
                  <a:pt x="30200" y="83"/>
                  <a:pt x="30207" y="94"/>
                </a:cubicBezTo>
                <a:cubicBezTo>
                  <a:pt x="30215" y="106"/>
                  <a:pt x="30222" y="118"/>
                  <a:pt x="30227" y="131"/>
                </a:cubicBezTo>
                <a:cubicBezTo>
                  <a:pt x="30232" y="144"/>
                  <a:pt x="30236" y="157"/>
                  <a:pt x="30239" y="170"/>
                </a:cubicBezTo>
                <a:cubicBezTo>
                  <a:pt x="30242" y="184"/>
                  <a:pt x="30243" y="198"/>
                  <a:pt x="30243" y="212"/>
                </a:cubicBezTo>
                <a:lnTo>
                  <a:pt x="30243" y="1694"/>
                </a:lnTo>
                <a:cubicBezTo>
                  <a:pt x="30243" y="1708"/>
                  <a:pt x="30242" y="1722"/>
                  <a:pt x="30239" y="1736"/>
                </a:cubicBezTo>
                <a:cubicBezTo>
                  <a:pt x="30236" y="1749"/>
                  <a:pt x="30232" y="1763"/>
                  <a:pt x="30227" y="1775"/>
                </a:cubicBezTo>
                <a:cubicBezTo>
                  <a:pt x="30222" y="1788"/>
                  <a:pt x="30215" y="1800"/>
                  <a:pt x="30207" y="1812"/>
                </a:cubicBezTo>
                <a:cubicBezTo>
                  <a:pt x="30200" y="1824"/>
                  <a:pt x="30191" y="1834"/>
                  <a:pt x="30181" y="1844"/>
                </a:cubicBezTo>
                <a:cubicBezTo>
                  <a:pt x="30171" y="1854"/>
                  <a:pt x="30160" y="1863"/>
                  <a:pt x="30149" y="1870"/>
                </a:cubicBezTo>
                <a:cubicBezTo>
                  <a:pt x="30137" y="1878"/>
                  <a:pt x="30125" y="1885"/>
                  <a:pt x="30112" y="1890"/>
                </a:cubicBezTo>
                <a:cubicBezTo>
                  <a:pt x="30099" y="1895"/>
                  <a:pt x="30086" y="1899"/>
                  <a:pt x="30073" y="1902"/>
                </a:cubicBezTo>
                <a:cubicBezTo>
                  <a:pt x="30059" y="1905"/>
                  <a:pt x="30045" y="1906"/>
                  <a:pt x="30031" y="1906"/>
                </a:cubicBezTo>
                <a:lnTo>
                  <a:pt x="0" y="1906"/>
                </a:lnTo>
                <a:close/>
              </a:path>
            </a:pathLst>
          </a:custGeom>
          <a:solidFill>
            <a:srgbClr val="120A05"/>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26" name=""/>
          <p:cNvSpPr/>
          <p:nvPr/>
        </p:nvSpPr>
        <p:spPr>
          <a:xfrm>
            <a:off x="647640" y="4667040"/>
            <a:ext cx="19440" cy="686160"/>
          </a:xfrm>
          <a:custGeom>
            <a:avLst/>
            <a:gdLst/>
            <a:ahLst/>
            <a:rect l="0" t="0" r="r" b="b"/>
            <a:pathLst>
              <a:path w="54" h="1906">
                <a:moveTo>
                  <a:pt x="0" y="0"/>
                </a:moveTo>
                <a:lnTo>
                  <a:pt x="54" y="0"/>
                </a:lnTo>
                <a:lnTo>
                  <a:pt x="54" y="1906"/>
                </a:lnTo>
                <a:lnTo>
                  <a:pt x="0" y="1906"/>
                </a:lnTo>
                <a:lnTo>
                  <a:pt x="0" y="0"/>
                </a:lnTo>
                <a:close/>
              </a:path>
            </a:pathLst>
          </a:custGeom>
          <a:solidFill>
            <a:srgbClr val="FF6B1A"/>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27" name=""/>
          <p:cNvSpPr txBox="1"/>
          <p:nvPr/>
        </p:nvSpPr>
        <p:spPr>
          <a:xfrm>
            <a:off x="647640" y="1474920"/>
            <a:ext cx="1329840" cy="235080"/>
          </a:xfrm>
          <a:prstGeom prst="rect">
            <a:avLst/>
          </a:prstGeom>
          <a:noFill/>
          <a:ln w="0">
            <a:noFill/>
          </a:ln>
        </p:spPr>
        <p:txBody>
          <a:bodyPr wrap="none" lIns="0" tIns="0" rIns="0" bIns="0" anchor="t">
            <a:spAutoFit/>
          </a:bodyPr>
          <a:p>
            <a:pPr/>
            <a:r>
              <a:rPr lang="en-SG" sz="1300" b="1" u="none" strike="noStrike">
                <a:solidFill>
                  <a:srgbClr val="5F5F5F"/>
                </a:solidFill>
                <a:effectLst/>
                <a:uFillTx/>
                <a:latin typeface="Arial"/>
                <a:ea typeface="Outfit-Thin_Semi"/>
              </a:rPr>
              <a:t>T H E   U S E R</a:t>
            </a:r>
            <a:endParaRPr lang="en-SG" sz="1300" b="0" u="none" strike="noStrike">
              <a:solidFill>
                <a:srgbClr val="000000"/>
              </a:solidFill>
              <a:effectLst/>
              <a:uFillTx/>
              <a:latin typeface="Times New Roman"/>
            </a:endParaRPr>
          </a:p>
        </p:txBody>
      </p:sp>
      <p:sp>
        <p:nvSpPr>
          <p:cNvPr id="28" name=""/>
          <p:cNvSpPr txBox="1"/>
          <p:nvPr/>
        </p:nvSpPr>
        <p:spPr>
          <a:xfrm>
            <a:off x="647640" y="1716840"/>
            <a:ext cx="6847200" cy="346320"/>
          </a:xfrm>
          <a:prstGeom prst="rect">
            <a:avLst/>
          </a:prstGeom>
          <a:noFill/>
          <a:ln w="0">
            <a:noFill/>
          </a:ln>
        </p:spPr>
        <p:txBody>
          <a:bodyPr wrap="square" lIns="0" tIns="0" rIns="0" bIns="0" anchor="t">
            <a:spAutoFit/>
          </a:bodyPr>
          <a:p>
            <a:pPr/>
            <a:r>
              <a:rPr sz="2100" b="0">
                <a:solidFill>
                  <a:srgbClr val="F2F2F2"/>
                </a:solidFill>
                <a:latin typeface="Aptos"/>
              </a:rPr>
              <a:t>A hirer has three knobs — and no reliable benchmark</a:t>
            </a:r>
            <a:endParaRPr lang="en-SG" sz="2720" b="0" u="none" strike="noStrike">
              <a:solidFill>
                <a:srgbClr val="000000"/>
              </a:solidFill>
              <a:effectLst/>
              <a:uFillTx/>
              <a:latin typeface="Times New Roman"/>
            </a:endParaRPr>
          </a:p>
        </p:txBody>
      </p:sp>
      <p:sp>
        <p:nvSpPr>
          <p:cNvPr id="29" name=""/>
          <p:cNvSpPr/>
          <p:nvPr/>
        </p:nvSpPr>
        <p:spPr>
          <a:xfrm>
            <a:off x="652320" y="2447640"/>
            <a:ext cx="3534120" cy="2024640"/>
          </a:xfrm>
          <a:custGeom>
            <a:avLst/>
            <a:gdLst/>
            <a:ahLst/>
            <a:rect l="0" t="0" r="r" b="b"/>
            <a:pathLst>
              <a:path w="9817" h="5624">
                <a:moveTo>
                  <a:pt x="0" y="5372"/>
                </a:moveTo>
                <a:lnTo>
                  <a:pt x="0" y="238"/>
                </a:lnTo>
                <a:cubicBezTo>
                  <a:pt x="0" y="223"/>
                  <a:pt x="2" y="207"/>
                  <a:pt x="5" y="192"/>
                </a:cubicBezTo>
                <a:cubicBezTo>
                  <a:pt x="8" y="177"/>
                  <a:pt x="13" y="162"/>
                  <a:pt x="19" y="147"/>
                </a:cubicBezTo>
                <a:cubicBezTo>
                  <a:pt x="25" y="133"/>
                  <a:pt x="33" y="119"/>
                  <a:pt x="42" y="106"/>
                </a:cubicBezTo>
                <a:cubicBezTo>
                  <a:pt x="51" y="93"/>
                  <a:pt x="62" y="81"/>
                  <a:pt x="74" y="70"/>
                </a:cubicBezTo>
                <a:cubicBezTo>
                  <a:pt x="85" y="59"/>
                  <a:pt x="98" y="49"/>
                  <a:pt x="112" y="40"/>
                </a:cubicBezTo>
                <a:cubicBezTo>
                  <a:pt x="125" y="32"/>
                  <a:pt x="140" y="24"/>
                  <a:pt x="155" y="18"/>
                </a:cubicBezTo>
                <a:cubicBezTo>
                  <a:pt x="170" y="12"/>
                  <a:pt x="186" y="8"/>
                  <a:pt x="202" y="5"/>
                </a:cubicBezTo>
                <a:cubicBezTo>
                  <a:pt x="218" y="2"/>
                  <a:pt x="235" y="0"/>
                  <a:pt x="251" y="0"/>
                </a:cubicBezTo>
                <a:lnTo>
                  <a:pt x="9566" y="0"/>
                </a:lnTo>
                <a:cubicBezTo>
                  <a:pt x="9582" y="0"/>
                  <a:pt x="9598" y="2"/>
                  <a:pt x="9615" y="5"/>
                </a:cubicBezTo>
                <a:cubicBezTo>
                  <a:pt x="9631" y="8"/>
                  <a:pt x="9647" y="12"/>
                  <a:pt x="9662" y="18"/>
                </a:cubicBezTo>
                <a:cubicBezTo>
                  <a:pt x="9677" y="24"/>
                  <a:pt x="9692" y="32"/>
                  <a:pt x="9705" y="40"/>
                </a:cubicBezTo>
                <a:cubicBezTo>
                  <a:pt x="9719" y="49"/>
                  <a:pt x="9732" y="59"/>
                  <a:pt x="9743" y="70"/>
                </a:cubicBezTo>
                <a:cubicBezTo>
                  <a:pt x="9755" y="81"/>
                  <a:pt x="9765" y="93"/>
                  <a:pt x="9775" y="106"/>
                </a:cubicBezTo>
                <a:cubicBezTo>
                  <a:pt x="9784" y="119"/>
                  <a:pt x="9791" y="133"/>
                  <a:pt x="9798" y="147"/>
                </a:cubicBezTo>
                <a:cubicBezTo>
                  <a:pt x="9804" y="162"/>
                  <a:pt x="9809" y="177"/>
                  <a:pt x="9812" y="192"/>
                </a:cubicBezTo>
                <a:cubicBezTo>
                  <a:pt x="9815" y="207"/>
                  <a:pt x="9817" y="223"/>
                  <a:pt x="9817" y="238"/>
                </a:cubicBezTo>
                <a:lnTo>
                  <a:pt x="9817" y="5372"/>
                </a:lnTo>
                <a:cubicBezTo>
                  <a:pt x="9817" y="5389"/>
                  <a:pt x="9815" y="5405"/>
                  <a:pt x="9812" y="5421"/>
                </a:cubicBezTo>
                <a:cubicBezTo>
                  <a:pt x="9809" y="5438"/>
                  <a:pt x="9804" y="5453"/>
                  <a:pt x="9798" y="5469"/>
                </a:cubicBezTo>
                <a:cubicBezTo>
                  <a:pt x="9791" y="5484"/>
                  <a:pt x="9784" y="5498"/>
                  <a:pt x="9775" y="5512"/>
                </a:cubicBezTo>
                <a:cubicBezTo>
                  <a:pt x="9765" y="5526"/>
                  <a:pt x="9755" y="5538"/>
                  <a:pt x="9743" y="5550"/>
                </a:cubicBezTo>
                <a:cubicBezTo>
                  <a:pt x="9732" y="5562"/>
                  <a:pt x="9719" y="5572"/>
                  <a:pt x="9705" y="5581"/>
                </a:cubicBezTo>
                <a:cubicBezTo>
                  <a:pt x="9692" y="5590"/>
                  <a:pt x="9677" y="5598"/>
                  <a:pt x="9662" y="5605"/>
                </a:cubicBezTo>
                <a:cubicBezTo>
                  <a:pt x="9647" y="5611"/>
                  <a:pt x="9631" y="5616"/>
                  <a:pt x="9615" y="5619"/>
                </a:cubicBezTo>
                <a:cubicBezTo>
                  <a:pt x="9598" y="5622"/>
                  <a:pt x="9582" y="5624"/>
                  <a:pt x="9566" y="5624"/>
                </a:cubicBezTo>
                <a:lnTo>
                  <a:pt x="251" y="5624"/>
                </a:lnTo>
                <a:cubicBezTo>
                  <a:pt x="235" y="5624"/>
                  <a:pt x="218" y="5622"/>
                  <a:pt x="202" y="5619"/>
                </a:cubicBezTo>
                <a:cubicBezTo>
                  <a:pt x="186" y="5616"/>
                  <a:pt x="170" y="5611"/>
                  <a:pt x="155" y="5605"/>
                </a:cubicBezTo>
                <a:cubicBezTo>
                  <a:pt x="140" y="5598"/>
                  <a:pt x="125" y="5590"/>
                  <a:pt x="112" y="5581"/>
                </a:cubicBezTo>
                <a:cubicBezTo>
                  <a:pt x="98" y="5572"/>
                  <a:pt x="85" y="5562"/>
                  <a:pt x="74" y="5550"/>
                </a:cubicBezTo>
                <a:cubicBezTo>
                  <a:pt x="62" y="5538"/>
                  <a:pt x="51" y="5526"/>
                  <a:pt x="42" y="5512"/>
                </a:cubicBezTo>
                <a:cubicBezTo>
                  <a:pt x="33" y="5498"/>
                  <a:pt x="25" y="5484"/>
                  <a:pt x="19" y="5469"/>
                </a:cubicBezTo>
                <a:cubicBezTo>
                  <a:pt x="13" y="5453"/>
                  <a:pt x="8" y="5438"/>
                  <a:pt x="5" y="5421"/>
                </a:cubicBezTo>
                <a:cubicBezTo>
                  <a:pt x="2" y="5405"/>
                  <a:pt x="0" y="5389"/>
                  <a:pt x="0" y="5372"/>
                </a:cubicBezTo>
                <a:close/>
              </a:path>
            </a:pathLst>
          </a:custGeom>
          <a:solidFill>
            <a:srgbClr val="080808"/>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30" name=""/>
          <p:cNvSpPr/>
          <p:nvPr/>
        </p:nvSpPr>
        <p:spPr>
          <a:xfrm>
            <a:off x="672840" y="2457360"/>
            <a:ext cx="3492720" cy="52920"/>
          </a:xfrm>
          <a:custGeom>
            <a:avLst/>
            <a:gdLst/>
            <a:ahLst/>
            <a:rect l="0" t="0" r="r" b="b"/>
            <a:pathLst>
              <a:path w="9702" h="147">
                <a:moveTo>
                  <a:pt x="9673" y="147"/>
                </a:moveTo>
                <a:lnTo>
                  <a:pt x="29" y="147"/>
                </a:lnTo>
                <a:lnTo>
                  <a:pt x="0" y="88"/>
                </a:lnTo>
                <a:cubicBezTo>
                  <a:pt x="8" y="79"/>
                  <a:pt x="16" y="70"/>
                  <a:pt x="26" y="62"/>
                </a:cubicBezTo>
                <a:cubicBezTo>
                  <a:pt x="48" y="42"/>
                  <a:pt x="74" y="27"/>
                  <a:pt x="103" y="16"/>
                </a:cubicBezTo>
                <a:cubicBezTo>
                  <a:pt x="132" y="5"/>
                  <a:pt x="163" y="0"/>
                  <a:pt x="194" y="0"/>
                </a:cubicBezTo>
                <a:lnTo>
                  <a:pt x="9509" y="0"/>
                </a:lnTo>
                <a:cubicBezTo>
                  <a:pt x="9540" y="0"/>
                  <a:pt x="9571" y="5"/>
                  <a:pt x="9600" y="16"/>
                </a:cubicBezTo>
                <a:cubicBezTo>
                  <a:pt x="9629" y="27"/>
                  <a:pt x="9655" y="42"/>
                  <a:pt x="9677" y="62"/>
                </a:cubicBezTo>
                <a:cubicBezTo>
                  <a:pt x="9686" y="70"/>
                  <a:pt x="9695" y="79"/>
                  <a:pt x="9702" y="88"/>
                </a:cubicBezTo>
                <a:lnTo>
                  <a:pt x="9673" y="147"/>
                </a:lnTo>
                <a:close/>
              </a:path>
            </a:pathLst>
          </a:custGeom>
          <a:solidFill>
            <a:srgbClr val="FF6B1A"/>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31" name=""/>
          <p:cNvSpPr/>
          <p:nvPr/>
        </p:nvSpPr>
        <p:spPr>
          <a:xfrm>
            <a:off x="682200" y="4424040"/>
            <a:ext cx="3474360" cy="43200"/>
          </a:xfrm>
          <a:custGeom>
            <a:avLst/>
            <a:gdLst/>
            <a:ahLst/>
            <a:rect l="0" t="0" r="r" b="b"/>
            <a:pathLst>
              <a:path w="9651" h="120">
                <a:moveTo>
                  <a:pt x="49" y="0"/>
                </a:moveTo>
                <a:lnTo>
                  <a:pt x="9602" y="0"/>
                </a:lnTo>
                <a:lnTo>
                  <a:pt x="9651" y="51"/>
                </a:lnTo>
                <a:cubicBezTo>
                  <a:pt x="9629" y="73"/>
                  <a:pt x="9603" y="90"/>
                  <a:pt x="9574" y="102"/>
                </a:cubicBezTo>
                <a:cubicBezTo>
                  <a:pt x="9545" y="114"/>
                  <a:pt x="9514" y="120"/>
                  <a:pt x="9483" y="120"/>
                </a:cubicBezTo>
                <a:lnTo>
                  <a:pt x="168" y="120"/>
                </a:lnTo>
                <a:cubicBezTo>
                  <a:pt x="137" y="120"/>
                  <a:pt x="106" y="114"/>
                  <a:pt x="77" y="102"/>
                </a:cubicBezTo>
                <a:cubicBezTo>
                  <a:pt x="48" y="90"/>
                  <a:pt x="22" y="73"/>
                  <a:pt x="0" y="51"/>
                </a:cubicBezTo>
                <a:lnTo>
                  <a:pt x="49" y="0"/>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32" name=""/>
          <p:cNvSpPr/>
          <p:nvPr/>
        </p:nvSpPr>
        <p:spPr>
          <a:xfrm>
            <a:off x="4138560" y="2488680"/>
            <a:ext cx="43200" cy="1954080"/>
          </a:xfrm>
          <a:custGeom>
            <a:avLst/>
            <a:gdLst/>
            <a:ahLst/>
            <a:rect l="0" t="0" r="r" b="b"/>
            <a:pathLst>
              <a:path w="120" h="5428">
                <a:moveTo>
                  <a:pt x="0" y="5380"/>
                </a:moveTo>
                <a:lnTo>
                  <a:pt x="0" y="148"/>
                </a:lnTo>
                <a:lnTo>
                  <a:pt x="74" y="0"/>
                </a:lnTo>
                <a:cubicBezTo>
                  <a:pt x="84" y="14"/>
                  <a:pt x="93" y="28"/>
                  <a:pt x="101" y="43"/>
                </a:cubicBezTo>
                <a:cubicBezTo>
                  <a:pt x="114" y="69"/>
                  <a:pt x="120" y="96"/>
                  <a:pt x="120" y="124"/>
                </a:cubicBezTo>
                <a:lnTo>
                  <a:pt x="120" y="5258"/>
                </a:lnTo>
                <a:cubicBezTo>
                  <a:pt x="120" y="5290"/>
                  <a:pt x="114" y="5320"/>
                  <a:pt x="101" y="5349"/>
                </a:cubicBezTo>
                <a:cubicBezTo>
                  <a:pt x="88" y="5379"/>
                  <a:pt x="71" y="5404"/>
                  <a:pt x="49" y="5427"/>
                </a:cubicBezTo>
                <a:lnTo>
                  <a:pt x="48" y="5428"/>
                </a:lnTo>
                <a:lnTo>
                  <a:pt x="0" y="5380"/>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33" name=""/>
          <p:cNvSpPr/>
          <p:nvPr/>
        </p:nvSpPr>
        <p:spPr>
          <a:xfrm>
            <a:off x="657000" y="2488680"/>
            <a:ext cx="43200" cy="1954080"/>
          </a:xfrm>
          <a:custGeom>
            <a:avLst/>
            <a:gdLst/>
            <a:ahLst/>
            <a:rect l="0" t="0" r="r" b="b"/>
            <a:pathLst>
              <a:path w="120" h="5428">
                <a:moveTo>
                  <a:pt x="120" y="148"/>
                </a:moveTo>
                <a:lnTo>
                  <a:pt x="120" y="5380"/>
                </a:lnTo>
                <a:lnTo>
                  <a:pt x="72" y="5428"/>
                </a:lnTo>
                <a:lnTo>
                  <a:pt x="71" y="5427"/>
                </a:lnTo>
                <a:cubicBezTo>
                  <a:pt x="49" y="5404"/>
                  <a:pt x="31" y="5379"/>
                  <a:pt x="18" y="5349"/>
                </a:cubicBezTo>
                <a:cubicBezTo>
                  <a:pt x="6" y="5320"/>
                  <a:pt x="0" y="5290"/>
                  <a:pt x="0" y="5258"/>
                </a:cubicBezTo>
                <a:lnTo>
                  <a:pt x="0" y="124"/>
                </a:lnTo>
                <a:cubicBezTo>
                  <a:pt x="0" y="96"/>
                  <a:pt x="6" y="69"/>
                  <a:pt x="18" y="43"/>
                </a:cubicBezTo>
                <a:cubicBezTo>
                  <a:pt x="26" y="28"/>
                  <a:pt x="35" y="14"/>
                  <a:pt x="46" y="0"/>
                </a:cubicBezTo>
                <a:lnTo>
                  <a:pt x="120" y="148"/>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34" name=""/>
          <p:cNvSpPr txBox="1"/>
          <p:nvPr/>
        </p:nvSpPr>
        <p:spPr>
          <a:xfrm>
            <a:off x="838080" y="4859640"/>
            <a:ext cx="10353960" cy="221400"/>
          </a:xfrm>
          <a:prstGeom prst="rect">
            <a:avLst/>
          </a:prstGeom>
          <a:noFill/>
          <a:ln w="0">
            <a:noFill/>
          </a:ln>
        </p:spPr>
        <p:txBody>
          <a:bodyPr wrap="square" lIns="0" tIns="0" rIns="0" bIns="0" anchor="t">
            <a:spAutoFit/>
          </a:bodyPr>
          <a:p>
            <a:pPr/>
            <a:r>
              <a:rPr sz="1400" b="0">
                <a:solidFill>
                  <a:srgbClr val="AAAAAA"/>
                </a:solidFill>
                <a:latin typeface="Aptos"/>
              </a:rPr>
              <a:t>Before I post: is my offer competitive — and what response should I realistically expect?</a:t>
            </a:r>
            <a:endParaRPr lang="en-SG" sz="1740" b="0" u="none" strike="noStrike">
              <a:solidFill>
                <a:srgbClr val="000000"/>
              </a:solidFill>
              <a:effectLst/>
              <a:uFillTx/>
              <a:latin typeface="Times New Roman"/>
            </a:endParaRPr>
          </a:p>
        </p:txBody>
      </p:sp>
      <p:sp>
        <p:nvSpPr>
          <p:cNvPr id="35" name=""/>
          <p:cNvSpPr txBox="1"/>
          <p:nvPr/>
        </p:nvSpPr>
        <p:spPr>
          <a:xfrm>
            <a:off x="828720" y="2629080"/>
            <a:ext cx="771120" cy="195480"/>
          </a:xfrm>
          <a:prstGeom prst="rect">
            <a:avLst/>
          </a:prstGeom>
          <a:noFill/>
          <a:ln w="0">
            <a:noFill/>
          </a:ln>
        </p:spPr>
        <p:txBody>
          <a:bodyPr wrap="none" lIns="0" tIns="0" rIns="0" bIns="0" anchor="t">
            <a:spAutoFit/>
          </a:bodyPr>
          <a:p>
            <a:pPr/>
            <a:r>
              <a:rPr lang="en-SG" sz="1090" b="1" u="none" strike="noStrike">
                <a:solidFill>
                  <a:srgbClr val="555555"/>
                </a:solidFill>
                <a:effectLst/>
                <a:uFillTx/>
                <a:latin typeface="Outfit-Thin_Semi"/>
                <a:ea typeface="Outfit-Thin_Semi"/>
              </a:rPr>
              <a:t>THEY SET</a:t>
            </a:r>
            <a:endParaRPr lang="en-SG" sz="1090" b="0" u="none" strike="noStrike">
              <a:solidFill>
                <a:srgbClr val="000000"/>
              </a:solidFill>
              <a:effectLst/>
              <a:uFillTx/>
              <a:latin typeface="Times New Roman"/>
            </a:endParaRPr>
          </a:p>
        </p:txBody>
      </p:sp>
      <p:sp>
        <p:nvSpPr>
          <p:cNvPr id="36" name=""/>
          <p:cNvSpPr txBox="1"/>
          <p:nvPr/>
        </p:nvSpPr>
        <p:spPr>
          <a:xfrm>
            <a:off x="828720" y="2998800"/>
            <a:ext cx="979920" cy="215280"/>
          </a:xfrm>
          <a:prstGeom prst="rect">
            <a:avLst/>
          </a:prstGeom>
          <a:noFill/>
          <a:ln w="0">
            <a:noFill/>
          </a:ln>
        </p:spPr>
        <p:txBody>
          <a:bodyPr wrap="none" lIns="0" tIns="0" rIns="0" bIns="0" anchor="t">
            <a:spAutoFit/>
          </a:bodyPr>
          <a:p>
            <a:pPr/>
            <a:r>
              <a:rPr lang="en-SG" sz="1700" b="0" u="none" strike="noStrike">
                <a:solidFill>
                  <a:srgbClr val="CCCCCC"/>
                </a:solidFill>
                <a:effectLst/>
                <a:uFillTx/>
                <a:latin typeface="RalewayRoman"/>
                <a:ea typeface="RalewayRoman"/>
              </a:rPr>
              <a:t>Pay range</a:t>
            </a:r>
            <a:endParaRPr lang="en-SG" sz="1700" b="0" u="none" strike="noStrike">
              <a:solidFill>
                <a:srgbClr val="000000"/>
              </a:solidFill>
              <a:effectLst/>
              <a:uFillTx/>
              <a:latin typeface="Times New Roman"/>
            </a:endParaRPr>
          </a:p>
        </p:txBody>
      </p:sp>
      <p:sp>
        <p:nvSpPr>
          <p:cNvPr id="37" name=""/>
          <p:cNvSpPr txBox="1"/>
          <p:nvPr/>
        </p:nvSpPr>
        <p:spPr>
          <a:xfrm>
            <a:off x="828720" y="3456000"/>
            <a:ext cx="2830680" cy="215280"/>
          </a:xfrm>
          <a:prstGeom prst="rect">
            <a:avLst/>
          </a:prstGeom>
          <a:noFill/>
          <a:ln w="0">
            <a:noFill/>
          </a:ln>
        </p:spPr>
        <p:txBody>
          <a:bodyPr wrap="none" lIns="0" tIns="0" rIns="0" bIns="0" anchor="t">
            <a:spAutoFit/>
          </a:bodyPr>
          <a:p>
            <a:pPr/>
            <a:r>
              <a:rPr lang="en-SG" sz="1700" b="0" u="none" strike="noStrike">
                <a:solidFill>
                  <a:srgbClr val="CCCCCC"/>
                </a:solidFill>
                <a:effectLst/>
                <a:uFillTx/>
                <a:latin typeface="RalewayRoman"/>
                <a:ea typeface="RalewayRoman"/>
              </a:rPr>
              <a:t>Minimum years of experience</a:t>
            </a:r>
            <a:endParaRPr lang="en-SG" sz="1700" b="0" u="none" strike="noStrike">
              <a:solidFill>
                <a:srgbClr val="000000"/>
              </a:solidFill>
              <a:effectLst/>
              <a:uFillTx/>
              <a:latin typeface="Times New Roman"/>
            </a:endParaRPr>
          </a:p>
        </p:txBody>
      </p:sp>
      <p:sp>
        <p:nvSpPr>
          <p:cNvPr id="38" name=""/>
          <p:cNvSpPr/>
          <p:nvPr/>
        </p:nvSpPr>
        <p:spPr>
          <a:xfrm>
            <a:off x="4329000" y="2447640"/>
            <a:ext cx="3534120" cy="2024640"/>
          </a:xfrm>
          <a:custGeom>
            <a:avLst/>
            <a:gdLst/>
            <a:ahLst/>
            <a:rect l="0" t="0" r="r" b="b"/>
            <a:pathLst>
              <a:path w="9817" h="5624">
                <a:moveTo>
                  <a:pt x="0" y="5372"/>
                </a:moveTo>
                <a:lnTo>
                  <a:pt x="0" y="238"/>
                </a:lnTo>
                <a:cubicBezTo>
                  <a:pt x="0" y="223"/>
                  <a:pt x="1" y="207"/>
                  <a:pt x="5" y="192"/>
                </a:cubicBezTo>
                <a:cubicBezTo>
                  <a:pt x="8" y="177"/>
                  <a:pt x="13" y="162"/>
                  <a:pt x="19" y="147"/>
                </a:cubicBezTo>
                <a:cubicBezTo>
                  <a:pt x="25" y="133"/>
                  <a:pt x="33" y="119"/>
                  <a:pt x="42" y="106"/>
                </a:cubicBezTo>
                <a:cubicBezTo>
                  <a:pt x="51" y="93"/>
                  <a:pt x="62" y="81"/>
                  <a:pt x="73" y="70"/>
                </a:cubicBezTo>
                <a:cubicBezTo>
                  <a:pt x="85" y="59"/>
                  <a:pt x="98" y="49"/>
                  <a:pt x="112" y="40"/>
                </a:cubicBezTo>
                <a:cubicBezTo>
                  <a:pt x="125" y="32"/>
                  <a:pt x="140" y="24"/>
                  <a:pt x="155" y="18"/>
                </a:cubicBezTo>
                <a:cubicBezTo>
                  <a:pt x="170" y="12"/>
                  <a:pt x="186" y="8"/>
                  <a:pt x="202" y="5"/>
                </a:cubicBezTo>
                <a:cubicBezTo>
                  <a:pt x="218" y="2"/>
                  <a:pt x="235" y="0"/>
                  <a:pt x="251" y="0"/>
                </a:cubicBezTo>
                <a:lnTo>
                  <a:pt x="9565" y="0"/>
                </a:lnTo>
                <a:cubicBezTo>
                  <a:pt x="9582" y="0"/>
                  <a:pt x="9598" y="2"/>
                  <a:pt x="9615" y="5"/>
                </a:cubicBezTo>
                <a:cubicBezTo>
                  <a:pt x="9631" y="8"/>
                  <a:pt x="9646" y="12"/>
                  <a:pt x="9662" y="18"/>
                </a:cubicBezTo>
                <a:cubicBezTo>
                  <a:pt x="9677" y="24"/>
                  <a:pt x="9691" y="32"/>
                  <a:pt x="9705" y="40"/>
                </a:cubicBezTo>
                <a:cubicBezTo>
                  <a:pt x="9719" y="49"/>
                  <a:pt x="9732" y="59"/>
                  <a:pt x="9743" y="70"/>
                </a:cubicBezTo>
                <a:cubicBezTo>
                  <a:pt x="9755" y="81"/>
                  <a:pt x="9765" y="93"/>
                  <a:pt x="9774" y="106"/>
                </a:cubicBezTo>
                <a:cubicBezTo>
                  <a:pt x="9784" y="119"/>
                  <a:pt x="9791" y="133"/>
                  <a:pt x="9798" y="147"/>
                </a:cubicBezTo>
                <a:cubicBezTo>
                  <a:pt x="9804" y="162"/>
                  <a:pt x="9809" y="177"/>
                  <a:pt x="9812" y="192"/>
                </a:cubicBezTo>
                <a:cubicBezTo>
                  <a:pt x="9815" y="207"/>
                  <a:pt x="9817" y="223"/>
                  <a:pt x="9817" y="238"/>
                </a:cubicBezTo>
                <a:lnTo>
                  <a:pt x="9817" y="5372"/>
                </a:lnTo>
                <a:cubicBezTo>
                  <a:pt x="9817" y="5389"/>
                  <a:pt x="9815" y="5405"/>
                  <a:pt x="9812" y="5421"/>
                </a:cubicBezTo>
                <a:cubicBezTo>
                  <a:pt x="9809" y="5438"/>
                  <a:pt x="9804" y="5453"/>
                  <a:pt x="9798" y="5469"/>
                </a:cubicBezTo>
                <a:cubicBezTo>
                  <a:pt x="9791" y="5484"/>
                  <a:pt x="9784" y="5498"/>
                  <a:pt x="9774" y="5512"/>
                </a:cubicBezTo>
                <a:cubicBezTo>
                  <a:pt x="9765" y="5526"/>
                  <a:pt x="9755" y="5538"/>
                  <a:pt x="9743" y="5550"/>
                </a:cubicBezTo>
                <a:cubicBezTo>
                  <a:pt x="9732" y="5562"/>
                  <a:pt x="9719" y="5572"/>
                  <a:pt x="9705" y="5581"/>
                </a:cubicBezTo>
                <a:cubicBezTo>
                  <a:pt x="9691" y="5590"/>
                  <a:pt x="9677" y="5598"/>
                  <a:pt x="9662" y="5605"/>
                </a:cubicBezTo>
                <a:cubicBezTo>
                  <a:pt x="9646" y="5611"/>
                  <a:pt x="9631" y="5616"/>
                  <a:pt x="9615" y="5619"/>
                </a:cubicBezTo>
                <a:cubicBezTo>
                  <a:pt x="9598" y="5622"/>
                  <a:pt x="9582" y="5624"/>
                  <a:pt x="9565" y="5624"/>
                </a:cubicBezTo>
                <a:lnTo>
                  <a:pt x="251" y="5624"/>
                </a:lnTo>
                <a:cubicBezTo>
                  <a:pt x="235" y="5624"/>
                  <a:pt x="218" y="5622"/>
                  <a:pt x="202" y="5619"/>
                </a:cubicBezTo>
                <a:cubicBezTo>
                  <a:pt x="186" y="5616"/>
                  <a:pt x="170" y="5611"/>
                  <a:pt x="155" y="5605"/>
                </a:cubicBezTo>
                <a:cubicBezTo>
                  <a:pt x="140" y="5598"/>
                  <a:pt x="125" y="5590"/>
                  <a:pt x="112" y="5581"/>
                </a:cubicBezTo>
                <a:cubicBezTo>
                  <a:pt x="98" y="5572"/>
                  <a:pt x="85" y="5562"/>
                  <a:pt x="73" y="5550"/>
                </a:cubicBezTo>
                <a:cubicBezTo>
                  <a:pt x="62" y="5538"/>
                  <a:pt x="51" y="5526"/>
                  <a:pt x="42" y="5512"/>
                </a:cubicBezTo>
                <a:cubicBezTo>
                  <a:pt x="33" y="5498"/>
                  <a:pt x="25" y="5484"/>
                  <a:pt x="19" y="5469"/>
                </a:cubicBezTo>
                <a:cubicBezTo>
                  <a:pt x="13" y="5453"/>
                  <a:pt x="8" y="5438"/>
                  <a:pt x="5" y="5421"/>
                </a:cubicBezTo>
                <a:cubicBezTo>
                  <a:pt x="1" y="5405"/>
                  <a:pt x="0" y="5389"/>
                  <a:pt x="0" y="5372"/>
                </a:cubicBezTo>
                <a:close/>
              </a:path>
            </a:pathLst>
          </a:custGeom>
          <a:solidFill>
            <a:srgbClr val="080808"/>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39" name=""/>
          <p:cNvSpPr/>
          <p:nvPr/>
        </p:nvSpPr>
        <p:spPr>
          <a:xfrm>
            <a:off x="4349520" y="2457360"/>
            <a:ext cx="3492720" cy="52920"/>
          </a:xfrm>
          <a:custGeom>
            <a:avLst/>
            <a:gdLst/>
            <a:ahLst/>
            <a:rect l="0" t="0" r="r" b="b"/>
            <a:pathLst>
              <a:path w="9702" h="147">
                <a:moveTo>
                  <a:pt x="9673" y="147"/>
                </a:moveTo>
                <a:lnTo>
                  <a:pt x="29" y="147"/>
                </a:lnTo>
                <a:lnTo>
                  <a:pt x="0" y="88"/>
                </a:lnTo>
                <a:cubicBezTo>
                  <a:pt x="8" y="79"/>
                  <a:pt x="16" y="70"/>
                  <a:pt x="26" y="62"/>
                </a:cubicBezTo>
                <a:cubicBezTo>
                  <a:pt x="48" y="42"/>
                  <a:pt x="74" y="27"/>
                  <a:pt x="103" y="16"/>
                </a:cubicBezTo>
                <a:cubicBezTo>
                  <a:pt x="132" y="5"/>
                  <a:pt x="163" y="0"/>
                  <a:pt x="194" y="0"/>
                </a:cubicBezTo>
                <a:lnTo>
                  <a:pt x="9508" y="0"/>
                </a:lnTo>
                <a:cubicBezTo>
                  <a:pt x="9540" y="0"/>
                  <a:pt x="9570" y="5"/>
                  <a:pt x="9600" y="16"/>
                </a:cubicBezTo>
                <a:cubicBezTo>
                  <a:pt x="9629" y="27"/>
                  <a:pt x="9655" y="42"/>
                  <a:pt x="9677" y="62"/>
                </a:cubicBezTo>
                <a:cubicBezTo>
                  <a:pt x="9686" y="70"/>
                  <a:pt x="9695" y="79"/>
                  <a:pt x="9702" y="88"/>
                </a:cubicBezTo>
                <a:lnTo>
                  <a:pt x="9673" y="147"/>
                </a:lnTo>
                <a:close/>
              </a:path>
            </a:pathLst>
          </a:custGeom>
          <a:solidFill>
            <a:srgbClr val="333333"/>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40" name=""/>
          <p:cNvSpPr/>
          <p:nvPr/>
        </p:nvSpPr>
        <p:spPr>
          <a:xfrm>
            <a:off x="4358880" y="4424040"/>
            <a:ext cx="3474360" cy="43200"/>
          </a:xfrm>
          <a:custGeom>
            <a:avLst/>
            <a:gdLst/>
            <a:ahLst/>
            <a:rect l="0" t="0" r="r" b="b"/>
            <a:pathLst>
              <a:path w="9651" h="120">
                <a:moveTo>
                  <a:pt x="49" y="0"/>
                </a:moveTo>
                <a:lnTo>
                  <a:pt x="9602" y="0"/>
                </a:lnTo>
                <a:lnTo>
                  <a:pt x="9651" y="51"/>
                </a:lnTo>
                <a:cubicBezTo>
                  <a:pt x="9629" y="73"/>
                  <a:pt x="9603" y="90"/>
                  <a:pt x="9574" y="102"/>
                </a:cubicBezTo>
                <a:cubicBezTo>
                  <a:pt x="9544" y="114"/>
                  <a:pt x="9514" y="120"/>
                  <a:pt x="9482" y="120"/>
                </a:cubicBezTo>
                <a:lnTo>
                  <a:pt x="168" y="120"/>
                </a:lnTo>
                <a:cubicBezTo>
                  <a:pt x="137" y="120"/>
                  <a:pt x="106" y="114"/>
                  <a:pt x="77" y="102"/>
                </a:cubicBezTo>
                <a:cubicBezTo>
                  <a:pt x="48" y="90"/>
                  <a:pt x="22" y="73"/>
                  <a:pt x="0" y="51"/>
                </a:cubicBezTo>
                <a:lnTo>
                  <a:pt x="49" y="0"/>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41" name=""/>
          <p:cNvSpPr/>
          <p:nvPr/>
        </p:nvSpPr>
        <p:spPr>
          <a:xfrm>
            <a:off x="7815240" y="2488680"/>
            <a:ext cx="43200" cy="1954080"/>
          </a:xfrm>
          <a:custGeom>
            <a:avLst/>
            <a:gdLst/>
            <a:ahLst/>
            <a:rect l="0" t="0" r="r" b="b"/>
            <a:pathLst>
              <a:path w="120" h="5428">
                <a:moveTo>
                  <a:pt x="0" y="5380"/>
                </a:moveTo>
                <a:lnTo>
                  <a:pt x="0" y="148"/>
                </a:lnTo>
                <a:lnTo>
                  <a:pt x="74" y="0"/>
                </a:lnTo>
                <a:cubicBezTo>
                  <a:pt x="85" y="14"/>
                  <a:pt x="94" y="28"/>
                  <a:pt x="101" y="43"/>
                </a:cubicBezTo>
                <a:cubicBezTo>
                  <a:pt x="114" y="69"/>
                  <a:pt x="120" y="96"/>
                  <a:pt x="120" y="124"/>
                </a:cubicBezTo>
                <a:lnTo>
                  <a:pt x="120" y="5258"/>
                </a:lnTo>
                <a:cubicBezTo>
                  <a:pt x="120" y="5290"/>
                  <a:pt x="114" y="5320"/>
                  <a:pt x="101" y="5349"/>
                </a:cubicBezTo>
                <a:cubicBezTo>
                  <a:pt x="89" y="5379"/>
                  <a:pt x="72" y="5404"/>
                  <a:pt x="50" y="5427"/>
                </a:cubicBezTo>
                <a:cubicBezTo>
                  <a:pt x="49" y="5427"/>
                  <a:pt x="49" y="5428"/>
                  <a:pt x="49" y="5428"/>
                </a:cubicBezTo>
                <a:lnTo>
                  <a:pt x="0" y="5380"/>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42" name=""/>
          <p:cNvSpPr/>
          <p:nvPr/>
        </p:nvSpPr>
        <p:spPr>
          <a:xfrm>
            <a:off x="4333680" y="2488680"/>
            <a:ext cx="43200" cy="1954080"/>
          </a:xfrm>
          <a:custGeom>
            <a:avLst/>
            <a:gdLst/>
            <a:ahLst/>
            <a:rect l="0" t="0" r="r" b="b"/>
            <a:pathLst>
              <a:path w="120" h="5428">
                <a:moveTo>
                  <a:pt x="120" y="148"/>
                </a:moveTo>
                <a:lnTo>
                  <a:pt x="120" y="5380"/>
                </a:lnTo>
                <a:lnTo>
                  <a:pt x="72" y="5428"/>
                </a:lnTo>
                <a:lnTo>
                  <a:pt x="71" y="5427"/>
                </a:lnTo>
                <a:cubicBezTo>
                  <a:pt x="48" y="5404"/>
                  <a:pt x="30" y="5379"/>
                  <a:pt x="18" y="5349"/>
                </a:cubicBezTo>
                <a:cubicBezTo>
                  <a:pt x="6" y="5320"/>
                  <a:pt x="0" y="5290"/>
                  <a:pt x="0" y="5258"/>
                </a:cubicBezTo>
                <a:lnTo>
                  <a:pt x="0" y="124"/>
                </a:lnTo>
                <a:cubicBezTo>
                  <a:pt x="0" y="96"/>
                  <a:pt x="6" y="69"/>
                  <a:pt x="18" y="43"/>
                </a:cubicBezTo>
                <a:cubicBezTo>
                  <a:pt x="25" y="28"/>
                  <a:pt x="34" y="14"/>
                  <a:pt x="46" y="0"/>
                </a:cubicBezTo>
                <a:lnTo>
                  <a:pt x="120" y="148"/>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43" name=""/>
          <p:cNvSpPr txBox="1"/>
          <p:nvPr/>
        </p:nvSpPr>
        <p:spPr>
          <a:xfrm>
            <a:off x="828720" y="3903480"/>
            <a:ext cx="1254600" cy="215280"/>
          </a:xfrm>
          <a:prstGeom prst="rect">
            <a:avLst/>
          </a:prstGeom>
          <a:noFill/>
          <a:ln w="0">
            <a:noFill/>
          </a:ln>
        </p:spPr>
        <p:txBody>
          <a:bodyPr wrap="none" lIns="0" tIns="0" rIns="0" bIns="0" anchor="t">
            <a:spAutoFit/>
          </a:bodyPr>
          <a:p>
            <a:pPr/>
            <a:r>
              <a:rPr lang="en-SG" sz="1700" b="0" u="none" strike="noStrike">
                <a:solidFill>
                  <a:srgbClr val="CCCCCC"/>
                </a:solidFill>
                <a:effectLst/>
                <a:uFillTx/>
                <a:latin typeface="RalewayRoman"/>
                <a:ea typeface="RalewayRoman"/>
              </a:rPr>
              <a:t>Position level</a:t>
            </a:r>
            <a:endParaRPr lang="en-SG" sz="1700" b="0" u="none" strike="noStrike">
              <a:solidFill>
                <a:srgbClr val="000000"/>
              </a:solidFill>
              <a:effectLst/>
              <a:uFillTx/>
              <a:latin typeface="Times New Roman"/>
            </a:endParaRPr>
          </a:p>
        </p:txBody>
      </p:sp>
      <p:sp>
        <p:nvSpPr>
          <p:cNvPr id="44" name=""/>
          <p:cNvSpPr txBox="1"/>
          <p:nvPr/>
        </p:nvSpPr>
        <p:spPr>
          <a:xfrm>
            <a:off x="4505400" y="2629080"/>
            <a:ext cx="1541520" cy="195480"/>
          </a:xfrm>
          <a:prstGeom prst="rect">
            <a:avLst/>
          </a:prstGeom>
          <a:noFill/>
          <a:ln w="0">
            <a:noFill/>
          </a:ln>
        </p:spPr>
        <p:txBody>
          <a:bodyPr wrap="none" lIns="0" tIns="0" rIns="0" bIns="0" anchor="t">
            <a:spAutoFit/>
          </a:bodyPr>
          <a:p>
            <a:pPr/>
            <a:r>
              <a:rPr lang="en-SG" sz="1090" b="1" u="none" strike="noStrike">
                <a:solidFill>
                  <a:srgbClr val="555555"/>
                </a:solidFill>
                <a:effectLst/>
                <a:uFillTx/>
                <a:latin typeface="Outfit-Thin_Semi"/>
                <a:ea typeface="Outfit-Thin_Semi"/>
              </a:rPr>
              <a:t>THEY DECIDE FROM</a:t>
            </a:r>
            <a:endParaRPr lang="en-SG" sz="1090" b="0" u="none" strike="noStrike">
              <a:solidFill>
                <a:srgbClr val="000000"/>
              </a:solidFill>
              <a:effectLst/>
              <a:uFillTx/>
              <a:latin typeface="Times New Roman"/>
            </a:endParaRPr>
          </a:p>
        </p:txBody>
      </p:sp>
      <p:sp>
        <p:nvSpPr>
          <p:cNvPr id="45" name=""/>
          <p:cNvSpPr txBox="1"/>
          <p:nvPr/>
        </p:nvSpPr>
        <p:spPr>
          <a:xfrm>
            <a:off x="4505400" y="2998800"/>
            <a:ext cx="2305440" cy="215280"/>
          </a:xfrm>
          <a:prstGeom prst="rect">
            <a:avLst/>
          </a:prstGeom>
          <a:noFill/>
          <a:ln w="0">
            <a:noFill/>
          </a:ln>
        </p:spPr>
        <p:txBody>
          <a:bodyPr wrap="none" lIns="0" tIns="0" rIns="0" bIns="0" anchor="t">
            <a:spAutoFit/>
          </a:bodyPr>
          <a:p>
            <a:pPr/>
            <a:r>
              <a:rPr lang="en-SG" sz="1700" b="0" u="none" strike="noStrike">
                <a:solidFill>
                  <a:srgbClr val="CCCCCC"/>
                </a:solidFill>
                <a:effectLst/>
                <a:uFillTx/>
                <a:latin typeface="RalewayRoman"/>
                <a:ea typeface="RalewayRoman"/>
              </a:rPr>
              <a:t>What they paid last time</a:t>
            </a:r>
            <a:endParaRPr lang="en-SG" sz="1700" b="0" u="none" strike="noStrike">
              <a:solidFill>
                <a:srgbClr val="000000"/>
              </a:solidFill>
              <a:effectLst/>
              <a:uFillTx/>
              <a:latin typeface="Times New Roman"/>
            </a:endParaRPr>
          </a:p>
        </p:txBody>
      </p:sp>
      <p:sp>
        <p:nvSpPr>
          <p:cNvPr id="46" name=""/>
          <p:cNvSpPr txBox="1"/>
          <p:nvPr/>
        </p:nvSpPr>
        <p:spPr>
          <a:xfrm>
            <a:off x="4505400" y="3456000"/>
            <a:ext cx="1947240" cy="215280"/>
          </a:xfrm>
          <a:prstGeom prst="rect">
            <a:avLst/>
          </a:prstGeom>
          <a:noFill/>
          <a:ln w="0">
            <a:noFill/>
          </a:ln>
        </p:spPr>
        <p:txBody>
          <a:bodyPr wrap="none" lIns="0" tIns="0" rIns="0" bIns="0" anchor="t">
            <a:spAutoFit/>
          </a:bodyPr>
          <a:p>
            <a:pPr/>
            <a:r>
              <a:rPr lang="en-SG" sz="1700" b="0" u="none" strike="noStrike">
                <a:solidFill>
                  <a:srgbClr val="CCCCCC"/>
                </a:solidFill>
                <a:effectLst/>
                <a:uFillTx/>
                <a:latin typeface="RalewayRoman"/>
                <a:ea typeface="RalewayRoman"/>
              </a:rPr>
              <a:t>A colleague's guess</a:t>
            </a:r>
            <a:endParaRPr lang="en-SG" sz="1700" b="0" u="none" strike="noStrike">
              <a:solidFill>
                <a:srgbClr val="000000"/>
              </a:solidFill>
              <a:effectLst/>
              <a:uFillTx/>
              <a:latin typeface="Times New Roman"/>
            </a:endParaRPr>
          </a:p>
        </p:txBody>
      </p:sp>
      <p:sp>
        <p:nvSpPr>
          <p:cNvPr id="47" name=""/>
          <p:cNvSpPr/>
          <p:nvPr/>
        </p:nvSpPr>
        <p:spPr>
          <a:xfrm>
            <a:off x="8005680" y="2447640"/>
            <a:ext cx="3534120" cy="2024640"/>
          </a:xfrm>
          <a:custGeom>
            <a:avLst/>
            <a:gdLst/>
            <a:ahLst/>
            <a:rect l="0" t="0" r="r" b="b"/>
            <a:pathLst>
              <a:path w="9817" h="5624">
                <a:moveTo>
                  <a:pt x="0" y="5372"/>
                </a:moveTo>
                <a:lnTo>
                  <a:pt x="0" y="238"/>
                </a:lnTo>
                <a:cubicBezTo>
                  <a:pt x="0" y="223"/>
                  <a:pt x="1" y="207"/>
                  <a:pt x="5" y="192"/>
                </a:cubicBezTo>
                <a:cubicBezTo>
                  <a:pt x="8" y="177"/>
                  <a:pt x="13" y="162"/>
                  <a:pt x="19" y="147"/>
                </a:cubicBezTo>
                <a:cubicBezTo>
                  <a:pt x="25" y="133"/>
                  <a:pt x="33" y="119"/>
                  <a:pt x="42" y="106"/>
                </a:cubicBezTo>
                <a:cubicBezTo>
                  <a:pt x="51" y="93"/>
                  <a:pt x="62" y="81"/>
                  <a:pt x="73" y="70"/>
                </a:cubicBezTo>
                <a:cubicBezTo>
                  <a:pt x="85" y="59"/>
                  <a:pt x="98" y="49"/>
                  <a:pt x="111" y="40"/>
                </a:cubicBezTo>
                <a:cubicBezTo>
                  <a:pt x="125" y="32"/>
                  <a:pt x="140" y="24"/>
                  <a:pt x="155" y="18"/>
                </a:cubicBezTo>
                <a:cubicBezTo>
                  <a:pt x="170" y="12"/>
                  <a:pt x="186" y="8"/>
                  <a:pt x="202" y="5"/>
                </a:cubicBezTo>
                <a:cubicBezTo>
                  <a:pt x="218" y="2"/>
                  <a:pt x="235" y="0"/>
                  <a:pt x="251" y="0"/>
                </a:cubicBezTo>
                <a:lnTo>
                  <a:pt x="9565" y="0"/>
                </a:lnTo>
                <a:cubicBezTo>
                  <a:pt x="9582" y="0"/>
                  <a:pt x="9598" y="2"/>
                  <a:pt x="9614" y="5"/>
                </a:cubicBezTo>
                <a:cubicBezTo>
                  <a:pt x="9631" y="8"/>
                  <a:pt x="9646" y="12"/>
                  <a:pt x="9662" y="18"/>
                </a:cubicBezTo>
                <a:cubicBezTo>
                  <a:pt x="9677" y="24"/>
                  <a:pt x="9691" y="32"/>
                  <a:pt x="9705" y="40"/>
                </a:cubicBezTo>
                <a:cubicBezTo>
                  <a:pt x="9719" y="49"/>
                  <a:pt x="9731" y="59"/>
                  <a:pt x="9743" y="70"/>
                </a:cubicBezTo>
                <a:cubicBezTo>
                  <a:pt x="9755" y="81"/>
                  <a:pt x="9765" y="93"/>
                  <a:pt x="9774" y="106"/>
                </a:cubicBezTo>
                <a:cubicBezTo>
                  <a:pt x="9784" y="119"/>
                  <a:pt x="9791" y="133"/>
                  <a:pt x="9798" y="147"/>
                </a:cubicBezTo>
                <a:cubicBezTo>
                  <a:pt x="9804" y="162"/>
                  <a:pt x="9809" y="177"/>
                  <a:pt x="9812" y="192"/>
                </a:cubicBezTo>
                <a:cubicBezTo>
                  <a:pt x="9815" y="207"/>
                  <a:pt x="9817" y="223"/>
                  <a:pt x="9817" y="238"/>
                </a:cubicBezTo>
                <a:lnTo>
                  <a:pt x="9817" y="5372"/>
                </a:lnTo>
                <a:cubicBezTo>
                  <a:pt x="9817" y="5389"/>
                  <a:pt x="9815" y="5405"/>
                  <a:pt x="9812" y="5421"/>
                </a:cubicBezTo>
                <a:cubicBezTo>
                  <a:pt x="9809" y="5438"/>
                  <a:pt x="9804" y="5453"/>
                  <a:pt x="9798" y="5469"/>
                </a:cubicBezTo>
                <a:cubicBezTo>
                  <a:pt x="9791" y="5484"/>
                  <a:pt x="9784" y="5498"/>
                  <a:pt x="9774" y="5512"/>
                </a:cubicBezTo>
                <a:cubicBezTo>
                  <a:pt x="9765" y="5526"/>
                  <a:pt x="9755" y="5538"/>
                  <a:pt x="9743" y="5550"/>
                </a:cubicBezTo>
                <a:cubicBezTo>
                  <a:pt x="9731" y="5562"/>
                  <a:pt x="9719" y="5572"/>
                  <a:pt x="9705" y="5581"/>
                </a:cubicBezTo>
                <a:cubicBezTo>
                  <a:pt x="9691" y="5590"/>
                  <a:pt x="9677" y="5598"/>
                  <a:pt x="9662" y="5605"/>
                </a:cubicBezTo>
                <a:cubicBezTo>
                  <a:pt x="9646" y="5611"/>
                  <a:pt x="9631" y="5616"/>
                  <a:pt x="9614" y="5619"/>
                </a:cubicBezTo>
                <a:cubicBezTo>
                  <a:pt x="9598" y="5622"/>
                  <a:pt x="9582" y="5624"/>
                  <a:pt x="9565" y="5624"/>
                </a:cubicBezTo>
                <a:lnTo>
                  <a:pt x="251" y="5624"/>
                </a:lnTo>
                <a:cubicBezTo>
                  <a:pt x="235" y="5624"/>
                  <a:pt x="218" y="5622"/>
                  <a:pt x="202" y="5619"/>
                </a:cubicBezTo>
                <a:cubicBezTo>
                  <a:pt x="186" y="5616"/>
                  <a:pt x="170" y="5611"/>
                  <a:pt x="155" y="5605"/>
                </a:cubicBezTo>
                <a:cubicBezTo>
                  <a:pt x="140" y="5598"/>
                  <a:pt x="125" y="5590"/>
                  <a:pt x="111" y="5581"/>
                </a:cubicBezTo>
                <a:cubicBezTo>
                  <a:pt x="98" y="5572"/>
                  <a:pt x="85" y="5562"/>
                  <a:pt x="73" y="5550"/>
                </a:cubicBezTo>
                <a:cubicBezTo>
                  <a:pt x="62" y="5538"/>
                  <a:pt x="51" y="5526"/>
                  <a:pt x="42" y="5512"/>
                </a:cubicBezTo>
                <a:cubicBezTo>
                  <a:pt x="33" y="5498"/>
                  <a:pt x="25" y="5484"/>
                  <a:pt x="19" y="5469"/>
                </a:cubicBezTo>
                <a:cubicBezTo>
                  <a:pt x="13" y="5453"/>
                  <a:pt x="8" y="5438"/>
                  <a:pt x="5" y="5421"/>
                </a:cubicBezTo>
                <a:cubicBezTo>
                  <a:pt x="1" y="5405"/>
                  <a:pt x="0" y="5389"/>
                  <a:pt x="0" y="5372"/>
                </a:cubicBezTo>
                <a:close/>
              </a:path>
            </a:pathLst>
          </a:custGeom>
          <a:solidFill>
            <a:srgbClr val="080808"/>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48" name=""/>
          <p:cNvSpPr/>
          <p:nvPr/>
        </p:nvSpPr>
        <p:spPr>
          <a:xfrm>
            <a:off x="8026200" y="2457360"/>
            <a:ext cx="3492720" cy="52920"/>
          </a:xfrm>
          <a:custGeom>
            <a:avLst/>
            <a:gdLst/>
            <a:ahLst/>
            <a:rect l="0" t="0" r="r" b="b"/>
            <a:pathLst>
              <a:path w="9702" h="147">
                <a:moveTo>
                  <a:pt x="9673" y="147"/>
                </a:moveTo>
                <a:lnTo>
                  <a:pt x="29" y="147"/>
                </a:lnTo>
                <a:lnTo>
                  <a:pt x="0" y="88"/>
                </a:lnTo>
                <a:cubicBezTo>
                  <a:pt x="8" y="79"/>
                  <a:pt x="16" y="70"/>
                  <a:pt x="26" y="62"/>
                </a:cubicBezTo>
                <a:cubicBezTo>
                  <a:pt x="48" y="42"/>
                  <a:pt x="74" y="27"/>
                  <a:pt x="103" y="16"/>
                </a:cubicBezTo>
                <a:cubicBezTo>
                  <a:pt x="132" y="5"/>
                  <a:pt x="163" y="0"/>
                  <a:pt x="194" y="0"/>
                </a:cubicBezTo>
                <a:lnTo>
                  <a:pt x="9508" y="0"/>
                </a:lnTo>
                <a:cubicBezTo>
                  <a:pt x="9540" y="0"/>
                  <a:pt x="9570" y="5"/>
                  <a:pt x="9600" y="16"/>
                </a:cubicBezTo>
                <a:cubicBezTo>
                  <a:pt x="9629" y="27"/>
                  <a:pt x="9654" y="42"/>
                  <a:pt x="9677" y="62"/>
                </a:cubicBezTo>
                <a:cubicBezTo>
                  <a:pt x="9686" y="70"/>
                  <a:pt x="9695" y="79"/>
                  <a:pt x="9702" y="88"/>
                </a:cubicBezTo>
                <a:lnTo>
                  <a:pt x="9673" y="147"/>
                </a:lnTo>
                <a:close/>
              </a:path>
            </a:pathLst>
          </a:custGeom>
          <a:solidFill>
            <a:srgbClr val="EF4444"/>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49" name=""/>
          <p:cNvSpPr/>
          <p:nvPr/>
        </p:nvSpPr>
        <p:spPr>
          <a:xfrm>
            <a:off x="8035560" y="4424040"/>
            <a:ext cx="3474360" cy="43200"/>
          </a:xfrm>
          <a:custGeom>
            <a:avLst/>
            <a:gdLst/>
            <a:ahLst/>
            <a:rect l="0" t="0" r="r" b="b"/>
            <a:pathLst>
              <a:path w="9651" h="120">
                <a:moveTo>
                  <a:pt x="49" y="0"/>
                </a:moveTo>
                <a:lnTo>
                  <a:pt x="9601" y="0"/>
                </a:lnTo>
                <a:lnTo>
                  <a:pt x="9651" y="51"/>
                </a:lnTo>
                <a:cubicBezTo>
                  <a:pt x="9628" y="73"/>
                  <a:pt x="9603" y="90"/>
                  <a:pt x="9574" y="102"/>
                </a:cubicBezTo>
                <a:cubicBezTo>
                  <a:pt x="9544" y="114"/>
                  <a:pt x="9514" y="120"/>
                  <a:pt x="9482" y="120"/>
                </a:cubicBezTo>
                <a:lnTo>
                  <a:pt x="168" y="120"/>
                </a:lnTo>
                <a:cubicBezTo>
                  <a:pt x="137" y="120"/>
                  <a:pt x="106" y="114"/>
                  <a:pt x="77" y="102"/>
                </a:cubicBezTo>
                <a:cubicBezTo>
                  <a:pt x="48" y="90"/>
                  <a:pt x="22" y="73"/>
                  <a:pt x="0" y="51"/>
                </a:cubicBezTo>
                <a:lnTo>
                  <a:pt x="49" y="0"/>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50" name=""/>
          <p:cNvSpPr/>
          <p:nvPr/>
        </p:nvSpPr>
        <p:spPr>
          <a:xfrm>
            <a:off x="11491560" y="2488680"/>
            <a:ext cx="43560" cy="1954080"/>
          </a:xfrm>
          <a:custGeom>
            <a:avLst/>
            <a:gdLst/>
            <a:ahLst/>
            <a:rect l="0" t="0" r="r" b="b"/>
            <a:pathLst>
              <a:path w="121" h="5428">
                <a:moveTo>
                  <a:pt x="0" y="5380"/>
                </a:moveTo>
                <a:lnTo>
                  <a:pt x="0" y="148"/>
                </a:lnTo>
                <a:lnTo>
                  <a:pt x="75" y="0"/>
                </a:lnTo>
                <a:cubicBezTo>
                  <a:pt x="86" y="14"/>
                  <a:pt x="95" y="28"/>
                  <a:pt x="102" y="43"/>
                </a:cubicBezTo>
                <a:cubicBezTo>
                  <a:pt x="114" y="69"/>
                  <a:pt x="121" y="96"/>
                  <a:pt x="121" y="124"/>
                </a:cubicBezTo>
                <a:lnTo>
                  <a:pt x="121" y="5258"/>
                </a:lnTo>
                <a:cubicBezTo>
                  <a:pt x="121" y="5290"/>
                  <a:pt x="114" y="5320"/>
                  <a:pt x="102" y="5349"/>
                </a:cubicBezTo>
                <a:cubicBezTo>
                  <a:pt x="90" y="5379"/>
                  <a:pt x="73" y="5404"/>
                  <a:pt x="51" y="5427"/>
                </a:cubicBezTo>
                <a:cubicBezTo>
                  <a:pt x="50" y="5427"/>
                  <a:pt x="50" y="5428"/>
                  <a:pt x="49" y="5428"/>
                </a:cubicBezTo>
                <a:lnTo>
                  <a:pt x="0" y="5380"/>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51" name=""/>
          <p:cNvSpPr/>
          <p:nvPr/>
        </p:nvSpPr>
        <p:spPr>
          <a:xfrm>
            <a:off x="8010360" y="2488680"/>
            <a:ext cx="43200" cy="1954080"/>
          </a:xfrm>
          <a:custGeom>
            <a:avLst/>
            <a:gdLst/>
            <a:ahLst/>
            <a:rect l="0" t="0" r="r" b="b"/>
            <a:pathLst>
              <a:path w="120" h="5428">
                <a:moveTo>
                  <a:pt x="120" y="148"/>
                </a:moveTo>
                <a:lnTo>
                  <a:pt x="120" y="5380"/>
                </a:lnTo>
                <a:lnTo>
                  <a:pt x="72" y="5428"/>
                </a:lnTo>
                <a:lnTo>
                  <a:pt x="71" y="5427"/>
                </a:lnTo>
                <a:cubicBezTo>
                  <a:pt x="47" y="5404"/>
                  <a:pt x="30" y="5379"/>
                  <a:pt x="18" y="5349"/>
                </a:cubicBezTo>
                <a:cubicBezTo>
                  <a:pt x="6" y="5320"/>
                  <a:pt x="0" y="5290"/>
                  <a:pt x="0" y="5258"/>
                </a:cubicBezTo>
                <a:lnTo>
                  <a:pt x="0" y="124"/>
                </a:lnTo>
                <a:cubicBezTo>
                  <a:pt x="0" y="96"/>
                  <a:pt x="6" y="69"/>
                  <a:pt x="18" y="43"/>
                </a:cubicBezTo>
                <a:cubicBezTo>
                  <a:pt x="25" y="28"/>
                  <a:pt x="34" y="14"/>
                  <a:pt x="45" y="0"/>
                </a:cubicBezTo>
                <a:lnTo>
                  <a:pt x="120" y="148"/>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52" name=""/>
          <p:cNvSpPr txBox="1"/>
          <p:nvPr/>
        </p:nvSpPr>
        <p:spPr>
          <a:xfrm>
            <a:off x="4505400" y="3903480"/>
            <a:ext cx="2305800" cy="215280"/>
          </a:xfrm>
          <a:prstGeom prst="rect">
            <a:avLst/>
          </a:prstGeom>
          <a:noFill/>
          <a:ln w="0">
            <a:noFill/>
          </a:ln>
        </p:spPr>
        <p:txBody>
          <a:bodyPr wrap="none" lIns="0" tIns="0" rIns="0" bIns="0" anchor="t">
            <a:spAutoFit/>
          </a:bodyPr>
          <a:p>
            <a:pPr/>
            <a:r>
              <a:rPr lang="en-SG" sz="1700" b="0" u="none" strike="noStrike">
                <a:solidFill>
                  <a:srgbClr val="555555"/>
                </a:solidFill>
                <a:effectLst/>
                <a:uFillTx/>
                <a:latin typeface="RalewayRoman"/>
                <a:ea typeface="RalewayRoman"/>
              </a:rPr>
              <a:t>— no reference point —</a:t>
            </a:r>
            <a:endParaRPr lang="en-SG" sz="1700" b="0" u="none" strike="noStrike">
              <a:solidFill>
                <a:srgbClr val="000000"/>
              </a:solidFill>
              <a:effectLst/>
              <a:uFillTx/>
              <a:latin typeface="Times New Roman"/>
            </a:endParaRPr>
          </a:p>
        </p:txBody>
      </p:sp>
      <p:sp>
        <p:nvSpPr>
          <p:cNvPr id="53" name=""/>
          <p:cNvSpPr txBox="1"/>
          <p:nvPr/>
        </p:nvSpPr>
        <p:spPr>
          <a:xfrm>
            <a:off x="8182080" y="2629080"/>
            <a:ext cx="1102320" cy="195480"/>
          </a:xfrm>
          <a:prstGeom prst="rect">
            <a:avLst/>
          </a:prstGeom>
          <a:noFill/>
          <a:ln w="0">
            <a:noFill/>
          </a:ln>
        </p:spPr>
        <p:txBody>
          <a:bodyPr wrap="none" lIns="0" tIns="0" rIns="0" bIns="0" anchor="t">
            <a:spAutoFit/>
          </a:bodyPr>
          <a:p>
            <a:pPr/>
            <a:r>
              <a:rPr lang="en-SG" sz="1090" b="1" u="none" strike="noStrike">
                <a:solidFill>
                  <a:srgbClr val="555555"/>
                </a:solidFill>
                <a:effectLst/>
                <a:uFillTx/>
                <a:latin typeface="Outfit-Thin_Semi"/>
                <a:ea typeface="Outfit-Thin_Semi"/>
              </a:rPr>
              <a:t>AND IT COSTS</a:t>
            </a:r>
            <a:endParaRPr lang="en-SG" sz="1090" b="0" u="none" strike="noStrike">
              <a:solidFill>
                <a:srgbClr val="000000"/>
              </a:solidFill>
              <a:effectLst/>
              <a:uFillTx/>
              <a:latin typeface="Times New Roman"/>
            </a:endParaRPr>
          </a:p>
        </p:txBody>
      </p:sp>
      <p:sp>
        <p:nvSpPr>
          <p:cNvPr id="54" name=""/>
          <p:cNvSpPr txBox="1"/>
          <p:nvPr/>
        </p:nvSpPr>
        <p:spPr>
          <a:xfrm>
            <a:off x="8182080" y="2873520"/>
            <a:ext cx="840240" cy="507960"/>
          </a:xfrm>
          <a:prstGeom prst="rect">
            <a:avLst/>
          </a:prstGeom>
          <a:noFill/>
          <a:ln w="0">
            <a:noFill/>
          </a:ln>
        </p:spPr>
        <p:txBody>
          <a:bodyPr wrap="none" lIns="0" tIns="0" rIns="0" bIns="0" anchor="t">
            <a:spAutoFit/>
          </a:bodyPr>
          <a:p>
            <a:pPr/>
            <a:r>
              <a:rPr lang="en-SG" sz="2830" b="1" u="none" strike="noStrike">
                <a:solidFill>
                  <a:srgbClr val="EF4444"/>
                </a:solidFill>
                <a:effectLst/>
                <a:uFillTx/>
                <a:latin typeface="Outfit-Thin_"/>
                <a:ea typeface="Outfit-Thin_"/>
              </a:rPr>
              <a:t>30%</a:t>
            </a:r>
            <a:endParaRPr lang="en-SG" sz="2830" b="0" u="none" strike="noStrike">
              <a:solidFill>
                <a:srgbClr val="000000"/>
              </a:solidFill>
              <a:effectLst/>
              <a:uFillTx/>
              <a:latin typeface="Times New Roman"/>
            </a:endParaRPr>
          </a:p>
        </p:txBody>
      </p:sp>
      <p:sp>
        <p:nvSpPr>
          <p:cNvPr id="55" name=""/>
          <p:cNvSpPr txBox="1"/>
          <p:nvPr/>
        </p:nvSpPr>
        <p:spPr>
          <a:xfrm>
            <a:off x="8182080" y="3328200"/>
            <a:ext cx="840600" cy="166680"/>
          </a:xfrm>
          <a:prstGeom prst="rect">
            <a:avLst/>
          </a:prstGeom>
          <a:noFill/>
          <a:ln w="0">
            <a:noFill/>
          </a:ln>
        </p:spPr>
        <p:txBody>
          <a:bodyPr wrap="none" lIns="0" tIns="0" rIns="0" bIns="0" anchor="t">
            <a:spAutoFit/>
          </a:bodyPr>
          <a:p>
            <a:pPr/>
            <a:r>
              <a:rPr lang="en-SG" sz="1300" b="0" u="none" strike="noStrike">
                <a:solidFill>
                  <a:srgbClr val="666666"/>
                </a:solidFill>
                <a:effectLst/>
                <a:uFillTx/>
                <a:latin typeface="RalewayRoman"/>
                <a:ea typeface="RalewayRoman"/>
              </a:rPr>
              <a:t>under-filled</a:t>
            </a:r>
            <a:endParaRPr lang="en-SG" sz="1300" b="0" u="none" strike="noStrike">
              <a:solidFill>
                <a:srgbClr val="000000"/>
              </a:solidFill>
              <a:effectLst/>
              <a:uFillTx/>
              <a:latin typeface="Times New Roman"/>
            </a:endParaRPr>
          </a:p>
        </p:txBody>
      </p:sp>
      <p:sp>
        <p:nvSpPr>
          <p:cNvPr id="56" name=""/>
          <p:cNvSpPr txBox="1"/>
          <p:nvPr/>
        </p:nvSpPr>
        <p:spPr>
          <a:xfrm>
            <a:off x="8182080" y="3597480"/>
            <a:ext cx="1199880" cy="507960"/>
          </a:xfrm>
          <a:prstGeom prst="rect">
            <a:avLst/>
          </a:prstGeom>
          <a:noFill/>
          <a:ln w="0">
            <a:noFill/>
          </a:ln>
        </p:spPr>
        <p:txBody>
          <a:bodyPr wrap="none" lIns="0" tIns="0" rIns="0" bIns="0" anchor="t">
            <a:spAutoFit/>
          </a:bodyPr>
          <a:p>
            <a:pPr/>
            <a:r>
              <a:rPr lang="en-SG" sz="2830" b="1" u="none" strike="noStrike">
                <a:solidFill>
                  <a:srgbClr val="F5A623"/>
                </a:solidFill>
                <a:effectLst/>
                <a:uFillTx/>
                <a:latin typeface="Outfit-Thin_"/>
                <a:ea typeface="Outfit-Thin_"/>
              </a:rPr>
              <a:t>17.8%</a:t>
            </a:r>
            <a:endParaRPr lang="en-SG" sz="2830" b="0" u="none" strike="noStrike">
              <a:solidFill>
                <a:srgbClr val="000000"/>
              </a:solidFill>
              <a:effectLst/>
              <a:uFillTx/>
              <a:latin typeface="Times New Roman"/>
            </a:endParaRPr>
          </a:p>
        </p:txBody>
      </p:sp>
      <p:sp>
        <p:nvSpPr>
          <p:cNvPr id="57" name=""/>
          <p:cNvSpPr txBox="1"/>
          <p:nvPr/>
        </p:nvSpPr>
        <p:spPr>
          <a:xfrm>
            <a:off x="8182080" y="4051800"/>
            <a:ext cx="665280" cy="166680"/>
          </a:xfrm>
          <a:prstGeom prst="rect">
            <a:avLst/>
          </a:prstGeom>
          <a:noFill/>
          <a:ln w="0">
            <a:noFill/>
          </a:ln>
        </p:spPr>
        <p:txBody>
          <a:bodyPr wrap="none" lIns="0" tIns="0" rIns="0" bIns="0" anchor="t">
            <a:spAutoFit/>
          </a:bodyPr>
          <a:p>
            <a:pPr/>
            <a:r>
              <a:rPr lang="en-SG" sz="1300" b="0" u="none" strike="noStrike">
                <a:solidFill>
                  <a:srgbClr val="666666"/>
                </a:solidFill>
                <a:effectLst/>
                <a:uFillTx/>
                <a:latin typeface="RalewayRoman"/>
                <a:ea typeface="RalewayRoman"/>
              </a:rPr>
              <a:t>reposted</a:t>
            </a:r>
            <a:endParaRPr lang="en-SG" sz="1300" b="0" u="none" strike="noStrike">
              <a:solidFill>
                <a:srgbClr val="000000"/>
              </a:solidFill>
              <a:effectLst/>
              <a:uFillTx/>
              <a:latin typeface="Times New Roman"/>
            </a:endParaRPr>
          </a:p>
        </p:txBody>
      </p:sp>
      <p:sp>
        <p:nvSpPr>
          <p:cNvPr id="58" name=""/>
          <p:cNvSpPr txBox="1"/>
          <p:nvPr/>
        </p:nvSpPr>
        <p:spPr>
          <a:xfrm>
            <a:off x="11816640" y="6414120"/>
            <a:ext cx="165240" cy="224280"/>
          </a:xfrm>
          <a:prstGeom prst="rect">
            <a:avLst/>
          </a:prstGeom>
          <a:noFill/>
          <a:ln w="0">
            <a:noFill/>
          </a:ln>
        </p:spPr>
        <p:txBody>
          <a:bodyPr wrap="none" lIns="0" tIns="0" rIns="0" bIns="0" anchor="t">
            <a:spAutoFit/>
          </a:bodyPr>
          <a:p>
            <a:pPr/>
            <a:r>
              <a:rPr lang="en-SG" sz="1300" b="0" u="none" strike="noStrike">
                <a:solidFill>
                  <a:srgbClr val="151515"/>
                </a:solidFill>
                <a:effectLst/>
                <a:uFillTx/>
                <a:latin typeface="Outfit-Thin_"/>
                <a:ea typeface="Outfit-Thin_"/>
              </a:rPr>
              <a:t>2</a:t>
            </a:r>
            <a:endParaRPr lang="en-SG" sz="13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SG" sz="2400" b="0" u="none" strike="noStrike">
              <a:solidFill>
                <a:srgbClr val="000000"/>
              </a:solidFill>
              <a:effectLst/>
              <a:uFillTx/>
              <a:latin typeface="Times New Roman"/>
            </a:endParaRPr>
          </a:p>
        </p:txBody>
      </p:sp>
      <p:sp>
        <p:nvSpPr>
          <p:cNvPr id="6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SG" sz="2400" b="0" u="none" strike="noStrike">
              <a:solidFill>
                <a:srgbClr val="000000"/>
              </a:solidFill>
              <a:effectLst/>
              <a:uFillTx/>
              <a:latin typeface="Times New Roman"/>
            </a:endParaRPr>
          </a:p>
        </p:txBody>
      </p:sp>
      <p:sp>
        <p:nvSpPr>
          <p:cNvPr id="6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000000"/>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62" name=""/>
          <p:cNvSpPr txBox="1"/>
          <p:nvPr/>
        </p:nvSpPr>
        <p:spPr>
          <a:xfrm>
            <a:off x="647640" y="1293840"/>
            <a:ext cx="2381760" cy="235080"/>
          </a:xfrm>
          <a:prstGeom prst="rect">
            <a:avLst/>
          </a:prstGeom>
          <a:noFill/>
          <a:ln w="0">
            <a:noFill/>
          </a:ln>
        </p:spPr>
        <p:txBody>
          <a:bodyPr wrap="none" lIns="0" tIns="0" rIns="0" bIns="0" anchor="t">
            <a:spAutoFit/>
          </a:bodyPr>
          <a:p>
            <a:pPr/>
            <a:r>
              <a:rPr lang="en-SG" sz="1300" b="1" u="none" strike="noStrike">
                <a:solidFill>
                  <a:srgbClr val="5F5F5F"/>
                </a:solidFill>
                <a:effectLst/>
                <a:uFillTx/>
                <a:latin typeface="Arial"/>
                <a:ea typeface="Outfit-Thin_Semi"/>
              </a:rPr>
              <a:t>T H E   C O N S T R A I N T</a:t>
            </a:r>
            <a:endParaRPr lang="en-SG" sz="1300" b="0" u="none" strike="noStrike">
              <a:solidFill>
                <a:srgbClr val="000000"/>
              </a:solidFill>
              <a:effectLst/>
              <a:uFillTx/>
              <a:latin typeface="Times New Roman"/>
            </a:endParaRPr>
          </a:p>
        </p:txBody>
      </p:sp>
      <p:sp>
        <p:nvSpPr>
          <p:cNvPr id="63" name=""/>
          <p:cNvSpPr txBox="1"/>
          <p:nvPr/>
        </p:nvSpPr>
        <p:spPr>
          <a:xfrm>
            <a:off x="647640" y="1526400"/>
            <a:ext cx="8634600" cy="457200"/>
          </a:xfrm>
          <a:prstGeom prst="rect">
            <a:avLst/>
          </a:prstGeom>
          <a:noFill/>
          <a:ln w="0">
            <a:noFill/>
          </a:ln>
        </p:spPr>
        <p:txBody>
          <a:bodyPr wrap="square" lIns="0" tIns="0" rIns="0" bIns="0" anchor="t">
            <a:spAutoFit/>
          </a:bodyPr>
          <a:p>
            <a:pPr/>
            <a:r>
              <a:rPr sz="2000" b="0">
                <a:solidFill>
                  <a:srgbClr val="F2F2F2"/>
                </a:solidFill>
                <a:latin typeface="Aptos"/>
              </a:rPr>
              <a:t>1.04M rows benchmark the market. Only a subset can measure response.</a:t>
            </a:r>
            <a:endParaRPr lang="en-SG" sz="2720" b="0" u="none" strike="noStrike">
              <a:solidFill>
                <a:srgbClr val="000000"/>
              </a:solidFill>
              <a:effectLst/>
              <a:uFillTx/>
              <a:latin typeface="Times New Roman"/>
            </a:endParaRPr>
          </a:p>
        </p:txBody>
      </p:sp>
      <p:sp>
        <p:nvSpPr>
          <p:cNvPr id="64" name=""/>
          <p:cNvSpPr txBox="1"/>
          <p:nvPr/>
        </p:nvSpPr>
        <p:spPr>
          <a:xfrm>
            <a:off x="6006600" y="3479400"/>
            <a:ext cx="194400" cy="259560"/>
          </a:xfrm>
          <a:prstGeom prst="rect">
            <a:avLst/>
          </a:prstGeom>
          <a:noFill/>
          <a:ln w="0">
            <a:noFill/>
          </a:ln>
        </p:spPr>
        <p:txBody>
          <a:bodyPr wrap="none" lIns="0" tIns="0" rIns="0" bIns="0" anchor="t">
            <a:spAutoFit/>
          </a:bodyPr>
          <a:p>
            <a:pPr/>
            <a:r>
              <a:rPr lang="en-SG" sz="1520" b="0" u="none" strike="noStrike">
                <a:solidFill>
                  <a:srgbClr val="555555"/>
                </a:solidFill>
                <a:effectLst/>
                <a:uFillTx/>
                <a:latin typeface="Outfit-Thin_"/>
                <a:ea typeface="Outfit-Thin_"/>
              </a:rPr>
              <a:t>vs</a:t>
            </a:r>
            <a:endParaRPr lang="en-SG" sz="1520" b="0" u="none" strike="noStrike">
              <a:solidFill>
                <a:srgbClr val="000000"/>
              </a:solidFill>
              <a:effectLst/>
              <a:uFillTx/>
              <a:latin typeface="Times New Roman"/>
            </a:endParaRPr>
          </a:p>
        </p:txBody>
      </p:sp>
      <p:sp>
        <p:nvSpPr>
          <p:cNvPr id="65" name=""/>
          <p:cNvSpPr/>
          <p:nvPr/>
        </p:nvSpPr>
        <p:spPr>
          <a:xfrm>
            <a:off x="652320" y="2266920"/>
            <a:ext cx="5181840" cy="2729160"/>
          </a:xfrm>
          <a:custGeom>
            <a:avLst/>
            <a:gdLst/>
            <a:ahLst/>
            <a:rect l="0" t="0" r="r" b="b"/>
            <a:pathLst>
              <a:path w="14394" h="7581">
                <a:moveTo>
                  <a:pt x="0" y="7330"/>
                </a:moveTo>
                <a:lnTo>
                  <a:pt x="0" y="238"/>
                </a:lnTo>
                <a:cubicBezTo>
                  <a:pt x="0" y="222"/>
                  <a:pt x="2" y="207"/>
                  <a:pt x="5" y="191"/>
                </a:cubicBezTo>
                <a:cubicBezTo>
                  <a:pt x="8" y="176"/>
                  <a:pt x="13" y="161"/>
                  <a:pt x="19" y="147"/>
                </a:cubicBezTo>
                <a:cubicBezTo>
                  <a:pt x="25" y="132"/>
                  <a:pt x="33" y="118"/>
                  <a:pt x="42" y="105"/>
                </a:cubicBezTo>
                <a:cubicBezTo>
                  <a:pt x="51" y="92"/>
                  <a:pt x="62" y="80"/>
                  <a:pt x="74" y="69"/>
                </a:cubicBezTo>
                <a:cubicBezTo>
                  <a:pt x="85" y="58"/>
                  <a:pt x="98" y="48"/>
                  <a:pt x="112" y="40"/>
                </a:cubicBezTo>
                <a:cubicBezTo>
                  <a:pt x="125" y="31"/>
                  <a:pt x="140" y="24"/>
                  <a:pt x="155" y="18"/>
                </a:cubicBezTo>
                <a:cubicBezTo>
                  <a:pt x="170" y="12"/>
                  <a:pt x="186" y="7"/>
                  <a:pt x="202" y="4"/>
                </a:cubicBezTo>
                <a:cubicBezTo>
                  <a:pt x="218" y="1"/>
                  <a:pt x="235" y="0"/>
                  <a:pt x="251" y="0"/>
                </a:cubicBezTo>
                <a:lnTo>
                  <a:pt x="14143" y="0"/>
                </a:lnTo>
                <a:cubicBezTo>
                  <a:pt x="14159" y="0"/>
                  <a:pt x="14176" y="1"/>
                  <a:pt x="14192" y="4"/>
                </a:cubicBezTo>
                <a:cubicBezTo>
                  <a:pt x="14208" y="7"/>
                  <a:pt x="14224" y="12"/>
                  <a:pt x="14239" y="18"/>
                </a:cubicBezTo>
                <a:cubicBezTo>
                  <a:pt x="14254" y="24"/>
                  <a:pt x="14269" y="31"/>
                  <a:pt x="14283" y="40"/>
                </a:cubicBezTo>
                <a:cubicBezTo>
                  <a:pt x="14296" y="48"/>
                  <a:pt x="14309" y="58"/>
                  <a:pt x="14321" y="69"/>
                </a:cubicBezTo>
                <a:cubicBezTo>
                  <a:pt x="14332" y="80"/>
                  <a:pt x="14343" y="92"/>
                  <a:pt x="14352" y="105"/>
                </a:cubicBezTo>
                <a:cubicBezTo>
                  <a:pt x="14361" y="118"/>
                  <a:pt x="14369" y="132"/>
                  <a:pt x="14375" y="147"/>
                </a:cubicBezTo>
                <a:cubicBezTo>
                  <a:pt x="14381" y="161"/>
                  <a:pt x="14386" y="176"/>
                  <a:pt x="14389" y="191"/>
                </a:cubicBezTo>
                <a:cubicBezTo>
                  <a:pt x="14393" y="207"/>
                  <a:pt x="14394" y="222"/>
                  <a:pt x="14394" y="238"/>
                </a:cubicBezTo>
                <a:lnTo>
                  <a:pt x="14394" y="7330"/>
                </a:lnTo>
                <a:cubicBezTo>
                  <a:pt x="14394" y="7346"/>
                  <a:pt x="14393" y="7362"/>
                  <a:pt x="14389" y="7379"/>
                </a:cubicBezTo>
                <a:cubicBezTo>
                  <a:pt x="14386" y="7395"/>
                  <a:pt x="14381" y="7410"/>
                  <a:pt x="14375" y="7426"/>
                </a:cubicBezTo>
                <a:cubicBezTo>
                  <a:pt x="14369" y="7441"/>
                  <a:pt x="14361" y="7455"/>
                  <a:pt x="14352" y="7469"/>
                </a:cubicBezTo>
                <a:cubicBezTo>
                  <a:pt x="14343" y="7483"/>
                  <a:pt x="14332" y="7496"/>
                  <a:pt x="14321" y="7507"/>
                </a:cubicBezTo>
                <a:cubicBezTo>
                  <a:pt x="14309" y="7519"/>
                  <a:pt x="14296" y="7529"/>
                  <a:pt x="14283" y="7539"/>
                </a:cubicBezTo>
                <a:cubicBezTo>
                  <a:pt x="14269" y="7548"/>
                  <a:pt x="14254" y="7555"/>
                  <a:pt x="14239" y="7562"/>
                </a:cubicBezTo>
                <a:cubicBezTo>
                  <a:pt x="14224" y="7568"/>
                  <a:pt x="14208" y="7573"/>
                  <a:pt x="14192" y="7576"/>
                </a:cubicBezTo>
                <a:cubicBezTo>
                  <a:pt x="14176" y="7579"/>
                  <a:pt x="14159" y="7581"/>
                  <a:pt x="14143" y="7581"/>
                </a:cubicBezTo>
                <a:lnTo>
                  <a:pt x="251" y="7581"/>
                </a:lnTo>
                <a:cubicBezTo>
                  <a:pt x="235" y="7581"/>
                  <a:pt x="218" y="7579"/>
                  <a:pt x="202" y="7576"/>
                </a:cubicBezTo>
                <a:cubicBezTo>
                  <a:pt x="186" y="7573"/>
                  <a:pt x="170" y="7568"/>
                  <a:pt x="155" y="7562"/>
                </a:cubicBezTo>
                <a:cubicBezTo>
                  <a:pt x="140" y="7555"/>
                  <a:pt x="125" y="7548"/>
                  <a:pt x="112" y="7539"/>
                </a:cubicBezTo>
                <a:cubicBezTo>
                  <a:pt x="98" y="7529"/>
                  <a:pt x="85" y="7519"/>
                  <a:pt x="74" y="7507"/>
                </a:cubicBezTo>
                <a:cubicBezTo>
                  <a:pt x="62" y="7496"/>
                  <a:pt x="51" y="7483"/>
                  <a:pt x="42" y="7469"/>
                </a:cubicBezTo>
                <a:cubicBezTo>
                  <a:pt x="33" y="7455"/>
                  <a:pt x="25" y="7441"/>
                  <a:pt x="19" y="7426"/>
                </a:cubicBezTo>
                <a:cubicBezTo>
                  <a:pt x="13" y="7410"/>
                  <a:pt x="8" y="7395"/>
                  <a:pt x="5" y="7379"/>
                </a:cubicBezTo>
                <a:cubicBezTo>
                  <a:pt x="2" y="7362"/>
                  <a:pt x="0" y="7346"/>
                  <a:pt x="0" y="7330"/>
                </a:cubicBezTo>
                <a:close/>
              </a:path>
            </a:pathLst>
          </a:custGeom>
          <a:solidFill>
            <a:srgbClr val="080808"/>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66" name=""/>
          <p:cNvSpPr/>
          <p:nvPr/>
        </p:nvSpPr>
        <p:spPr>
          <a:xfrm>
            <a:off x="672840" y="2276280"/>
            <a:ext cx="5140800" cy="53280"/>
          </a:xfrm>
          <a:custGeom>
            <a:avLst/>
            <a:gdLst/>
            <a:ahLst/>
            <a:rect l="0" t="0" r="r" b="b"/>
            <a:pathLst>
              <a:path w="14280" h="148">
                <a:moveTo>
                  <a:pt x="14251" y="148"/>
                </a:moveTo>
                <a:lnTo>
                  <a:pt x="29" y="148"/>
                </a:lnTo>
                <a:lnTo>
                  <a:pt x="0" y="90"/>
                </a:lnTo>
                <a:cubicBezTo>
                  <a:pt x="8" y="80"/>
                  <a:pt x="16" y="71"/>
                  <a:pt x="26" y="63"/>
                </a:cubicBezTo>
                <a:cubicBezTo>
                  <a:pt x="48" y="43"/>
                  <a:pt x="74" y="27"/>
                  <a:pt x="103" y="16"/>
                </a:cubicBezTo>
                <a:cubicBezTo>
                  <a:pt x="132" y="5"/>
                  <a:pt x="163" y="0"/>
                  <a:pt x="194" y="0"/>
                </a:cubicBezTo>
                <a:lnTo>
                  <a:pt x="14086" y="0"/>
                </a:lnTo>
                <a:cubicBezTo>
                  <a:pt x="14117" y="0"/>
                  <a:pt x="14148" y="5"/>
                  <a:pt x="14177" y="16"/>
                </a:cubicBezTo>
                <a:cubicBezTo>
                  <a:pt x="14206" y="27"/>
                  <a:pt x="14232" y="43"/>
                  <a:pt x="14254" y="63"/>
                </a:cubicBezTo>
                <a:cubicBezTo>
                  <a:pt x="14264" y="71"/>
                  <a:pt x="14272" y="80"/>
                  <a:pt x="14280" y="90"/>
                </a:cubicBezTo>
                <a:lnTo>
                  <a:pt x="14251" y="148"/>
                </a:lnTo>
                <a:close/>
              </a:path>
            </a:pathLst>
          </a:custGeom>
          <a:solidFill>
            <a:srgbClr val="FF6B1A"/>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67" name=""/>
          <p:cNvSpPr/>
          <p:nvPr/>
        </p:nvSpPr>
        <p:spPr>
          <a:xfrm>
            <a:off x="682200" y="4948200"/>
            <a:ext cx="5122080" cy="43200"/>
          </a:xfrm>
          <a:custGeom>
            <a:avLst/>
            <a:gdLst/>
            <a:ahLst/>
            <a:rect l="0" t="0" r="r" b="b"/>
            <a:pathLst>
              <a:path w="14228" h="120">
                <a:moveTo>
                  <a:pt x="49" y="0"/>
                </a:moveTo>
                <a:lnTo>
                  <a:pt x="14179" y="0"/>
                </a:lnTo>
                <a:lnTo>
                  <a:pt x="14228" y="49"/>
                </a:lnTo>
                <a:cubicBezTo>
                  <a:pt x="14206" y="71"/>
                  <a:pt x="14180" y="88"/>
                  <a:pt x="14151" y="101"/>
                </a:cubicBezTo>
                <a:cubicBezTo>
                  <a:pt x="14122" y="113"/>
                  <a:pt x="14091" y="120"/>
                  <a:pt x="14060" y="120"/>
                </a:cubicBezTo>
                <a:lnTo>
                  <a:pt x="168" y="120"/>
                </a:lnTo>
                <a:cubicBezTo>
                  <a:pt x="137" y="120"/>
                  <a:pt x="106" y="113"/>
                  <a:pt x="77" y="101"/>
                </a:cubicBezTo>
                <a:cubicBezTo>
                  <a:pt x="48" y="88"/>
                  <a:pt x="22" y="71"/>
                  <a:pt x="0" y="49"/>
                </a:cubicBezTo>
                <a:lnTo>
                  <a:pt x="49" y="0"/>
                </a:lnTo>
                <a:close/>
              </a:path>
            </a:pathLst>
          </a:custGeom>
          <a:solidFill>
            <a:srgbClr val="1A1A1A"/>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68" name=""/>
          <p:cNvSpPr/>
          <p:nvPr/>
        </p:nvSpPr>
        <p:spPr>
          <a:xfrm>
            <a:off x="5786280" y="2307960"/>
            <a:ext cx="43200" cy="2658600"/>
          </a:xfrm>
          <a:custGeom>
            <a:avLst/>
            <a:gdLst/>
            <a:ahLst/>
            <a:rect l="0" t="0" r="r" b="b"/>
            <a:pathLst>
              <a:path w="120" h="7385">
                <a:moveTo>
                  <a:pt x="0" y="7337"/>
                </a:moveTo>
                <a:lnTo>
                  <a:pt x="0" y="148"/>
                </a:lnTo>
                <a:lnTo>
                  <a:pt x="75" y="0"/>
                </a:lnTo>
                <a:cubicBezTo>
                  <a:pt x="86" y="13"/>
                  <a:pt x="95" y="27"/>
                  <a:pt x="102" y="43"/>
                </a:cubicBezTo>
                <a:cubicBezTo>
                  <a:pt x="114" y="69"/>
                  <a:pt x="120" y="96"/>
                  <a:pt x="120" y="124"/>
                </a:cubicBezTo>
                <a:lnTo>
                  <a:pt x="120" y="7216"/>
                </a:lnTo>
                <a:cubicBezTo>
                  <a:pt x="120" y="7247"/>
                  <a:pt x="114" y="7277"/>
                  <a:pt x="102" y="7307"/>
                </a:cubicBezTo>
                <a:cubicBezTo>
                  <a:pt x="90" y="7336"/>
                  <a:pt x="73" y="7362"/>
                  <a:pt x="49" y="7384"/>
                </a:cubicBezTo>
                <a:lnTo>
                  <a:pt x="48" y="7385"/>
                </a:lnTo>
                <a:lnTo>
                  <a:pt x="0" y="7337"/>
                </a:lnTo>
                <a:close/>
              </a:path>
            </a:pathLst>
          </a:custGeom>
          <a:solidFill>
            <a:srgbClr val="1A1A1A"/>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69" name=""/>
          <p:cNvSpPr/>
          <p:nvPr/>
        </p:nvSpPr>
        <p:spPr>
          <a:xfrm>
            <a:off x="657000" y="2307960"/>
            <a:ext cx="43200" cy="2658600"/>
          </a:xfrm>
          <a:custGeom>
            <a:avLst/>
            <a:gdLst/>
            <a:ahLst/>
            <a:rect l="0" t="0" r="r" b="b"/>
            <a:pathLst>
              <a:path w="120" h="7385">
                <a:moveTo>
                  <a:pt x="120" y="148"/>
                </a:moveTo>
                <a:lnTo>
                  <a:pt x="120" y="7337"/>
                </a:lnTo>
                <a:lnTo>
                  <a:pt x="72" y="7385"/>
                </a:lnTo>
                <a:lnTo>
                  <a:pt x="71" y="7384"/>
                </a:lnTo>
                <a:cubicBezTo>
                  <a:pt x="49" y="7362"/>
                  <a:pt x="31" y="7336"/>
                  <a:pt x="18" y="7307"/>
                </a:cubicBezTo>
                <a:cubicBezTo>
                  <a:pt x="6" y="7277"/>
                  <a:pt x="0" y="7247"/>
                  <a:pt x="0" y="7216"/>
                </a:cubicBezTo>
                <a:lnTo>
                  <a:pt x="0" y="124"/>
                </a:lnTo>
                <a:cubicBezTo>
                  <a:pt x="0" y="96"/>
                  <a:pt x="6" y="69"/>
                  <a:pt x="18" y="43"/>
                </a:cubicBezTo>
                <a:cubicBezTo>
                  <a:pt x="26" y="27"/>
                  <a:pt x="35" y="13"/>
                  <a:pt x="46" y="0"/>
                </a:cubicBezTo>
                <a:lnTo>
                  <a:pt x="120" y="148"/>
                </a:lnTo>
                <a:close/>
              </a:path>
            </a:pathLst>
          </a:custGeom>
          <a:solidFill>
            <a:srgbClr val="1A1A1A"/>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70" name=""/>
          <p:cNvSpPr/>
          <p:nvPr/>
        </p:nvSpPr>
        <p:spPr>
          <a:xfrm>
            <a:off x="828360" y="3924000"/>
            <a:ext cx="4829760" cy="10080"/>
          </a:xfrm>
          <a:custGeom>
            <a:avLst/>
            <a:gdLst/>
            <a:ahLst/>
            <a:rect l="0" t="0" r="r" b="b"/>
            <a:pathLst>
              <a:path w="13416" h="28">
                <a:moveTo>
                  <a:pt x="0" y="0"/>
                </a:moveTo>
                <a:lnTo>
                  <a:pt x="13416" y="0"/>
                </a:lnTo>
                <a:lnTo>
                  <a:pt x="13416" y="28"/>
                </a:lnTo>
                <a:lnTo>
                  <a:pt x="0" y="28"/>
                </a:lnTo>
                <a:lnTo>
                  <a:pt x="0" y="0"/>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71" name=""/>
          <p:cNvSpPr txBox="1"/>
          <p:nvPr/>
        </p:nvSpPr>
        <p:spPr>
          <a:xfrm>
            <a:off x="3506040" y="5212080"/>
            <a:ext cx="5146560" cy="221400"/>
          </a:xfrm>
          <a:prstGeom prst="rect">
            <a:avLst/>
          </a:prstGeom>
          <a:noFill/>
          <a:ln w="0">
            <a:noFill/>
          </a:ln>
        </p:spPr>
        <p:txBody>
          <a:bodyPr wrap="square" lIns="0" tIns="0" rIns="0" bIns="0" anchor="t">
            <a:spAutoFit/>
          </a:bodyPr>
          <a:p>
            <a:pPr/>
            <a:r>
              <a:rPr sz="1200" b="0">
                <a:solidFill>
                  <a:srgbClr val="AAAAAA"/>
                </a:solidFill>
                <a:latin typeface="Aptos"/>
              </a:rPr>
              <a:t>Same dataset. Different questions. Different evidentiary limits.</a:t>
            </a:r>
            <a:endParaRPr lang="en-SG" sz="1740" b="0" u="none" strike="noStrike">
              <a:solidFill>
                <a:srgbClr val="000000"/>
              </a:solidFill>
              <a:effectLst/>
              <a:uFillTx/>
              <a:latin typeface="Times New Roman"/>
            </a:endParaRPr>
          </a:p>
        </p:txBody>
      </p:sp>
      <p:sp>
        <p:nvSpPr>
          <p:cNvPr id="72" name=""/>
          <p:cNvSpPr txBox="1"/>
          <p:nvPr/>
        </p:nvSpPr>
        <p:spPr>
          <a:xfrm>
            <a:off x="828720" y="2460960"/>
            <a:ext cx="3646440" cy="446760"/>
          </a:xfrm>
          <a:prstGeom prst="rect">
            <a:avLst/>
          </a:prstGeom>
          <a:noFill/>
          <a:ln w="0">
            <a:noFill/>
          </a:ln>
        </p:spPr>
        <p:txBody>
          <a:bodyPr wrap="none" lIns="0" tIns="0" rIns="0" bIns="0" anchor="t">
            <a:spAutoFit/>
          </a:bodyPr>
          <a:p>
            <a:pPr/>
            <a:r>
              <a:rPr lang="en-SG" sz="2500" b="1" u="none" strike="noStrike">
                <a:solidFill>
                  <a:srgbClr val="FF6B1A"/>
                </a:solidFill>
                <a:effectLst/>
                <a:uFillTx/>
                <a:latin typeface="Outfit-Thin_"/>
                <a:ea typeface="Outfit-Thin_"/>
              </a:rPr>
              <a:t>What a posting SAYS</a:t>
            </a:r>
            <a:endParaRPr lang="en-SG" sz="2500" b="0" u="none" strike="noStrike">
              <a:solidFill>
                <a:srgbClr val="000000"/>
              </a:solidFill>
              <a:effectLst/>
              <a:uFillTx/>
              <a:latin typeface="Times New Roman"/>
            </a:endParaRPr>
          </a:p>
        </p:txBody>
      </p:sp>
      <p:sp>
        <p:nvSpPr>
          <p:cNvPr id="73" name=""/>
          <p:cNvSpPr txBox="1"/>
          <p:nvPr/>
        </p:nvSpPr>
        <p:spPr>
          <a:xfrm>
            <a:off x="828720" y="3063960"/>
            <a:ext cx="2214000" cy="198360"/>
          </a:xfrm>
          <a:prstGeom prst="rect">
            <a:avLst/>
          </a:prstGeom>
          <a:noFill/>
          <a:ln w="0">
            <a:noFill/>
          </a:ln>
        </p:spPr>
        <p:txBody>
          <a:bodyPr wrap="none" lIns="0" tIns="0" rIns="0" bIns="0" anchor="t">
            <a:spAutoFit/>
          </a:bodyPr>
          <a:p>
            <a:pPr/>
            <a:r>
              <a:rPr lang="en-SG" sz="1560" b="0" u="none" strike="noStrike">
                <a:solidFill>
                  <a:srgbClr val="999999"/>
                </a:solidFill>
                <a:effectLst/>
                <a:uFillTx/>
                <a:latin typeface="RalewayRoman"/>
                <a:ea typeface="RalewayRoman"/>
              </a:rPr>
              <a:t>Pay · level · years · dates</a:t>
            </a:r>
            <a:endParaRPr lang="en-SG" sz="1560" b="0" u="none" strike="noStrike">
              <a:solidFill>
                <a:srgbClr val="000000"/>
              </a:solidFill>
              <a:effectLst/>
              <a:uFillTx/>
              <a:latin typeface="Times New Roman"/>
            </a:endParaRPr>
          </a:p>
        </p:txBody>
      </p:sp>
      <p:sp>
        <p:nvSpPr>
          <p:cNvPr id="74" name=""/>
          <p:cNvSpPr txBox="1"/>
          <p:nvPr/>
        </p:nvSpPr>
        <p:spPr>
          <a:xfrm>
            <a:off x="828720" y="3435480"/>
            <a:ext cx="2577240" cy="198360"/>
          </a:xfrm>
          <a:prstGeom prst="rect">
            <a:avLst/>
          </a:prstGeom>
          <a:noFill/>
          <a:ln w="0">
            <a:noFill/>
          </a:ln>
        </p:spPr>
        <p:txBody>
          <a:bodyPr wrap="none" lIns="0" tIns="0" rIns="0" bIns="0" anchor="t">
            <a:spAutoFit/>
          </a:bodyPr>
          <a:p>
            <a:pPr/>
            <a:r>
              <a:rPr lang="en-SG" sz="1560" b="0" u="none" strike="noStrike">
                <a:solidFill>
                  <a:srgbClr val="555555"/>
                </a:solidFill>
                <a:effectLst/>
                <a:uFillTx/>
                <a:latin typeface="RalewayRoman"/>
                <a:ea typeface="RalewayRoman"/>
              </a:rPr>
              <a:t>Fixed the moment it goes up.</a:t>
            </a:r>
            <a:endParaRPr lang="en-SG" sz="1560" b="0" u="none" strike="noStrike">
              <a:solidFill>
                <a:srgbClr val="000000"/>
              </a:solidFill>
              <a:effectLst/>
              <a:uFillTx/>
              <a:latin typeface="Times New Roman"/>
            </a:endParaRPr>
          </a:p>
        </p:txBody>
      </p:sp>
      <p:sp>
        <p:nvSpPr>
          <p:cNvPr id="75" name=""/>
          <p:cNvSpPr txBox="1"/>
          <p:nvPr/>
        </p:nvSpPr>
        <p:spPr>
          <a:xfrm>
            <a:off x="828720" y="3963240"/>
            <a:ext cx="1719000" cy="739440"/>
          </a:xfrm>
          <a:prstGeom prst="rect">
            <a:avLst/>
          </a:prstGeom>
          <a:noFill/>
          <a:ln w="0">
            <a:noFill/>
          </a:ln>
        </p:spPr>
        <p:txBody>
          <a:bodyPr wrap="none" lIns="0" tIns="0" rIns="0" bIns="0" anchor="t">
            <a:spAutoFit/>
          </a:bodyPr>
          <a:p>
            <a:pPr/>
            <a:r>
              <a:rPr lang="en-SG" sz="4130" b="1" u="none" strike="noStrike">
                <a:solidFill>
                  <a:srgbClr val="FFFFFF"/>
                </a:solidFill>
                <a:effectLst/>
                <a:uFillTx/>
                <a:latin typeface="Outfit-Thin_"/>
                <a:ea typeface="Outfit-Thin_"/>
              </a:rPr>
              <a:t>1.04M</a:t>
            </a:r>
            <a:endParaRPr lang="en-SG" sz="4130" b="0" u="none" strike="noStrike">
              <a:solidFill>
                <a:srgbClr val="000000"/>
              </a:solidFill>
              <a:effectLst/>
              <a:uFillTx/>
              <a:latin typeface="Times New Roman"/>
            </a:endParaRPr>
          </a:p>
        </p:txBody>
      </p:sp>
      <p:sp>
        <p:nvSpPr>
          <p:cNvPr id="76" name=""/>
          <p:cNvSpPr/>
          <p:nvPr/>
        </p:nvSpPr>
        <p:spPr>
          <a:xfrm>
            <a:off x="6357600" y="2266920"/>
            <a:ext cx="5182200" cy="2729160"/>
          </a:xfrm>
          <a:custGeom>
            <a:avLst/>
            <a:gdLst/>
            <a:ahLst/>
            <a:rect l="0" t="0" r="r" b="b"/>
            <a:pathLst>
              <a:path w="14395" h="7581">
                <a:moveTo>
                  <a:pt x="0" y="7330"/>
                </a:moveTo>
                <a:lnTo>
                  <a:pt x="0" y="238"/>
                </a:lnTo>
                <a:cubicBezTo>
                  <a:pt x="0" y="222"/>
                  <a:pt x="2" y="207"/>
                  <a:pt x="5" y="191"/>
                </a:cubicBezTo>
                <a:cubicBezTo>
                  <a:pt x="8" y="176"/>
                  <a:pt x="13" y="161"/>
                  <a:pt x="20" y="147"/>
                </a:cubicBezTo>
                <a:cubicBezTo>
                  <a:pt x="26" y="132"/>
                  <a:pt x="34" y="118"/>
                  <a:pt x="43" y="105"/>
                </a:cubicBezTo>
                <a:cubicBezTo>
                  <a:pt x="52" y="92"/>
                  <a:pt x="62" y="80"/>
                  <a:pt x="74" y="69"/>
                </a:cubicBezTo>
                <a:cubicBezTo>
                  <a:pt x="86" y="58"/>
                  <a:pt x="98" y="48"/>
                  <a:pt x="112" y="40"/>
                </a:cubicBezTo>
                <a:cubicBezTo>
                  <a:pt x="126" y="31"/>
                  <a:pt x="140" y="24"/>
                  <a:pt x="156" y="18"/>
                </a:cubicBezTo>
                <a:cubicBezTo>
                  <a:pt x="171" y="12"/>
                  <a:pt x="187" y="7"/>
                  <a:pt x="203" y="4"/>
                </a:cubicBezTo>
                <a:cubicBezTo>
                  <a:pt x="219" y="1"/>
                  <a:pt x="235" y="0"/>
                  <a:pt x="252" y="0"/>
                </a:cubicBezTo>
                <a:lnTo>
                  <a:pt x="14143" y="0"/>
                </a:lnTo>
                <a:cubicBezTo>
                  <a:pt x="14160" y="0"/>
                  <a:pt x="14176" y="1"/>
                  <a:pt x="14192" y="4"/>
                </a:cubicBezTo>
                <a:cubicBezTo>
                  <a:pt x="14209" y="7"/>
                  <a:pt x="14224" y="12"/>
                  <a:pt x="14240" y="18"/>
                </a:cubicBezTo>
                <a:cubicBezTo>
                  <a:pt x="14255" y="24"/>
                  <a:pt x="14269" y="31"/>
                  <a:pt x="14283" y="40"/>
                </a:cubicBezTo>
                <a:cubicBezTo>
                  <a:pt x="14297" y="48"/>
                  <a:pt x="14309" y="58"/>
                  <a:pt x="14321" y="69"/>
                </a:cubicBezTo>
                <a:cubicBezTo>
                  <a:pt x="14333" y="80"/>
                  <a:pt x="14343" y="92"/>
                  <a:pt x="14352" y="105"/>
                </a:cubicBezTo>
                <a:cubicBezTo>
                  <a:pt x="14362" y="118"/>
                  <a:pt x="14369" y="132"/>
                  <a:pt x="14376" y="147"/>
                </a:cubicBezTo>
                <a:cubicBezTo>
                  <a:pt x="14382" y="161"/>
                  <a:pt x="14387" y="176"/>
                  <a:pt x="14390" y="191"/>
                </a:cubicBezTo>
                <a:cubicBezTo>
                  <a:pt x="14393" y="207"/>
                  <a:pt x="14395" y="222"/>
                  <a:pt x="14395" y="238"/>
                </a:cubicBezTo>
                <a:lnTo>
                  <a:pt x="14395" y="7330"/>
                </a:lnTo>
                <a:cubicBezTo>
                  <a:pt x="14395" y="7346"/>
                  <a:pt x="14393" y="7362"/>
                  <a:pt x="14390" y="7379"/>
                </a:cubicBezTo>
                <a:cubicBezTo>
                  <a:pt x="14387" y="7395"/>
                  <a:pt x="14382" y="7410"/>
                  <a:pt x="14376" y="7426"/>
                </a:cubicBezTo>
                <a:cubicBezTo>
                  <a:pt x="14369" y="7441"/>
                  <a:pt x="14362" y="7455"/>
                  <a:pt x="14352" y="7469"/>
                </a:cubicBezTo>
                <a:cubicBezTo>
                  <a:pt x="14343" y="7483"/>
                  <a:pt x="14333" y="7496"/>
                  <a:pt x="14321" y="7507"/>
                </a:cubicBezTo>
                <a:cubicBezTo>
                  <a:pt x="14309" y="7519"/>
                  <a:pt x="14297" y="7529"/>
                  <a:pt x="14283" y="7539"/>
                </a:cubicBezTo>
                <a:cubicBezTo>
                  <a:pt x="14269" y="7548"/>
                  <a:pt x="14255" y="7555"/>
                  <a:pt x="14240" y="7562"/>
                </a:cubicBezTo>
                <a:cubicBezTo>
                  <a:pt x="14224" y="7568"/>
                  <a:pt x="14209" y="7573"/>
                  <a:pt x="14192" y="7576"/>
                </a:cubicBezTo>
                <a:cubicBezTo>
                  <a:pt x="14176" y="7579"/>
                  <a:pt x="14160" y="7581"/>
                  <a:pt x="14143" y="7581"/>
                </a:cubicBezTo>
                <a:lnTo>
                  <a:pt x="252" y="7581"/>
                </a:lnTo>
                <a:cubicBezTo>
                  <a:pt x="235" y="7581"/>
                  <a:pt x="219" y="7579"/>
                  <a:pt x="203" y="7576"/>
                </a:cubicBezTo>
                <a:cubicBezTo>
                  <a:pt x="187" y="7573"/>
                  <a:pt x="171" y="7568"/>
                  <a:pt x="156" y="7562"/>
                </a:cubicBezTo>
                <a:cubicBezTo>
                  <a:pt x="140" y="7555"/>
                  <a:pt x="126" y="7548"/>
                  <a:pt x="112" y="7539"/>
                </a:cubicBezTo>
                <a:cubicBezTo>
                  <a:pt x="98" y="7529"/>
                  <a:pt x="86" y="7519"/>
                  <a:pt x="74" y="7507"/>
                </a:cubicBezTo>
                <a:cubicBezTo>
                  <a:pt x="62" y="7496"/>
                  <a:pt x="52" y="7483"/>
                  <a:pt x="43" y="7469"/>
                </a:cubicBezTo>
                <a:cubicBezTo>
                  <a:pt x="34" y="7455"/>
                  <a:pt x="26" y="7441"/>
                  <a:pt x="20" y="7426"/>
                </a:cubicBezTo>
                <a:cubicBezTo>
                  <a:pt x="13" y="7410"/>
                  <a:pt x="8" y="7395"/>
                  <a:pt x="5" y="7379"/>
                </a:cubicBezTo>
                <a:cubicBezTo>
                  <a:pt x="2" y="7362"/>
                  <a:pt x="0" y="7346"/>
                  <a:pt x="0" y="7330"/>
                </a:cubicBezTo>
                <a:close/>
              </a:path>
            </a:pathLst>
          </a:custGeom>
          <a:solidFill>
            <a:srgbClr val="080808"/>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77" name=""/>
          <p:cNvSpPr/>
          <p:nvPr/>
        </p:nvSpPr>
        <p:spPr>
          <a:xfrm>
            <a:off x="6378480" y="2276280"/>
            <a:ext cx="5140440" cy="53280"/>
          </a:xfrm>
          <a:custGeom>
            <a:avLst/>
            <a:gdLst/>
            <a:ahLst/>
            <a:rect l="0" t="0" r="r" b="b"/>
            <a:pathLst>
              <a:path w="14279" h="148">
                <a:moveTo>
                  <a:pt x="14250" y="148"/>
                </a:moveTo>
                <a:lnTo>
                  <a:pt x="29" y="148"/>
                </a:lnTo>
                <a:lnTo>
                  <a:pt x="0" y="90"/>
                </a:lnTo>
                <a:cubicBezTo>
                  <a:pt x="8" y="80"/>
                  <a:pt x="16" y="71"/>
                  <a:pt x="25" y="63"/>
                </a:cubicBezTo>
                <a:cubicBezTo>
                  <a:pt x="48" y="43"/>
                  <a:pt x="73" y="27"/>
                  <a:pt x="103" y="16"/>
                </a:cubicBezTo>
                <a:cubicBezTo>
                  <a:pt x="132" y="5"/>
                  <a:pt x="162" y="0"/>
                  <a:pt x="194" y="0"/>
                </a:cubicBezTo>
                <a:lnTo>
                  <a:pt x="14085" y="0"/>
                </a:lnTo>
                <a:cubicBezTo>
                  <a:pt x="14117" y="0"/>
                  <a:pt x="14147" y="5"/>
                  <a:pt x="14177" y="16"/>
                </a:cubicBezTo>
                <a:cubicBezTo>
                  <a:pt x="14206" y="27"/>
                  <a:pt x="14231" y="43"/>
                  <a:pt x="14254" y="63"/>
                </a:cubicBezTo>
                <a:cubicBezTo>
                  <a:pt x="14263" y="71"/>
                  <a:pt x="14272" y="80"/>
                  <a:pt x="14279" y="90"/>
                </a:cubicBezTo>
                <a:lnTo>
                  <a:pt x="14250" y="148"/>
                </a:lnTo>
                <a:close/>
              </a:path>
            </a:pathLst>
          </a:custGeom>
          <a:solidFill>
            <a:srgbClr val="666666"/>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78" name=""/>
          <p:cNvSpPr/>
          <p:nvPr/>
        </p:nvSpPr>
        <p:spPr>
          <a:xfrm>
            <a:off x="6387480" y="4948200"/>
            <a:ext cx="5122440" cy="43200"/>
          </a:xfrm>
          <a:custGeom>
            <a:avLst/>
            <a:gdLst/>
            <a:ahLst/>
            <a:rect l="0" t="0" r="r" b="b"/>
            <a:pathLst>
              <a:path w="14229" h="120">
                <a:moveTo>
                  <a:pt x="50" y="0"/>
                </a:moveTo>
                <a:lnTo>
                  <a:pt x="14179" y="0"/>
                </a:lnTo>
                <a:lnTo>
                  <a:pt x="14229" y="49"/>
                </a:lnTo>
                <a:cubicBezTo>
                  <a:pt x="14206" y="71"/>
                  <a:pt x="14181" y="88"/>
                  <a:pt x="14152" y="101"/>
                </a:cubicBezTo>
                <a:cubicBezTo>
                  <a:pt x="14122" y="113"/>
                  <a:pt x="14092" y="120"/>
                  <a:pt x="14060" y="120"/>
                </a:cubicBezTo>
                <a:lnTo>
                  <a:pt x="169" y="120"/>
                </a:lnTo>
                <a:cubicBezTo>
                  <a:pt x="137" y="120"/>
                  <a:pt x="107" y="113"/>
                  <a:pt x="78" y="101"/>
                </a:cubicBezTo>
                <a:cubicBezTo>
                  <a:pt x="48" y="88"/>
                  <a:pt x="23" y="71"/>
                  <a:pt x="0" y="49"/>
                </a:cubicBezTo>
                <a:lnTo>
                  <a:pt x="50" y="0"/>
                </a:lnTo>
                <a:close/>
              </a:path>
            </a:pathLst>
          </a:custGeom>
          <a:solidFill>
            <a:srgbClr val="1A1A1A"/>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79" name=""/>
          <p:cNvSpPr/>
          <p:nvPr/>
        </p:nvSpPr>
        <p:spPr>
          <a:xfrm>
            <a:off x="11491560" y="2307960"/>
            <a:ext cx="43560" cy="2658600"/>
          </a:xfrm>
          <a:custGeom>
            <a:avLst/>
            <a:gdLst/>
            <a:ahLst/>
            <a:rect l="0" t="0" r="r" b="b"/>
            <a:pathLst>
              <a:path w="121" h="7385">
                <a:moveTo>
                  <a:pt x="0" y="7337"/>
                </a:moveTo>
                <a:lnTo>
                  <a:pt x="0" y="148"/>
                </a:lnTo>
                <a:lnTo>
                  <a:pt x="75" y="0"/>
                </a:lnTo>
                <a:cubicBezTo>
                  <a:pt x="86" y="13"/>
                  <a:pt x="95" y="27"/>
                  <a:pt x="102" y="43"/>
                </a:cubicBezTo>
                <a:cubicBezTo>
                  <a:pt x="114" y="69"/>
                  <a:pt x="121" y="96"/>
                  <a:pt x="121" y="124"/>
                </a:cubicBezTo>
                <a:lnTo>
                  <a:pt x="121" y="7216"/>
                </a:lnTo>
                <a:cubicBezTo>
                  <a:pt x="121" y="7247"/>
                  <a:pt x="114" y="7277"/>
                  <a:pt x="102" y="7307"/>
                </a:cubicBezTo>
                <a:cubicBezTo>
                  <a:pt x="90" y="7336"/>
                  <a:pt x="73" y="7362"/>
                  <a:pt x="51" y="7384"/>
                </a:cubicBezTo>
                <a:cubicBezTo>
                  <a:pt x="50" y="7384"/>
                  <a:pt x="50" y="7385"/>
                  <a:pt x="49" y="7385"/>
                </a:cubicBezTo>
                <a:lnTo>
                  <a:pt x="0" y="7337"/>
                </a:lnTo>
                <a:close/>
              </a:path>
            </a:pathLst>
          </a:custGeom>
          <a:solidFill>
            <a:srgbClr val="1A1A1A"/>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80" name=""/>
          <p:cNvSpPr/>
          <p:nvPr/>
        </p:nvSpPr>
        <p:spPr>
          <a:xfrm>
            <a:off x="6362640" y="2307960"/>
            <a:ext cx="43200" cy="2658600"/>
          </a:xfrm>
          <a:custGeom>
            <a:avLst/>
            <a:gdLst/>
            <a:ahLst/>
            <a:rect l="0" t="0" r="r" b="b"/>
            <a:pathLst>
              <a:path w="120" h="7385">
                <a:moveTo>
                  <a:pt x="120" y="148"/>
                </a:moveTo>
                <a:lnTo>
                  <a:pt x="120" y="7337"/>
                </a:lnTo>
                <a:lnTo>
                  <a:pt x="71" y="7385"/>
                </a:lnTo>
                <a:cubicBezTo>
                  <a:pt x="70" y="7385"/>
                  <a:pt x="70" y="7384"/>
                  <a:pt x="69" y="7384"/>
                </a:cubicBezTo>
                <a:cubicBezTo>
                  <a:pt x="47" y="7362"/>
                  <a:pt x="30" y="7336"/>
                  <a:pt x="18" y="7307"/>
                </a:cubicBezTo>
                <a:cubicBezTo>
                  <a:pt x="6" y="7277"/>
                  <a:pt x="0" y="7247"/>
                  <a:pt x="0" y="7216"/>
                </a:cubicBezTo>
                <a:lnTo>
                  <a:pt x="0" y="124"/>
                </a:lnTo>
                <a:cubicBezTo>
                  <a:pt x="0" y="96"/>
                  <a:pt x="6" y="69"/>
                  <a:pt x="18" y="43"/>
                </a:cubicBezTo>
                <a:cubicBezTo>
                  <a:pt x="25" y="27"/>
                  <a:pt x="34" y="13"/>
                  <a:pt x="45" y="0"/>
                </a:cubicBezTo>
                <a:lnTo>
                  <a:pt x="120" y="148"/>
                </a:lnTo>
                <a:close/>
              </a:path>
            </a:pathLst>
          </a:custGeom>
          <a:solidFill>
            <a:srgbClr val="1A1A1A"/>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81" name=""/>
          <p:cNvSpPr/>
          <p:nvPr/>
        </p:nvSpPr>
        <p:spPr>
          <a:xfrm>
            <a:off x="6534000" y="3924000"/>
            <a:ext cx="4829400" cy="10080"/>
          </a:xfrm>
          <a:custGeom>
            <a:avLst/>
            <a:gdLst/>
            <a:ahLst/>
            <a:rect l="0" t="0" r="r" b="b"/>
            <a:pathLst>
              <a:path w="13415" h="28">
                <a:moveTo>
                  <a:pt x="0" y="0"/>
                </a:moveTo>
                <a:lnTo>
                  <a:pt x="13415" y="0"/>
                </a:lnTo>
                <a:lnTo>
                  <a:pt x="13415" y="28"/>
                </a:lnTo>
                <a:lnTo>
                  <a:pt x="0" y="28"/>
                </a:lnTo>
                <a:lnTo>
                  <a:pt x="0" y="0"/>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82" name=""/>
          <p:cNvSpPr txBox="1"/>
          <p:nvPr/>
        </p:nvSpPr>
        <p:spPr>
          <a:xfrm>
            <a:off x="828720" y="4593600"/>
            <a:ext cx="1702080" cy="149760"/>
          </a:xfrm>
          <a:prstGeom prst="rect">
            <a:avLst/>
          </a:prstGeom>
          <a:noFill/>
          <a:ln w="0">
            <a:noFill/>
          </a:ln>
        </p:spPr>
        <p:txBody>
          <a:bodyPr wrap="none" lIns="0" tIns="0" rIns="0" bIns="0" anchor="t">
            <a:spAutoFit/>
          </a:bodyPr>
          <a:p>
            <a:pPr/>
            <a:r>
              <a:rPr lang="en-SG" sz="1180" b="0" u="none" strike="noStrike">
                <a:solidFill>
                  <a:srgbClr val="666666"/>
                </a:solidFill>
                <a:effectLst/>
                <a:uFillTx/>
                <a:latin typeface="RalewayRoman"/>
                <a:ea typeface="RalewayRoman"/>
              </a:rPr>
              <a:t>POSTINGS · 15 MONTHS</a:t>
            </a:r>
            <a:endParaRPr lang="en-SG" sz="1180" b="0" u="none" strike="noStrike">
              <a:solidFill>
                <a:srgbClr val="000000"/>
              </a:solidFill>
              <a:effectLst/>
              <a:uFillTx/>
              <a:latin typeface="Times New Roman"/>
            </a:endParaRPr>
          </a:p>
        </p:txBody>
      </p:sp>
      <p:sp>
        <p:nvSpPr>
          <p:cNvPr id="83" name=""/>
          <p:cNvSpPr txBox="1"/>
          <p:nvPr/>
        </p:nvSpPr>
        <p:spPr>
          <a:xfrm>
            <a:off x="6537600" y="2460960"/>
            <a:ext cx="3452400" cy="446760"/>
          </a:xfrm>
          <a:prstGeom prst="rect">
            <a:avLst/>
          </a:prstGeom>
          <a:noFill/>
          <a:ln w="0">
            <a:noFill/>
          </a:ln>
        </p:spPr>
        <p:txBody>
          <a:bodyPr wrap="none" lIns="0" tIns="0" rIns="0" bIns="0" anchor="t">
            <a:spAutoFit/>
          </a:bodyPr>
          <a:p>
            <a:pPr/>
            <a:r>
              <a:rPr lang="en-SG" sz="2500" b="1" u="none" strike="noStrike">
                <a:solidFill>
                  <a:srgbClr val="AAAAAA"/>
                </a:solidFill>
                <a:effectLst/>
                <a:uFillTx/>
                <a:latin typeface="Outfit-Thin_"/>
                <a:ea typeface="Outfit-Thin_"/>
              </a:rPr>
              <a:t>What a posting GOT</a:t>
            </a:r>
            <a:endParaRPr lang="en-SG" sz="2500" b="0" u="none" strike="noStrike">
              <a:solidFill>
                <a:srgbClr val="000000"/>
              </a:solidFill>
              <a:effectLst/>
              <a:uFillTx/>
              <a:latin typeface="Times New Roman"/>
            </a:endParaRPr>
          </a:p>
        </p:txBody>
      </p:sp>
      <p:sp>
        <p:nvSpPr>
          <p:cNvPr id="84" name=""/>
          <p:cNvSpPr txBox="1"/>
          <p:nvPr/>
        </p:nvSpPr>
        <p:spPr>
          <a:xfrm>
            <a:off x="6537600" y="3063960"/>
            <a:ext cx="2588040" cy="198360"/>
          </a:xfrm>
          <a:prstGeom prst="rect">
            <a:avLst/>
          </a:prstGeom>
          <a:noFill/>
          <a:ln w="0">
            <a:noFill/>
          </a:ln>
        </p:spPr>
        <p:txBody>
          <a:bodyPr wrap="none" lIns="0" tIns="0" rIns="0" bIns="0" anchor="t">
            <a:spAutoFit/>
          </a:bodyPr>
          <a:p>
            <a:pPr/>
            <a:r>
              <a:rPr lang="en-SG" sz="1560" b="0" u="none" strike="noStrike">
                <a:solidFill>
                  <a:srgbClr val="999999"/>
                </a:solidFill>
                <a:effectLst/>
                <a:uFillTx/>
                <a:latin typeface="RalewayRoman"/>
                <a:ea typeface="RalewayRoman"/>
              </a:rPr>
              <a:t>Views · applications · reposts</a:t>
            </a:r>
            <a:endParaRPr lang="en-SG" sz="1560" b="0" u="none" strike="noStrike">
              <a:solidFill>
                <a:srgbClr val="000000"/>
              </a:solidFill>
              <a:effectLst/>
              <a:uFillTx/>
              <a:latin typeface="Times New Roman"/>
            </a:endParaRPr>
          </a:p>
        </p:txBody>
      </p:sp>
      <p:sp>
        <p:nvSpPr>
          <p:cNvPr id="85" name=""/>
          <p:cNvSpPr txBox="1"/>
          <p:nvPr/>
        </p:nvSpPr>
        <p:spPr>
          <a:xfrm>
            <a:off x="6537600" y="3435480"/>
            <a:ext cx="2599560" cy="198360"/>
          </a:xfrm>
          <a:prstGeom prst="rect">
            <a:avLst/>
          </a:prstGeom>
          <a:noFill/>
          <a:ln w="0">
            <a:noFill/>
          </a:ln>
        </p:spPr>
        <p:txBody>
          <a:bodyPr wrap="none" lIns="0" tIns="0" rIns="0" bIns="0" anchor="t">
            <a:spAutoFit/>
          </a:bodyPr>
          <a:p>
            <a:pPr/>
            <a:r>
              <a:rPr lang="en-SG" sz="1560" b="0" u="none" strike="noStrike">
                <a:solidFill>
                  <a:srgbClr val="555555"/>
                </a:solidFill>
                <a:effectLst/>
                <a:uFillTx/>
                <a:latin typeface="RalewayRoman"/>
                <a:ea typeface="RalewayRoman"/>
              </a:rPr>
              <a:t>Accumulates after it goes up.</a:t>
            </a:r>
            <a:endParaRPr lang="en-SG" sz="1560" b="0" u="none" strike="noStrike">
              <a:solidFill>
                <a:srgbClr val="000000"/>
              </a:solidFill>
              <a:effectLst/>
              <a:uFillTx/>
              <a:latin typeface="Times New Roman"/>
            </a:endParaRPr>
          </a:p>
        </p:txBody>
      </p:sp>
      <p:sp>
        <p:nvSpPr>
          <p:cNvPr id="86" name=""/>
          <p:cNvSpPr txBox="1"/>
          <p:nvPr/>
        </p:nvSpPr>
        <p:spPr>
          <a:xfrm>
            <a:off x="6537600" y="3963240"/>
            <a:ext cx="1311120" cy="739440"/>
          </a:xfrm>
          <a:prstGeom prst="rect">
            <a:avLst/>
          </a:prstGeom>
          <a:noFill/>
          <a:ln w="0">
            <a:noFill/>
          </a:ln>
        </p:spPr>
        <p:txBody>
          <a:bodyPr wrap="none" lIns="0" tIns="0" rIns="0" bIns="0" anchor="t">
            <a:spAutoFit/>
          </a:bodyPr>
          <a:p>
            <a:pPr/>
            <a:r>
              <a:rPr lang="en-SG" sz="4130" b="1" u="none" strike="noStrike">
                <a:solidFill>
                  <a:srgbClr val="666666"/>
                </a:solidFill>
                <a:effectLst/>
                <a:uFillTx/>
                <a:latin typeface="Outfit-Thin_"/>
                <a:ea typeface="Outfit-Thin_"/>
              </a:rPr>
              <a:t>? ? ?</a:t>
            </a:r>
            <a:endParaRPr lang="en-SG" sz="4130" b="0" u="none" strike="noStrike">
              <a:solidFill>
                <a:srgbClr val="000000"/>
              </a:solidFill>
              <a:effectLst/>
              <a:uFillTx/>
              <a:latin typeface="Times New Roman"/>
            </a:endParaRPr>
          </a:p>
        </p:txBody>
      </p:sp>
      <p:sp>
        <p:nvSpPr>
          <p:cNvPr id="87" name=""/>
          <p:cNvSpPr txBox="1"/>
          <p:nvPr/>
        </p:nvSpPr>
        <p:spPr>
          <a:xfrm>
            <a:off x="6537600" y="4593600"/>
            <a:ext cx="1278720" cy="149760"/>
          </a:xfrm>
          <a:prstGeom prst="rect">
            <a:avLst/>
          </a:prstGeom>
          <a:noFill/>
          <a:ln w="0">
            <a:noFill/>
          </a:ln>
        </p:spPr>
        <p:txBody>
          <a:bodyPr wrap="square" lIns="0" tIns="0" rIns="0" bIns="0" anchor="t">
            <a:spAutoFit/>
          </a:bodyPr>
          <a:p>
            <a:pPr/>
            <a:r>
              <a:rPr sz="800" b="1">
                <a:solidFill>
                  <a:srgbClr val="5C5C5C"/>
                </a:solidFill>
                <a:latin typeface="Aptos"/>
              </a:rPr>
              <a:t>NEEDS A VALID COHORT</a:t>
            </a:r>
            <a:endParaRPr lang="en-SG" sz="1180" b="0" u="none" strike="noStrike">
              <a:solidFill>
                <a:srgbClr val="000000"/>
              </a:solidFill>
              <a:effectLst/>
              <a:uFillTx/>
              <a:latin typeface="Times New Roman"/>
            </a:endParaRPr>
          </a:p>
        </p:txBody>
      </p:sp>
      <p:sp>
        <p:nvSpPr>
          <p:cNvPr id="88" name=""/>
          <p:cNvSpPr txBox="1"/>
          <p:nvPr/>
        </p:nvSpPr>
        <p:spPr>
          <a:xfrm>
            <a:off x="11817000" y="6414120"/>
            <a:ext cx="165240" cy="224280"/>
          </a:xfrm>
          <a:prstGeom prst="rect">
            <a:avLst/>
          </a:prstGeom>
          <a:noFill/>
          <a:ln w="0">
            <a:noFill/>
          </a:ln>
        </p:spPr>
        <p:txBody>
          <a:bodyPr wrap="none" lIns="0" tIns="0" rIns="0" bIns="0" anchor="t">
            <a:spAutoFit/>
          </a:bodyPr>
          <a:p>
            <a:pPr/>
            <a:r>
              <a:rPr lang="en-SG" sz="1300" b="0" u="none" strike="noStrike">
                <a:solidFill>
                  <a:srgbClr val="151515"/>
                </a:solidFill>
                <a:effectLst/>
                <a:uFillTx/>
                <a:latin typeface="Outfit-Thin_"/>
                <a:ea typeface="Outfit-Thin_"/>
              </a:rPr>
              <a:t>3</a:t>
            </a:r>
            <a:endParaRPr lang="en-SG" sz="13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SG" sz="2400" b="0" u="none" strike="noStrike">
              <a:solidFill>
                <a:srgbClr val="000000"/>
              </a:solidFill>
              <a:effectLst/>
              <a:uFillTx/>
              <a:latin typeface="Times New Roman"/>
            </a:endParaRPr>
          </a:p>
        </p:txBody>
      </p:sp>
      <p:sp>
        <p:nvSpPr>
          <p:cNvPr id="9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SG" sz="2400" b="0" u="none" strike="noStrike">
              <a:solidFill>
                <a:srgbClr val="000000"/>
              </a:solidFill>
              <a:effectLst/>
              <a:uFillTx/>
              <a:latin typeface="Times New Roman"/>
            </a:endParaRPr>
          </a:p>
        </p:txBody>
      </p:sp>
      <p:sp>
        <p:nvSpPr>
          <p:cNvPr id="9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000000"/>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92" name=""/>
          <p:cNvSpPr/>
          <p:nvPr/>
        </p:nvSpPr>
        <p:spPr>
          <a:xfrm>
            <a:off x="652320" y="4605120"/>
            <a:ext cx="10887480" cy="562320"/>
          </a:xfrm>
          <a:custGeom>
            <a:avLst/>
            <a:gdLst/>
            <a:ahLst/>
            <a:rect l="0" t="0" r="r" b="b"/>
            <a:pathLst>
              <a:path w="30243" h="1562">
                <a:moveTo>
                  <a:pt x="0" y="1364"/>
                </a:moveTo>
                <a:lnTo>
                  <a:pt x="0" y="199"/>
                </a:lnTo>
                <a:cubicBezTo>
                  <a:pt x="0" y="186"/>
                  <a:pt x="1" y="173"/>
                  <a:pt x="4" y="160"/>
                </a:cubicBezTo>
                <a:cubicBezTo>
                  <a:pt x="6" y="147"/>
                  <a:pt x="10" y="135"/>
                  <a:pt x="15" y="123"/>
                </a:cubicBezTo>
                <a:cubicBezTo>
                  <a:pt x="20" y="111"/>
                  <a:pt x="26" y="99"/>
                  <a:pt x="33" y="88"/>
                </a:cubicBezTo>
                <a:cubicBezTo>
                  <a:pt x="41" y="77"/>
                  <a:pt x="49" y="67"/>
                  <a:pt x="58" y="58"/>
                </a:cubicBezTo>
                <a:cubicBezTo>
                  <a:pt x="67" y="49"/>
                  <a:pt x="77" y="41"/>
                  <a:pt x="88" y="34"/>
                </a:cubicBezTo>
                <a:cubicBezTo>
                  <a:pt x="99" y="26"/>
                  <a:pt x="110" y="20"/>
                  <a:pt x="122" y="15"/>
                </a:cubicBezTo>
                <a:cubicBezTo>
                  <a:pt x="134" y="10"/>
                  <a:pt x="147" y="6"/>
                  <a:pt x="160" y="4"/>
                </a:cubicBezTo>
                <a:cubicBezTo>
                  <a:pt x="172" y="1"/>
                  <a:pt x="185" y="0"/>
                  <a:pt x="198" y="0"/>
                </a:cubicBezTo>
                <a:lnTo>
                  <a:pt x="30044" y="0"/>
                </a:lnTo>
                <a:cubicBezTo>
                  <a:pt x="30057" y="0"/>
                  <a:pt x="30070" y="1"/>
                  <a:pt x="30083" y="4"/>
                </a:cubicBezTo>
                <a:cubicBezTo>
                  <a:pt x="30096" y="6"/>
                  <a:pt x="30108" y="10"/>
                  <a:pt x="30120" y="15"/>
                </a:cubicBezTo>
                <a:cubicBezTo>
                  <a:pt x="30132" y="20"/>
                  <a:pt x="30144" y="26"/>
                  <a:pt x="30155" y="34"/>
                </a:cubicBezTo>
                <a:cubicBezTo>
                  <a:pt x="30165" y="41"/>
                  <a:pt x="30175" y="49"/>
                  <a:pt x="30185" y="58"/>
                </a:cubicBezTo>
                <a:cubicBezTo>
                  <a:pt x="30194" y="67"/>
                  <a:pt x="30202" y="77"/>
                  <a:pt x="30209" y="88"/>
                </a:cubicBezTo>
                <a:cubicBezTo>
                  <a:pt x="30217" y="99"/>
                  <a:pt x="30223" y="111"/>
                  <a:pt x="30228" y="123"/>
                </a:cubicBezTo>
                <a:cubicBezTo>
                  <a:pt x="30233" y="135"/>
                  <a:pt x="30236" y="147"/>
                  <a:pt x="30239" y="160"/>
                </a:cubicBezTo>
                <a:cubicBezTo>
                  <a:pt x="30242" y="173"/>
                  <a:pt x="30243" y="186"/>
                  <a:pt x="30243" y="199"/>
                </a:cubicBezTo>
                <a:lnTo>
                  <a:pt x="30243" y="1364"/>
                </a:lnTo>
                <a:cubicBezTo>
                  <a:pt x="30243" y="1377"/>
                  <a:pt x="30242" y="1390"/>
                  <a:pt x="30239" y="1402"/>
                </a:cubicBezTo>
                <a:cubicBezTo>
                  <a:pt x="30236" y="1415"/>
                  <a:pt x="30233" y="1428"/>
                  <a:pt x="30228" y="1440"/>
                </a:cubicBezTo>
                <a:cubicBezTo>
                  <a:pt x="30223" y="1452"/>
                  <a:pt x="30217" y="1463"/>
                  <a:pt x="30209" y="1474"/>
                </a:cubicBezTo>
                <a:cubicBezTo>
                  <a:pt x="30202" y="1485"/>
                  <a:pt x="30194" y="1495"/>
                  <a:pt x="30185" y="1504"/>
                </a:cubicBezTo>
                <a:cubicBezTo>
                  <a:pt x="30175" y="1513"/>
                  <a:pt x="30165" y="1521"/>
                  <a:pt x="30155" y="1529"/>
                </a:cubicBezTo>
                <a:cubicBezTo>
                  <a:pt x="30144" y="1536"/>
                  <a:pt x="30132" y="1542"/>
                  <a:pt x="30120" y="1547"/>
                </a:cubicBezTo>
                <a:cubicBezTo>
                  <a:pt x="30108" y="1552"/>
                  <a:pt x="30096" y="1556"/>
                  <a:pt x="30083" y="1558"/>
                </a:cubicBezTo>
                <a:cubicBezTo>
                  <a:pt x="30070" y="1561"/>
                  <a:pt x="30057" y="1562"/>
                  <a:pt x="30044" y="1562"/>
                </a:cubicBezTo>
                <a:lnTo>
                  <a:pt x="198" y="1562"/>
                </a:lnTo>
                <a:cubicBezTo>
                  <a:pt x="185" y="1562"/>
                  <a:pt x="172" y="1561"/>
                  <a:pt x="160" y="1558"/>
                </a:cubicBezTo>
                <a:cubicBezTo>
                  <a:pt x="147" y="1556"/>
                  <a:pt x="134" y="1552"/>
                  <a:pt x="122" y="1547"/>
                </a:cubicBezTo>
                <a:cubicBezTo>
                  <a:pt x="110" y="1542"/>
                  <a:pt x="99" y="1536"/>
                  <a:pt x="88" y="1529"/>
                </a:cubicBezTo>
                <a:cubicBezTo>
                  <a:pt x="77" y="1521"/>
                  <a:pt x="67" y="1513"/>
                  <a:pt x="58" y="1504"/>
                </a:cubicBezTo>
                <a:cubicBezTo>
                  <a:pt x="49" y="1495"/>
                  <a:pt x="41" y="1485"/>
                  <a:pt x="33" y="1474"/>
                </a:cubicBezTo>
                <a:cubicBezTo>
                  <a:pt x="26" y="1463"/>
                  <a:pt x="20" y="1452"/>
                  <a:pt x="15" y="1440"/>
                </a:cubicBezTo>
                <a:cubicBezTo>
                  <a:pt x="10" y="1428"/>
                  <a:pt x="6" y="1415"/>
                  <a:pt x="4" y="1402"/>
                </a:cubicBezTo>
                <a:cubicBezTo>
                  <a:pt x="1" y="1390"/>
                  <a:pt x="0" y="1377"/>
                  <a:pt x="0" y="1364"/>
                </a:cubicBezTo>
                <a:close/>
              </a:path>
            </a:pathLst>
          </a:custGeom>
          <a:solidFill>
            <a:srgbClr val="080808"/>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93" name=""/>
          <p:cNvSpPr/>
          <p:nvPr/>
        </p:nvSpPr>
        <p:spPr>
          <a:xfrm>
            <a:off x="652320" y="4605120"/>
            <a:ext cx="10887480" cy="562320"/>
          </a:xfrm>
          <a:custGeom>
            <a:avLst/>
            <a:gdLst/>
            <a:ahLst/>
            <a:rect l="0" t="0" r="r" b="b"/>
            <a:pathLst>
              <a:path w="30243" h="1562">
                <a:moveTo>
                  <a:pt x="0" y="1364"/>
                </a:moveTo>
                <a:lnTo>
                  <a:pt x="0" y="199"/>
                </a:lnTo>
                <a:cubicBezTo>
                  <a:pt x="0" y="186"/>
                  <a:pt x="1" y="173"/>
                  <a:pt x="4" y="160"/>
                </a:cubicBezTo>
                <a:cubicBezTo>
                  <a:pt x="6" y="147"/>
                  <a:pt x="10" y="135"/>
                  <a:pt x="15" y="123"/>
                </a:cubicBezTo>
                <a:cubicBezTo>
                  <a:pt x="20" y="111"/>
                  <a:pt x="26" y="99"/>
                  <a:pt x="33" y="88"/>
                </a:cubicBezTo>
                <a:cubicBezTo>
                  <a:pt x="41" y="77"/>
                  <a:pt x="49" y="67"/>
                  <a:pt x="58" y="58"/>
                </a:cubicBezTo>
                <a:cubicBezTo>
                  <a:pt x="67" y="49"/>
                  <a:pt x="77" y="41"/>
                  <a:pt x="88" y="34"/>
                </a:cubicBezTo>
                <a:cubicBezTo>
                  <a:pt x="99" y="26"/>
                  <a:pt x="110" y="20"/>
                  <a:pt x="122" y="15"/>
                </a:cubicBezTo>
                <a:cubicBezTo>
                  <a:pt x="134" y="10"/>
                  <a:pt x="147" y="6"/>
                  <a:pt x="160" y="4"/>
                </a:cubicBezTo>
                <a:cubicBezTo>
                  <a:pt x="172" y="1"/>
                  <a:pt x="185" y="0"/>
                  <a:pt x="198" y="0"/>
                </a:cubicBezTo>
                <a:lnTo>
                  <a:pt x="30044" y="0"/>
                </a:lnTo>
                <a:cubicBezTo>
                  <a:pt x="30057" y="0"/>
                  <a:pt x="30070" y="1"/>
                  <a:pt x="30083" y="4"/>
                </a:cubicBezTo>
                <a:cubicBezTo>
                  <a:pt x="30096" y="6"/>
                  <a:pt x="30108" y="10"/>
                  <a:pt x="30120" y="15"/>
                </a:cubicBezTo>
                <a:cubicBezTo>
                  <a:pt x="30132" y="20"/>
                  <a:pt x="30144" y="26"/>
                  <a:pt x="30155" y="34"/>
                </a:cubicBezTo>
                <a:cubicBezTo>
                  <a:pt x="30165" y="41"/>
                  <a:pt x="30175" y="49"/>
                  <a:pt x="30185" y="58"/>
                </a:cubicBezTo>
                <a:cubicBezTo>
                  <a:pt x="30194" y="67"/>
                  <a:pt x="30202" y="77"/>
                  <a:pt x="30209" y="88"/>
                </a:cubicBezTo>
                <a:cubicBezTo>
                  <a:pt x="30217" y="99"/>
                  <a:pt x="30223" y="111"/>
                  <a:pt x="30228" y="123"/>
                </a:cubicBezTo>
                <a:cubicBezTo>
                  <a:pt x="30233" y="135"/>
                  <a:pt x="30236" y="147"/>
                  <a:pt x="30239" y="160"/>
                </a:cubicBezTo>
                <a:cubicBezTo>
                  <a:pt x="30242" y="173"/>
                  <a:pt x="30243" y="186"/>
                  <a:pt x="30243" y="199"/>
                </a:cubicBezTo>
                <a:lnTo>
                  <a:pt x="30243" y="1364"/>
                </a:lnTo>
                <a:cubicBezTo>
                  <a:pt x="30243" y="1377"/>
                  <a:pt x="30242" y="1390"/>
                  <a:pt x="30239" y="1402"/>
                </a:cubicBezTo>
                <a:cubicBezTo>
                  <a:pt x="30236" y="1415"/>
                  <a:pt x="30233" y="1428"/>
                  <a:pt x="30228" y="1440"/>
                </a:cubicBezTo>
                <a:cubicBezTo>
                  <a:pt x="30223" y="1452"/>
                  <a:pt x="30217" y="1463"/>
                  <a:pt x="30209" y="1474"/>
                </a:cubicBezTo>
                <a:cubicBezTo>
                  <a:pt x="30202" y="1485"/>
                  <a:pt x="30194" y="1495"/>
                  <a:pt x="30185" y="1504"/>
                </a:cubicBezTo>
                <a:cubicBezTo>
                  <a:pt x="30175" y="1513"/>
                  <a:pt x="30165" y="1521"/>
                  <a:pt x="30155" y="1529"/>
                </a:cubicBezTo>
                <a:cubicBezTo>
                  <a:pt x="30144" y="1536"/>
                  <a:pt x="30132" y="1542"/>
                  <a:pt x="30120" y="1547"/>
                </a:cubicBezTo>
                <a:cubicBezTo>
                  <a:pt x="30108" y="1552"/>
                  <a:pt x="30096" y="1556"/>
                  <a:pt x="30083" y="1558"/>
                </a:cubicBezTo>
                <a:cubicBezTo>
                  <a:pt x="30070" y="1561"/>
                  <a:pt x="30057" y="1562"/>
                  <a:pt x="30044" y="1562"/>
                </a:cubicBezTo>
                <a:lnTo>
                  <a:pt x="198" y="1562"/>
                </a:lnTo>
                <a:cubicBezTo>
                  <a:pt x="185" y="1562"/>
                  <a:pt x="172" y="1561"/>
                  <a:pt x="160" y="1558"/>
                </a:cubicBezTo>
                <a:cubicBezTo>
                  <a:pt x="147" y="1556"/>
                  <a:pt x="134" y="1552"/>
                  <a:pt x="122" y="1547"/>
                </a:cubicBezTo>
                <a:cubicBezTo>
                  <a:pt x="110" y="1542"/>
                  <a:pt x="99" y="1536"/>
                  <a:pt x="88" y="1529"/>
                </a:cubicBezTo>
                <a:cubicBezTo>
                  <a:pt x="77" y="1521"/>
                  <a:pt x="67" y="1513"/>
                  <a:pt x="58" y="1504"/>
                </a:cubicBezTo>
                <a:cubicBezTo>
                  <a:pt x="49" y="1495"/>
                  <a:pt x="41" y="1485"/>
                  <a:pt x="33" y="1474"/>
                </a:cubicBezTo>
                <a:cubicBezTo>
                  <a:pt x="26" y="1463"/>
                  <a:pt x="20" y="1452"/>
                  <a:pt x="15" y="1440"/>
                </a:cubicBezTo>
                <a:cubicBezTo>
                  <a:pt x="10" y="1428"/>
                  <a:pt x="6" y="1415"/>
                  <a:pt x="4" y="1402"/>
                </a:cubicBezTo>
                <a:cubicBezTo>
                  <a:pt x="1" y="1390"/>
                  <a:pt x="0" y="1377"/>
                  <a:pt x="0" y="1364"/>
                </a:cubicBezTo>
                <a:close/>
              </a:path>
            </a:pathLst>
          </a:custGeom>
          <a:noFill/>
          <a:ln w="9360">
            <a:solidFill>
              <a:srgbClr val="111111"/>
            </a:solidFill>
            <a:miter/>
          </a:ln>
        </p:spPr>
        <p:txBody>
          <a:bodyPr lIns="4680" tIns="4680" rIns="4680" bIns="4680" anchor="t">
            <a:noAutofit/>
          </a:bodyPr>
          <a:p>
            <a:endParaRPr lang="en-SG" sz="2400" b="0" u="none" strike="noStrike">
              <a:solidFill>
                <a:srgbClr val="000000"/>
              </a:solidFill>
              <a:effectLst/>
              <a:uFillTx/>
              <a:latin typeface="Times New Roman"/>
            </a:endParaRPr>
          </a:p>
        </p:txBody>
      </p:sp>
      <p:sp>
        <p:nvSpPr>
          <p:cNvPr id="94" name=""/>
          <p:cNvSpPr txBox="1"/>
          <p:nvPr/>
        </p:nvSpPr>
        <p:spPr>
          <a:xfrm>
            <a:off x="647640" y="1656000"/>
            <a:ext cx="1357560" cy="235080"/>
          </a:xfrm>
          <a:prstGeom prst="rect">
            <a:avLst/>
          </a:prstGeom>
          <a:noFill/>
          <a:ln w="0">
            <a:noFill/>
          </a:ln>
        </p:spPr>
        <p:txBody>
          <a:bodyPr wrap="none" lIns="0" tIns="0" rIns="0" bIns="0" anchor="t">
            <a:spAutoFit/>
          </a:bodyPr>
          <a:p>
            <a:pPr/>
            <a:r>
              <a:rPr lang="en-SG" sz="1300" b="1" u="none" strike="noStrike">
                <a:solidFill>
                  <a:srgbClr val="5F5F5F"/>
                </a:solidFill>
                <a:effectLst/>
                <a:uFillTx/>
                <a:latin typeface="Arial"/>
                <a:ea typeface="Outfit-Thin_Semi"/>
              </a:rPr>
              <a:t>C L E A N I N G</a:t>
            </a:r>
            <a:endParaRPr lang="en-SG" sz="1300" b="0" u="none" strike="noStrike">
              <a:solidFill>
                <a:srgbClr val="000000"/>
              </a:solidFill>
              <a:effectLst/>
              <a:uFillTx/>
              <a:latin typeface="Times New Roman"/>
            </a:endParaRPr>
          </a:p>
        </p:txBody>
      </p:sp>
      <p:sp>
        <p:nvSpPr>
          <p:cNvPr id="95" name=""/>
          <p:cNvSpPr txBox="1"/>
          <p:nvPr/>
        </p:nvSpPr>
        <p:spPr>
          <a:xfrm>
            <a:off x="647640" y="1888200"/>
            <a:ext cx="6058080" cy="346320"/>
          </a:xfrm>
          <a:prstGeom prst="rect">
            <a:avLst/>
          </a:prstGeom>
          <a:noFill/>
          <a:ln w="0">
            <a:noFill/>
          </a:ln>
        </p:spPr>
        <p:txBody>
          <a:bodyPr wrap="square" lIns="0" tIns="0" rIns="0" bIns="0" anchor="t">
            <a:spAutoFit/>
          </a:bodyPr>
          <a:p>
            <a:pPr/>
            <a:r>
              <a:rPr sz="2100" b="0">
                <a:solidFill>
                  <a:srgbClr val="F2F2F2"/>
                </a:solidFill>
                <a:latin typeface="Aptos"/>
              </a:rPr>
              <a:t>We removed 0.38% — and imputed nothing.</a:t>
            </a:r>
            <a:endParaRPr lang="en-SG" sz="2720" b="0" u="none" strike="noStrike">
              <a:solidFill>
                <a:srgbClr val="000000"/>
              </a:solidFill>
              <a:effectLst/>
              <a:uFillTx/>
              <a:latin typeface="Times New Roman"/>
            </a:endParaRPr>
          </a:p>
        </p:txBody>
      </p:sp>
      <p:sp>
        <p:nvSpPr>
          <p:cNvPr id="96" name=""/>
          <p:cNvSpPr/>
          <p:nvPr/>
        </p:nvSpPr>
        <p:spPr>
          <a:xfrm>
            <a:off x="652320" y="2628720"/>
            <a:ext cx="2619720" cy="1757880"/>
          </a:xfrm>
          <a:custGeom>
            <a:avLst/>
            <a:gdLst/>
            <a:ahLst/>
            <a:rect l="0" t="0" r="r" b="b"/>
            <a:pathLst>
              <a:path w="7277" h="4883">
                <a:moveTo>
                  <a:pt x="0" y="4631"/>
                </a:moveTo>
                <a:lnTo>
                  <a:pt x="0" y="239"/>
                </a:lnTo>
                <a:cubicBezTo>
                  <a:pt x="0" y="223"/>
                  <a:pt x="2" y="208"/>
                  <a:pt x="5" y="193"/>
                </a:cubicBezTo>
                <a:cubicBezTo>
                  <a:pt x="8" y="177"/>
                  <a:pt x="13" y="162"/>
                  <a:pt x="19" y="148"/>
                </a:cubicBezTo>
                <a:cubicBezTo>
                  <a:pt x="25" y="134"/>
                  <a:pt x="33" y="120"/>
                  <a:pt x="42" y="107"/>
                </a:cubicBezTo>
                <a:cubicBezTo>
                  <a:pt x="51" y="94"/>
                  <a:pt x="62" y="82"/>
                  <a:pt x="74" y="71"/>
                </a:cubicBezTo>
                <a:cubicBezTo>
                  <a:pt x="85" y="60"/>
                  <a:pt x="98" y="50"/>
                  <a:pt x="112" y="41"/>
                </a:cubicBezTo>
                <a:cubicBezTo>
                  <a:pt x="125" y="32"/>
                  <a:pt x="140" y="25"/>
                  <a:pt x="155" y="18"/>
                </a:cubicBezTo>
                <a:cubicBezTo>
                  <a:pt x="170" y="12"/>
                  <a:pt x="186" y="8"/>
                  <a:pt x="202" y="5"/>
                </a:cubicBezTo>
                <a:cubicBezTo>
                  <a:pt x="218" y="2"/>
                  <a:pt x="235" y="0"/>
                  <a:pt x="251" y="0"/>
                </a:cubicBezTo>
                <a:lnTo>
                  <a:pt x="7026" y="0"/>
                </a:lnTo>
                <a:cubicBezTo>
                  <a:pt x="7042" y="0"/>
                  <a:pt x="7058" y="2"/>
                  <a:pt x="7075" y="5"/>
                </a:cubicBezTo>
                <a:cubicBezTo>
                  <a:pt x="7091" y="8"/>
                  <a:pt x="7107" y="12"/>
                  <a:pt x="7122" y="18"/>
                </a:cubicBezTo>
                <a:cubicBezTo>
                  <a:pt x="7137" y="25"/>
                  <a:pt x="7152" y="32"/>
                  <a:pt x="7165" y="41"/>
                </a:cubicBezTo>
                <a:cubicBezTo>
                  <a:pt x="7179" y="50"/>
                  <a:pt x="7192" y="60"/>
                  <a:pt x="7203" y="71"/>
                </a:cubicBezTo>
                <a:cubicBezTo>
                  <a:pt x="7215" y="82"/>
                  <a:pt x="7225" y="94"/>
                  <a:pt x="7235" y="107"/>
                </a:cubicBezTo>
                <a:cubicBezTo>
                  <a:pt x="7244" y="120"/>
                  <a:pt x="7251" y="134"/>
                  <a:pt x="7258" y="148"/>
                </a:cubicBezTo>
                <a:cubicBezTo>
                  <a:pt x="7264" y="162"/>
                  <a:pt x="7269" y="177"/>
                  <a:pt x="7272" y="193"/>
                </a:cubicBezTo>
                <a:cubicBezTo>
                  <a:pt x="7275" y="208"/>
                  <a:pt x="7277" y="223"/>
                  <a:pt x="7277" y="239"/>
                </a:cubicBezTo>
                <a:lnTo>
                  <a:pt x="7277" y="4631"/>
                </a:lnTo>
                <a:cubicBezTo>
                  <a:pt x="7277" y="4648"/>
                  <a:pt x="7275" y="4664"/>
                  <a:pt x="7272" y="4680"/>
                </a:cubicBezTo>
                <a:cubicBezTo>
                  <a:pt x="7269" y="4696"/>
                  <a:pt x="7264" y="4712"/>
                  <a:pt x="7258" y="4727"/>
                </a:cubicBezTo>
                <a:cubicBezTo>
                  <a:pt x="7251" y="4743"/>
                  <a:pt x="7244" y="4757"/>
                  <a:pt x="7235" y="4771"/>
                </a:cubicBezTo>
                <a:cubicBezTo>
                  <a:pt x="7225" y="4785"/>
                  <a:pt x="7215" y="4797"/>
                  <a:pt x="7203" y="4809"/>
                </a:cubicBezTo>
                <a:cubicBezTo>
                  <a:pt x="7192" y="4821"/>
                  <a:pt x="7179" y="4831"/>
                  <a:pt x="7165" y="4840"/>
                </a:cubicBezTo>
                <a:cubicBezTo>
                  <a:pt x="7152" y="4849"/>
                  <a:pt x="7137" y="4857"/>
                  <a:pt x="7122" y="4863"/>
                </a:cubicBezTo>
                <a:cubicBezTo>
                  <a:pt x="7107" y="4870"/>
                  <a:pt x="7091" y="4875"/>
                  <a:pt x="7075" y="4878"/>
                </a:cubicBezTo>
                <a:cubicBezTo>
                  <a:pt x="7058" y="4881"/>
                  <a:pt x="7042" y="4883"/>
                  <a:pt x="7026" y="4883"/>
                </a:cubicBezTo>
                <a:lnTo>
                  <a:pt x="251" y="4883"/>
                </a:lnTo>
                <a:cubicBezTo>
                  <a:pt x="235" y="4883"/>
                  <a:pt x="218" y="4881"/>
                  <a:pt x="202" y="4878"/>
                </a:cubicBezTo>
                <a:cubicBezTo>
                  <a:pt x="186" y="4875"/>
                  <a:pt x="170" y="4870"/>
                  <a:pt x="155" y="4863"/>
                </a:cubicBezTo>
                <a:cubicBezTo>
                  <a:pt x="140" y="4857"/>
                  <a:pt x="125" y="4849"/>
                  <a:pt x="112" y="4840"/>
                </a:cubicBezTo>
                <a:cubicBezTo>
                  <a:pt x="98" y="4831"/>
                  <a:pt x="85" y="4821"/>
                  <a:pt x="74" y="4809"/>
                </a:cubicBezTo>
                <a:cubicBezTo>
                  <a:pt x="62" y="4797"/>
                  <a:pt x="51" y="4785"/>
                  <a:pt x="42" y="4771"/>
                </a:cubicBezTo>
                <a:cubicBezTo>
                  <a:pt x="33" y="4757"/>
                  <a:pt x="25" y="4743"/>
                  <a:pt x="19" y="4727"/>
                </a:cubicBezTo>
                <a:cubicBezTo>
                  <a:pt x="13" y="4712"/>
                  <a:pt x="8" y="4696"/>
                  <a:pt x="5" y="4680"/>
                </a:cubicBezTo>
                <a:cubicBezTo>
                  <a:pt x="2" y="4664"/>
                  <a:pt x="0" y="4648"/>
                  <a:pt x="0" y="4631"/>
                </a:cubicBezTo>
                <a:close/>
              </a:path>
            </a:pathLst>
          </a:custGeom>
          <a:solidFill>
            <a:srgbClr val="080808"/>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97" name=""/>
          <p:cNvSpPr/>
          <p:nvPr/>
        </p:nvSpPr>
        <p:spPr>
          <a:xfrm>
            <a:off x="672840" y="2638080"/>
            <a:ext cx="2578320" cy="53280"/>
          </a:xfrm>
          <a:custGeom>
            <a:avLst/>
            <a:gdLst/>
            <a:ahLst/>
            <a:rect l="0" t="0" r="r" b="b"/>
            <a:pathLst>
              <a:path w="7162" h="148">
                <a:moveTo>
                  <a:pt x="7133" y="148"/>
                </a:moveTo>
                <a:lnTo>
                  <a:pt x="29" y="148"/>
                </a:lnTo>
                <a:lnTo>
                  <a:pt x="0" y="90"/>
                </a:lnTo>
                <a:cubicBezTo>
                  <a:pt x="8" y="81"/>
                  <a:pt x="16" y="72"/>
                  <a:pt x="26" y="63"/>
                </a:cubicBezTo>
                <a:cubicBezTo>
                  <a:pt x="48" y="43"/>
                  <a:pt x="74" y="27"/>
                  <a:pt x="103" y="17"/>
                </a:cubicBezTo>
                <a:cubicBezTo>
                  <a:pt x="132" y="6"/>
                  <a:pt x="163" y="0"/>
                  <a:pt x="194" y="0"/>
                </a:cubicBezTo>
                <a:lnTo>
                  <a:pt x="6969" y="0"/>
                </a:lnTo>
                <a:cubicBezTo>
                  <a:pt x="7000" y="0"/>
                  <a:pt x="7031" y="6"/>
                  <a:pt x="7060" y="17"/>
                </a:cubicBezTo>
                <a:cubicBezTo>
                  <a:pt x="7089" y="27"/>
                  <a:pt x="7115" y="43"/>
                  <a:pt x="7137" y="63"/>
                </a:cubicBezTo>
                <a:cubicBezTo>
                  <a:pt x="7146" y="72"/>
                  <a:pt x="7155" y="81"/>
                  <a:pt x="7162" y="90"/>
                </a:cubicBezTo>
                <a:lnTo>
                  <a:pt x="7133" y="148"/>
                </a:lnTo>
                <a:close/>
              </a:path>
            </a:pathLst>
          </a:custGeom>
          <a:solidFill>
            <a:srgbClr val="EF4444"/>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98" name=""/>
          <p:cNvSpPr/>
          <p:nvPr/>
        </p:nvSpPr>
        <p:spPr>
          <a:xfrm>
            <a:off x="682200" y="4338360"/>
            <a:ext cx="2559960" cy="43200"/>
          </a:xfrm>
          <a:custGeom>
            <a:avLst/>
            <a:gdLst/>
            <a:ahLst/>
            <a:rect l="0" t="0" r="r" b="b"/>
            <a:pathLst>
              <a:path w="7111" h="120">
                <a:moveTo>
                  <a:pt x="49" y="0"/>
                </a:moveTo>
                <a:lnTo>
                  <a:pt x="7062" y="0"/>
                </a:lnTo>
                <a:lnTo>
                  <a:pt x="7111" y="51"/>
                </a:lnTo>
                <a:cubicBezTo>
                  <a:pt x="7089" y="73"/>
                  <a:pt x="7063" y="90"/>
                  <a:pt x="7034" y="102"/>
                </a:cubicBezTo>
                <a:cubicBezTo>
                  <a:pt x="7005" y="114"/>
                  <a:pt x="6974" y="120"/>
                  <a:pt x="6943" y="120"/>
                </a:cubicBezTo>
                <a:lnTo>
                  <a:pt x="168" y="120"/>
                </a:lnTo>
                <a:cubicBezTo>
                  <a:pt x="137" y="120"/>
                  <a:pt x="106" y="114"/>
                  <a:pt x="77" y="102"/>
                </a:cubicBezTo>
                <a:cubicBezTo>
                  <a:pt x="48" y="90"/>
                  <a:pt x="22" y="73"/>
                  <a:pt x="0" y="51"/>
                </a:cubicBezTo>
                <a:lnTo>
                  <a:pt x="49" y="0"/>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99" name=""/>
          <p:cNvSpPr/>
          <p:nvPr/>
        </p:nvSpPr>
        <p:spPr>
          <a:xfrm>
            <a:off x="3224160" y="2669760"/>
            <a:ext cx="43200" cy="1687320"/>
          </a:xfrm>
          <a:custGeom>
            <a:avLst/>
            <a:gdLst/>
            <a:ahLst/>
            <a:rect l="0" t="0" r="r" b="b"/>
            <a:pathLst>
              <a:path w="120" h="4687">
                <a:moveTo>
                  <a:pt x="0" y="4639"/>
                </a:moveTo>
                <a:lnTo>
                  <a:pt x="0" y="148"/>
                </a:lnTo>
                <a:lnTo>
                  <a:pt x="75" y="0"/>
                </a:lnTo>
                <a:cubicBezTo>
                  <a:pt x="85" y="13"/>
                  <a:pt x="94" y="28"/>
                  <a:pt x="102" y="43"/>
                </a:cubicBezTo>
                <a:cubicBezTo>
                  <a:pt x="114" y="69"/>
                  <a:pt x="120" y="96"/>
                  <a:pt x="120" y="124"/>
                </a:cubicBezTo>
                <a:lnTo>
                  <a:pt x="120" y="4517"/>
                </a:lnTo>
                <a:cubicBezTo>
                  <a:pt x="120" y="4549"/>
                  <a:pt x="114" y="4579"/>
                  <a:pt x="102" y="4608"/>
                </a:cubicBezTo>
                <a:cubicBezTo>
                  <a:pt x="89" y="4638"/>
                  <a:pt x="72" y="4663"/>
                  <a:pt x="50" y="4686"/>
                </a:cubicBezTo>
                <a:cubicBezTo>
                  <a:pt x="50" y="4686"/>
                  <a:pt x="49" y="4686"/>
                  <a:pt x="49" y="4687"/>
                </a:cubicBezTo>
                <a:lnTo>
                  <a:pt x="0" y="4639"/>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100" name=""/>
          <p:cNvSpPr/>
          <p:nvPr/>
        </p:nvSpPr>
        <p:spPr>
          <a:xfrm>
            <a:off x="657000" y="2669760"/>
            <a:ext cx="43200" cy="1687320"/>
          </a:xfrm>
          <a:custGeom>
            <a:avLst/>
            <a:gdLst/>
            <a:ahLst/>
            <a:rect l="0" t="0" r="r" b="b"/>
            <a:pathLst>
              <a:path w="120" h="4687">
                <a:moveTo>
                  <a:pt x="120" y="148"/>
                </a:moveTo>
                <a:lnTo>
                  <a:pt x="120" y="4639"/>
                </a:lnTo>
                <a:lnTo>
                  <a:pt x="72" y="4687"/>
                </a:lnTo>
                <a:cubicBezTo>
                  <a:pt x="72" y="4686"/>
                  <a:pt x="71" y="4686"/>
                  <a:pt x="71" y="4686"/>
                </a:cubicBezTo>
                <a:cubicBezTo>
                  <a:pt x="49" y="4663"/>
                  <a:pt x="31" y="4638"/>
                  <a:pt x="18" y="4608"/>
                </a:cubicBezTo>
                <a:cubicBezTo>
                  <a:pt x="6" y="4579"/>
                  <a:pt x="0" y="4549"/>
                  <a:pt x="0" y="4517"/>
                </a:cubicBezTo>
                <a:lnTo>
                  <a:pt x="0" y="124"/>
                </a:lnTo>
                <a:cubicBezTo>
                  <a:pt x="0" y="96"/>
                  <a:pt x="6" y="69"/>
                  <a:pt x="18" y="43"/>
                </a:cubicBezTo>
                <a:cubicBezTo>
                  <a:pt x="26" y="28"/>
                  <a:pt x="35" y="13"/>
                  <a:pt x="46" y="0"/>
                </a:cubicBezTo>
                <a:lnTo>
                  <a:pt x="120" y="148"/>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101" name=""/>
          <p:cNvSpPr txBox="1"/>
          <p:nvPr/>
        </p:nvSpPr>
        <p:spPr>
          <a:xfrm>
            <a:off x="2788560" y="4722840"/>
            <a:ext cx="6616440" cy="215280"/>
          </a:xfrm>
          <a:prstGeom prst="rect">
            <a:avLst/>
          </a:prstGeom>
          <a:noFill/>
          <a:ln w="0">
            <a:noFill/>
          </a:ln>
        </p:spPr>
        <p:txBody>
          <a:bodyPr wrap="square" lIns="0" tIns="0" rIns="0" bIns="0" anchor="t">
            <a:spAutoFit/>
          </a:bodyPr>
          <a:p>
            <a:pPr/>
            <a:r>
              <a:rPr sz="1200" b="0">
                <a:solidFill>
                  <a:srgbClr val="AAAAAA"/>
                </a:solidFill>
                <a:latin typeface="Aptos"/>
              </a:rPr>
              <a:t>When salary is the variable being measured, inventing one would contaminate the answer.</a:t>
            </a:r>
            <a:endParaRPr lang="en-SG" sz="1700" b="0" u="none" strike="noStrike">
              <a:solidFill>
                <a:srgbClr val="000000"/>
              </a:solidFill>
              <a:effectLst/>
              <a:uFillTx/>
              <a:latin typeface="Times New Roman"/>
            </a:endParaRPr>
          </a:p>
        </p:txBody>
      </p:sp>
      <p:sp>
        <p:nvSpPr>
          <p:cNvPr id="102" name=""/>
          <p:cNvSpPr txBox="1"/>
          <p:nvPr/>
        </p:nvSpPr>
        <p:spPr>
          <a:xfrm>
            <a:off x="828720" y="2810160"/>
            <a:ext cx="1279440" cy="195480"/>
          </a:xfrm>
          <a:prstGeom prst="rect">
            <a:avLst/>
          </a:prstGeom>
          <a:noFill/>
          <a:ln w="0">
            <a:noFill/>
          </a:ln>
        </p:spPr>
        <p:txBody>
          <a:bodyPr wrap="none" lIns="0" tIns="0" rIns="0" bIns="0" anchor="t">
            <a:spAutoFit/>
          </a:bodyPr>
          <a:p>
            <a:pPr/>
            <a:r>
              <a:rPr lang="en-SG" sz="1090" b="1" u="none" strike="noStrike">
                <a:solidFill>
                  <a:srgbClr val="555555"/>
                </a:solidFill>
                <a:effectLst/>
                <a:uFillTx/>
                <a:latin typeface="Outfit-Thin_Semi"/>
                <a:ea typeface="Outfit-Thin_Semi"/>
              </a:rPr>
              <a:t>ROWS REMOVED</a:t>
            </a:r>
            <a:endParaRPr lang="en-SG" sz="1090" b="0" u="none" strike="noStrike">
              <a:solidFill>
                <a:srgbClr val="000000"/>
              </a:solidFill>
              <a:effectLst/>
              <a:uFillTx/>
              <a:latin typeface="Times New Roman"/>
            </a:endParaRPr>
          </a:p>
        </p:txBody>
      </p:sp>
      <p:sp>
        <p:nvSpPr>
          <p:cNvPr id="103" name=""/>
          <p:cNvSpPr txBox="1"/>
          <p:nvPr/>
        </p:nvSpPr>
        <p:spPr>
          <a:xfrm>
            <a:off x="828720" y="2971800"/>
            <a:ext cx="1661040" cy="780480"/>
          </a:xfrm>
          <a:prstGeom prst="rect">
            <a:avLst/>
          </a:prstGeom>
          <a:noFill/>
          <a:ln w="0">
            <a:noFill/>
          </a:ln>
        </p:spPr>
        <p:txBody>
          <a:bodyPr wrap="none" lIns="0" tIns="0" rIns="0" bIns="0" anchor="t">
            <a:spAutoFit/>
          </a:bodyPr>
          <a:p>
            <a:pPr/>
            <a:r>
              <a:rPr lang="en-SG" sz="4350" b="1" u="none" strike="noStrike">
                <a:solidFill>
                  <a:srgbClr val="FFFFFF"/>
                </a:solidFill>
                <a:effectLst/>
                <a:uFillTx/>
                <a:latin typeface="Outfit-Thin_"/>
                <a:ea typeface="Outfit-Thin_"/>
              </a:rPr>
              <a:t>3,998</a:t>
            </a:r>
            <a:endParaRPr lang="en-SG" sz="4350" b="0" u="none" strike="noStrike">
              <a:solidFill>
                <a:srgbClr val="000000"/>
              </a:solidFill>
              <a:effectLst/>
              <a:uFillTx/>
              <a:latin typeface="Times New Roman"/>
            </a:endParaRPr>
          </a:p>
        </p:txBody>
      </p:sp>
      <p:sp>
        <p:nvSpPr>
          <p:cNvPr id="104" name=""/>
          <p:cNvSpPr txBox="1"/>
          <p:nvPr/>
        </p:nvSpPr>
        <p:spPr>
          <a:xfrm>
            <a:off x="828720" y="3693600"/>
            <a:ext cx="1744920" cy="171000"/>
          </a:xfrm>
          <a:prstGeom prst="rect">
            <a:avLst/>
          </a:prstGeom>
          <a:noFill/>
          <a:ln w="0">
            <a:noFill/>
          </a:ln>
        </p:spPr>
        <p:txBody>
          <a:bodyPr wrap="none" lIns="0" tIns="0" rIns="0" bIns="0" anchor="t">
            <a:spAutoFit/>
          </a:bodyPr>
          <a:p>
            <a:pPr/>
            <a:r>
              <a:rPr lang="en-SG" sz="1350" b="0" u="none" strike="noStrike">
                <a:solidFill>
                  <a:srgbClr val="999999"/>
                </a:solidFill>
                <a:effectLst/>
                <a:uFillTx/>
                <a:latin typeface="RalewayRoman"/>
                <a:ea typeface="RalewayRoman"/>
              </a:rPr>
              <a:t>0.38% — ghost rows +</a:t>
            </a:r>
            <a:endParaRPr lang="en-SG" sz="1350" b="0" u="none" strike="noStrike">
              <a:solidFill>
                <a:srgbClr val="000000"/>
              </a:solidFill>
              <a:effectLst/>
              <a:uFillTx/>
              <a:latin typeface="Times New Roman"/>
            </a:endParaRPr>
          </a:p>
        </p:txBody>
      </p:sp>
      <p:sp>
        <p:nvSpPr>
          <p:cNvPr id="105" name=""/>
          <p:cNvSpPr txBox="1"/>
          <p:nvPr/>
        </p:nvSpPr>
        <p:spPr>
          <a:xfrm>
            <a:off x="828720" y="3974760"/>
            <a:ext cx="1131120" cy="198360"/>
          </a:xfrm>
          <a:prstGeom prst="rect">
            <a:avLst/>
          </a:prstGeom>
          <a:noFill/>
          <a:ln w="0">
            <a:noFill/>
          </a:ln>
        </p:spPr>
        <p:txBody>
          <a:bodyPr wrap="none" lIns="0" tIns="0" rIns="0" bIns="0" anchor="t">
            <a:spAutoFit/>
          </a:bodyPr>
          <a:p>
            <a:pPr/>
            <a:r>
              <a:rPr lang="en-SG" sz="1350" b="0" u="none" strike="noStrike">
                <a:solidFill>
                  <a:srgbClr val="555555"/>
                </a:solidFill>
                <a:effectLst/>
                <a:uFillTx/>
                <a:latin typeface="Menlo"/>
                <a:ea typeface="Menlo"/>
              </a:rPr>
              <a:t>RANDOM_JOB_</a:t>
            </a:r>
            <a:endParaRPr lang="en-SG" sz="1350" b="0" u="none" strike="noStrike">
              <a:solidFill>
                <a:srgbClr val="000000"/>
              </a:solidFill>
              <a:effectLst/>
              <a:uFillTx/>
              <a:latin typeface="Times New Roman"/>
            </a:endParaRPr>
          </a:p>
        </p:txBody>
      </p:sp>
      <p:sp>
        <p:nvSpPr>
          <p:cNvPr id="106" name=""/>
          <p:cNvSpPr/>
          <p:nvPr/>
        </p:nvSpPr>
        <p:spPr>
          <a:xfrm>
            <a:off x="3414600" y="2628720"/>
            <a:ext cx="2610000" cy="1757880"/>
          </a:xfrm>
          <a:custGeom>
            <a:avLst/>
            <a:gdLst/>
            <a:ahLst/>
            <a:rect l="0" t="0" r="r" b="b"/>
            <a:pathLst>
              <a:path w="7250" h="4883">
                <a:moveTo>
                  <a:pt x="0" y="4631"/>
                </a:moveTo>
                <a:lnTo>
                  <a:pt x="0" y="239"/>
                </a:lnTo>
                <a:cubicBezTo>
                  <a:pt x="0" y="223"/>
                  <a:pt x="1" y="208"/>
                  <a:pt x="5" y="193"/>
                </a:cubicBezTo>
                <a:cubicBezTo>
                  <a:pt x="8" y="177"/>
                  <a:pt x="13" y="162"/>
                  <a:pt x="19" y="148"/>
                </a:cubicBezTo>
                <a:cubicBezTo>
                  <a:pt x="25" y="134"/>
                  <a:pt x="33" y="120"/>
                  <a:pt x="42" y="107"/>
                </a:cubicBezTo>
                <a:cubicBezTo>
                  <a:pt x="51" y="94"/>
                  <a:pt x="62" y="82"/>
                  <a:pt x="73" y="71"/>
                </a:cubicBezTo>
                <a:cubicBezTo>
                  <a:pt x="85" y="60"/>
                  <a:pt x="98" y="50"/>
                  <a:pt x="112" y="41"/>
                </a:cubicBezTo>
                <a:cubicBezTo>
                  <a:pt x="125" y="32"/>
                  <a:pt x="140" y="25"/>
                  <a:pt x="155" y="18"/>
                </a:cubicBezTo>
                <a:cubicBezTo>
                  <a:pt x="170" y="12"/>
                  <a:pt x="186" y="8"/>
                  <a:pt x="202" y="5"/>
                </a:cubicBezTo>
                <a:cubicBezTo>
                  <a:pt x="218" y="2"/>
                  <a:pt x="235" y="0"/>
                  <a:pt x="251" y="0"/>
                </a:cubicBezTo>
                <a:lnTo>
                  <a:pt x="6999" y="0"/>
                </a:lnTo>
                <a:cubicBezTo>
                  <a:pt x="7016" y="0"/>
                  <a:pt x="7032" y="2"/>
                  <a:pt x="7048" y="5"/>
                </a:cubicBezTo>
                <a:cubicBezTo>
                  <a:pt x="7064" y="8"/>
                  <a:pt x="7080" y="12"/>
                  <a:pt x="7095" y="18"/>
                </a:cubicBezTo>
                <a:cubicBezTo>
                  <a:pt x="7110" y="25"/>
                  <a:pt x="7125" y="32"/>
                  <a:pt x="7139" y="41"/>
                </a:cubicBezTo>
                <a:cubicBezTo>
                  <a:pt x="7152" y="50"/>
                  <a:pt x="7165" y="60"/>
                  <a:pt x="7177" y="71"/>
                </a:cubicBezTo>
                <a:cubicBezTo>
                  <a:pt x="7188" y="82"/>
                  <a:pt x="7199" y="94"/>
                  <a:pt x="7208" y="107"/>
                </a:cubicBezTo>
                <a:cubicBezTo>
                  <a:pt x="7217" y="120"/>
                  <a:pt x="7225" y="134"/>
                  <a:pt x="7231" y="148"/>
                </a:cubicBezTo>
                <a:cubicBezTo>
                  <a:pt x="7238" y="162"/>
                  <a:pt x="7242" y="177"/>
                  <a:pt x="7246" y="193"/>
                </a:cubicBezTo>
                <a:cubicBezTo>
                  <a:pt x="7249" y="208"/>
                  <a:pt x="7250" y="223"/>
                  <a:pt x="7250" y="239"/>
                </a:cubicBezTo>
                <a:lnTo>
                  <a:pt x="7250" y="4631"/>
                </a:lnTo>
                <a:cubicBezTo>
                  <a:pt x="7250" y="4648"/>
                  <a:pt x="7249" y="4664"/>
                  <a:pt x="7246" y="4680"/>
                </a:cubicBezTo>
                <a:cubicBezTo>
                  <a:pt x="7242" y="4696"/>
                  <a:pt x="7238" y="4712"/>
                  <a:pt x="7231" y="4727"/>
                </a:cubicBezTo>
                <a:cubicBezTo>
                  <a:pt x="7225" y="4743"/>
                  <a:pt x="7217" y="4757"/>
                  <a:pt x="7208" y="4771"/>
                </a:cubicBezTo>
                <a:cubicBezTo>
                  <a:pt x="7199" y="4785"/>
                  <a:pt x="7188" y="4797"/>
                  <a:pt x="7177" y="4809"/>
                </a:cubicBezTo>
                <a:cubicBezTo>
                  <a:pt x="7165" y="4821"/>
                  <a:pt x="7152" y="4831"/>
                  <a:pt x="7139" y="4840"/>
                </a:cubicBezTo>
                <a:cubicBezTo>
                  <a:pt x="7125" y="4849"/>
                  <a:pt x="7110" y="4857"/>
                  <a:pt x="7095" y="4863"/>
                </a:cubicBezTo>
                <a:cubicBezTo>
                  <a:pt x="7080" y="4870"/>
                  <a:pt x="7064" y="4875"/>
                  <a:pt x="7048" y="4878"/>
                </a:cubicBezTo>
                <a:cubicBezTo>
                  <a:pt x="7032" y="4881"/>
                  <a:pt x="7016" y="4883"/>
                  <a:pt x="6999" y="4883"/>
                </a:cubicBezTo>
                <a:lnTo>
                  <a:pt x="251" y="4883"/>
                </a:lnTo>
                <a:cubicBezTo>
                  <a:pt x="235" y="4883"/>
                  <a:pt x="218" y="4881"/>
                  <a:pt x="202" y="4878"/>
                </a:cubicBezTo>
                <a:cubicBezTo>
                  <a:pt x="186" y="4875"/>
                  <a:pt x="170" y="4870"/>
                  <a:pt x="155" y="4863"/>
                </a:cubicBezTo>
                <a:cubicBezTo>
                  <a:pt x="140" y="4857"/>
                  <a:pt x="125" y="4849"/>
                  <a:pt x="112" y="4840"/>
                </a:cubicBezTo>
                <a:cubicBezTo>
                  <a:pt x="98" y="4831"/>
                  <a:pt x="85" y="4821"/>
                  <a:pt x="73" y="4809"/>
                </a:cubicBezTo>
                <a:cubicBezTo>
                  <a:pt x="62" y="4797"/>
                  <a:pt x="51" y="4785"/>
                  <a:pt x="42" y="4771"/>
                </a:cubicBezTo>
                <a:cubicBezTo>
                  <a:pt x="33" y="4757"/>
                  <a:pt x="25" y="4743"/>
                  <a:pt x="19" y="4727"/>
                </a:cubicBezTo>
                <a:cubicBezTo>
                  <a:pt x="13" y="4712"/>
                  <a:pt x="8" y="4696"/>
                  <a:pt x="5" y="4680"/>
                </a:cubicBezTo>
                <a:cubicBezTo>
                  <a:pt x="1" y="4664"/>
                  <a:pt x="0" y="4648"/>
                  <a:pt x="0" y="4631"/>
                </a:cubicBezTo>
                <a:close/>
              </a:path>
            </a:pathLst>
          </a:custGeom>
          <a:solidFill>
            <a:srgbClr val="080808"/>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107" name=""/>
          <p:cNvSpPr/>
          <p:nvPr/>
        </p:nvSpPr>
        <p:spPr>
          <a:xfrm>
            <a:off x="3428640" y="2619360"/>
            <a:ext cx="2581920" cy="51120"/>
          </a:xfrm>
          <a:custGeom>
            <a:avLst/>
            <a:gdLst/>
            <a:ahLst/>
            <a:rect l="0" t="0" r="r" b="b"/>
            <a:pathLst>
              <a:path w="7172" h="142">
                <a:moveTo>
                  <a:pt x="7154" y="142"/>
                </a:moveTo>
                <a:cubicBezTo>
                  <a:pt x="7146" y="133"/>
                  <a:pt x="7138" y="123"/>
                  <a:pt x="7128" y="114"/>
                </a:cubicBezTo>
                <a:cubicBezTo>
                  <a:pt x="7106" y="95"/>
                  <a:pt x="7080" y="79"/>
                  <a:pt x="7051" y="69"/>
                </a:cubicBezTo>
                <a:cubicBezTo>
                  <a:pt x="7022" y="58"/>
                  <a:pt x="6992" y="52"/>
                  <a:pt x="6960" y="52"/>
                </a:cubicBezTo>
                <a:lnTo>
                  <a:pt x="212" y="52"/>
                </a:lnTo>
                <a:cubicBezTo>
                  <a:pt x="181" y="52"/>
                  <a:pt x="150" y="58"/>
                  <a:pt x="121" y="69"/>
                </a:cubicBezTo>
                <a:cubicBezTo>
                  <a:pt x="92" y="79"/>
                  <a:pt x="66" y="95"/>
                  <a:pt x="44" y="114"/>
                </a:cubicBezTo>
                <a:cubicBezTo>
                  <a:pt x="34" y="123"/>
                  <a:pt x="26" y="133"/>
                  <a:pt x="18" y="142"/>
                </a:cubicBezTo>
                <a:lnTo>
                  <a:pt x="0" y="105"/>
                </a:lnTo>
                <a:cubicBezTo>
                  <a:pt x="8" y="95"/>
                  <a:pt x="16" y="86"/>
                  <a:pt x="25" y="77"/>
                </a:cubicBezTo>
                <a:cubicBezTo>
                  <a:pt x="50" y="52"/>
                  <a:pt x="78" y="33"/>
                  <a:pt x="111" y="20"/>
                </a:cubicBezTo>
                <a:cubicBezTo>
                  <a:pt x="143" y="6"/>
                  <a:pt x="177" y="0"/>
                  <a:pt x="212" y="0"/>
                </a:cubicBezTo>
                <a:lnTo>
                  <a:pt x="6960" y="0"/>
                </a:lnTo>
                <a:cubicBezTo>
                  <a:pt x="6995" y="0"/>
                  <a:pt x="7029" y="6"/>
                  <a:pt x="7061" y="20"/>
                </a:cubicBezTo>
                <a:cubicBezTo>
                  <a:pt x="7094" y="33"/>
                  <a:pt x="7122" y="52"/>
                  <a:pt x="7147" y="77"/>
                </a:cubicBezTo>
                <a:cubicBezTo>
                  <a:pt x="7156" y="86"/>
                  <a:pt x="7164" y="95"/>
                  <a:pt x="7172" y="105"/>
                </a:cubicBezTo>
                <a:lnTo>
                  <a:pt x="7154" y="142"/>
                </a:lnTo>
                <a:close/>
              </a:path>
            </a:pathLst>
          </a:custGeom>
          <a:solidFill>
            <a:srgbClr val="22C55E"/>
          </a:solidFill>
          <a:ln w="0">
            <a:noFill/>
          </a:ln>
        </p:spPr>
        <p:txBody>
          <a:bodyPr lIns="0" tIns="0" rIns="0" bIns="0" anchor="t">
            <a:noAutofit/>
          </a:bodyPr>
          <a:p>
            <a:endParaRPr lang="en-SG" sz="2400" b="0" u="none" strike="noStrike">
              <a:solidFill>
                <a:srgbClr val="000000"/>
              </a:solidFill>
              <a:effectLst/>
              <a:uFillTx/>
              <a:latin typeface="Times New Roman"/>
            </a:endParaRPr>
          </a:p>
        </p:txBody>
      </p:sp>
      <p:sp>
        <p:nvSpPr>
          <p:cNvPr id="108" name=""/>
          <p:cNvSpPr/>
          <p:nvPr/>
        </p:nvSpPr>
        <p:spPr>
          <a:xfrm>
            <a:off x="3437640" y="4356360"/>
            <a:ext cx="2563920" cy="34920"/>
          </a:xfrm>
          <a:custGeom>
            <a:avLst/>
            <a:gdLst/>
            <a:ahLst/>
            <a:rect l="0" t="0" r="r" b="b"/>
            <a:pathLst>
              <a:path w="7122" h="97">
                <a:moveTo>
                  <a:pt x="19" y="0"/>
                </a:moveTo>
                <a:cubicBezTo>
                  <a:pt x="41" y="22"/>
                  <a:pt x="67" y="39"/>
                  <a:pt x="96" y="52"/>
                </a:cubicBezTo>
                <a:cubicBezTo>
                  <a:pt x="125" y="64"/>
                  <a:pt x="156" y="70"/>
                  <a:pt x="187" y="70"/>
                </a:cubicBezTo>
                <a:lnTo>
                  <a:pt x="6935" y="70"/>
                </a:lnTo>
                <a:cubicBezTo>
                  <a:pt x="6967" y="70"/>
                  <a:pt x="6997" y="64"/>
                  <a:pt x="7026" y="52"/>
                </a:cubicBezTo>
                <a:cubicBezTo>
                  <a:pt x="7055" y="39"/>
                  <a:pt x="7081" y="22"/>
                  <a:pt x="7103" y="0"/>
                </a:cubicBezTo>
                <a:lnTo>
                  <a:pt x="7122" y="18"/>
                </a:lnTo>
                <a:cubicBezTo>
                  <a:pt x="7097" y="44"/>
                  <a:pt x="7069" y="63"/>
                  <a:pt x="7036" y="77"/>
                </a:cubicBezTo>
                <a:cubicBezTo>
                  <a:pt x="7004" y="90"/>
                  <a:pt x="6970" y="97"/>
                  <a:pt x="6935" y="97"/>
                </a:cubicBezTo>
                <a:lnTo>
                  <a:pt x="187" y="97"/>
                </a:lnTo>
                <a:cubicBezTo>
                  <a:pt x="152" y="97"/>
                  <a:pt x="118" y="90"/>
                  <a:pt x="86" y="77"/>
                </a:cubicBezTo>
                <a:cubicBezTo>
                  <a:pt x="53" y="63"/>
                  <a:pt x="25" y="44"/>
                  <a:pt x="0" y="18"/>
                </a:cubicBezTo>
                <a:lnTo>
                  <a:pt x="19" y="0"/>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109" name=""/>
          <p:cNvSpPr/>
          <p:nvPr/>
        </p:nvSpPr>
        <p:spPr>
          <a:xfrm>
            <a:off x="5994000" y="2656800"/>
            <a:ext cx="35640" cy="1707120"/>
          </a:xfrm>
          <a:custGeom>
            <a:avLst/>
            <a:gdLst/>
            <a:ahLst/>
            <a:rect l="0" t="0" r="r" b="b"/>
            <a:pathLst>
              <a:path w="99" h="4742">
                <a:moveTo>
                  <a:pt x="0" y="4723"/>
                </a:moveTo>
                <a:cubicBezTo>
                  <a:pt x="1" y="4722"/>
                  <a:pt x="1" y="4722"/>
                  <a:pt x="1" y="4722"/>
                </a:cubicBezTo>
                <a:cubicBezTo>
                  <a:pt x="24" y="4699"/>
                  <a:pt x="41" y="4674"/>
                  <a:pt x="53" y="4644"/>
                </a:cubicBezTo>
                <a:cubicBezTo>
                  <a:pt x="65" y="4615"/>
                  <a:pt x="71" y="4585"/>
                  <a:pt x="71" y="4553"/>
                </a:cubicBezTo>
                <a:lnTo>
                  <a:pt x="71" y="160"/>
                </a:lnTo>
                <a:cubicBezTo>
                  <a:pt x="71" y="132"/>
                  <a:pt x="65" y="105"/>
                  <a:pt x="53" y="79"/>
                </a:cubicBezTo>
                <a:cubicBezTo>
                  <a:pt x="46" y="64"/>
                  <a:pt x="37" y="49"/>
                  <a:pt x="26" y="36"/>
                </a:cubicBezTo>
                <a:lnTo>
                  <a:pt x="44" y="0"/>
                </a:lnTo>
                <a:cubicBezTo>
                  <a:pt x="58" y="18"/>
                  <a:pt x="69" y="38"/>
                  <a:pt x="77" y="59"/>
                </a:cubicBezTo>
                <a:cubicBezTo>
                  <a:pt x="92" y="91"/>
                  <a:pt x="99" y="125"/>
                  <a:pt x="99" y="160"/>
                </a:cubicBezTo>
                <a:lnTo>
                  <a:pt x="99" y="4553"/>
                </a:lnTo>
                <a:cubicBezTo>
                  <a:pt x="99" y="4588"/>
                  <a:pt x="92" y="4622"/>
                  <a:pt x="77" y="4654"/>
                </a:cubicBezTo>
                <a:cubicBezTo>
                  <a:pt x="64" y="4687"/>
                  <a:pt x="45" y="4715"/>
                  <a:pt x="20" y="4740"/>
                </a:cubicBezTo>
                <a:cubicBezTo>
                  <a:pt x="20" y="4741"/>
                  <a:pt x="19" y="4741"/>
                  <a:pt x="19" y="4742"/>
                </a:cubicBezTo>
                <a:lnTo>
                  <a:pt x="0" y="4723"/>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110" name=""/>
          <p:cNvSpPr/>
          <p:nvPr/>
        </p:nvSpPr>
        <p:spPr>
          <a:xfrm>
            <a:off x="3409920" y="2656800"/>
            <a:ext cx="35280" cy="1707120"/>
          </a:xfrm>
          <a:custGeom>
            <a:avLst/>
            <a:gdLst/>
            <a:ahLst/>
            <a:rect l="0" t="0" r="r" b="b"/>
            <a:pathLst>
              <a:path w="98" h="4742">
                <a:moveTo>
                  <a:pt x="71" y="36"/>
                </a:moveTo>
                <a:cubicBezTo>
                  <a:pt x="60" y="49"/>
                  <a:pt x="51" y="64"/>
                  <a:pt x="44" y="79"/>
                </a:cubicBezTo>
                <a:cubicBezTo>
                  <a:pt x="32" y="105"/>
                  <a:pt x="26" y="132"/>
                  <a:pt x="26" y="160"/>
                </a:cubicBezTo>
                <a:lnTo>
                  <a:pt x="26" y="4553"/>
                </a:lnTo>
                <a:cubicBezTo>
                  <a:pt x="26" y="4585"/>
                  <a:pt x="32" y="4615"/>
                  <a:pt x="44" y="4644"/>
                </a:cubicBezTo>
                <a:cubicBezTo>
                  <a:pt x="56" y="4674"/>
                  <a:pt x="73" y="4699"/>
                  <a:pt x="97" y="4722"/>
                </a:cubicBezTo>
                <a:cubicBezTo>
                  <a:pt x="97" y="4722"/>
                  <a:pt x="98" y="4722"/>
                  <a:pt x="98" y="4723"/>
                </a:cubicBezTo>
                <a:lnTo>
                  <a:pt x="78" y="4742"/>
                </a:lnTo>
                <a:cubicBezTo>
                  <a:pt x="78" y="4741"/>
                  <a:pt x="78" y="4741"/>
                  <a:pt x="77" y="4740"/>
                </a:cubicBezTo>
                <a:cubicBezTo>
                  <a:pt x="52" y="4715"/>
                  <a:pt x="33" y="4687"/>
                  <a:pt x="20" y="4654"/>
                </a:cubicBezTo>
                <a:cubicBezTo>
                  <a:pt x="6" y="4622"/>
                  <a:pt x="0" y="4588"/>
                  <a:pt x="0" y="4553"/>
                </a:cubicBezTo>
                <a:lnTo>
                  <a:pt x="0" y="160"/>
                </a:lnTo>
                <a:cubicBezTo>
                  <a:pt x="0" y="125"/>
                  <a:pt x="6" y="91"/>
                  <a:pt x="20" y="59"/>
                </a:cubicBezTo>
                <a:cubicBezTo>
                  <a:pt x="28" y="38"/>
                  <a:pt x="40" y="18"/>
                  <a:pt x="53" y="0"/>
                </a:cubicBezTo>
                <a:lnTo>
                  <a:pt x="71" y="36"/>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111" name=""/>
          <p:cNvSpPr txBox="1"/>
          <p:nvPr/>
        </p:nvSpPr>
        <p:spPr>
          <a:xfrm>
            <a:off x="1962720" y="3950640"/>
            <a:ext cx="408600" cy="171000"/>
          </a:xfrm>
          <a:prstGeom prst="rect">
            <a:avLst/>
          </a:prstGeom>
          <a:noFill/>
          <a:ln w="0">
            <a:noFill/>
          </a:ln>
        </p:spPr>
        <p:txBody>
          <a:bodyPr wrap="none" lIns="0" tIns="0" rIns="0" bIns="0" anchor="t">
            <a:spAutoFit/>
          </a:bodyPr>
          <a:p>
            <a:pPr/>
            <a:r>
              <a:rPr lang="en-SG" sz="1350" b="0" u="none" strike="noStrike">
                <a:solidFill>
                  <a:srgbClr val="999999"/>
                </a:solidFill>
                <a:effectLst/>
                <a:uFillTx/>
                <a:latin typeface="RalewayRoman"/>
                <a:ea typeface="RalewayRoman"/>
              </a:rPr>
              <a:t> tests</a:t>
            </a:r>
            <a:endParaRPr lang="en-SG" sz="1350" b="0" u="none" strike="noStrike">
              <a:solidFill>
                <a:srgbClr val="000000"/>
              </a:solidFill>
              <a:effectLst/>
              <a:uFillTx/>
              <a:latin typeface="Times New Roman"/>
            </a:endParaRPr>
          </a:p>
        </p:txBody>
      </p:sp>
      <p:sp>
        <p:nvSpPr>
          <p:cNvPr id="112" name=""/>
          <p:cNvSpPr txBox="1"/>
          <p:nvPr/>
        </p:nvSpPr>
        <p:spPr>
          <a:xfrm>
            <a:off x="3586320" y="2810160"/>
            <a:ext cx="1248840" cy="195480"/>
          </a:xfrm>
          <a:prstGeom prst="rect">
            <a:avLst/>
          </a:prstGeom>
          <a:noFill/>
          <a:ln w="0">
            <a:noFill/>
          </a:ln>
        </p:spPr>
        <p:txBody>
          <a:bodyPr wrap="none" lIns="0" tIns="0" rIns="0" bIns="0" anchor="t">
            <a:spAutoFit/>
          </a:bodyPr>
          <a:p>
            <a:pPr/>
            <a:r>
              <a:rPr lang="en-SG" sz="1090" b="1" u="none" strike="noStrike">
                <a:solidFill>
                  <a:srgbClr val="555555"/>
                </a:solidFill>
                <a:effectLst/>
                <a:uFillTx/>
                <a:latin typeface="Outfit-Thin_Semi"/>
                <a:ea typeface="Outfit-Thin_Semi"/>
              </a:rPr>
              <a:t>CELLS IMPUTED</a:t>
            </a:r>
            <a:endParaRPr lang="en-SG" sz="1090" b="0" u="none" strike="noStrike">
              <a:solidFill>
                <a:srgbClr val="000000"/>
              </a:solidFill>
              <a:effectLst/>
              <a:uFillTx/>
              <a:latin typeface="Times New Roman"/>
            </a:endParaRPr>
          </a:p>
        </p:txBody>
      </p:sp>
      <p:sp>
        <p:nvSpPr>
          <p:cNvPr id="113" name=""/>
          <p:cNvSpPr txBox="1"/>
          <p:nvPr/>
        </p:nvSpPr>
        <p:spPr>
          <a:xfrm>
            <a:off x="3586320" y="2971800"/>
            <a:ext cx="552240" cy="780480"/>
          </a:xfrm>
          <a:prstGeom prst="rect">
            <a:avLst/>
          </a:prstGeom>
          <a:noFill/>
          <a:ln w="0">
            <a:noFill/>
          </a:ln>
        </p:spPr>
        <p:txBody>
          <a:bodyPr wrap="none" lIns="0" tIns="0" rIns="0" bIns="0" anchor="t">
            <a:spAutoFit/>
          </a:bodyPr>
          <a:p>
            <a:pPr/>
            <a:r>
              <a:rPr lang="en-SG" sz="4350" b="1" u="none" strike="noStrike">
                <a:solidFill>
                  <a:srgbClr val="22C55E"/>
                </a:solidFill>
                <a:effectLst/>
                <a:uFillTx/>
                <a:latin typeface="Outfit-Thin_"/>
                <a:ea typeface="Outfit-Thin_"/>
              </a:rPr>
              <a:t>0</a:t>
            </a:r>
            <a:endParaRPr lang="en-SG" sz="4350" b="0" u="none" strike="noStrike">
              <a:solidFill>
                <a:srgbClr val="000000"/>
              </a:solidFill>
              <a:effectLst/>
              <a:uFillTx/>
              <a:latin typeface="Times New Roman"/>
            </a:endParaRPr>
          </a:p>
        </p:txBody>
      </p:sp>
      <p:sp>
        <p:nvSpPr>
          <p:cNvPr id="114" name=""/>
          <p:cNvSpPr/>
          <p:nvPr/>
        </p:nvSpPr>
        <p:spPr>
          <a:xfrm>
            <a:off x="6167160" y="2628720"/>
            <a:ext cx="2619720" cy="1757880"/>
          </a:xfrm>
          <a:custGeom>
            <a:avLst/>
            <a:gdLst/>
            <a:ahLst/>
            <a:rect l="0" t="0" r="r" b="b"/>
            <a:pathLst>
              <a:path w="7277" h="4883">
                <a:moveTo>
                  <a:pt x="0" y="4631"/>
                </a:moveTo>
                <a:lnTo>
                  <a:pt x="0" y="239"/>
                </a:lnTo>
                <a:cubicBezTo>
                  <a:pt x="0" y="223"/>
                  <a:pt x="2" y="208"/>
                  <a:pt x="5" y="193"/>
                </a:cubicBezTo>
                <a:cubicBezTo>
                  <a:pt x="8" y="177"/>
                  <a:pt x="13" y="162"/>
                  <a:pt x="19" y="148"/>
                </a:cubicBezTo>
                <a:cubicBezTo>
                  <a:pt x="26" y="134"/>
                  <a:pt x="33" y="120"/>
                  <a:pt x="43" y="107"/>
                </a:cubicBezTo>
                <a:cubicBezTo>
                  <a:pt x="52" y="94"/>
                  <a:pt x="62" y="82"/>
                  <a:pt x="74" y="71"/>
                </a:cubicBezTo>
                <a:cubicBezTo>
                  <a:pt x="86" y="60"/>
                  <a:pt x="98" y="50"/>
                  <a:pt x="112" y="41"/>
                </a:cubicBezTo>
                <a:cubicBezTo>
                  <a:pt x="126" y="32"/>
                  <a:pt x="140" y="25"/>
                  <a:pt x="155" y="18"/>
                </a:cubicBezTo>
                <a:cubicBezTo>
                  <a:pt x="171" y="12"/>
                  <a:pt x="186" y="8"/>
                  <a:pt x="203" y="5"/>
                </a:cubicBezTo>
                <a:cubicBezTo>
                  <a:pt x="219" y="2"/>
                  <a:pt x="235" y="0"/>
                  <a:pt x="252" y="0"/>
                </a:cubicBezTo>
                <a:lnTo>
                  <a:pt x="7026" y="0"/>
                </a:lnTo>
                <a:cubicBezTo>
                  <a:pt x="7042" y="0"/>
                  <a:pt x="7059" y="2"/>
                  <a:pt x="7075" y="5"/>
                </a:cubicBezTo>
                <a:cubicBezTo>
                  <a:pt x="7091" y="8"/>
                  <a:pt x="7107" y="12"/>
                  <a:pt x="7122" y="18"/>
                </a:cubicBezTo>
                <a:cubicBezTo>
                  <a:pt x="7137" y="25"/>
                  <a:pt x="7152" y="32"/>
                  <a:pt x="7166" y="41"/>
                </a:cubicBezTo>
                <a:cubicBezTo>
                  <a:pt x="7179" y="50"/>
                  <a:pt x="7192" y="60"/>
                  <a:pt x="7204" y="71"/>
                </a:cubicBezTo>
                <a:cubicBezTo>
                  <a:pt x="7215" y="82"/>
                  <a:pt x="7226" y="94"/>
                  <a:pt x="7235" y="107"/>
                </a:cubicBezTo>
                <a:cubicBezTo>
                  <a:pt x="7244" y="120"/>
                  <a:pt x="7252" y="134"/>
                  <a:pt x="7258" y="148"/>
                </a:cubicBezTo>
                <a:cubicBezTo>
                  <a:pt x="7264" y="162"/>
                  <a:pt x="7269" y="177"/>
                  <a:pt x="7272" y="193"/>
                </a:cubicBezTo>
                <a:cubicBezTo>
                  <a:pt x="7276" y="208"/>
                  <a:pt x="7277" y="223"/>
                  <a:pt x="7277" y="239"/>
                </a:cubicBezTo>
                <a:lnTo>
                  <a:pt x="7277" y="4631"/>
                </a:lnTo>
                <a:cubicBezTo>
                  <a:pt x="7277" y="4648"/>
                  <a:pt x="7276" y="4664"/>
                  <a:pt x="7272" y="4680"/>
                </a:cubicBezTo>
                <a:cubicBezTo>
                  <a:pt x="7269" y="4696"/>
                  <a:pt x="7264" y="4712"/>
                  <a:pt x="7258" y="4727"/>
                </a:cubicBezTo>
                <a:cubicBezTo>
                  <a:pt x="7252" y="4743"/>
                  <a:pt x="7244" y="4757"/>
                  <a:pt x="7235" y="4771"/>
                </a:cubicBezTo>
                <a:cubicBezTo>
                  <a:pt x="7226" y="4785"/>
                  <a:pt x="7215" y="4797"/>
                  <a:pt x="7204" y="4809"/>
                </a:cubicBezTo>
                <a:cubicBezTo>
                  <a:pt x="7192" y="4821"/>
                  <a:pt x="7179" y="4831"/>
                  <a:pt x="7166" y="4840"/>
                </a:cubicBezTo>
                <a:cubicBezTo>
                  <a:pt x="7152" y="4849"/>
                  <a:pt x="7137" y="4857"/>
                  <a:pt x="7122" y="4863"/>
                </a:cubicBezTo>
                <a:cubicBezTo>
                  <a:pt x="7107" y="4870"/>
                  <a:pt x="7091" y="4875"/>
                  <a:pt x="7075" y="4878"/>
                </a:cubicBezTo>
                <a:cubicBezTo>
                  <a:pt x="7059" y="4881"/>
                  <a:pt x="7042" y="4883"/>
                  <a:pt x="7026" y="4883"/>
                </a:cubicBezTo>
                <a:lnTo>
                  <a:pt x="252" y="4883"/>
                </a:lnTo>
                <a:cubicBezTo>
                  <a:pt x="235" y="4883"/>
                  <a:pt x="219" y="4881"/>
                  <a:pt x="203" y="4878"/>
                </a:cubicBezTo>
                <a:cubicBezTo>
                  <a:pt x="186" y="4875"/>
                  <a:pt x="171" y="4870"/>
                  <a:pt x="155" y="4863"/>
                </a:cubicBezTo>
                <a:cubicBezTo>
                  <a:pt x="140" y="4857"/>
                  <a:pt x="126" y="4849"/>
                  <a:pt x="112" y="4840"/>
                </a:cubicBezTo>
                <a:cubicBezTo>
                  <a:pt x="98" y="4831"/>
                  <a:pt x="86" y="4821"/>
                  <a:pt x="74" y="4809"/>
                </a:cubicBezTo>
                <a:cubicBezTo>
                  <a:pt x="62" y="4797"/>
                  <a:pt x="52" y="4785"/>
                  <a:pt x="43" y="4771"/>
                </a:cubicBezTo>
                <a:cubicBezTo>
                  <a:pt x="33" y="4757"/>
                  <a:pt x="26" y="4743"/>
                  <a:pt x="19" y="4727"/>
                </a:cubicBezTo>
                <a:cubicBezTo>
                  <a:pt x="13" y="4712"/>
                  <a:pt x="8" y="4696"/>
                  <a:pt x="5" y="4680"/>
                </a:cubicBezTo>
                <a:cubicBezTo>
                  <a:pt x="2" y="4664"/>
                  <a:pt x="0" y="4648"/>
                  <a:pt x="0" y="4631"/>
                </a:cubicBezTo>
                <a:close/>
              </a:path>
            </a:pathLst>
          </a:custGeom>
          <a:solidFill>
            <a:srgbClr val="080808"/>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115" name=""/>
          <p:cNvSpPr/>
          <p:nvPr/>
        </p:nvSpPr>
        <p:spPr>
          <a:xfrm>
            <a:off x="6188040" y="2638080"/>
            <a:ext cx="2578320" cy="53280"/>
          </a:xfrm>
          <a:custGeom>
            <a:avLst/>
            <a:gdLst/>
            <a:ahLst/>
            <a:rect l="0" t="0" r="r" b="b"/>
            <a:pathLst>
              <a:path w="7162" h="148">
                <a:moveTo>
                  <a:pt x="7133" y="148"/>
                </a:moveTo>
                <a:lnTo>
                  <a:pt x="29" y="148"/>
                </a:lnTo>
                <a:lnTo>
                  <a:pt x="0" y="90"/>
                </a:lnTo>
                <a:cubicBezTo>
                  <a:pt x="7" y="81"/>
                  <a:pt x="16" y="72"/>
                  <a:pt x="25" y="63"/>
                </a:cubicBezTo>
                <a:cubicBezTo>
                  <a:pt x="48" y="43"/>
                  <a:pt x="73" y="27"/>
                  <a:pt x="102" y="17"/>
                </a:cubicBezTo>
                <a:cubicBezTo>
                  <a:pt x="132" y="6"/>
                  <a:pt x="162" y="0"/>
                  <a:pt x="194" y="0"/>
                </a:cubicBezTo>
                <a:lnTo>
                  <a:pt x="6968" y="0"/>
                </a:lnTo>
                <a:cubicBezTo>
                  <a:pt x="7000" y="0"/>
                  <a:pt x="7030" y="6"/>
                  <a:pt x="7059" y="17"/>
                </a:cubicBezTo>
                <a:cubicBezTo>
                  <a:pt x="7088" y="27"/>
                  <a:pt x="7114" y="43"/>
                  <a:pt x="7136" y="63"/>
                </a:cubicBezTo>
                <a:cubicBezTo>
                  <a:pt x="7146" y="72"/>
                  <a:pt x="7154" y="81"/>
                  <a:pt x="7162" y="90"/>
                </a:cubicBezTo>
                <a:lnTo>
                  <a:pt x="7133" y="148"/>
                </a:lnTo>
                <a:close/>
              </a:path>
            </a:pathLst>
          </a:custGeom>
          <a:solidFill>
            <a:srgbClr val="FF6B1A"/>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116" name=""/>
          <p:cNvSpPr/>
          <p:nvPr/>
        </p:nvSpPr>
        <p:spPr>
          <a:xfrm>
            <a:off x="6197040" y="4338360"/>
            <a:ext cx="2559960" cy="43200"/>
          </a:xfrm>
          <a:custGeom>
            <a:avLst/>
            <a:gdLst/>
            <a:ahLst/>
            <a:rect l="0" t="0" r="r" b="b"/>
            <a:pathLst>
              <a:path w="7111" h="120">
                <a:moveTo>
                  <a:pt x="50" y="0"/>
                </a:moveTo>
                <a:lnTo>
                  <a:pt x="7062" y="0"/>
                </a:lnTo>
                <a:lnTo>
                  <a:pt x="7111" y="51"/>
                </a:lnTo>
                <a:cubicBezTo>
                  <a:pt x="7089" y="73"/>
                  <a:pt x="7063" y="90"/>
                  <a:pt x="7034" y="102"/>
                </a:cubicBezTo>
                <a:cubicBezTo>
                  <a:pt x="7005" y="114"/>
                  <a:pt x="6975" y="120"/>
                  <a:pt x="6943" y="120"/>
                </a:cubicBezTo>
                <a:lnTo>
                  <a:pt x="169" y="120"/>
                </a:lnTo>
                <a:cubicBezTo>
                  <a:pt x="137" y="120"/>
                  <a:pt x="107" y="114"/>
                  <a:pt x="77" y="102"/>
                </a:cubicBezTo>
                <a:cubicBezTo>
                  <a:pt x="48" y="90"/>
                  <a:pt x="23" y="73"/>
                  <a:pt x="0" y="51"/>
                </a:cubicBezTo>
                <a:lnTo>
                  <a:pt x="50" y="0"/>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117" name=""/>
          <p:cNvSpPr/>
          <p:nvPr/>
        </p:nvSpPr>
        <p:spPr>
          <a:xfrm>
            <a:off x="8739000" y="2669760"/>
            <a:ext cx="43200" cy="1687320"/>
          </a:xfrm>
          <a:custGeom>
            <a:avLst/>
            <a:gdLst/>
            <a:ahLst/>
            <a:rect l="0" t="0" r="r" b="b"/>
            <a:pathLst>
              <a:path w="120" h="4687">
                <a:moveTo>
                  <a:pt x="0" y="4639"/>
                </a:moveTo>
                <a:lnTo>
                  <a:pt x="0" y="148"/>
                </a:lnTo>
                <a:lnTo>
                  <a:pt x="75" y="0"/>
                </a:lnTo>
                <a:cubicBezTo>
                  <a:pt x="86" y="13"/>
                  <a:pt x="95" y="28"/>
                  <a:pt x="102" y="43"/>
                </a:cubicBezTo>
                <a:cubicBezTo>
                  <a:pt x="114" y="69"/>
                  <a:pt x="120" y="96"/>
                  <a:pt x="120" y="124"/>
                </a:cubicBezTo>
                <a:lnTo>
                  <a:pt x="120" y="4517"/>
                </a:lnTo>
                <a:cubicBezTo>
                  <a:pt x="120" y="4549"/>
                  <a:pt x="114" y="4579"/>
                  <a:pt x="102" y="4608"/>
                </a:cubicBezTo>
                <a:cubicBezTo>
                  <a:pt x="90" y="4638"/>
                  <a:pt x="73" y="4663"/>
                  <a:pt x="49" y="4686"/>
                </a:cubicBezTo>
                <a:cubicBezTo>
                  <a:pt x="49" y="4686"/>
                  <a:pt x="48" y="4686"/>
                  <a:pt x="48" y="4687"/>
                </a:cubicBezTo>
                <a:lnTo>
                  <a:pt x="0" y="4639"/>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118" name=""/>
          <p:cNvSpPr/>
          <p:nvPr/>
        </p:nvSpPr>
        <p:spPr>
          <a:xfrm>
            <a:off x="6171840" y="2669760"/>
            <a:ext cx="43560" cy="1687320"/>
          </a:xfrm>
          <a:custGeom>
            <a:avLst/>
            <a:gdLst/>
            <a:ahLst/>
            <a:rect l="0" t="0" r="r" b="b"/>
            <a:pathLst>
              <a:path w="121" h="4687">
                <a:moveTo>
                  <a:pt x="121" y="148"/>
                </a:moveTo>
                <a:lnTo>
                  <a:pt x="121" y="4639"/>
                </a:lnTo>
                <a:lnTo>
                  <a:pt x="73" y="4687"/>
                </a:lnTo>
                <a:cubicBezTo>
                  <a:pt x="72" y="4686"/>
                  <a:pt x="72" y="4686"/>
                  <a:pt x="71" y="4686"/>
                </a:cubicBezTo>
                <a:cubicBezTo>
                  <a:pt x="48" y="4663"/>
                  <a:pt x="31" y="4638"/>
                  <a:pt x="19" y="4608"/>
                </a:cubicBezTo>
                <a:cubicBezTo>
                  <a:pt x="7" y="4579"/>
                  <a:pt x="0" y="4549"/>
                  <a:pt x="0" y="4517"/>
                </a:cubicBezTo>
                <a:lnTo>
                  <a:pt x="0" y="124"/>
                </a:lnTo>
                <a:cubicBezTo>
                  <a:pt x="0" y="96"/>
                  <a:pt x="7" y="69"/>
                  <a:pt x="19" y="43"/>
                </a:cubicBezTo>
                <a:cubicBezTo>
                  <a:pt x="26" y="28"/>
                  <a:pt x="35" y="13"/>
                  <a:pt x="46" y="0"/>
                </a:cubicBezTo>
                <a:lnTo>
                  <a:pt x="121" y="148"/>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119" name=""/>
          <p:cNvSpPr txBox="1"/>
          <p:nvPr/>
        </p:nvSpPr>
        <p:spPr>
          <a:xfrm>
            <a:off x="3586320" y="3693600"/>
            <a:ext cx="2030400" cy="171000"/>
          </a:xfrm>
          <a:prstGeom prst="rect">
            <a:avLst/>
          </a:prstGeom>
          <a:noFill/>
          <a:ln w="0">
            <a:noFill/>
          </a:ln>
        </p:spPr>
        <p:txBody>
          <a:bodyPr wrap="none" lIns="0" tIns="0" rIns="0" bIns="0" anchor="t">
            <a:spAutoFit/>
          </a:bodyPr>
          <a:p>
            <a:pPr/>
            <a:r>
              <a:rPr lang="en-SG" sz="1350" b="0" u="none" strike="noStrike">
                <a:solidFill>
                  <a:srgbClr val="999999"/>
                </a:solidFill>
                <a:effectLst/>
                <a:uFillTx/>
                <a:latin typeface="RalewayRoman"/>
                <a:ea typeface="RalewayRoman"/>
              </a:rPr>
              <a:t>Salary is what we measure</a:t>
            </a:r>
            <a:endParaRPr lang="en-SG" sz="1350" b="0" u="none" strike="noStrike">
              <a:solidFill>
                <a:srgbClr val="000000"/>
              </a:solidFill>
              <a:effectLst/>
              <a:uFillTx/>
              <a:latin typeface="Times New Roman"/>
            </a:endParaRPr>
          </a:p>
        </p:txBody>
      </p:sp>
      <p:sp>
        <p:nvSpPr>
          <p:cNvPr id="120" name=""/>
          <p:cNvSpPr txBox="1"/>
          <p:nvPr/>
        </p:nvSpPr>
        <p:spPr>
          <a:xfrm>
            <a:off x="6343560" y="2810160"/>
            <a:ext cx="1533960" cy="195480"/>
          </a:xfrm>
          <a:prstGeom prst="rect">
            <a:avLst/>
          </a:prstGeom>
          <a:noFill/>
          <a:ln w="0">
            <a:noFill/>
          </a:ln>
        </p:spPr>
        <p:txBody>
          <a:bodyPr wrap="none" lIns="0" tIns="0" rIns="0" bIns="0" anchor="t">
            <a:spAutoFit/>
          </a:bodyPr>
          <a:p>
            <a:pPr/>
            <a:r>
              <a:rPr lang="en-SG" sz="1090" b="1" u="none" strike="noStrike">
                <a:solidFill>
                  <a:srgbClr val="555555"/>
                </a:solidFill>
                <a:effectLst/>
                <a:uFillTx/>
                <a:latin typeface="Outfit-Thin_Semi"/>
                <a:ea typeface="Outfit-Thin_Semi"/>
              </a:rPr>
              <a:t>SALARY COVERAGE</a:t>
            </a:r>
            <a:endParaRPr lang="en-SG" sz="1090" b="0" u="none" strike="noStrike">
              <a:solidFill>
                <a:srgbClr val="000000"/>
              </a:solidFill>
              <a:effectLst/>
              <a:uFillTx/>
              <a:latin typeface="Times New Roman"/>
            </a:endParaRPr>
          </a:p>
        </p:txBody>
      </p:sp>
      <p:sp>
        <p:nvSpPr>
          <p:cNvPr id="121" name=""/>
          <p:cNvSpPr txBox="1"/>
          <p:nvPr/>
        </p:nvSpPr>
        <p:spPr>
          <a:xfrm>
            <a:off x="6343560" y="2971800"/>
            <a:ext cx="1845000" cy="780480"/>
          </a:xfrm>
          <a:prstGeom prst="rect">
            <a:avLst/>
          </a:prstGeom>
          <a:noFill/>
          <a:ln w="0">
            <a:noFill/>
          </a:ln>
        </p:spPr>
        <p:txBody>
          <a:bodyPr wrap="none" lIns="0" tIns="0" rIns="0" bIns="0" anchor="t">
            <a:spAutoFit/>
          </a:bodyPr>
          <a:p>
            <a:pPr/>
            <a:r>
              <a:rPr lang="en-SG" sz="4350" b="1" u="none" strike="noStrike">
                <a:solidFill>
                  <a:srgbClr val="FFFFFF"/>
                </a:solidFill>
                <a:effectLst/>
                <a:uFillTx/>
                <a:latin typeface="Outfit-Thin_"/>
                <a:ea typeface="Outfit-Thin_"/>
              </a:rPr>
              <a:t>99.0%</a:t>
            </a:r>
            <a:endParaRPr lang="en-SG" sz="4350" b="0" u="none" strike="noStrike">
              <a:solidFill>
                <a:srgbClr val="000000"/>
              </a:solidFill>
              <a:effectLst/>
              <a:uFillTx/>
              <a:latin typeface="Times New Roman"/>
            </a:endParaRPr>
          </a:p>
        </p:txBody>
      </p:sp>
      <p:sp>
        <p:nvSpPr>
          <p:cNvPr id="122" name=""/>
          <p:cNvSpPr txBox="1"/>
          <p:nvPr/>
        </p:nvSpPr>
        <p:spPr>
          <a:xfrm>
            <a:off x="6343560" y="3693600"/>
            <a:ext cx="1831680" cy="171000"/>
          </a:xfrm>
          <a:prstGeom prst="rect">
            <a:avLst/>
          </a:prstGeom>
          <a:noFill/>
          <a:ln w="0">
            <a:noFill/>
          </a:ln>
        </p:spPr>
        <p:txBody>
          <a:bodyPr wrap="none" lIns="0" tIns="0" rIns="0" bIns="0" anchor="t">
            <a:spAutoFit/>
          </a:bodyPr>
          <a:p>
            <a:pPr/>
            <a:r>
              <a:rPr lang="en-SG" sz="1350" b="0" u="none" strike="noStrike">
                <a:solidFill>
                  <a:srgbClr val="999999"/>
                </a:solidFill>
                <a:effectLst/>
                <a:uFillTx/>
                <a:latin typeface="RalewayRoman"/>
                <a:ea typeface="RalewayRoman"/>
              </a:rPr>
              <a:t>Quoted alongside every</a:t>
            </a:r>
            <a:endParaRPr lang="en-SG" sz="1350" b="0" u="none" strike="noStrike">
              <a:solidFill>
                <a:srgbClr val="000000"/>
              </a:solidFill>
              <a:effectLst/>
              <a:uFillTx/>
              <a:latin typeface="Times New Roman"/>
            </a:endParaRPr>
          </a:p>
        </p:txBody>
      </p:sp>
      <p:sp>
        <p:nvSpPr>
          <p:cNvPr id="123" name=""/>
          <p:cNvSpPr/>
          <p:nvPr/>
        </p:nvSpPr>
        <p:spPr>
          <a:xfrm>
            <a:off x="8929440" y="2628720"/>
            <a:ext cx="2610360" cy="1757880"/>
          </a:xfrm>
          <a:custGeom>
            <a:avLst/>
            <a:gdLst/>
            <a:ahLst/>
            <a:rect l="0" t="0" r="r" b="b"/>
            <a:pathLst>
              <a:path w="7251" h="4883">
                <a:moveTo>
                  <a:pt x="0" y="4631"/>
                </a:moveTo>
                <a:lnTo>
                  <a:pt x="0" y="239"/>
                </a:lnTo>
                <a:cubicBezTo>
                  <a:pt x="0" y="223"/>
                  <a:pt x="2" y="208"/>
                  <a:pt x="5" y="193"/>
                </a:cubicBezTo>
                <a:cubicBezTo>
                  <a:pt x="8" y="177"/>
                  <a:pt x="13" y="162"/>
                  <a:pt x="19" y="148"/>
                </a:cubicBezTo>
                <a:cubicBezTo>
                  <a:pt x="26" y="134"/>
                  <a:pt x="33" y="120"/>
                  <a:pt x="43" y="107"/>
                </a:cubicBezTo>
                <a:cubicBezTo>
                  <a:pt x="52" y="94"/>
                  <a:pt x="62" y="82"/>
                  <a:pt x="74" y="71"/>
                </a:cubicBezTo>
                <a:cubicBezTo>
                  <a:pt x="85" y="60"/>
                  <a:pt x="98" y="50"/>
                  <a:pt x="112" y="41"/>
                </a:cubicBezTo>
                <a:cubicBezTo>
                  <a:pt x="126" y="32"/>
                  <a:pt x="140" y="25"/>
                  <a:pt x="155" y="18"/>
                </a:cubicBezTo>
                <a:cubicBezTo>
                  <a:pt x="171" y="12"/>
                  <a:pt x="186" y="8"/>
                  <a:pt x="202" y="5"/>
                </a:cubicBezTo>
                <a:cubicBezTo>
                  <a:pt x="219" y="2"/>
                  <a:pt x="235" y="0"/>
                  <a:pt x="252" y="0"/>
                </a:cubicBezTo>
                <a:lnTo>
                  <a:pt x="6999" y="0"/>
                </a:lnTo>
                <a:cubicBezTo>
                  <a:pt x="7016" y="0"/>
                  <a:pt x="7032" y="2"/>
                  <a:pt x="7048" y="5"/>
                </a:cubicBezTo>
                <a:cubicBezTo>
                  <a:pt x="7065" y="8"/>
                  <a:pt x="7080" y="12"/>
                  <a:pt x="7096" y="18"/>
                </a:cubicBezTo>
                <a:cubicBezTo>
                  <a:pt x="7111" y="25"/>
                  <a:pt x="7125" y="32"/>
                  <a:pt x="7139" y="41"/>
                </a:cubicBezTo>
                <a:cubicBezTo>
                  <a:pt x="7153" y="50"/>
                  <a:pt x="7165" y="60"/>
                  <a:pt x="7177" y="71"/>
                </a:cubicBezTo>
                <a:cubicBezTo>
                  <a:pt x="7189" y="82"/>
                  <a:pt x="7199" y="94"/>
                  <a:pt x="7208" y="107"/>
                </a:cubicBezTo>
                <a:cubicBezTo>
                  <a:pt x="7218" y="120"/>
                  <a:pt x="7225" y="134"/>
                  <a:pt x="7232" y="148"/>
                </a:cubicBezTo>
                <a:cubicBezTo>
                  <a:pt x="7238" y="162"/>
                  <a:pt x="7243" y="177"/>
                  <a:pt x="7246" y="193"/>
                </a:cubicBezTo>
                <a:cubicBezTo>
                  <a:pt x="7249" y="208"/>
                  <a:pt x="7251" y="223"/>
                  <a:pt x="7251" y="239"/>
                </a:cubicBezTo>
                <a:lnTo>
                  <a:pt x="7251" y="4631"/>
                </a:lnTo>
                <a:cubicBezTo>
                  <a:pt x="7251" y="4648"/>
                  <a:pt x="7249" y="4664"/>
                  <a:pt x="7246" y="4680"/>
                </a:cubicBezTo>
                <a:cubicBezTo>
                  <a:pt x="7243" y="4696"/>
                  <a:pt x="7238" y="4712"/>
                  <a:pt x="7232" y="4727"/>
                </a:cubicBezTo>
                <a:cubicBezTo>
                  <a:pt x="7225" y="4743"/>
                  <a:pt x="7218" y="4757"/>
                  <a:pt x="7208" y="4771"/>
                </a:cubicBezTo>
                <a:cubicBezTo>
                  <a:pt x="7199" y="4785"/>
                  <a:pt x="7189" y="4797"/>
                  <a:pt x="7177" y="4809"/>
                </a:cubicBezTo>
                <a:cubicBezTo>
                  <a:pt x="7165" y="4821"/>
                  <a:pt x="7153" y="4831"/>
                  <a:pt x="7139" y="4840"/>
                </a:cubicBezTo>
                <a:cubicBezTo>
                  <a:pt x="7125" y="4849"/>
                  <a:pt x="7111" y="4857"/>
                  <a:pt x="7096" y="4863"/>
                </a:cubicBezTo>
                <a:cubicBezTo>
                  <a:pt x="7080" y="4870"/>
                  <a:pt x="7065" y="4875"/>
                  <a:pt x="7048" y="4878"/>
                </a:cubicBezTo>
                <a:cubicBezTo>
                  <a:pt x="7032" y="4881"/>
                  <a:pt x="7016" y="4883"/>
                  <a:pt x="6999" y="4883"/>
                </a:cubicBezTo>
                <a:lnTo>
                  <a:pt x="252" y="4883"/>
                </a:lnTo>
                <a:cubicBezTo>
                  <a:pt x="235" y="4883"/>
                  <a:pt x="219" y="4881"/>
                  <a:pt x="202" y="4878"/>
                </a:cubicBezTo>
                <a:cubicBezTo>
                  <a:pt x="186" y="4875"/>
                  <a:pt x="171" y="4870"/>
                  <a:pt x="155" y="4863"/>
                </a:cubicBezTo>
                <a:cubicBezTo>
                  <a:pt x="140" y="4857"/>
                  <a:pt x="126" y="4849"/>
                  <a:pt x="112" y="4840"/>
                </a:cubicBezTo>
                <a:cubicBezTo>
                  <a:pt x="98" y="4831"/>
                  <a:pt x="85" y="4821"/>
                  <a:pt x="74" y="4809"/>
                </a:cubicBezTo>
                <a:cubicBezTo>
                  <a:pt x="62" y="4797"/>
                  <a:pt x="52" y="4785"/>
                  <a:pt x="43" y="4771"/>
                </a:cubicBezTo>
                <a:cubicBezTo>
                  <a:pt x="33" y="4757"/>
                  <a:pt x="26" y="4743"/>
                  <a:pt x="19" y="4727"/>
                </a:cubicBezTo>
                <a:cubicBezTo>
                  <a:pt x="13" y="4712"/>
                  <a:pt x="8" y="4696"/>
                  <a:pt x="5" y="4680"/>
                </a:cubicBezTo>
                <a:cubicBezTo>
                  <a:pt x="2" y="4664"/>
                  <a:pt x="0" y="4648"/>
                  <a:pt x="0" y="4631"/>
                </a:cubicBezTo>
                <a:close/>
              </a:path>
            </a:pathLst>
          </a:custGeom>
          <a:solidFill>
            <a:srgbClr val="080808"/>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124" name=""/>
          <p:cNvSpPr/>
          <p:nvPr/>
        </p:nvSpPr>
        <p:spPr>
          <a:xfrm>
            <a:off x="8950320" y="2638080"/>
            <a:ext cx="2568600" cy="53280"/>
          </a:xfrm>
          <a:custGeom>
            <a:avLst/>
            <a:gdLst/>
            <a:ahLst/>
            <a:rect l="0" t="0" r="r" b="b"/>
            <a:pathLst>
              <a:path w="7135" h="148">
                <a:moveTo>
                  <a:pt x="7106" y="148"/>
                </a:moveTo>
                <a:lnTo>
                  <a:pt x="29" y="148"/>
                </a:lnTo>
                <a:lnTo>
                  <a:pt x="0" y="90"/>
                </a:lnTo>
                <a:cubicBezTo>
                  <a:pt x="7" y="81"/>
                  <a:pt x="16" y="72"/>
                  <a:pt x="25" y="63"/>
                </a:cubicBezTo>
                <a:cubicBezTo>
                  <a:pt x="47" y="43"/>
                  <a:pt x="73" y="27"/>
                  <a:pt x="102" y="17"/>
                </a:cubicBezTo>
                <a:cubicBezTo>
                  <a:pt x="133" y="6"/>
                  <a:pt x="163" y="0"/>
                  <a:pt x="195" y="0"/>
                </a:cubicBezTo>
                <a:lnTo>
                  <a:pt x="6941" y="0"/>
                </a:lnTo>
                <a:cubicBezTo>
                  <a:pt x="6973" y="0"/>
                  <a:pt x="7003" y="6"/>
                  <a:pt x="7033" y="17"/>
                </a:cubicBezTo>
                <a:cubicBezTo>
                  <a:pt x="7062" y="27"/>
                  <a:pt x="7087" y="43"/>
                  <a:pt x="7110" y="63"/>
                </a:cubicBezTo>
                <a:cubicBezTo>
                  <a:pt x="7119" y="72"/>
                  <a:pt x="7128" y="81"/>
                  <a:pt x="7135" y="90"/>
                </a:cubicBezTo>
                <a:lnTo>
                  <a:pt x="7106" y="148"/>
                </a:lnTo>
                <a:close/>
              </a:path>
            </a:pathLst>
          </a:custGeom>
          <a:solidFill>
            <a:srgbClr val="FF6B1A"/>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125" name=""/>
          <p:cNvSpPr/>
          <p:nvPr/>
        </p:nvSpPr>
        <p:spPr>
          <a:xfrm>
            <a:off x="8959320" y="4338360"/>
            <a:ext cx="2550600" cy="43200"/>
          </a:xfrm>
          <a:custGeom>
            <a:avLst/>
            <a:gdLst/>
            <a:ahLst/>
            <a:rect l="0" t="0" r="r" b="b"/>
            <a:pathLst>
              <a:path w="7085" h="120">
                <a:moveTo>
                  <a:pt x="49" y="0"/>
                </a:moveTo>
                <a:lnTo>
                  <a:pt x="7035" y="0"/>
                </a:lnTo>
                <a:lnTo>
                  <a:pt x="7085" y="51"/>
                </a:lnTo>
                <a:cubicBezTo>
                  <a:pt x="7062" y="73"/>
                  <a:pt x="7037" y="90"/>
                  <a:pt x="7008" y="102"/>
                </a:cubicBezTo>
                <a:cubicBezTo>
                  <a:pt x="6977" y="114"/>
                  <a:pt x="6947" y="120"/>
                  <a:pt x="6915" y="120"/>
                </a:cubicBezTo>
                <a:lnTo>
                  <a:pt x="169" y="120"/>
                </a:lnTo>
                <a:cubicBezTo>
                  <a:pt x="137" y="120"/>
                  <a:pt x="107" y="114"/>
                  <a:pt x="77" y="102"/>
                </a:cubicBezTo>
                <a:cubicBezTo>
                  <a:pt x="48" y="90"/>
                  <a:pt x="22" y="73"/>
                  <a:pt x="0" y="51"/>
                </a:cubicBezTo>
                <a:lnTo>
                  <a:pt x="49" y="0"/>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126" name=""/>
          <p:cNvSpPr/>
          <p:nvPr/>
        </p:nvSpPr>
        <p:spPr>
          <a:xfrm>
            <a:off x="11491560" y="2669760"/>
            <a:ext cx="43560" cy="1687320"/>
          </a:xfrm>
          <a:custGeom>
            <a:avLst/>
            <a:gdLst/>
            <a:ahLst/>
            <a:rect l="0" t="0" r="r" b="b"/>
            <a:pathLst>
              <a:path w="121" h="4687">
                <a:moveTo>
                  <a:pt x="0" y="4639"/>
                </a:moveTo>
                <a:lnTo>
                  <a:pt x="0" y="148"/>
                </a:lnTo>
                <a:lnTo>
                  <a:pt x="75" y="0"/>
                </a:lnTo>
                <a:cubicBezTo>
                  <a:pt x="86" y="13"/>
                  <a:pt x="95" y="28"/>
                  <a:pt x="102" y="43"/>
                </a:cubicBezTo>
                <a:cubicBezTo>
                  <a:pt x="114" y="69"/>
                  <a:pt x="121" y="96"/>
                  <a:pt x="121" y="124"/>
                </a:cubicBezTo>
                <a:lnTo>
                  <a:pt x="121" y="4517"/>
                </a:lnTo>
                <a:cubicBezTo>
                  <a:pt x="121" y="4549"/>
                  <a:pt x="114" y="4579"/>
                  <a:pt x="102" y="4608"/>
                </a:cubicBezTo>
                <a:cubicBezTo>
                  <a:pt x="90" y="4638"/>
                  <a:pt x="73" y="4663"/>
                  <a:pt x="51" y="4686"/>
                </a:cubicBezTo>
                <a:cubicBezTo>
                  <a:pt x="50" y="4686"/>
                  <a:pt x="50" y="4686"/>
                  <a:pt x="49" y="4687"/>
                </a:cubicBezTo>
                <a:lnTo>
                  <a:pt x="0" y="4639"/>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127" name=""/>
          <p:cNvSpPr/>
          <p:nvPr/>
        </p:nvSpPr>
        <p:spPr>
          <a:xfrm>
            <a:off x="8934120" y="2669760"/>
            <a:ext cx="43200" cy="1687320"/>
          </a:xfrm>
          <a:custGeom>
            <a:avLst/>
            <a:gdLst/>
            <a:ahLst/>
            <a:rect l="0" t="0" r="r" b="b"/>
            <a:pathLst>
              <a:path w="120" h="4687">
                <a:moveTo>
                  <a:pt x="120" y="148"/>
                </a:moveTo>
                <a:lnTo>
                  <a:pt x="120" y="4639"/>
                </a:lnTo>
                <a:lnTo>
                  <a:pt x="71" y="4687"/>
                </a:lnTo>
                <a:cubicBezTo>
                  <a:pt x="71" y="4686"/>
                  <a:pt x="71" y="4686"/>
                  <a:pt x="70" y="4686"/>
                </a:cubicBezTo>
                <a:cubicBezTo>
                  <a:pt x="48" y="4663"/>
                  <a:pt x="31" y="4638"/>
                  <a:pt x="19" y="4608"/>
                </a:cubicBezTo>
                <a:cubicBezTo>
                  <a:pt x="6" y="4579"/>
                  <a:pt x="0" y="4549"/>
                  <a:pt x="0" y="4517"/>
                </a:cubicBezTo>
                <a:lnTo>
                  <a:pt x="0" y="124"/>
                </a:lnTo>
                <a:cubicBezTo>
                  <a:pt x="0" y="96"/>
                  <a:pt x="6" y="69"/>
                  <a:pt x="19" y="43"/>
                </a:cubicBezTo>
                <a:cubicBezTo>
                  <a:pt x="26" y="28"/>
                  <a:pt x="35" y="13"/>
                  <a:pt x="46" y="0"/>
                </a:cubicBezTo>
                <a:lnTo>
                  <a:pt x="120" y="148"/>
                </a:lnTo>
                <a:close/>
              </a:path>
            </a:pathLst>
          </a:custGeom>
          <a:solidFill>
            <a:srgbClr val="111111"/>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128" name=""/>
          <p:cNvSpPr txBox="1"/>
          <p:nvPr/>
        </p:nvSpPr>
        <p:spPr>
          <a:xfrm>
            <a:off x="6343560" y="3950640"/>
            <a:ext cx="437040" cy="171000"/>
          </a:xfrm>
          <a:prstGeom prst="rect">
            <a:avLst/>
          </a:prstGeom>
          <a:noFill/>
          <a:ln w="0">
            <a:noFill/>
          </a:ln>
        </p:spPr>
        <p:txBody>
          <a:bodyPr wrap="none" lIns="0" tIns="0" rIns="0" bIns="0" anchor="t">
            <a:spAutoFit/>
          </a:bodyPr>
          <a:p>
            <a:pPr/>
            <a:r>
              <a:rPr lang="en-SG" sz="1350" b="0" u="none" strike="noStrike">
                <a:solidFill>
                  <a:srgbClr val="999999"/>
                </a:solidFill>
                <a:effectLst/>
                <a:uFillTx/>
                <a:latin typeface="RalewayRoman"/>
                <a:ea typeface="RalewayRoman"/>
              </a:rPr>
              <a:t>figure</a:t>
            </a:r>
            <a:endParaRPr lang="en-SG" sz="1350" b="0" u="none" strike="noStrike">
              <a:solidFill>
                <a:srgbClr val="000000"/>
              </a:solidFill>
              <a:effectLst/>
              <a:uFillTx/>
              <a:latin typeface="Times New Roman"/>
            </a:endParaRPr>
          </a:p>
        </p:txBody>
      </p:sp>
      <p:sp>
        <p:nvSpPr>
          <p:cNvPr id="129" name=""/>
          <p:cNvSpPr txBox="1"/>
          <p:nvPr/>
        </p:nvSpPr>
        <p:spPr>
          <a:xfrm>
            <a:off x="9101160" y="2810160"/>
            <a:ext cx="632520" cy="195480"/>
          </a:xfrm>
          <a:prstGeom prst="rect">
            <a:avLst/>
          </a:prstGeom>
          <a:noFill/>
          <a:ln w="0">
            <a:noFill/>
          </a:ln>
        </p:spPr>
        <p:txBody>
          <a:bodyPr wrap="none" lIns="0" tIns="0" rIns="0" bIns="0" anchor="t">
            <a:spAutoFit/>
          </a:bodyPr>
          <a:p>
            <a:pPr/>
            <a:r>
              <a:rPr lang="en-SG" sz="1090" b="1" u="none" strike="noStrike">
                <a:solidFill>
                  <a:srgbClr val="555555"/>
                </a:solidFill>
                <a:effectLst/>
                <a:uFillTx/>
                <a:latin typeface="Outfit-Thin_Semi"/>
                <a:ea typeface="Outfit-Thin_Semi"/>
              </a:rPr>
              <a:t>REPORT</a:t>
            </a:r>
            <a:endParaRPr lang="en-SG" sz="1090" b="0" u="none" strike="noStrike">
              <a:solidFill>
                <a:srgbClr val="000000"/>
              </a:solidFill>
              <a:effectLst/>
              <a:uFillTx/>
              <a:latin typeface="Times New Roman"/>
            </a:endParaRPr>
          </a:p>
        </p:txBody>
      </p:sp>
      <p:sp>
        <p:nvSpPr>
          <p:cNvPr id="130" name=""/>
          <p:cNvSpPr txBox="1"/>
          <p:nvPr/>
        </p:nvSpPr>
        <p:spPr>
          <a:xfrm>
            <a:off x="9101160" y="2971800"/>
            <a:ext cx="1353240" cy="780480"/>
          </a:xfrm>
          <a:prstGeom prst="rect">
            <a:avLst/>
          </a:prstGeom>
          <a:noFill/>
          <a:ln w="0">
            <a:noFill/>
          </a:ln>
        </p:spPr>
        <p:txBody>
          <a:bodyPr wrap="none" lIns="0" tIns="0" rIns="0" bIns="0" anchor="t">
            <a:spAutoFit/>
          </a:bodyPr>
          <a:p>
            <a:pPr/>
            <a:r>
              <a:rPr lang="en-SG" sz="4350" b="1" u="none" strike="noStrike">
                <a:solidFill>
                  <a:srgbClr val="FFFFFF"/>
                </a:solidFill>
                <a:effectLst/>
                <a:uFillTx/>
                <a:latin typeface="Outfit-Thin_"/>
                <a:ea typeface="Outfit-Thin_"/>
              </a:rPr>
              <a:t>auto</a:t>
            </a:r>
            <a:endParaRPr lang="en-SG" sz="4350" b="0" u="none" strike="noStrike">
              <a:solidFill>
                <a:srgbClr val="000000"/>
              </a:solidFill>
              <a:effectLst/>
              <a:uFillTx/>
              <a:latin typeface="Times New Roman"/>
            </a:endParaRPr>
          </a:p>
        </p:txBody>
      </p:sp>
      <p:sp>
        <p:nvSpPr>
          <p:cNvPr id="131" name=""/>
          <p:cNvSpPr txBox="1"/>
          <p:nvPr/>
        </p:nvSpPr>
        <p:spPr>
          <a:xfrm>
            <a:off x="9101160" y="3693600"/>
            <a:ext cx="2087640" cy="171000"/>
          </a:xfrm>
          <a:prstGeom prst="rect">
            <a:avLst/>
          </a:prstGeom>
          <a:noFill/>
          <a:ln w="0">
            <a:noFill/>
          </a:ln>
        </p:spPr>
        <p:txBody>
          <a:bodyPr wrap="none" lIns="0" tIns="0" rIns="0" bIns="0" anchor="t">
            <a:spAutoFit/>
          </a:bodyPr>
          <a:p>
            <a:pPr/>
            <a:r>
              <a:rPr lang="en-SG" sz="1350" b="0" u="none" strike="noStrike">
                <a:solidFill>
                  <a:srgbClr val="999999"/>
                </a:solidFill>
                <a:effectLst/>
                <a:uFillTx/>
                <a:latin typeface="RalewayRoman"/>
                <a:ea typeface="RalewayRoman"/>
              </a:rPr>
              <a:t>Generated from the live run</a:t>
            </a:r>
            <a:endParaRPr lang="en-SG" sz="1350" b="0" u="none" strike="noStrike">
              <a:solidFill>
                <a:srgbClr val="000000"/>
              </a:solidFill>
              <a:effectLst/>
              <a:uFillTx/>
              <a:latin typeface="Times New Roman"/>
            </a:endParaRPr>
          </a:p>
        </p:txBody>
      </p:sp>
      <p:sp>
        <p:nvSpPr>
          <p:cNvPr id="132" name=""/>
          <p:cNvSpPr txBox="1"/>
          <p:nvPr/>
        </p:nvSpPr>
        <p:spPr>
          <a:xfrm>
            <a:off x="11807280" y="6414120"/>
            <a:ext cx="165240" cy="224280"/>
          </a:xfrm>
          <a:prstGeom prst="rect">
            <a:avLst/>
          </a:prstGeom>
          <a:noFill/>
          <a:ln w="0">
            <a:noFill/>
          </a:ln>
        </p:spPr>
        <p:txBody>
          <a:bodyPr wrap="none" lIns="0" tIns="0" rIns="0" bIns="0" anchor="t">
            <a:spAutoFit/>
          </a:bodyPr>
          <a:p>
            <a:pPr/>
            <a:r>
              <a:rPr lang="en-SG" sz="1300" b="0" u="none" strike="noStrike">
                <a:solidFill>
                  <a:srgbClr val="151515"/>
                </a:solidFill>
                <a:effectLst/>
                <a:uFillTx/>
                <a:latin typeface="Outfit-Thin_"/>
                <a:ea typeface="Outfit-Thin_"/>
              </a:rPr>
              <a:t>4</a:t>
            </a:r>
            <a:endParaRPr lang="en-SG" sz="13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505"/>
        </a:solidFill>
        <a:effectLst/>
      </p:bgPr>
    </p:bg>
    <p:spTree>
      <p:nvGrpSpPr>
        <p:cNvPr id="1" name=""/>
        <p:cNvGrpSpPr/>
        <p:nvPr/>
      </p:nvGrpSpPr>
      <p:grpSpPr>
        <a:xfrm>
          <a:off x="0" y="0"/>
          <a:ext cx="0" cy="0"/>
          <a:chOff x="0" y="0"/>
          <a:chExt cx="0" cy="0"/>
        </a:xfrm>
      </p:grpSpPr>
      <p:sp>
        <p:nvSpPr>
          <p:cNvPr id="2" name="TextBox 1"/>
          <p:cNvSpPr txBox="1"/>
          <p:nvPr/>
        </p:nvSpPr>
        <p:spPr>
          <a:xfrm>
            <a:off x="658368" y="658368"/>
            <a:ext cx="10881360" cy="292608"/>
          </a:xfrm>
          <a:prstGeom prst="rect">
            <a:avLst/>
          </a:prstGeom>
          <a:noFill/>
        </p:spPr>
        <p:txBody>
          <a:bodyPr wrap="square" lIns="0" rIns="0" tIns="0" bIns="0" anchor="t">
            <a:spAutoFit/>
          </a:bodyPr>
          <a:lstStyle/>
          <a:p>
            <a:pPr algn="l">
              <a:lnSpc>
                <a:spcPct val="100000"/>
              </a:lnSpc>
            </a:pPr>
            <a:r>
              <a:rPr sz="900" b="1" i="0">
                <a:solidFill>
                  <a:srgbClr val="5F5F5F"/>
                </a:solidFill>
                <a:latin typeface="Arial"/>
              </a:rPr>
              <a:t>DECISION 1</a:t>
            </a:r>
          </a:p>
        </p:txBody>
      </p:sp>
      <p:sp>
        <p:nvSpPr>
          <p:cNvPr id="3" name="TextBox 2"/>
          <p:cNvSpPr txBox="1"/>
          <p:nvPr/>
        </p:nvSpPr>
        <p:spPr>
          <a:xfrm>
            <a:off x="658368" y="914400"/>
            <a:ext cx="10881360" cy="594360"/>
          </a:xfrm>
          <a:prstGeom prst="rect">
            <a:avLst/>
          </a:prstGeom>
          <a:noFill/>
        </p:spPr>
        <p:txBody>
          <a:bodyPr wrap="square" lIns="0" rIns="0" tIns="0" bIns="0" anchor="t">
            <a:spAutoFit/>
          </a:bodyPr>
          <a:lstStyle/>
          <a:p>
            <a:pPr algn="l">
              <a:lnSpc>
                <a:spcPct val="100000"/>
              </a:lnSpc>
            </a:pPr>
            <a:r>
              <a:rPr sz="2500" b="0">
                <a:solidFill>
                  <a:srgbClr val="F2F2F2"/>
                </a:solidFill>
                <a:latin typeface="Aptos"/>
              </a:rPr>
              <a:t>Flag uncertainty. Don't invent salary.</a:t>
            </a:r>
          </a:p>
        </p:txBody>
      </p:sp>
      <p:sp>
        <p:nvSpPr>
          <p:cNvPr id="4" name="TextBox 3"/>
          <p:cNvSpPr txBox="1"/>
          <p:nvPr/>
        </p:nvSpPr>
        <p:spPr>
          <a:xfrm>
            <a:off x="676656" y="1444752"/>
            <a:ext cx="7498079" cy="320040"/>
          </a:xfrm>
          <a:prstGeom prst="rect">
            <a:avLst/>
          </a:prstGeom>
          <a:noFill/>
        </p:spPr>
        <p:txBody>
          <a:bodyPr wrap="square" lIns="0" rIns="0" tIns="0" bIns="0">
            <a:spAutoFit/>
          </a:bodyPr>
          <a:lstStyle/>
          <a:p>
            <a:r>
              <a:rPr sz="1200" b="1" i="0">
                <a:solidFill>
                  <a:srgbClr val="FF6B1A"/>
                </a:solidFill>
                <a:latin typeface="Arial"/>
              </a:rPr>
              <a:t>salary_flag</a:t>
            </a:r>
            <a:r>
              <a:rPr sz="1200" b="0" i="0">
                <a:solidFill>
                  <a:srgbClr val="A0A0A0"/>
                </a:solidFill>
                <a:latin typeface="Arial"/>
              </a:rPr>
              <a:t>  →  undisclosed · outlier · low_stipend · ok</a:t>
            </a:r>
          </a:p>
        </p:txBody>
      </p:sp>
      <p:sp>
        <p:nvSpPr>
          <p:cNvPr id="5" name="Rounded Rectangle 4"/>
          <p:cNvSpPr/>
          <p:nvPr/>
        </p:nvSpPr>
        <p:spPr>
          <a:xfrm>
            <a:off x="658368" y="1901952"/>
            <a:ext cx="5349240" cy="3429000"/>
          </a:xfrm>
          <a:prstGeom prst="roundRect">
            <a:avLst/>
          </a:prstGeom>
          <a:solidFill>
            <a:srgbClr val="0E0E0E"/>
          </a:solidFill>
          <a:ln w="1016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2176272"/>
            <a:ext cx="2286000" cy="365760"/>
          </a:xfrm>
          <a:prstGeom prst="rect">
            <a:avLst/>
          </a:prstGeom>
          <a:noFill/>
        </p:spPr>
        <p:txBody>
          <a:bodyPr wrap="square" lIns="0" rIns="0" tIns="0" bIns="0" anchor="t">
            <a:spAutoFit/>
          </a:bodyPr>
          <a:lstStyle/>
          <a:p>
            <a:pPr algn="l">
              <a:lnSpc>
                <a:spcPct val="100000"/>
              </a:lnSpc>
            </a:pPr>
            <a:r>
              <a:rPr sz="2200" b="1" i="0">
                <a:solidFill>
                  <a:srgbClr val="EF4444"/>
                </a:solidFill>
                <a:latin typeface="Arial"/>
              </a:rPr>
              <a:t>$1 – $1</a:t>
            </a:r>
          </a:p>
        </p:txBody>
      </p:sp>
      <p:sp>
        <p:nvSpPr>
          <p:cNvPr id="7" name="TextBox 6"/>
          <p:cNvSpPr txBox="1"/>
          <p:nvPr/>
        </p:nvSpPr>
        <p:spPr>
          <a:xfrm>
            <a:off x="896112" y="2633472"/>
            <a:ext cx="4480560" cy="274320"/>
          </a:xfrm>
          <a:prstGeom prst="rect">
            <a:avLst/>
          </a:prstGeom>
          <a:noFill/>
        </p:spPr>
        <p:txBody>
          <a:bodyPr wrap="square" lIns="0" rIns="0" tIns="0" bIns="0" anchor="t">
            <a:spAutoFit/>
          </a:bodyPr>
          <a:lstStyle/>
          <a:p>
            <a:pPr algn="l">
              <a:lnSpc>
                <a:spcPct val="100000"/>
              </a:lnSpc>
            </a:pPr>
            <a:r>
              <a:rPr sz="1000" b="1" i="0">
                <a:solidFill>
                  <a:srgbClr val="5F5F5F"/>
                </a:solidFill>
                <a:latin typeface="Arial"/>
              </a:rPr>
              <a:t>Required-field placeholder</a:t>
            </a:r>
          </a:p>
        </p:txBody>
      </p:sp>
      <p:sp>
        <p:nvSpPr>
          <p:cNvPr id="8" name="TextBox 7"/>
          <p:cNvSpPr txBox="1"/>
          <p:nvPr/>
        </p:nvSpPr>
        <p:spPr>
          <a:xfrm>
            <a:off x="896112" y="2980944"/>
            <a:ext cx="4526280" cy="822960"/>
          </a:xfrm>
          <a:prstGeom prst="rect">
            <a:avLst/>
          </a:prstGeom>
          <a:noFill/>
        </p:spPr>
        <p:txBody>
          <a:bodyPr wrap="square" lIns="0" rIns="0" tIns="0" bIns="0" anchor="t">
            <a:spAutoFit/>
          </a:bodyPr>
          <a:lstStyle/>
          <a:p>
            <a:pPr algn="l">
              <a:lnSpc>
                <a:spcPct val="100000"/>
              </a:lnSpc>
            </a:pPr>
            <a:r>
              <a:rPr sz="1500" b="0" i="0">
                <a:solidFill>
                  <a:srgbClr val="F5F5F5"/>
                </a:solidFill>
                <a:latin typeface="Arial"/>
              </a:rPr>
              <a:t>1,804 postings. There is no real salary number to preserve at any resolution.</a:t>
            </a:r>
          </a:p>
        </p:txBody>
      </p:sp>
      <p:sp>
        <p:nvSpPr>
          <p:cNvPr id="9" name="TextBox 8"/>
          <p:cNvSpPr txBox="1"/>
          <p:nvPr/>
        </p:nvSpPr>
        <p:spPr>
          <a:xfrm>
            <a:off x="896112" y="4041648"/>
            <a:ext cx="1143000" cy="274320"/>
          </a:xfrm>
          <a:prstGeom prst="rect">
            <a:avLst/>
          </a:prstGeom>
          <a:noFill/>
        </p:spPr>
        <p:txBody>
          <a:bodyPr wrap="square" lIns="0" rIns="0" tIns="0" bIns="0" anchor="t">
            <a:spAutoFit/>
          </a:bodyPr>
          <a:lstStyle/>
          <a:p>
            <a:pPr algn="l">
              <a:lnSpc>
                <a:spcPct val="100000"/>
              </a:lnSpc>
            </a:pPr>
            <a:r>
              <a:rPr sz="1000" b="1" i="0">
                <a:solidFill>
                  <a:srgbClr val="EF4444"/>
                </a:solidFill>
                <a:latin typeface="Arial"/>
              </a:rPr>
              <a:t>NULLED</a:t>
            </a:r>
          </a:p>
        </p:txBody>
      </p:sp>
      <p:sp>
        <p:nvSpPr>
          <p:cNvPr id="10" name="TextBox 9"/>
          <p:cNvSpPr txBox="1"/>
          <p:nvPr/>
        </p:nvSpPr>
        <p:spPr>
          <a:xfrm>
            <a:off x="1975104" y="4023360"/>
            <a:ext cx="2468880" cy="274320"/>
          </a:xfrm>
          <a:prstGeom prst="rect">
            <a:avLst/>
          </a:prstGeom>
          <a:noFill/>
        </p:spPr>
        <p:txBody>
          <a:bodyPr wrap="square" lIns="0" rIns="0" tIns="0" bIns="0" anchor="t">
            <a:spAutoFit/>
          </a:bodyPr>
          <a:lstStyle/>
          <a:p>
            <a:pPr algn="l">
              <a:lnSpc>
                <a:spcPct val="100000"/>
              </a:lnSpc>
            </a:pPr>
            <a:r>
              <a:rPr sz="1100" b="0" i="0">
                <a:solidFill>
                  <a:srgbClr val="A0A0A0"/>
                </a:solidFill>
                <a:latin typeface="Arial"/>
              </a:rPr>
              <a:t>9,577 rows · under 1%</a:t>
            </a:r>
          </a:p>
        </p:txBody>
      </p:sp>
      <p:sp>
        <p:nvSpPr>
          <p:cNvPr id="11" name="TextBox 10"/>
          <p:cNvSpPr txBox="1"/>
          <p:nvPr/>
        </p:nvSpPr>
        <p:spPr>
          <a:xfrm>
            <a:off x="896112" y="4590288"/>
            <a:ext cx="4572000" cy="502920"/>
          </a:xfrm>
          <a:prstGeom prst="rect">
            <a:avLst/>
          </a:prstGeom>
          <a:noFill/>
        </p:spPr>
        <p:txBody>
          <a:bodyPr wrap="square" lIns="0" rIns="0" tIns="0" bIns="0" anchor="t">
            <a:spAutoFit/>
          </a:bodyPr>
          <a:lstStyle/>
          <a:p>
            <a:pPr algn="l">
              <a:lnSpc>
                <a:spcPct val="100000"/>
              </a:lnSpc>
            </a:pPr>
            <a:r>
              <a:rPr sz="1100" b="0" i="0">
                <a:solidFill>
                  <a:srgbClr val="A0A0A0"/>
                </a:solidFill>
                <a:latin typeface="Arial"/>
              </a:rPr>
              <a:t>Same rule at the low end: keep the row, remove only the unusable salary value.</a:t>
            </a:r>
          </a:p>
        </p:txBody>
      </p:sp>
      <p:sp>
        <p:nvSpPr>
          <p:cNvPr id="12" name="Rounded Rectangle 11"/>
          <p:cNvSpPr/>
          <p:nvPr/>
        </p:nvSpPr>
        <p:spPr>
          <a:xfrm>
            <a:off x="6199632" y="1901952"/>
            <a:ext cx="5349240" cy="3429000"/>
          </a:xfrm>
          <a:prstGeom prst="roundRect">
            <a:avLst/>
          </a:prstGeom>
          <a:solidFill>
            <a:srgbClr val="0E0E0E"/>
          </a:solidFill>
          <a:ln w="1016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176272"/>
            <a:ext cx="3566160" cy="365760"/>
          </a:xfrm>
          <a:prstGeom prst="rect">
            <a:avLst/>
          </a:prstGeom>
          <a:noFill/>
        </p:spPr>
        <p:txBody>
          <a:bodyPr wrap="square" lIns="0" rIns="0" tIns="0" bIns="0" anchor="t">
            <a:spAutoFit/>
          </a:bodyPr>
          <a:lstStyle/>
          <a:p>
            <a:pPr algn="l">
              <a:lnSpc>
                <a:spcPct val="100000"/>
              </a:lnSpc>
            </a:pPr>
            <a:r>
              <a:rPr sz="2200" b="1" i="0">
                <a:solidFill>
                  <a:srgbClr val="FF6B1A"/>
                </a:solidFill>
                <a:latin typeface="Arial"/>
              </a:rPr>
              <a:t>$150,000 / month</a:t>
            </a:r>
          </a:p>
        </p:txBody>
      </p:sp>
      <p:sp>
        <p:nvSpPr>
          <p:cNvPr id="14" name="TextBox 13"/>
          <p:cNvSpPr txBox="1"/>
          <p:nvPr/>
        </p:nvSpPr>
        <p:spPr>
          <a:xfrm>
            <a:off x="6437376" y="2633472"/>
            <a:ext cx="4480560" cy="274320"/>
          </a:xfrm>
          <a:prstGeom prst="rect">
            <a:avLst/>
          </a:prstGeom>
          <a:noFill/>
        </p:spPr>
        <p:txBody>
          <a:bodyPr wrap="square" lIns="0" rIns="0" tIns="0" bIns="0" anchor="t">
            <a:spAutoFit/>
          </a:bodyPr>
          <a:lstStyle/>
          <a:p>
            <a:pPr algn="l">
              <a:lnSpc>
                <a:spcPct val="100000"/>
              </a:lnSpc>
            </a:pPr>
            <a:r>
              <a:rPr sz="1000" b="1" i="0">
                <a:solidFill>
                  <a:srgbClr val="5F5F5F"/>
                </a:solidFill>
                <a:latin typeface="Arial"/>
              </a:rPr>
              <a:t>Outlier, but potentially real</a:t>
            </a:r>
          </a:p>
        </p:txBody>
      </p:sp>
      <p:sp>
        <p:nvSpPr>
          <p:cNvPr id="15" name="TextBox 14"/>
          <p:cNvSpPr txBox="1"/>
          <p:nvPr/>
        </p:nvSpPr>
        <p:spPr>
          <a:xfrm>
            <a:off x="6437376" y="2980944"/>
            <a:ext cx="4526280" cy="822960"/>
          </a:xfrm>
          <a:prstGeom prst="rect">
            <a:avLst/>
          </a:prstGeom>
          <a:noFill/>
        </p:spPr>
        <p:txBody>
          <a:bodyPr wrap="square" lIns="0" rIns="0" tIns="0" bIns="0" anchor="t">
            <a:spAutoFit/>
          </a:bodyPr>
          <a:lstStyle/>
          <a:p>
            <a:pPr algn="l">
              <a:lnSpc>
                <a:spcPct val="100000"/>
              </a:lnSpc>
            </a:pPr>
            <a:r>
              <a:rPr sz="1500" b="0" i="0">
                <a:solidFill>
                  <a:srgbClr val="F5F5F5"/>
                </a:solidFill>
                <a:latin typeface="Arial"/>
              </a:rPr>
              <a:t>269 postings. Real C-suite role, or a missing decimal? That depends on the question being asked.</a:t>
            </a:r>
          </a:p>
        </p:txBody>
      </p:sp>
      <p:sp>
        <p:nvSpPr>
          <p:cNvPr id="16" name="TextBox 15"/>
          <p:cNvSpPr txBox="1"/>
          <p:nvPr/>
        </p:nvSpPr>
        <p:spPr>
          <a:xfrm>
            <a:off x="6437376" y="4041648"/>
            <a:ext cx="1691640" cy="274320"/>
          </a:xfrm>
          <a:prstGeom prst="rect">
            <a:avLst/>
          </a:prstGeom>
          <a:noFill/>
        </p:spPr>
        <p:txBody>
          <a:bodyPr wrap="square" lIns="0" rIns="0" tIns="0" bIns="0" anchor="t">
            <a:spAutoFit/>
          </a:bodyPr>
          <a:lstStyle/>
          <a:p>
            <a:pPr algn="l">
              <a:lnSpc>
                <a:spcPct val="100000"/>
              </a:lnSpc>
            </a:pPr>
            <a:r>
              <a:rPr sz="1000" b="1" i="0">
                <a:solidFill>
                  <a:srgbClr val="FF6B1A"/>
                </a:solidFill>
                <a:latin typeface="Arial"/>
              </a:rPr>
              <a:t>FLAGGED, KEPT</a:t>
            </a:r>
          </a:p>
        </p:txBody>
      </p:sp>
      <p:sp>
        <p:nvSpPr>
          <p:cNvPr id="17" name="TextBox 16"/>
          <p:cNvSpPr txBox="1"/>
          <p:nvPr/>
        </p:nvSpPr>
        <p:spPr>
          <a:xfrm>
            <a:off x="8165592" y="4023360"/>
            <a:ext cx="2377440" cy="274320"/>
          </a:xfrm>
          <a:prstGeom prst="rect">
            <a:avLst/>
          </a:prstGeom>
          <a:noFill/>
        </p:spPr>
        <p:txBody>
          <a:bodyPr wrap="square" lIns="0" rIns="0" tIns="0" bIns="0" anchor="t">
            <a:spAutoFit/>
          </a:bodyPr>
          <a:lstStyle/>
          <a:p>
            <a:pPr algn="l">
              <a:lnSpc>
                <a:spcPct val="100000"/>
              </a:lnSpc>
            </a:pPr>
            <a:r>
              <a:rPr sz="1100" b="0" i="0">
                <a:solidFill>
                  <a:srgbClr val="A0A0A0"/>
                </a:solidFill>
                <a:latin typeface="Arial"/>
              </a:rPr>
              <a:t>analysis filters in 1 line</a:t>
            </a:r>
          </a:p>
        </p:txBody>
      </p:sp>
      <p:sp>
        <p:nvSpPr>
          <p:cNvPr id="18" name="TextBox 17"/>
          <p:cNvSpPr txBox="1"/>
          <p:nvPr/>
        </p:nvSpPr>
        <p:spPr>
          <a:xfrm>
            <a:off x="6437376" y="4590288"/>
            <a:ext cx="4572000" cy="502920"/>
          </a:xfrm>
          <a:prstGeom prst="rect">
            <a:avLst/>
          </a:prstGeom>
          <a:noFill/>
        </p:spPr>
        <p:txBody>
          <a:bodyPr wrap="square" lIns="0" rIns="0" tIns="0" bIns="0" anchor="t">
            <a:spAutoFit/>
          </a:bodyPr>
          <a:lstStyle/>
          <a:p>
            <a:pPr algn="l">
              <a:lnSpc>
                <a:spcPct val="100000"/>
              </a:lnSpc>
            </a:pPr>
            <a:r>
              <a:rPr sz="1100" b="0" i="0">
                <a:solidFill>
                  <a:srgbClr val="A0A0A0"/>
                </a:solidFill>
                <a:latin typeface="Arial"/>
              </a:rPr>
              <a:t>The number stays available for analyses that need it; filters decide when to exclude it.</a:t>
            </a:r>
          </a:p>
        </p:txBody>
      </p:sp>
      <p:sp>
        <p:nvSpPr>
          <p:cNvPr id="19" name="TextBox 18"/>
          <p:cNvSpPr txBox="1"/>
          <p:nvPr/>
        </p:nvSpPr>
        <p:spPr>
          <a:xfrm>
            <a:off x="11384280" y="6473952"/>
            <a:ext cx="320040" cy="182880"/>
          </a:xfrm>
          <a:prstGeom prst="rect">
            <a:avLst/>
          </a:prstGeom>
          <a:noFill/>
        </p:spPr>
        <p:txBody>
          <a:bodyPr wrap="square" lIns="0" rIns="0" tIns="0" bIns="0" anchor="t">
            <a:spAutoFit/>
          </a:bodyPr>
          <a:lstStyle/>
          <a:p>
            <a:pPr algn="r">
              <a:lnSpc>
                <a:spcPct val="100000"/>
              </a:lnSpc>
            </a:pPr>
            <a:r>
              <a:rPr sz="800" b="0" i="0">
                <a:solidFill>
                  <a:srgbClr val="5F5F5F"/>
                </a:solidFill>
                <a:latin typeface="Arial"/>
              </a:rPr>
              <a:t>5</a:t>
            </a: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505"/>
        </a:solidFill>
        <a:effectLst/>
      </p:bgPr>
    </p:bg>
    <p:spTree>
      <p:nvGrpSpPr>
        <p:cNvPr id="1" name=""/>
        <p:cNvGrpSpPr/>
        <p:nvPr/>
      </p:nvGrpSpPr>
      <p:grpSpPr>
        <a:xfrm>
          <a:off x="0" y="0"/>
          <a:ext cx="0" cy="0"/>
          <a:chOff x="0" y="0"/>
          <a:chExt cx="0" cy="0"/>
        </a:xfrm>
      </p:grpSpPr>
      <p:sp>
        <p:nvSpPr>
          <p:cNvPr id="2" name="TextBox 1"/>
          <p:cNvSpPr txBox="1"/>
          <p:nvPr/>
        </p:nvSpPr>
        <p:spPr>
          <a:xfrm>
            <a:off x="658368" y="658368"/>
            <a:ext cx="10881360" cy="292608"/>
          </a:xfrm>
          <a:prstGeom prst="rect">
            <a:avLst/>
          </a:prstGeom>
          <a:noFill/>
        </p:spPr>
        <p:txBody>
          <a:bodyPr wrap="square" lIns="0" rIns="0" tIns="0" bIns="0" anchor="t">
            <a:spAutoFit/>
          </a:bodyPr>
          <a:lstStyle/>
          <a:p>
            <a:pPr algn="l">
              <a:lnSpc>
                <a:spcPct val="100000"/>
              </a:lnSpc>
            </a:pPr>
            <a:r>
              <a:rPr sz="900" b="1" i="0">
                <a:solidFill>
                  <a:srgbClr val="5F5F5F"/>
                </a:solidFill>
                <a:latin typeface="Arial"/>
              </a:rPr>
              <a:t>DECISION 2</a:t>
            </a:r>
          </a:p>
        </p:txBody>
      </p:sp>
      <p:sp>
        <p:nvSpPr>
          <p:cNvPr id="3" name="TextBox 2"/>
          <p:cNvSpPr txBox="1"/>
          <p:nvPr/>
        </p:nvSpPr>
        <p:spPr>
          <a:xfrm>
            <a:off x="658368" y="914400"/>
            <a:ext cx="10881360" cy="594360"/>
          </a:xfrm>
          <a:prstGeom prst="rect">
            <a:avLst/>
          </a:prstGeom>
          <a:noFill/>
        </p:spPr>
        <p:txBody>
          <a:bodyPr wrap="square" lIns="0" rIns="0" tIns="0" bIns="0" anchor="t">
            <a:spAutoFit/>
          </a:bodyPr>
          <a:lstStyle/>
          <a:p>
            <a:pPr algn="l">
              <a:lnSpc>
                <a:spcPct val="100000"/>
              </a:lnSpc>
            </a:pPr>
            <a:r>
              <a:rPr sz="2500" b="0">
                <a:solidFill>
                  <a:srgbClr val="F2F2F2"/>
                </a:solidFill>
                <a:latin typeface="Aptos"/>
              </a:rPr>
              <a:t>Four 'cleaning' choices that change the answer</a:t>
            </a:r>
          </a:p>
        </p:txBody>
      </p:sp>
      <p:sp>
        <p:nvSpPr>
          <p:cNvPr id="4" name="Rounded Rectangle 3"/>
          <p:cNvSpPr/>
          <p:nvPr/>
        </p:nvSpPr>
        <p:spPr>
          <a:xfrm>
            <a:off x="658368" y="1828800"/>
            <a:ext cx="5349240" cy="1572768"/>
          </a:xfrm>
          <a:prstGeom prst="roundRect">
            <a:avLst/>
          </a:prstGeom>
          <a:solidFill>
            <a:srgbClr val="0E0E0E"/>
          </a:solidFill>
          <a:ln w="1016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11680"/>
            <a:ext cx="1463040" cy="228600"/>
          </a:xfrm>
          <a:prstGeom prst="rect">
            <a:avLst/>
          </a:prstGeom>
          <a:noFill/>
        </p:spPr>
        <p:txBody>
          <a:bodyPr wrap="square" lIns="0" rIns="0" tIns="0" bIns="0" anchor="t">
            <a:spAutoFit/>
          </a:bodyPr>
          <a:lstStyle/>
          <a:p>
            <a:pPr algn="l">
              <a:lnSpc>
                <a:spcPct val="100000"/>
              </a:lnSpc>
            </a:pPr>
            <a:r>
              <a:rPr sz="900" b="1" i="0">
                <a:solidFill>
                  <a:srgbClr val="FF6B1A"/>
                </a:solidFill>
                <a:latin typeface="Arial"/>
              </a:rPr>
              <a:t>DATES</a:t>
            </a:r>
          </a:p>
        </p:txBody>
      </p:sp>
      <p:sp>
        <p:nvSpPr>
          <p:cNvPr id="6" name="TextBox 5"/>
          <p:cNvSpPr txBox="1"/>
          <p:nvPr/>
        </p:nvSpPr>
        <p:spPr>
          <a:xfrm>
            <a:off x="868680" y="2304288"/>
            <a:ext cx="4846320" cy="320040"/>
          </a:xfrm>
          <a:prstGeom prst="rect">
            <a:avLst/>
          </a:prstGeom>
          <a:noFill/>
        </p:spPr>
        <p:txBody>
          <a:bodyPr wrap="square" lIns="0" rIns="0" tIns="0" bIns="0" anchor="t">
            <a:spAutoFit/>
          </a:bodyPr>
          <a:lstStyle/>
          <a:p>
            <a:pPr algn="l">
              <a:lnSpc>
                <a:spcPct val="100000"/>
              </a:lnSpc>
            </a:pPr>
            <a:r>
              <a:rPr sz="1400" b="1" i="0">
                <a:solidFill>
                  <a:srgbClr val="F5F5F5"/>
                </a:solidFill>
                <a:latin typeface="Arial"/>
              </a:rPr>
              <a:t>Parse → format back → compare</a:t>
            </a:r>
          </a:p>
        </p:txBody>
      </p:sp>
      <p:sp>
        <p:nvSpPr>
          <p:cNvPr id="7" name="TextBox 6"/>
          <p:cNvSpPr txBox="1"/>
          <p:nvPr/>
        </p:nvSpPr>
        <p:spPr>
          <a:xfrm>
            <a:off x="868680" y="2670048"/>
            <a:ext cx="4846320" cy="530352"/>
          </a:xfrm>
          <a:prstGeom prst="rect">
            <a:avLst/>
          </a:prstGeom>
          <a:noFill/>
        </p:spPr>
        <p:txBody>
          <a:bodyPr wrap="square" lIns="0" rIns="0" tIns="0" bIns="0" anchor="t">
            <a:spAutoFit/>
          </a:bodyPr>
          <a:lstStyle/>
          <a:p>
            <a:pPr algn="l">
              <a:lnSpc>
                <a:spcPct val="100000"/>
              </a:lnSpc>
            </a:pPr>
            <a:r>
              <a:rPr sz="1150" b="0" i="0">
                <a:solidFill>
                  <a:srgbClr val="A0A0A0"/>
                </a:solidFill>
                <a:latin typeface="Arial"/>
              </a:rPr>
              <a:t>One mismatch and we refuse the conversion. A wrong date is a wrong cohort.</a:t>
            </a:r>
          </a:p>
        </p:txBody>
      </p:sp>
      <p:sp>
        <p:nvSpPr>
          <p:cNvPr id="8" name="Rounded Rectangle 7"/>
          <p:cNvSpPr/>
          <p:nvPr/>
        </p:nvSpPr>
        <p:spPr>
          <a:xfrm>
            <a:off x="6172200" y="1828800"/>
            <a:ext cx="5349240" cy="1572768"/>
          </a:xfrm>
          <a:prstGeom prst="roundRect">
            <a:avLst/>
          </a:prstGeom>
          <a:solidFill>
            <a:srgbClr val="0E0E0E"/>
          </a:solidFill>
          <a:ln w="1016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2" y="2011680"/>
            <a:ext cx="1463040" cy="228600"/>
          </a:xfrm>
          <a:prstGeom prst="rect">
            <a:avLst/>
          </a:prstGeom>
          <a:noFill/>
        </p:spPr>
        <p:txBody>
          <a:bodyPr wrap="square" lIns="0" rIns="0" tIns="0" bIns="0" anchor="t">
            <a:spAutoFit/>
          </a:bodyPr>
          <a:lstStyle/>
          <a:p>
            <a:pPr algn="l">
              <a:lnSpc>
                <a:spcPct val="100000"/>
              </a:lnSpc>
            </a:pPr>
            <a:r>
              <a:rPr sz="900" b="1" i="0">
                <a:solidFill>
                  <a:srgbClr val="FF6B1A"/>
                </a:solidFill>
                <a:latin typeface="Arial"/>
              </a:rPr>
              <a:t>TEXT</a:t>
            </a:r>
          </a:p>
        </p:txBody>
      </p:sp>
      <p:sp>
        <p:nvSpPr>
          <p:cNvPr id="10" name="TextBox 9"/>
          <p:cNvSpPr txBox="1"/>
          <p:nvPr/>
        </p:nvSpPr>
        <p:spPr>
          <a:xfrm>
            <a:off x="6382512" y="2304288"/>
            <a:ext cx="4846320" cy="320040"/>
          </a:xfrm>
          <a:prstGeom prst="rect">
            <a:avLst/>
          </a:prstGeom>
          <a:noFill/>
        </p:spPr>
        <p:txBody>
          <a:bodyPr wrap="square" lIns="0" rIns="0" tIns="0" bIns="0" anchor="t">
            <a:spAutoFit/>
          </a:bodyPr>
          <a:lstStyle/>
          <a:p>
            <a:pPr algn="l">
              <a:lnSpc>
                <a:spcPct val="100000"/>
              </a:lnSpc>
            </a:pPr>
            <a:r>
              <a:rPr sz="1400" b="1" i="0">
                <a:solidFill>
                  <a:srgbClr val="F5F5F5"/>
                </a:solidFill>
                <a:latin typeface="Arial"/>
              </a:rPr>
              <a:t>Normalize invisible characters</a:t>
            </a:r>
          </a:p>
        </p:txBody>
      </p:sp>
      <p:sp>
        <p:nvSpPr>
          <p:cNvPr id="11" name="TextBox 10"/>
          <p:cNvSpPr txBox="1"/>
          <p:nvPr/>
        </p:nvSpPr>
        <p:spPr>
          <a:xfrm>
            <a:off x="6382512" y="2670048"/>
            <a:ext cx="4846320" cy="530352"/>
          </a:xfrm>
          <a:prstGeom prst="rect">
            <a:avLst/>
          </a:prstGeom>
          <a:noFill/>
        </p:spPr>
        <p:txBody>
          <a:bodyPr wrap="square" lIns="0" rIns="0" tIns="0" bIns="0" anchor="t">
            <a:spAutoFit/>
          </a:bodyPr>
          <a:lstStyle/>
          <a:p>
            <a:pPr algn="l">
              <a:lnSpc>
                <a:spcPct val="100000"/>
              </a:lnSpc>
            </a:pPr>
            <a:r>
              <a:rPr sz="1150" b="0" i="0">
                <a:solidFill>
                  <a:srgbClr val="A0A0A0"/>
                </a:solidFill>
                <a:latin typeface="Arial"/>
              </a:rPr>
              <a:t>Titles carried zero-width characters. \s does not match them. 184 rows: one title can silently become two.</a:t>
            </a:r>
          </a:p>
        </p:txBody>
      </p:sp>
      <p:sp>
        <p:nvSpPr>
          <p:cNvPr id="12" name="Rounded Rectangle 11"/>
          <p:cNvSpPr/>
          <p:nvPr/>
        </p:nvSpPr>
        <p:spPr>
          <a:xfrm>
            <a:off x="658368" y="3767328"/>
            <a:ext cx="5349240" cy="1572768"/>
          </a:xfrm>
          <a:prstGeom prst="roundRect">
            <a:avLst/>
          </a:prstGeom>
          <a:solidFill>
            <a:srgbClr val="0E0E0E"/>
          </a:solidFill>
          <a:ln w="1016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950208"/>
            <a:ext cx="1463040" cy="228600"/>
          </a:xfrm>
          <a:prstGeom prst="rect">
            <a:avLst/>
          </a:prstGeom>
          <a:noFill/>
        </p:spPr>
        <p:txBody>
          <a:bodyPr wrap="square" lIns="0" rIns="0" tIns="0" bIns="0" anchor="t">
            <a:spAutoFit/>
          </a:bodyPr>
          <a:lstStyle/>
          <a:p>
            <a:pPr algn="l">
              <a:lnSpc>
                <a:spcPct val="100000"/>
              </a:lnSpc>
            </a:pPr>
            <a:r>
              <a:rPr sz="900" b="1" i="0">
                <a:solidFill>
                  <a:srgbClr val="FF6B1A"/>
                </a:solidFill>
                <a:latin typeface="Arial"/>
              </a:rPr>
              <a:t>DUPLICATES</a:t>
            </a:r>
          </a:p>
        </p:txBody>
      </p:sp>
      <p:sp>
        <p:nvSpPr>
          <p:cNvPr id="14" name="TextBox 13"/>
          <p:cNvSpPr txBox="1"/>
          <p:nvPr/>
        </p:nvSpPr>
        <p:spPr>
          <a:xfrm>
            <a:off x="868680" y="4242816"/>
            <a:ext cx="4846320" cy="320040"/>
          </a:xfrm>
          <a:prstGeom prst="rect">
            <a:avLst/>
          </a:prstGeom>
          <a:noFill/>
        </p:spPr>
        <p:txBody>
          <a:bodyPr wrap="square" lIns="0" rIns="0" tIns="0" bIns="0" anchor="t">
            <a:spAutoFit/>
          </a:bodyPr>
          <a:lstStyle/>
          <a:p>
            <a:pPr algn="l">
              <a:lnSpc>
                <a:spcPct val="100000"/>
              </a:lnSpc>
            </a:pPr>
            <a:r>
              <a:rPr sz="1400" b="1" i="0">
                <a:solidFill>
                  <a:srgbClr val="F5F5F5"/>
                </a:solidFill>
                <a:latin typeface="Arial"/>
              </a:rPr>
              <a:t>Flag, don't drop</a:t>
            </a:r>
          </a:p>
        </p:txBody>
      </p:sp>
      <p:sp>
        <p:nvSpPr>
          <p:cNvPr id="15" name="TextBox 14"/>
          <p:cNvSpPr txBox="1"/>
          <p:nvPr/>
        </p:nvSpPr>
        <p:spPr>
          <a:xfrm>
            <a:off x="868680" y="4608576"/>
            <a:ext cx="4846320" cy="530352"/>
          </a:xfrm>
          <a:prstGeom prst="rect">
            <a:avLst/>
          </a:prstGeom>
          <a:noFill/>
        </p:spPr>
        <p:txBody>
          <a:bodyPr wrap="square" lIns="0" rIns="0" tIns="0" bIns="0" anchor="t">
            <a:spAutoFit/>
          </a:bodyPr>
          <a:lstStyle/>
          <a:p>
            <a:pPr algn="l">
              <a:lnSpc>
                <a:spcPct val="100000"/>
              </a:lnSpc>
            </a:pPr>
            <a:r>
              <a:rPr sz="1150" b="0" i="0">
                <a:solidFill>
                  <a:srgbClr val="A0A0A0"/>
                </a:solidFill>
                <a:latin typeface="Arial"/>
              </a:rPr>
              <a:t>16,990 of 21,344 same-day groups had different view counts. They are real listings, not duplicates to delete.</a:t>
            </a:r>
          </a:p>
        </p:txBody>
      </p:sp>
      <p:sp>
        <p:nvSpPr>
          <p:cNvPr id="16" name="Rounded Rectangle 15"/>
          <p:cNvSpPr/>
          <p:nvPr/>
        </p:nvSpPr>
        <p:spPr>
          <a:xfrm>
            <a:off x="6172200" y="3767328"/>
            <a:ext cx="5349240" cy="1572768"/>
          </a:xfrm>
          <a:prstGeom prst="roundRect">
            <a:avLst/>
          </a:prstGeom>
          <a:solidFill>
            <a:srgbClr val="0E0E0E"/>
          </a:solidFill>
          <a:ln w="1016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950208"/>
            <a:ext cx="1463040" cy="228600"/>
          </a:xfrm>
          <a:prstGeom prst="rect">
            <a:avLst/>
          </a:prstGeom>
          <a:noFill/>
        </p:spPr>
        <p:txBody>
          <a:bodyPr wrap="square" lIns="0" rIns="0" tIns="0" bIns="0" anchor="t">
            <a:spAutoFit/>
          </a:bodyPr>
          <a:lstStyle/>
          <a:p>
            <a:pPr algn="l">
              <a:lnSpc>
                <a:spcPct val="100000"/>
              </a:lnSpc>
            </a:pPr>
            <a:r>
              <a:rPr sz="900" b="1" i="0">
                <a:solidFill>
                  <a:srgbClr val="FF6B1A"/>
                </a:solidFill>
                <a:latin typeface="Arial"/>
              </a:rPr>
              <a:t>CATEGORIES</a:t>
            </a:r>
          </a:p>
        </p:txBody>
      </p:sp>
      <p:sp>
        <p:nvSpPr>
          <p:cNvPr id="18" name="TextBox 17"/>
          <p:cNvSpPr txBox="1"/>
          <p:nvPr/>
        </p:nvSpPr>
        <p:spPr>
          <a:xfrm>
            <a:off x="6382512" y="4242816"/>
            <a:ext cx="4846320" cy="320040"/>
          </a:xfrm>
          <a:prstGeom prst="rect">
            <a:avLst/>
          </a:prstGeom>
          <a:noFill/>
        </p:spPr>
        <p:txBody>
          <a:bodyPr wrap="square" lIns="0" rIns="0" tIns="0" bIns="0" anchor="t">
            <a:spAutoFit/>
          </a:bodyPr>
          <a:lstStyle/>
          <a:p>
            <a:pPr algn="l">
              <a:lnSpc>
                <a:spcPct val="100000"/>
              </a:lnSpc>
            </a:pPr>
            <a:r>
              <a:rPr sz="1400" b="1" i="0">
                <a:solidFill>
                  <a:srgbClr val="F5F5F5"/>
                </a:solidFill>
                <a:latin typeface="Arial"/>
              </a:rPr>
              <a:t>JSON array → explode, not first value</a:t>
            </a:r>
          </a:p>
        </p:txBody>
      </p:sp>
      <p:sp>
        <p:nvSpPr>
          <p:cNvPr id="19" name="TextBox 18"/>
          <p:cNvSpPr txBox="1"/>
          <p:nvPr/>
        </p:nvSpPr>
        <p:spPr>
          <a:xfrm>
            <a:off x="6382512" y="4608576"/>
            <a:ext cx="4846320" cy="530352"/>
          </a:xfrm>
          <a:prstGeom prst="rect">
            <a:avLst/>
          </a:prstGeom>
          <a:noFill/>
        </p:spPr>
        <p:txBody>
          <a:bodyPr wrap="square" lIns="0" rIns="0" tIns="0" bIns="0" anchor="t">
            <a:spAutoFit/>
          </a:bodyPr>
          <a:lstStyle/>
          <a:p>
            <a:pPr algn="l">
              <a:lnSpc>
                <a:spcPct val="100000"/>
              </a:lnSpc>
            </a:pPr>
            <a:r>
              <a:rPr sz="1150" b="0" i="0">
                <a:solidFill>
                  <a:srgbClr val="A0A0A0"/>
                </a:solidFill>
                <a:latin typeface="Arial"/>
              </a:rPr>
              <a:t>43 categories; 37% of postings carry more than one. Keeping only the first would discard 723,000 assignments.</a:t>
            </a:r>
          </a:p>
        </p:txBody>
      </p:sp>
      <p:sp>
        <p:nvSpPr>
          <p:cNvPr id="20" name="Rounded Rectangle 19"/>
          <p:cNvSpPr/>
          <p:nvPr/>
        </p:nvSpPr>
        <p:spPr>
          <a:xfrm>
            <a:off x="658368" y="5614416"/>
            <a:ext cx="10863072" cy="566928"/>
          </a:xfrm>
          <a:prstGeom prst="roundRect">
            <a:avLst/>
          </a:prstGeom>
          <a:solidFill>
            <a:srgbClr val="0A0A0A"/>
          </a:solidFill>
          <a:ln w="10160">
            <a:solidFill>
              <a:srgbClr val="37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769864"/>
            <a:ext cx="10332720" cy="246888"/>
          </a:xfrm>
          <a:prstGeom prst="rect">
            <a:avLst/>
          </a:prstGeom>
          <a:noFill/>
        </p:spPr>
        <p:txBody>
          <a:bodyPr wrap="square" lIns="0" rIns="0" tIns="0" bIns="0">
            <a:spAutoFit/>
          </a:bodyPr>
          <a:lstStyle/>
          <a:p>
            <a:r>
              <a:rPr sz="1200" b="0">
                <a:solidFill>
                  <a:srgbClr val="AAAAAA"/>
                </a:solidFill>
                <a:latin typeface="Aptos"/>
              </a:rPr>
              <a:t>Cleaning is part of the analysis: bad normalization changes cohorts, duplicates and market size.</a:t>
            </a:r>
          </a:p>
        </p:txBody>
      </p:sp>
      <p:sp>
        <p:nvSpPr>
          <p:cNvPr id="22" name="TextBox 21"/>
          <p:cNvSpPr txBox="1"/>
          <p:nvPr/>
        </p:nvSpPr>
        <p:spPr>
          <a:xfrm>
            <a:off x="11384280" y="6473952"/>
            <a:ext cx="320040" cy="182880"/>
          </a:xfrm>
          <a:prstGeom prst="rect">
            <a:avLst/>
          </a:prstGeom>
          <a:noFill/>
        </p:spPr>
        <p:txBody>
          <a:bodyPr wrap="square" lIns="0" rIns="0" tIns="0" bIns="0" anchor="t">
            <a:spAutoFit/>
          </a:bodyPr>
          <a:lstStyle/>
          <a:p>
            <a:pPr algn="r">
              <a:lnSpc>
                <a:spcPct val="100000"/>
              </a:lnSpc>
            </a:pPr>
            <a:r>
              <a:rPr sz="800" b="0" i="0">
                <a:solidFill>
                  <a:srgbClr val="5F5F5F"/>
                </a:solidFill>
                <a:latin typeface="Arial"/>
              </a:rPr>
              <a:t>6</a:t>
            </a: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640080" y="502920"/>
            <a:ext cx="10789920" cy="256032"/>
          </a:xfrm>
          <a:prstGeom prst="rect">
            <a:avLst/>
          </a:prstGeom>
          <a:noFill/>
        </p:spPr>
        <p:txBody>
          <a:bodyPr wrap="square" lIns="0" rIns="0" tIns="0" bIns="0" anchor="t">
            <a:spAutoFit/>
          </a:bodyPr>
          <a:lstStyle/>
          <a:p>
            <a:pPr algn="l"/>
            <a:r>
              <a:rPr sz="1100" b="1">
                <a:solidFill>
                  <a:srgbClr val="5C5C5C"/>
                </a:solidFill>
                <a:latin typeface="Aptos"/>
              </a:rPr>
              <a:t>D E C I S I O N  3   ·   T H E  F I N D I N G  T H A T  S H A P E D  T H E  P R O D U C T</a:t>
            </a:r>
          </a:p>
        </p:txBody>
      </p:sp>
      <p:sp>
        <p:nvSpPr>
          <p:cNvPr id="3" name="TextBox 2"/>
          <p:cNvSpPr txBox="1"/>
          <p:nvPr/>
        </p:nvSpPr>
        <p:spPr>
          <a:xfrm>
            <a:off x="640080" y="822960"/>
            <a:ext cx="10881360" cy="475488"/>
          </a:xfrm>
          <a:prstGeom prst="rect">
            <a:avLst/>
          </a:prstGeom>
          <a:noFill/>
        </p:spPr>
        <p:txBody>
          <a:bodyPr wrap="square" lIns="0" rIns="0" tIns="0" bIns="0" anchor="t">
            <a:spAutoFit/>
          </a:bodyPr>
          <a:lstStyle/>
          <a:p>
            <a:pPr algn="l"/>
            <a:r>
              <a:rPr sz="2700" b="0">
                <a:solidFill>
                  <a:srgbClr val="F2F2F2"/>
                </a:solidFill>
                <a:latin typeface="Aptos"/>
              </a:rPr>
              <a:t>Post-June engagement is unmeasured — not low</a:t>
            </a:r>
          </a:p>
        </p:txBody>
      </p:sp>
      <p:sp>
        <p:nvSpPr>
          <p:cNvPr id="4" name="Rounded Rectangle 3"/>
          <p:cNvSpPr/>
          <p:nvPr/>
        </p:nvSpPr>
        <p:spPr>
          <a:xfrm>
            <a:off x="640080" y="1783080"/>
            <a:ext cx="7315200" cy="3246120"/>
          </a:xfrm>
          <a:prstGeom prst="roundRect">
            <a:avLst/>
          </a:prstGeom>
          <a:solidFill>
            <a:srgbClr val="050505"/>
          </a:solidFill>
          <a:ln w="889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75104"/>
            <a:ext cx="3200400" cy="274320"/>
          </a:xfrm>
          <a:prstGeom prst="rect">
            <a:avLst/>
          </a:prstGeom>
          <a:noFill/>
        </p:spPr>
        <p:txBody>
          <a:bodyPr wrap="square" lIns="0" rIns="0" tIns="0" bIns="0" anchor="t">
            <a:spAutoFit/>
          </a:bodyPr>
          <a:lstStyle/>
          <a:p>
            <a:pPr algn="l"/>
            <a:r>
              <a:rPr sz="1000" b="1">
                <a:solidFill>
                  <a:srgbClr val="5C5C5C"/>
                </a:solidFill>
                <a:latin typeface="Aptos"/>
              </a:rPr>
              <a:t>MEDIAN VIEWS BY POSTING MONTH</a:t>
            </a:r>
          </a:p>
        </p:txBody>
      </p:sp>
      <p:cxnSp>
        <p:nvCxnSpPr>
          <p:cNvPr id="6" name="Connector 5"/>
          <p:cNvCxnSpPr/>
          <p:nvPr/>
        </p:nvCxnSpPr>
        <p:spPr>
          <a:xfrm>
            <a:off x="1078992" y="4453128"/>
            <a:ext cx="6473952" cy="0"/>
          </a:xfrm>
          <a:prstGeom prst="line">
            <a:avLst/>
          </a:prstGeom>
          <a:ln w="10160">
            <a:solidFill>
              <a:srgbClr val="1C1C1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58952" y="4361688"/>
            <a:ext cx="256032" cy="182880"/>
          </a:xfrm>
          <a:prstGeom prst="rect">
            <a:avLst/>
          </a:prstGeom>
          <a:noFill/>
        </p:spPr>
        <p:txBody>
          <a:bodyPr wrap="square" lIns="0" rIns="0" tIns="0" bIns="0" anchor="t">
            <a:spAutoFit/>
          </a:bodyPr>
          <a:lstStyle/>
          <a:p>
            <a:pPr algn="r"/>
            <a:r>
              <a:rPr sz="800" b="0">
                <a:solidFill>
                  <a:srgbClr val="5C5C5C"/>
                </a:solidFill>
                <a:latin typeface="Aptos"/>
              </a:rPr>
              <a:t>0</a:t>
            </a:r>
          </a:p>
        </p:txBody>
      </p:sp>
      <p:cxnSp>
        <p:nvCxnSpPr>
          <p:cNvPr id="8" name="Connector 7"/>
          <p:cNvCxnSpPr/>
          <p:nvPr/>
        </p:nvCxnSpPr>
        <p:spPr>
          <a:xfrm>
            <a:off x="1078992" y="3961638"/>
            <a:ext cx="6473952" cy="0"/>
          </a:xfrm>
          <a:prstGeom prst="line">
            <a:avLst/>
          </a:prstGeom>
          <a:ln w="10160">
            <a:solidFill>
              <a:srgbClr val="1C1C1C"/>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58952" y="3870198"/>
            <a:ext cx="256032" cy="182880"/>
          </a:xfrm>
          <a:prstGeom prst="rect">
            <a:avLst/>
          </a:prstGeom>
          <a:noFill/>
        </p:spPr>
        <p:txBody>
          <a:bodyPr wrap="square" lIns="0" rIns="0" tIns="0" bIns="0" anchor="t">
            <a:spAutoFit/>
          </a:bodyPr>
          <a:lstStyle/>
          <a:p>
            <a:pPr algn="r"/>
            <a:r>
              <a:rPr sz="800" b="0">
                <a:solidFill>
                  <a:srgbClr val="5C5C5C"/>
                </a:solidFill>
                <a:latin typeface="Aptos"/>
              </a:rPr>
              <a:t>25</a:t>
            </a:r>
          </a:p>
        </p:txBody>
      </p:sp>
      <p:cxnSp>
        <p:nvCxnSpPr>
          <p:cNvPr id="10" name="Connector 9"/>
          <p:cNvCxnSpPr/>
          <p:nvPr/>
        </p:nvCxnSpPr>
        <p:spPr>
          <a:xfrm>
            <a:off x="1078992" y="3470148"/>
            <a:ext cx="6473952" cy="0"/>
          </a:xfrm>
          <a:prstGeom prst="line">
            <a:avLst/>
          </a:prstGeom>
          <a:ln w="10160">
            <a:solidFill>
              <a:srgbClr val="1C1C1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58952" y="3378708"/>
            <a:ext cx="256032" cy="182880"/>
          </a:xfrm>
          <a:prstGeom prst="rect">
            <a:avLst/>
          </a:prstGeom>
          <a:noFill/>
        </p:spPr>
        <p:txBody>
          <a:bodyPr wrap="square" lIns="0" rIns="0" tIns="0" bIns="0" anchor="t">
            <a:spAutoFit/>
          </a:bodyPr>
          <a:lstStyle/>
          <a:p>
            <a:pPr algn="r"/>
            <a:r>
              <a:rPr sz="800" b="0">
                <a:solidFill>
                  <a:srgbClr val="5C5C5C"/>
                </a:solidFill>
                <a:latin typeface="Aptos"/>
              </a:rPr>
              <a:t>50</a:t>
            </a:r>
          </a:p>
        </p:txBody>
      </p:sp>
      <p:cxnSp>
        <p:nvCxnSpPr>
          <p:cNvPr id="12" name="Connector 11"/>
          <p:cNvCxnSpPr/>
          <p:nvPr/>
        </p:nvCxnSpPr>
        <p:spPr>
          <a:xfrm>
            <a:off x="1078992" y="2978658"/>
            <a:ext cx="6473952" cy="0"/>
          </a:xfrm>
          <a:prstGeom prst="line">
            <a:avLst/>
          </a:prstGeom>
          <a:ln w="10160">
            <a:solidFill>
              <a:srgbClr val="1C1C1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58952" y="2887218"/>
            <a:ext cx="256032" cy="182880"/>
          </a:xfrm>
          <a:prstGeom prst="rect">
            <a:avLst/>
          </a:prstGeom>
          <a:noFill/>
        </p:spPr>
        <p:txBody>
          <a:bodyPr wrap="square" lIns="0" rIns="0" tIns="0" bIns="0" anchor="t">
            <a:spAutoFit/>
          </a:bodyPr>
          <a:lstStyle/>
          <a:p>
            <a:pPr algn="r"/>
            <a:r>
              <a:rPr sz="800" b="0">
                <a:solidFill>
                  <a:srgbClr val="5C5C5C"/>
                </a:solidFill>
                <a:latin typeface="Aptos"/>
              </a:rPr>
              <a:t>75</a:t>
            </a:r>
          </a:p>
        </p:txBody>
      </p:sp>
      <p:cxnSp>
        <p:nvCxnSpPr>
          <p:cNvPr id="14" name="Connector 13"/>
          <p:cNvCxnSpPr/>
          <p:nvPr/>
        </p:nvCxnSpPr>
        <p:spPr>
          <a:xfrm>
            <a:off x="1078992" y="2487168"/>
            <a:ext cx="6473952" cy="0"/>
          </a:xfrm>
          <a:prstGeom prst="line">
            <a:avLst/>
          </a:prstGeom>
          <a:ln w="10160">
            <a:solidFill>
              <a:srgbClr val="1C1C1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58952" y="2395728"/>
            <a:ext cx="256032" cy="182880"/>
          </a:xfrm>
          <a:prstGeom prst="rect">
            <a:avLst/>
          </a:prstGeom>
          <a:noFill/>
        </p:spPr>
        <p:txBody>
          <a:bodyPr wrap="square" lIns="0" rIns="0" tIns="0" bIns="0" anchor="t">
            <a:spAutoFit/>
          </a:bodyPr>
          <a:lstStyle/>
          <a:p>
            <a:pPr algn="r"/>
            <a:r>
              <a:rPr sz="800" b="0">
                <a:solidFill>
                  <a:srgbClr val="5C5C5C"/>
                </a:solidFill>
                <a:latin typeface="Aptos"/>
              </a:rPr>
              <a:t>100</a:t>
            </a:r>
          </a:p>
        </p:txBody>
      </p:sp>
      <p:sp>
        <p:nvSpPr>
          <p:cNvPr id="16" name="Rectangle 15"/>
          <p:cNvSpPr/>
          <p:nvPr/>
        </p:nvSpPr>
        <p:spPr>
          <a:xfrm>
            <a:off x="3685032" y="2487168"/>
            <a:ext cx="3867912" cy="1965960"/>
          </a:xfrm>
          <a:prstGeom prst="rect">
            <a:avLst/>
          </a:prstGeom>
          <a:solidFill>
            <a:srgbClr val="1E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78992" y="3076956"/>
            <a:ext cx="685800" cy="157276"/>
          </a:xfrm>
          <a:prstGeom prst="line">
            <a:avLst/>
          </a:prstGeom>
          <a:ln w="27940">
            <a:solidFill>
              <a:srgbClr val="FF6A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764792" y="2978658"/>
            <a:ext cx="731520" cy="98298"/>
          </a:xfrm>
          <a:prstGeom prst="line">
            <a:avLst/>
          </a:prstGeom>
          <a:ln w="27940">
            <a:solidFill>
              <a:srgbClr val="FF6A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496312" y="2978658"/>
            <a:ext cx="758951" cy="471830"/>
          </a:xfrm>
          <a:prstGeom prst="line">
            <a:avLst/>
          </a:prstGeom>
          <a:ln w="27940">
            <a:solidFill>
              <a:srgbClr val="FF6A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255263" y="3450488"/>
            <a:ext cx="420624" cy="963320"/>
          </a:xfrm>
          <a:prstGeom prst="line">
            <a:avLst/>
          </a:prstGeom>
          <a:ln w="27940">
            <a:solidFill>
              <a:srgbClr val="FF6A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675887" y="4413808"/>
            <a:ext cx="1014985" cy="9830"/>
          </a:xfrm>
          <a:prstGeom prst="line">
            <a:avLst/>
          </a:prstGeom>
          <a:ln w="27940">
            <a:solidFill>
              <a:srgbClr val="FF6A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4690872" y="4403979"/>
            <a:ext cx="502920" cy="19659"/>
          </a:xfrm>
          <a:prstGeom prst="line">
            <a:avLst/>
          </a:prstGeom>
          <a:ln w="27940">
            <a:solidFill>
              <a:srgbClr val="FF6A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193792" y="4403979"/>
            <a:ext cx="960120" cy="19659"/>
          </a:xfrm>
          <a:prstGeom prst="line">
            <a:avLst/>
          </a:prstGeom>
          <a:ln w="27940">
            <a:solidFill>
              <a:srgbClr val="FF6A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6153912" y="4384319"/>
            <a:ext cx="640080" cy="39319"/>
          </a:xfrm>
          <a:prstGeom prst="line">
            <a:avLst/>
          </a:prstGeom>
          <a:ln w="27940">
            <a:solidFill>
              <a:srgbClr val="FF6A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6793992" y="4335170"/>
            <a:ext cx="365760" cy="49149"/>
          </a:xfrm>
          <a:prstGeom prst="line">
            <a:avLst/>
          </a:prstGeom>
          <a:ln w="27940">
            <a:solidFill>
              <a:srgbClr val="FF6A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159752" y="4335170"/>
            <a:ext cx="393192" cy="39319"/>
          </a:xfrm>
          <a:prstGeom prst="line">
            <a:avLst/>
          </a:prstGeom>
          <a:ln w="27940">
            <a:solidFill>
              <a:srgbClr val="FF6A00"/>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3204971" y="3400196"/>
            <a:ext cx="100584" cy="100584"/>
          </a:xfrm>
          <a:prstGeom prst="ellipse">
            <a:avLst/>
          </a:prstGeom>
          <a:solidFill>
            <a:srgbClr val="FF6A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64991" y="3194456"/>
            <a:ext cx="457200" cy="228600"/>
          </a:xfrm>
          <a:prstGeom prst="rect">
            <a:avLst/>
          </a:prstGeom>
          <a:noFill/>
        </p:spPr>
        <p:txBody>
          <a:bodyPr wrap="square" lIns="0" rIns="0" tIns="0" bIns="0" anchor="t">
            <a:spAutoFit/>
          </a:bodyPr>
          <a:lstStyle/>
          <a:p>
            <a:pPr algn="l"/>
            <a:r>
              <a:rPr sz="1100" b="1">
                <a:solidFill>
                  <a:srgbClr val="FF6A00"/>
                </a:solidFill>
                <a:latin typeface="Aptos"/>
              </a:rPr>
              <a:t>51</a:t>
            </a:r>
          </a:p>
        </p:txBody>
      </p:sp>
      <p:sp>
        <p:nvSpPr>
          <p:cNvPr id="29" name="Oval 28"/>
          <p:cNvSpPr/>
          <p:nvPr/>
        </p:nvSpPr>
        <p:spPr>
          <a:xfrm>
            <a:off x="3625595" y="4363516"/>
            <a:ext cx="100584" cy="100584"/>
          </a:xfrm>
          <a:prstGeom prst="ellipse">
            <a:avLst/>
          </a:prstGeom>
          <a:solidFill>
            <a:srgbClr val="FF4848"/>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85615" y="4157776"/>
            <a:ext cx="457200" cy="228600"/>
          </a:xfrm>
          <a:prstGeom prst="rect">
            <a:avLst/>
          </a:prstGeom>
          <a:noFill/>
        </p:spPr>
        <p:txBody>
          <a:bodyPr wrap="square" lIns="0" rIns="0" tIns="0" bIns="0" anchor="t">
            <a:spAutoFit/>
          </a:bodyPr>
          <a:lstStyle/>
          <a:p>
            <a:pPr algn="l"/>
            <a:r>
              <a:rPr sz="1100" b="1">
                <a:solidFill>
                  <a:srgbClr val="FF4848"/>
                </a:solidFill>
                <a:latin typeface="Aptos"/>
              </a:rPr>
              <a:t>2</a:t>
            </a:r>
          </a:p>
        </p:txBody>
      </p:sp>
      <p:cxnSp>
        <p:nvCxnSpPr>
          <p:cNvPr id="31" name="Connector 30"/>
          <p:cNvCxnSpPr/>
          <p:nvPr/>
        </p:nvCxnSpPr>
        <p:spPr>
          <a:xfrm>
            <a:off x="3474720" y="2487168"/>
            <a:ext cx="0" cy="1965960"/>
          </a:xfrm>
          <a:prstGeom prst="line">
            <a:avLst/>
          </a:prstGeom>
          <a:ln w="15240">
            <a:solidFill>
              <a:srgbClr val="FF4848"/>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566160" y="2505456"/>
            <a:ext cx="1005840" cy="201168"/>
          </a:xfrm>
          <a:prstGeom prst="rect">
            <a:avLst/>
          </a:prstGeom>
          <a:noFill/>
        </p:spPr>
        <p:txBody>
          <a:bodyPr wrap="square" lIns="0" rIns="0" tIns="0" bIns="0" anchor="t">
            <a:spAutoFit/>
          </a:bodyPr>
          <a:lstStyle/>
          <a:p>
            <a:pPr algn="l"/>
            <a:r>
              <a:rPr sz="900" b="1">
                <a:solidFill>
                  <a:srgbClr val="FF4848"/>
                </a:solidFill>
                <a:latin typeface="Aptos"/>
              </a:rPr>
              <a:t>crawl boundary</a:t>
            </a:r>
          </a:p>
        </p:txBody>
      </p:sp>
      <p:sp>
        <p:nvSpPr>
          <p:cNvPr id="33" name="TextBox 32"/>
          <p:cNvSpPr txBox="1"/>
          <p:nvPr/>
        </p:nvSpPr>
        <p:spPr>
          <a:xfrm>
            <a:off x="877824" y="4562856"/>
            <a:ext cx="594360" cy="182880"/>
          </a:xfrm>
          <a:prstGeom prst="rect">
            <a:avLst/>
          </a:prstGeom>
          <a:noFill/>
        </p:spPr>
        <p:txBody>
          <a:bodyPr wrap="square" lIns="0" rIns="0" tIns="0" bIns="0" anchor="t">
            <a:spAutoFit/>
          </a:bodyPr>
          <a:lstStyle/>
          <a:p>
            <a:pPr algn="l"/>
            <a:r>
              <a:rPr sz="800" b="0">
                <a:solidFill>
                  <a:srgbClr val="5C5C5C"/>
                </a:solidFill>
                <a:latin typeface="Aptos"/>
              </a:rPr>
              <a:t>Mar 23</a:t>
            </a:r>
          </a:p>
        </p:txBody>
      </p:sp>
      <p:sp>
        <p:nvSpPr>
          <p:cNvPr id="34" name="TextBox 33"/>
          <p:cNvSpPr txBox="1"/>
          <p:nvPr/>
        </p:nvSpPr>
        <p:spPr>
          <a:xfrm>
            <a:off x="3054095" y="4562856"/>
            <a:ext cx="594360" cy="182880"/>
          </a:xfrm>
          <a:prstGeom prst="rect">
            <a:avLst/>
          </a:prstGeom>
          <a:noFill/>
        </p:spPr>
        <p:txBody>
          <a:bodyPr wrap="square" lIns="0" rIns="0" tIns="0" bIns="0" anchor="t">
            <a:spAutoFit/>
          </a:bodyPr>
          <a:lstStyle/>
          <a:p>
            <a:pPr algn="l"/>
            <a:r>
              <a:rPr sz="800" b="0">
                <a:solidFill>
                  <a:srgbClr val="5C5C5C"/>
                </a:solidFill>
                <a:latin typeface="Aptos"/>
              </a:rPr>
              <a:t>Jun</a:t>
            </a:r>
          </a:p>
        </p:txBody>
      </p:sp>
      <p:sp>
        <p:nvSpPr>
          <p:cNvPr id="35" name="TextBox 34"/>
          <p:cNvSpPr txBox="1"/>
          <p:nvPr/>
        </p:nvSpPr>
        <p:spPr>
          <a:xfrm>
            <a:off x="3474719" y="4562856"/>
            <a:ext cx="594360" cy="182880"/>
          </a:xfrm>
          <a:prstGeom prst="rect">
            <a:avLst/>
          </a:prstGeom>
          <a:noFill/>
        </p:spPr>
        <p:txBody>
          <a:bodyPr wrap="square" lIns="0" rIns="0" tIns="0" bIns="0" anchor="t">
            <a:spAutoFit/>
          </a:bodyPr>
          <a:lstStyle/>
          <a:p>
            <a:pPr algn="l"/>
            <a:r>
              <a:rPr sz="800" b="0">
                <a:solidFill>
                  <a:srgbClr val="5C5C5C"/>
                </a:solidFill>
                <a:latin typeface="Aptos"/>
              </a:rPr>
              <a:t>Jul</a:t>
            </a:r>
          </a:p>
        </p:txBody>
      </p:sp>
      <p:sp>
        <p:nvSpPr>
          <p:cNvPr id="36" name="TextBox 35"/>
          <p:cNvSpPr txBox="1"/>
          <p:nvPr/>
        </p:nvSpPr>
        <p:spPr>
          <a:xfrm>
            <a:off x="5724144" y="4562856"/>
            <a:ext cx="594360" cy="182880"/>
          </a:xfrm>
          <a:prstGeom prst="rect">
            <a:avLst/>
          </a:prstGeom>
          <a:noFill/>
        </p:spPr>
        <p:txBody>
          <a:bodyPr wrap="square" lIns="0" rIns="0" tIns="0" bIns="0" anchor="t">
            <a:spAutoFit/>
          </a:bodyPr>
          <a:lstStyle/>
          <a:p>
            <a:pPr algn="l"/>
            <a:r>
              <a:rPr sz="800" b="0">
                <a:solidFill>
                  <a:srgbClr val="5C5C5C"/>
                </a:solidFill>
                <a:latin typeface="Aptos"/>
              </a:rPr>
              <a:t>Dec</a:t>
            </a:r>
          </a:p>
        </p:txBody>
      </p:sp>
      <p:sp>
        <p:nvSpPr>
          <p:cNvPr id="37" name="TextBox 36"/>
          <p:cNvSpPr txBox="1"/>
          <p:nvPr/>
        </p:nvSpPr>
        <p:spPr>
          <a:xfrm>
            <a:off x="7022592" y="4562856"/>
            <a:ext cx="594360" cy="182880"/>
          </a:xfrm>
          <a:prstGeom prst="rect">
            <a:avLst/>
          </a:prstGeom>
          <a:noFill/>
        </p:spPr>
        <p:txBody>
          <a:bodyPr wrap="square" lIns="0" rIns="0" tIns="0" bIns="0" anchor="t">
            <a:spAutoFit/>
          </a:bodyPr>
          <a:lstStyle/>
          <a:p>
            <a:pPr algn="l"/>
            <a:r>
              <a:rPr sz="800" b="0">
                <a:solidFill>
                  <a:srgbClr val="5C5C5C"/>
                </a:solidFill>
                <a:latin typeface="Aptos"/>
              </a:rPr>
              <a:t>May 24</a:t>
            </a:r>
          </a:p>
        </p:txBody>
      </p:sp>
      <p:sp>
        <p:nvSpPr>
          <p:cNvPr id="38" name="Rounded Rectangle 37"/>
          <p:cNvSpPr/>
          <p:nvPr/>
        </p:nvSpPr>
        <p:spPr>
          <a:xfrm>
            <a:off x="8183879" y="1783080"/>
            <a:ext cx="3364992" cy="3246120"/>
          </a:xfrm>
          <a:prstGeom prst="roundRect">
            <a:avLst/>
          </a:prstGeom>
          <a:solidFill>
            <a:srgbClr val="090909"/>
          </a:solidFill>
          <a:ln w="889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30768" y="1993392"/>
            <a:ext cx="2560320" cy="228600"/>
          </a:xfrm>
          <a:prstGeom prst="rect">
            <a:avLst/>
          </a:prstGeom>
          <a:noFill/>
        </p:spPr>
        <p:txBody>
          <a:bodyPr wrap="square" lIns="0" rIns="0" tIns="0" bIns="0" anchor="t">
            <a:spAutoFit/>
          </a:bodyPr>
          <a:lstStyle/>
          <a:p>
            <a:pPr algn="l"/>
            <a:r>
              <a:rPr sz="1000" b="1">
                <a:solidFill>
                  <a:srgbClr val="5C5C5C"/>
                </a:solidFill>
                <a:latin typeface="Aptos"/>
              </a:rPr>
              <a:t>THE INTERPRETATION</a:t>
            </a:r>
          </a:p>
        </p:txBody>
      </p:sp>
      <p:sp>
        <p:nvSpPr>
          <p:cNvPr id="40" name="TextBox 39"/>
          <p:cNvSpPr txBox="1"/>
          <p:nvPr/>
        </p:nvSpPr>
        <p:spPr>
          <a:xfrm>
            <a:off x="8430768" y="2414016"/>
            <a:ext cx="2788920" cy="868680"/>
          </a:xfrm>
          <a:prstGeom prst="rect">
            <a:avLst/>
          </a:prstGeom>
          <a:noFill/>
        </p:spPr>
        <p:txBody>
          <a:bodyPr wrap="square" lIns="0" rIns="0" tIns="0" bIns="0" anchor="t">
            <a:spAutoFit/>
          </a:bodyPr>
          <a:lstStyle/>
          <a:p>
            <a:r>
              <a:rPr sz="2200" b="1">
                <a:solidFill>
                  <a:srgbClr val="F2F2F2"/>
                </a:solidFill>
                <a:latin typeface="Aptos"/>
              </a:rPr>
              <a:t>Unmeasured ≠ low response</a:t>
            </a:r>
          </a:p>
        </p:txBody>
      </p:sp>
      <p:sp>
        <p:nvSpPr>
          <p:cNvPr id="41" name="TextBox 40"/>
          <p:cNvSpPr txBox="1"/>
          <p:nvPr/>
        </p:nvSpPr>
        <p:spPr>
          <a:xfrm>
            <a:off x="8430768" y="3310128"/>
            <a:ext cx="2651760" cy="960120"/>
          </a:xfrm>
          <a:prstGeom prst="rect">
            <a:avLst/>
          </a:prstGeom>
          <a:noFill/>
        </p:spPr>
        <p:txBody>
          <a:bodyPr wrap="square" lIns="0" rIns="0" tIns="0" bIns="0" anchor="t">
            <a:spAutoFit/>
          </a:bodyPr>
          <a:lstStyle/>
          <a:p>
            <a:pPr algn="l"/>
            <a:r>
              <a:rPr sz="1400" b="0">
                <a:solidFill>
                  <a:srgbClr val="AAAAAA"/>
                </a:solidFill>
                <a:latin typeface="Aptos"/>
              </a:rPr>
              <a:t>After the crawl boundary, counters are effectively frozen at day zero. Those postings cannot be compared with the earlier cohort.</a:t>
            </a:r>
          </a:p>
        </p:txBody>
      </p:sp>
      <p:sp>
        <p:nvSpPr>
          <p:cNvPr id="42" name="Rounded Rectangle 41"/>
          <p:cNvSpPr/>
          <p:nvPr/>
        </p:nvSpPr>
        <p:spPr>
          <a:xfrm>
            <a:off x="640080" y="5285232"/>
            <a:ext cx="10908792" cy="804672"/>
          </a:xfrm>
          <a:prstGeom prst="roundRect">
            <a:avLst/>
          </a:prstGeom>
          <a:solidFill>
            <a:srgbClr val="080808"/>
          </a:solidFill>
          <a:ln w="889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8680" y="5468112"/>
            <a:ext cx="1417320" cy="228600"/>
          </a:xfrm>
          <a:prstGeom prst="rect">
            <a:avLst/>
          </a:prstGeom>
          <a:noFill/>
        </p:spPr>
        <p:txBody>
          <a:bodyPr wrap="square" lIns="0" rIns="0" tIns="0" bIns="0" anchor="t">
            <a:spAutoFit/>
          </a:bodyPr>
          <a:lstStyle/>
          <a:p>
            <a:pPr algn="l"/>
            <a:r>
              <a:rPr sz="1000" b="1">
                <a:solidFill>
                  <a:srgbClr val="5C5C5C"/>
                </a:solidFill>
                <a:latin typeface="Aptos"/>
              </a:rPr>
              <a:t>WHY THIS MATTERS</a:t>
            </a:r>
          </a:p>
        </p:txBody>
      </p:sp>
      <p:sp>
        <p:nvSpPr>
          <p:cNvPr id="44" name="TextBox 43"/>
          <p:cNvSpPr txBox="1"/>
          <p:nvPr/>
        </p:nvSpPr>
        <p:spPr>
          <a:xfrm>
            <a:off x="2331720" y="5413248"/>
            <a:ext cx="8823960" cy="384048"/>
          </a:xfrm>
          <a:prstGeom prst="rect">
            <a:avLst/>
          </a:prstGeom>
          <a:noFill/>
        </p:spPr>
        <p:txBody>
          <a:bodyPr wrap="square" lIns="0" rIns="0" tIns="0" bIns="0" anchor="t">
            <a:spAutoFit/>
          </a:bodyPr>
          <a:lstStyle/>
          <a:p>
            <a:r>
              <a:rPr sz="1300" b="0">
                <a:solidFill>
                  <a:srgbClr val="AAAAAA"/>
                </a:solidFill>
                <a:latin typeface="Aptos"/>
              </a:rPr>
              <a:t>July had ten extra months to accumulate views — and still had fewer. The defensible response cohort must end before the crawl boundary.</a:t>
            </a:r>
          </a:p>
        </p:txBody>
      </p:sp>
      <p:sp>
        <p:nvSpPr>
          <p:cNvPr id="45" name="TextBox 44"/>
          <p:cNvSpPr txBox="1"/>
          <p:nvPr/>
        </p:nvSpPr>
        <p:spPr>
          <a:xfrm>
            <a:off x="11567160" y="6428232"/>
            <a:ext cx="228600" cy="182880"/>
          </a:xfrm>
          <a:prstGeom prst="rect">
            <a:avLst/>
          </a:prstGeom>
          <a:noFill/>
        </p:spPr>
        <p:txBody>
          <a:bodyPr wrap="square" lIns="0" rIns="0" tIns="0" bIns="0" anchor="t">
            <a:spAutoFit/>
          </a:bodyPr>
          <a:lstStyle/>
          <a:p>
            <a:pPr algn="r"/>
            <a:r>
              <a:rPr sz="900" b="0">
                <a:solidFill>
                  <a:srgbClr val="282828"/>
                </a:solidFill>
                <a:latin typeface="Aptos"/>
              </a:rPr>
              <a:t>7</a:t>
            </a:r>
          </a:p>
        </p:txBody>
      </p:sp>
      <p:sp>
        <p:nvSpPr>
          <p:cNvPr id="46" name="TextBox 45"/>
          <p:cNvSpPr txBox="1"/>
          <p:nvPr/>
        </p:nvSpPr>
        <p:spPr>
          <a:xfrm>
            <a:off x="658368" y="6153912"/>
            <a:ext cx="8046720" cy="182880"/>
          </a:xfrm>
          <a:prstGeom prst="rect">
            <a:avLst/>
          </a:prstGeom>
          <a:noFill/>
        </p:spPr>
        <p:txBody>
          <a:bodyPr wrap="square" lIns="0" rIns="0" tIns="0" bIns="0">
            <a:spAutoFit/>
          </a:bodyPr>
          <a:lstStyle/>
          <a:p>
            <a:r>
              <a:rPr sz="800" b="1">
                <a:solidFill>
                  <a:srgbClr val="5C5C5C"/>
                </a:solidFill>
                <a:latin typeface="Aptos"/>
              </a:rPr>
              <a:t>EDA SCOPE · 1,044,587 cleaned postings · Mar 2023–May 2024</a:t>
            </a: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505"/>
        </a:solidFill>
        <a:effectLst/>
      </p:bgPr>
    </p:bg>
    <p:spTree>
      <p:nvGrpSpPr>
        <p:cNvPr id="1" name=""/>
        <p:cNvGrpSpPr/>
        <p:nvPr/>
      </p:nvGrpSpPr>
      <p:grpSpPr>
        <a:xfrm>
          <a:off x="0" y="0"/>
          <a:ext cx="0" cy="0"/>
          <a:chOff x="0" y="0"/>
          <a:chExt cx="0" cy="0"/>
        </a:xfrm>
      </p:grpSpPr>
      <p:sp>
        <p:nvSpPr>
          <p:cNvPr id="2" name="TextBox 1"/>
          <p:cNvSpPr txBox="1"/>
          <p:nvPr/>
        </p:nvSpPr>
        <p:spPr>
          <a:xfrm>
            <a:off x="658368" y="658368"/>
            <a:ext cx="10881360" cy="292608"/>
          </a:xfrm>
          <a:prstGeom prst="rect">
            <a:avLst/>
          </a:prstGeom>
          <a:noFill/>
        </p:spPr>
        <p:txBody>
          <a:bodyPr wrap="square" lIns="0" rIns="0" tIns="0" bIns="0" anchor="t">
            <a:spAutoFit/>
          </a:bodyPr>
          <a:lstStyle/>
          <a:p>
            <a:pPr algn="l">
              <a:lnSpc>
                <a:spcPct val="100000"/>
              </a:lnSpc>
            </a:pPr>
            <a:r>
              <a:rPr sz="900" b="1" i="0">
                <a:solidFill>
                  <a:srgbClr val="5F5F5F"/>
                </a:solidFill>
                <a:latin typeface="Arial"/>
              </a:rPr>
              <a:t>THE COHORT</a:t>
            </a:r>
          </a:p>
        </p:txBody>
      </p:sp>
      <p:sp>
        <p:nvSpPr>
          <p:cNvPr id="3" name="TextBox 2"/>
          <p:cNvSpPr txBox="1"/>
          <p:nvPr/>
        </p:nvSpPr>
        <p:spPr>
          <a:xfrm>
            <a:off x="658368" y="914400"/>
            <a:ext cx="10881360" cy="594360"/>
          </a:xfrm>
          <a:prstGeom prst="rect">
            <a:avLst/>
          </a:prstGeom>
          <a:noFill/>
        </p:spPr>
        <p:txBody>
          <a:bodyPr wrap="square" lIns="0" rIns="0" tIns="0" bIns="0" anchor="t">
            <a:spAutoFit/>
          </a:bodyPr>
          <a:lstStyle/>
          <a:p>
            <a:pPr algn="l">
              <a:lnSpc>
                <a:spcPct val="100000"/>
              </a:lnSpc>
            </a:pPr>
            <a:r>
              <a:rPr sz="2500" b="0">
                <a:solidFill>
                  <a:srgbClr val="F2F2F2"/>
                </a:solidFill>
                <a:latin typeface="Aptos"/>
              </a:rPr>
              <a:t>Response metrics require two defensible cohorts</a:t>
            </a:r>
          </a:p>
        </p:txBody>
      </p:sp>
      <p:sp>
        <p:nvSpPr>
          <p:cNvPr id="4" name="TextBox 3"/>
          <p:cNvSpPr txBox="1"/>
          <p:nvPr/>
        </p:nvSpPr>
        <p:spPr>
          <a:xfrm>
            <a:off x="749808" y="1801368"/>
            <a:ext cx="1508760" cy="256032"/>
          </a:xfrm>
          <a:prstGeom prst="rect">
            <a:avLst/>
          </a:prstGeom>
          <a:noFill/>
        </p:spPr>
        <p:txBody>
          <a:bodyPr wrap="square" lIns="0" rIns="0" tIns="0" bIns="0" anchor="t">
            <a:spAutoFit/>
          </a:bodyPr>
          <a:lstStyle/>
          <a:p>
            <a:pPr algn="l">
              <a:lnSpc>
                <a:spcPct val="100000"/>
              </a:lnSpc>
            </a:pPr>
            <a:r>
              <a:rPr sz="1500" b="1" i="0">
                <a:solidFill>
                  <a:srgbClr val="F5F5F5"/>
                </a:solidFill>
                <a:latin typeface="Arial"/>
              </a:rPr>
              <a:t>1,044,587</a:t>
            </a:r>
          </a:p>
        </p:txBody>
      </p:sp>
      <p:sp>
        <p:nvSpPr>
          <p:cNvPr id="5" name="TextBox 4"/>
          <p:cNvSpPr txBox="1"/>
          <p:nvPr/>
        </p:nvSpPr>
        <p:spPr>
          <a:xfrm>
            <a:off x="1993392" y="1837944"/>
            <a:ext cx="2103120" cy="201168"/>
          </a:xfrm>
          <a:prstGeom prst="rect">
            <a:avLst/>
          </a:prstGeom>
          <a:noFill/>
        </p:spPr>
        <p:txBody>
          <a:bodyPr wrap="square" lIns="0" rIns="0" tIns="0" bIns="0" anchor="t">
            <a:spAutoFit/>
          </a:bodyPr>
          <a:lstStyle/>
          <a:p>
            <a:pPr algn="l">
              <a:lnSpc>
                <a:spcPct val="100000"/>
              </a:lnSpc>
            </a:pPr>
            <a:r>
              <a:rPr sz="850" b="1" i="0">
                <a:solidFill>
                  <a:srgbClr val="5F5F5F"/>
                </a:solidFill>
                <a:latin typeface="Arial"/>
              </a:rPr>
              <a:t>CLEANED POSTINGS</a:t>
            </a:r>
          </a:p>
        </p:txBody>
      </p:sp>
      <p:sp>
        <p:nvSpPr>
          <p:cNvPr id="6" name="Rounded Rectangle 5"/>
          <p:cNvSpPr/>
          <p:nvPr/>
        </p:nvSpPr>
        <p:spPr>
          <a:xfrm>
            <a:off x="749808" y="2121408"/>
            <a:ext cx="4297680" cy="118872"/>
          </a:xfrm>
          <a:prstGeom prst="roundRect">
            <a:avLst/>
          </a:prstGeom>
          <a:solidFill>
            <a:srgbClr val="FF6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2514600"/>
            <a:ext cx="1508760" cy="256032"/>
          </a:xfrm>
          <a:prstGeom prst="rect">
            <a:avLst/>
          </a:prstGeom>
          <a:noFill/>
        </p:spPr>
        <p:txBody>
          <a:bodyPr wrap="square" lIns="0" rIns="0" tIns="0" bIns="0" anchor="t">
            <a:spAutoFit/>
          </a:bodyPr>
          <a:lstStyle/>
          <a:p>
            <a:pPr algn="l">
              <a:lnSpc>
                <a:spcPct val="100000"/>
              </a:lnSpc>
            </a:pPr>
            <a:r>
              <a:rPr sz="1500" b="1" i="0">
                <a:solidFill>
                  <a:srgbClr val="F5F5F5"/>
                </a:solidFill>
                <a:latin typeface="Arial"/>
              </a:rPr>
              <a:t>1,009,709</a:t>
            </a:r>
          </a:p>
        </p:txBody>
      </p:sp>
      <p:sp>
        <p:nvSpPr>
          <p:cNvPr id="8" name="TextBox 7"/>
          <p:cNvSpPr txBox="1"/>
          <p:nvPr/>
        </p:nvSpPr>
        <p:spPr>
          <a:xfrm>
            <a:off x="1993392" y="2551176"/>
            <a:ext cx="2103120" cy="201168"/>
          </a:xfrm>
          <a:prstGeom prst="rect">
            <a:avLst/>
          </a:prstGeom>
          <a:noFill/>
        </p:spPr>
        <p:txBody>
          <a:bodyPr wrap="square" lIns="0" rIns="0" tIns="0" bIns="0" anchor="t">
            <a:spAutoFit/>
          </a:bodyPr>
          <a:lstStyle/>
          <a:p>
            <a:pPr algn="l">
              <a:lnSpc>
                <a:spcPct val="100000"/>
              </a:lnSpc>
            </a:pPr>
            <a:r>
              <a:rPr sz="850" b="1" i="0">
                <a:solidFill>
                  <a:srgbClr val="5F5F5F"/>
                </a:solidFill>
                <a:latin typeface="Arial"/>
              </a:rPr>
              <a:t>DEDUPLICATED</a:t>
            </a:r>
          </a:p>
        </p:txBody>
      </p:sp>
      <p:sp>
        <p:nvSpPr>
          <p:cNvPr id="9" name="Rounded Rectangle 8"/>
          <p:cNvSpPr/>
          <p:nvPr/>
        </p:nvSpPr>
        <p:spPr>
          <a:xfrm>
            <a:off x="749808" y="2834639"/>
            <a:ext cx="4147261" cy="118872"/>
          </a:xfrm>
          <a:prstGeom prst="roundRect">
            <a:avLst/>
          </a:prstGeom>
          <a:solidFill>
            <a:srgbClr val="FF6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227832"/>
            <a:ext cx="1508760" cy="256032"/>
          </a:xfrm>
          <a:prstGeom prst="rect">
            <a:avLst/>
          </a:prstGeom>
          <a:noFill/>
        </p:spPr>
        <p:txBody>
          <a:bodyPr wrap="square" lIns="0" rIns="0" tIns="0" bIns="0" anchor="t">
            <a:spAutoFit/>
          </a:bodyPr>
          <a:lstStyle/>
          <a:p>
            <a:pPr algn="l">
              <a:lnSpc>
                <a:spcPct val="100000"/>
              </a:lnSpc>
            </a:pPr>
            <a:r>
              <a:rPr sz="1500" b="1" i="0">
                <a:solidFill>
                  <a:srgbClr val="F5F5F5"/>
                </a:solidFill>
                <a:latin typeface="Arial"/>
              </a:rPr>
              <a:t>118,749</a:t>
            </a:r>
          </a:p>
        </p:txBody>
      </p:sp>
      <p:sp>
        <p:nvSpPr>
          <p:cNvPr id="11" name="TextBox 10"/>
          <p:cNvSpPr txBox="1"/>
          <p:nvPr/>
        </p:nvSpPr>
        <p:spPr>
          <a:xfrm>
            <a:off x="1993392" y="3264408"/>
            <a:ext cx="2103120" cy="201168"/>
          </a:xfrm>
          <a:prstGeom prst="rect">
            <a:avLst/>
          </a:prstGeom>
          <a:noFill/>
        </p:spPr>
        <p:txBody>
          <a:bodyPr wrap="square" lIns="0" rIns="0" tIns="0" bIns="0" anchor="t">
            <a:spAutoFit/>
          </a:bodyPr>
          <a:lstStyle/>
          <a:p>
            <a:pPr algn="l">
              <a:lnSpc>
                <a:spcPct val="100000"/>
              </a:lnSpc>
            </a:pPr>
            <a:r>
              <a:rPr sz="850" b="1" i="0">
                <a:solidFill>
                  <a:srgbClr val="5F5F5F"/>
                </a:solidFill>
                <a:latin typeface="Arial"/>
              </a:rPr>
              <a:t>COUNTERS COMPLETE</a:t>
            </a:r>
          </a:p>
        </p:txBody>
      </p:sp>
      <p:sp>
        <p:nvSpPr>
          <p:cNvPr id="12" name="Rounded Rectangle 11"/>
          <p:cNvSpPr/>
          <p:nvPr/>
        </p:nvSpPr>
        <p:spPr>
          <a:xfrm>
            <a:off x="749808" y="3547872"/>
            <a:ext cx="2363724" cy="118872"/>
          </a:xfrm>
          <a:prstGeom prst="roundRect">
            <a:avLst/>
          </a:prstGeom>
          <a:solidFill>
            <a:srgbClr val="FF6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3941064"/>
            <a:ext cx="1508760" cy="256032"/>
          </a:xfrm>
          <a:prstGeom prst="rect">
            <a:avLst/>
          </a:prstGeom>
          <a:noFill/>
        </p:spPr>
        <p:txBody>
          <a:bodyPr wrap="square" lIns="0" rIns="0" tIns="0" bIns="0" anchor="t">
            <a:spAutoFit/>
          </a:bodyPr>
          <a:lstStyle/>
          <a:p>
            <a:pPr algn="l">
              <a:lnSpc>
                <a:spcPct val="100000"/>
              </a:lnSpc>
            </a:pPr>
            <a:r>
              <a:rPr sz="1500" b="1" i="0">
                <a:solidFill>
                  <a:srgbClr val="F5F5F5"/>
                </a:solidFill>
                <a:latin typeface="Arial"/>
              </a:rPr>
              <a:t>96,028</a:t>
            </a:r>
          </a:p>
        </p:txBody>
      </p:sp>
      <p:sp>
        <p:nvSpPr>
          <p:cNvPr id="14" name="TextBox 13"/>
          <p:cNvSpPr txBox="1"/>
          <p:nvPr/>
        </p:nvSpPr>
        <p:spPr>
          <a:xfrm>
            <a:off x="1993392" y="3977640"/>
            <a:ext cx="2103120" cy="201168"/>
          </a:xfrm>
          <a:prstGeom prst="rect">
            <a:avLst/>
          </a:prstGeom>
          <a:noFill/>
        </p:spPr>
        <p:txBody>
          <a:bodyPr wrap="square" lIns="0" rIns="0" tIns="0" bIns="0" anchor="t">
            <a:spAutoFit/>
          </a:bodyPr>
          <a:lstStyle/>
          <a:p>
            <a:pPr algn="l">
              <a:lnSpc>
                <a:spcPct val="100000"/>
              </a:lnSpc>
            </a:pPr>
            <a:r>
              <a:rPr sz="850" b="1" i="0">
                <a:solidFill>
                  <a:srgbClr val="5F5F5F"/>
                </a:solidFill>
                <a:latin typeface="Arial"/>
              </a:rPr>
              <a:t>30-DAY LISTINGS ONLY</a:t>
            </a:r>
          </a:p>
        </p:txBody>
      </p:sp>
      <p:sp>
        <p:nvSpPr>
          <p:cNvPr id="15" name="Rounded Rectangle 14"/>
          <p:cNvSpPr/>
          <p:nvPr/>
        </p:nvSpPr>
        <p:spPr>
          <a:xfrm>
            <a:off x="749808" y="4261104"/>
            <a:ext cx="1976932" cy="118872"/>
          </a:xfrm>
          <a:prstGeom prst="roundRect">
            <a:avLst/>
          </a:prstGeom>
          <a:solidFill>
            <a:srgbClr val="FF6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4654296"/>
            <a:ext cx="1508760" cy="256032"/>
          </a:xfrm>
          <a:prstGeom prst="rect">
            <a:avLst/>
          </a:prstGeom>
          <a:noFill/>
        </p:spPr>
        <p:txBody>
          <a:bodyPr wrap="square" lIns="0" rIns="0" tIns="0" bIns="0" anchor="t">
            <a:spAutoFit/>
          </a:bodyPr>
          <a:lstStyle/>
          <a:p>
            <a:pPr algn="l">
              <a:lnSpc>
                <a:spcPct val="100000"/>
              </a:lnSpc>
            </a:pPr>
            <a:r>
              <a:rPr sz="1500" b="1" i="0">
                <a:solidFill>
                  <a:srgbClr val="F5F5F5"/>
                </a:solidFill>
                <a:latin typeface="Arial"/>
              </a:rPr>
              <a:t>78,942</a:t>
            </a:r>
          </a:p>
        </p:txBody>
      </p:sp>
      <p:sp>
        <p:nvSpPr>
          <p:cNvPr id="17" name="TextBox 16"/>
          <p:cNvSpPr txBox="1"/>
          <p:nvPr/>
        </p:nvSpPr>
        <p:spPr>
          <a:xfrm>
            <a:off x="1993392" y="4690872"/>
            <a:ext cx="2103120" cy="201168"/>
          </a:xfrm>
          <a:prstGeom prst="rect">
            <a:avLst/>
          </a:prstGeom>
          <a:noFill/>
        </p:spPr>
        <p:txBody>
          <a:bodyPr wrap="square" lIns="0" rIns="0" tIns="0" bIns="0" anchor="t">
            <a:spAutoFit/>
          </a:bodyPr>
          <a:lstStyle/>
          <a:p>
            <a:pPr algn="l">
              <a:lnSpc>
                <a:spcPct val="100000"/>
              </a:lnSpc>
            </a:pPr>
            <a:r>
              <a:rPr sz="850" b="1" i="0">
                <a:solidFill>
                  <a:srgbClr val="5F5F5F"/>
                </a:solidFill>
                <a:latin typeface="Arial"/>
              </a:rPr>
              <a:t>FIRST CYCLE ONLY</a:t>
            </a:r>
          </a:p>
        </p:txBody>
      </p:sp>
      <p:sp>
        <p:nvSpPr>
          <p:cNvPr id="18" name="Rounded Rectangle 17"/>
          <p:cNvSpPr/>
          <p:nvPr/>
        </p:nvSpPr>
        <p:spPr>
          <a:xfrm>
            <a:off x="749808" y="4974336"/>
            <a:ext cx="1633118" cy="118872"/>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1874519"/>
            <a:ext cx="1828800" cy="228600"/>
          </a:xfrm>
          <a:prstGeom prst="rect">
            <a:avLst/>
          </a:prstGeom>
          <a:noFill/>
        </p:spPr>
        <p:txBody>
          <a:bodyPr wrap="square" lIns="0" rIns="0" tIns="0" bIns="0" anchor="t">
            <a:spAutoFit/>
          </a:bodyPr>
          <a:lstStyle/>
          <a:p>
            <a:pPr algn="l">
              <a:lnSpc>
                <a:spcPct val="100000"/>
              </a:lnSpc>
            </a:pPr>
            <a:r>
              <a:rPr sz="900" b="1" i="0">
                <a:solidFill>
                  <a:srgbClr val="FF6B1A"/>
                </a:solidFill>
                <a:latin typeface="Arial"/>
              </a:rPr>
              <a:t>TWO LAYERS</a:t>
            </a:r>
          </a:p>
        </p:txBody>
      </p:sp>
      <p:sp>
        <p:nvSpPr>
          <p:cNvPr id="20" name="Rounded Rectangle 19"/>
          <p:cNvSpPr/>
          <p:nvPr/>
        </p:nvSpPr>
        <p:spPr>
          <a:xfrm>
            <a:off x="6428232" y="2221992"/>
            <a:ext cx="5074920" cy="1325880"/>
          </a:xfrm>
          <a:prstGeom prst="roundRect">
            <a:avLst/>
          </a:prstGeom>
          <a:solidFill>
            <a:srgbClr val="0E0E0E"/>
          </a:solidFill>
          <a:ln w="1016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84264" y="2468880"/>
            <a:ext cx="4389120" cy="274320"/>
          </a:xfrm>
          <a:prstGeom prst="rect">
            <a:avLst/>
          </a:prstGeom>
          <a:noFill/>
        </p:spPr>
        <p:txBody>
          <a:bodyPr wrap="square" lIns="0" rIns="0" tIns="0" bIns="0" anchor="t">
            <a:spAutoFit/>
          </a:bodyPr>
          <a:lstStyle/>
          <a:p>
            <a:pPr algn="l">
              <a:lnSpc>
                <a:spcPct val="100000"/>
              </a:lnSpc>
            </a:pPr>
            <a:r>
              <a:rPr sz="1600" b="1" i="0">
                <a:solidFill>
                  <a:srgbClr val="F5F5F5"/>
                </a:solidFill>
                <a:latin typeface="Arial"/>
              </a:rPr>
              <a:t>Layer 1 — what the market offers</a:t>
            </a:r>
          </a:p>
        </p:txBody>
      </p:sp>
      <p:sp>
        <p:nvSpPr>
          <p:cNvPr id="22" name="TextBox 21"/>
          <p:cNvSpPr txBox="1"/>
          <p:nvPr/>
        </p:nvSpPr>
        <p:spPr>
          <a:xfrm>
            <a:off x="6684264" y="2862072"/>
            <a:ext cx="4297680" cy="274320"/>
          </a:xfrm>
          <a:prstGeom prst="rect">
            <a:avLst/>
          </a:prstGeom>
          <a:noFill/>
        </p:spPr>
        <p:txBody>
          <a:bodyPr wrap="square" lIns="0" rIns="0" tIns="0" bIns="0" anchor="t">
            <a:spAutoFit/>
          </a:bodyPr>
          <a:lstStyle/>
          <a:p>
            <a:pPr algn="l">
              <a:lnSpc>
                <a:spcPct val="100000"/>
              </a:lnSpc>
            </a:pPr>
            <a:r>
              <a:rPr sz="1100" b="0" i="0">
                <a:solidFill>
                  <a:srgbClr val="A0A0A0"/>
                </a:solidFill>
                <a:latin typeface="Arial"/>
              </a:rPr>
              <a:t>All 1.04M rows · posting-time columns only</a:t>
            </a:r>
          </a:p>
        </p:txBody>
      </p:sp>
      <p:sp>
        <p:nvSpPr>
          <p:cNvPr id="23" name="Rounded Rectangle 22"/>
          <p:cNvSpPr/>
          <p:nvPr/>
        </p:nvSpPr>
        <p:spPr>
          <a:xfrm>
            <a:off x="6428232" y="3794760"/>
            <a:ext cx="5074920" cy="1325880"/>
          </a:xfrm>
          <a:prstGeom prst="roundRect">
            <a:avLst/>
          </a:prstGeom>
          <a:solidFill>
            <a:srgbClr val="0E0E0E"/>
          </a:solidFill>
          <a:ln w="1016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84264" y="4041648"/>
            <a:ext cx="4389120" cy="274320"/>
          </a:xfrm>
          <a:prstGeom prst="rect">
            <a:avLst/>
          </a:prstGeom>
          <a:noFill/>
        </p:spPr>
        <p:txBody>
          <a:bodyPr wrap="square" lIns="0" rIns="0" tIns="0" bIns="0" anchor="t">
            <a:spAutoFit/>
          </a:bodyPr>
          <a:lstStyle/>
          <a:p>
            <a:pPr algn="l">
              <a:lnSpc>
                <a:spcPct val="100000"/>
              </a:lnSpc>
            </a:pPr>
            <a:r>
              <a:rPr sz="1600" b="1" i="0">
                <a:solidFill>
                  <a:srgbClr val="F5F5F5"/>
                </a:solidFill>
                <a:latin typeface="Arial"/>
              </a:rPr>
              <a:t>Layer 2 — what response it got</a:t>
            </a:r>
          </a:p>
        </p:txBody>
      </p:sp>
      <p:sp>
        <p:nvSpPr>
          <p:cNvPr id="25" name="TextBox 24"/>
          <p:cNvSpPr txBox="1"/>
          <p:nvPr/>
        </p:nvSpPr>
        <p:spPr>
          <a:xfrm>
            <a:off x="6684264" y="4434840"/>
            <a:ext cx="4297680" cy="566928"/>
          </a:xfrm>
          <a:prstGeom prst="rect">
            <a:avLst/>
          </a:prstGeom>
          <a:noFill/>
        </p:spPr>
        <p:txBody>
          <a:bodyPr wrap="square" lIns="0" rIns="0" tIns="0" bIns="0" anchor="t">
            <a:spAutoFit/>
          </a:bodyPr>
          <a:lstStyle/>
          <a:p>
            <a:pPr algn="l">
              <a:lnSpc>
                <a:spcPct val="100000"/>
              </a:lnSpc>
            </a:pPr>
            <a:r>
              <a:rPr sz="1100" b="0" i="0">
                <a:solidFill>
                  <a:srgbClr val="A0A0A0"/>
                </a:solidFill>
                <a:latin typeface="Arial"/>
              </a:rPr>
              <a:t>96,028 30-day listings → repost risk
78,942 first-cycle listings → views &amp; applications</a:t>
            </a:r>
          </a:p>
        </p:txBody>
      </p:sp>
      <p:sp>
        <p:nvSpPr>
          <p:cNvPr id="26" name="TextBox 25"/>
          <p:cNvSpPr txBox="1"/>
          <p:nvPr/>
        </p:nvSpPr>
        <p:spPr>
          <a:xfrm>
            <a:off x="6437376" y="5468112"/>
            <a:ext cx="4983480" cy="530352"/>
          </a:xfrm>
          <a:prstGeom prst="rect">
            <a:avLst/>
          </a:prstGeom>
          <a:noFill/>
        </p:spPr>
        <p:txBody>
          <a:bodyPr wrap="square" lIns="0" rIns="0" tIns="0" bIns="0" anchor="t">
            <a:spAutoFit/>
          </a:bodyPr>
          <a:lstStyle/>
          <a:p>
            <a:pPr algn="l">
              <a:lnSpc>
                <a:spcPct val="100000"/>
              </a:lnSpc>
            </a:pPr>
            <a:r>
              <a:rPr sz="1100" b="0">
                <a:solidFill>
                  <a:srgbClr val="AAAAAA"/>
                </a:solidFill>
                <a:latin typeface="Aptos"/>
              </a:rPr>
              <a:t>Same Mar–Jun 2023 window. Each outcome uses the smallest cohort that makes the comparison defensible.</a:t>
            </a:r>
          </a:p>
        </p:txBody>
      </p:sp>
      <p:sp>
        <p:nvSpPr>
          <p:cNvPr id="27" name="TextBox 26"/>
          <p:cNvSpPr txBox="1"/>
          <p:nvPr/>
        </p:nvSpPr>
        <p:spPr>
          <a:xfrm>
            <a:off x="11384280" y="6473952"/>
            <a:ext cx="320040" cy="182880"/>
          </a:xfrm>
          <a:prstGeom prst="rect">
            <a:avLst/>
          </a:prstGeom>
          <a:noFill/>
        </p:spPr>
        <p:txBody>
          <a:bodyPr wrap="square" lIns="0" rIns="0" tIns="0" bIns="0" anchor="t">
            <a:spAutoFit/>
          </a:bodyPr>
          <a:lstStyle/>
          <a:p>
            <a:pPr algn="r">
              <a:lnSpc>
                <a:spcPct val="100000"/>
              </a:lnSpc>
            </a:pPr>
            <a:r>
              <a:rPr sz="800" b="0" i="0">
                <a:solidFill>
                  <a:srgbClr val="5F5F5F"/>
                </a:solidFill>
                <a:latin typeface="Arial"/>
              </a:rPr>
              <a:t>8</a:t>
            </a: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505"/>
        </a:solidFill>
        <a:effectLst/>
      </p:bgPr>
    </p:bg>
    <p:spTree>
      <p:nvGrpSpPr>
        <p:cNvPr id="1" name=""/>
        <p:cNvGrpSpPr/>
        <p:nvPr/>
      </p:nvGrpSpPr>
      <p:grpSpPr>
        <a:xfrm>
          <a:off x="0" y="0"/>
          <a:ext cx="0" cy="0"/>
          <a:chOff x="0" y="0"/>
          <a:chExt cx="0" cy="0"/>
        </a:xfrm>
      </p:grpSpPr>
      <p:sp>
        <p:nvSpPr>
          <p:cNvPr id="2" name="TextBox 1"/>
          <p:cNvSpPr txBox="1"/>
          <p:nvPr/>
        </p:nvSpPr>
        <p:spPr>
          <a:xfrm>
            <a:off x="658368" y="658368"/>
            <a:ext cx="10881360" cy="292608"/>
          </a:xfrm>
          <a:prstGeom prst="rect">
            <a:avLst/>
          </a:prstGeom>
          <a:noFill/>
        </p:spPr>
        <p:txBody>
          <a:bodyPr wrap="square" lIns="0" rIns="0" tIns="0" bIns="0" anchor="t">
            <a:spAutoFit/>
          </a:bodyPr>
          <a:lstStyle/>
          <a:p>
            <a:pPr algn="l">
              <a:lnSpc>
                <a:spcPct val="100000"/>
              </a:lnSpc>
            </a:pPr>
            <a:r>
              <a:rPr sz="1100" b="1">
                <a:solidFill>
                  <a:srgbClr val="5C5C5C"/>
                </a:solidFill>
                <a:latin typeface="Aptos"/>
              </a:rPr>
              <a:t>IMPLEMENTATION</a:t>
            </a:r>
          </a:p>
        </p:txBody>
      </p:sp>
      <p:sp>
        <p:nvSpPr>
          <p:cNvPr id="3" name="TextBox 2"/>
          <p:cNvSpPr txBox="1"/>
          <p:nvPr/>
        </p:nvSpPr>
        <p:spPr>
          <a:xfrm>
            <a:off x="658368" y="914400"/>
            <a:ext cx="10881360" cy="594360"/>
          </a:xfrm>
          <a:prstGeom prst="rect">
            <a:avLst/>
          </a:prstGeom>
          <a:noFill/>
        </p:spPr>
        <p:txBody>
          <a:bodyPr wrap="square" lIns="0" rIns="0" tIns="0" bIns="0" anchor="t">
            <a:spAutoFit/>
          </a:bodyPr>
          <a:lstStyle/>
          <a:p>
            <a:pPr algn="l">
              <a:lnSpc>
                <a:spcPct val="100000"/>
              </a:lnSpc>
            </a:pPr>
            <a:r>
              <a:rPr sz="2500" b="0">
                <a:solidFill>
                  <a:srgbClr val="F2F2F2"/>
                </a:solidFill>
                <a:latin typeface="Aptos"/>
              </a:rPr>
              <a:t>One pipeline. One source of truth.</a:t>
            </a:r>
          </a:p>
        </p:txBody>
      </p:sp>
      <p:sp>
        <p:nvSpPr>
          <p:cNvPr id="4" name="Rounded Rectangle 3"/>
          <p:cNvSpPr/>
          <p:nvPr/>
        </p:nvSpPr>
        <p:spPr>
          <a:xfrm>
            <a:off x="658368" y="1938528"/>
            <a:ext cx="1691640" cy="1051560"/>
          </a:xfrm>
          <a:prstGeom prst="roundRect">
            <a:avLst/>
          </a:prstGeom>
          <a:solidFill>
            <a:srgbClr val="141414"/>
          </a:solidFill>
          <a:ln w="1016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2176272"/>
            <a:ext cx="1417320" cy="256032"/>
          </a:xfrm>
          <a:prstGeom prst="rect">
            <a:avLst/>
          </a:prstGeom>
          <a:noFill/>
        </p:spPr>
        <p:txBody>
          <a:bodyPr wrap="square" lIns="0" rIns="0" tIns="0" bIns="0" anchor="t">
            <a:spAutoFit/>
          </a:bodyPr>
          <a:lstStyle/>
          <a:p>
            <a:pPr algn="ctr">
              <a:lnSpc>
                <a:spcPct val="100000"/>
              </a:lnSpc>
            </a:pPr>
            <a:r>
              <a:rPr sz="1300" b="1" i="0">
                <a:solidFill>
                  <a:srgbClr val="F5F5F5"/>
                </a:solidFill>
                <a:latin typeface="Arial"/>
              </a:rPr>
              <a:t>SGJobData.csv</a:t>
            </a:r>
          </a:p>
        </p:txBody>
      </p:sp>
      <p:sp>
        <p:nvSpPr>
          <p:cNvPr id="6" name="TextBox 5"/>
          <p:cNvSpPr txBox="1"/>
          <p:nvPr/>
        </p:nvSpPr>
        <p:spPr>
          <a:xfrm>
            <a:off x="768096" y="2542032"/>
            <a:ext cx="1472184" cy="228600"/>
          </a:xfrm>
          <a:prstGeom prst="rect">
            <a:avLst/>
          </a:prstGeom>
          <a:noFill/>
        </p:spPr>
        <p:txBody>
          <a:bodyPr wrap="square" lIns="0" rIns="0" tIns="0" bIns="0" anchor="t">
            <a:spAutoFit/>
          </a:bodyPr>
          <a:lstStyle/>
          <a:p>
            <a:pPr algn="ctr">
              <a:lnSpc>
                <a:spcPct val="100000"/>
              </a:lnSpc>
            </a:pPr>
            <a:r>
              <a:rPr sz="850" b="0" i="0">
                <a:solidFill>
                  <a:srgbClr val="A0A0A0"/>
                </a:solidFill>
                <a:latin typeface="Arial"/>
              </a:rPr>
              <a:t>1.05M rows</a:t>
            </a:r>
          </a:p>
        </p:txBody>
      </p:sp>
      <p:sp>
        <p:nvSpPr>
          <p:cNvPr id="7" name="TextBox 6"/>
          <p:cNvSpPr txBox="1"/>
          <p:nvPr/>
        </p:nvSpPr>
        <p:spPr>
          <a:xfrm>
            <a:off x="2395728" y="2267712"/>
            <a:ext cx="438912" cy="274320"/>
          </a:xfrm>
          <a:prstGeom prst="rect">
            <a:avLst/>
          </a:prstGeom>
          <a:noFill/>
        </p:spPr>
        <p:txBody>
          <a:bodyPr wrap="square" lIns="0" rIns="0" tIns="0" bIns="0" anchor="t">
            <a:spAutoFit/>
          </a:bodyPr>
          <a:lstStyle/>
          <a:p>
            <a:pPr algn="ctr">
              <a:lnSpc>
                <a:spcPct val="100000"/>
              </a:lnSpc>
            </a:pPr>
            <a:r>
              <a:rPr sz="1900" b="1" i="0">
                <a:solidFill>
                  <a:srgbClr val="FF6B1A"/>
                </a:solidFill>
                <a:latin typeface="Arial"/>
              </a:rPr>
              <a:t>→</a:t>
            </a:r>
          </a:p>
        </p:txBody>
      </p:sp>
      <p:sp>
        <p:nvSpPr>
          <p:cNvPr id="8" name="Rounded Rectangle 7"/>
          <p:cNvSpPr/>
          <p:nvPr/>
        </p:nvSpPr>
        <p:spPr>
          <a:xfrm>
            <a:off x="2898648" y="1938528"/>
            <a:ext cx="1691640" cy="1051560"/>
          </a:xfrm>
          <a:prstGeom prst="roundRect">
            <a:avLst/>
          </a:prstGeom>
          <a:solidFill>
            <a:srgbClr val="141414"/>
          </a:solidFill>
          <a:ln w="1016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35808" y="2176272"/>
            <a:ext cx="1417320" cy="256032"/>
          </a:xfrm>
          <a:prstGeom prst="rect">
            <a:avLst/>
          </a:prstGeom>
          <a:noFill/>
        </p:spPr>
        <p:txBody>
          <a:bodyPr wrap="square" lIns="0" rIns="0" tIns="0" bIns="0" anchor="t">
            <a:spAutoFit/>
          </a:bodyPr>
          <a:lstStyle/>
          <a:p>
            <a:pPr algn="ctr">
              <a:lnSpc>
                <a:spcPct val="100000"/>
              </a:lnSpc>
            </a:pPr>
            <a:r>
              <a:rPr sz="1300" b="1" i="0">
                <a:solidFill>
                  <a:srgbClr val="F5F5F5"/>
                </a:solidFill>
                <a:latin typeface="Arial"/>
              </a:rPr>
              <a:t>clean</a:t>
            </a:r>
          </a:p>
        </p:txBody>
      </p:sp>
      <p:sp>
        <p:nvSpPr>
          <p:cNvPr id="10" name="TextBox 9"/>
          <p:cNvSpPr txBox="1"/>
          <p:nvPr/>
        </p:nvSpPr>
        <p:spPr>
          <a:xfrm>
            <a:off x="3008376" y="2542032"/>
            <a:ext cx="1472184" cy="228600"/>
          </a:xfrm>
          <a:prstGeom prst="rect">
            <a:avLst/>
          </a:prstGeom>
          <a:noFill/>
        </p:spPr>
        <p:txBody>
          <a:bodyPr wrap="square" lIns="0" rIns="0" tIns="0" bIns="0" anchor="t">
            <a:spAutoFit/>
          </a:bodyPr>
          <a:lstStyle/>
          <a:p>
            <a:pPr algn="ctr">
              <a:lnSpc>
                <a:spcPct val="100000"/>
              </a:lnSpc>
            </a:pPr>
            <a:r>
              <a:rPr sz="850" b="0" i="0">
                <a:solidFill>
                  <a:srgbClr val="A0A0A0"/>
                </a:solidFill>
                <a:latin typeface="Arial"/>
              </a:rPr>
              <a:t>flag · null · convert</a:t>
            </a:r>
          </a:p>
        </p:txBody>
      </p:sp>
      <p:sp>
        <p:nvSpPr>
          <p:cNvPr id="11" name="TextBox 10"/>
          <p:cNvSpPr txBox="1"/>
          <p:nvPr/>
        </p:nvSpPr>
        <p:spPr>
          <a:xfrm>
            <a:off x="4636008" y="2267712"/>
            <a:ext cx="438912" cy="274320"/>
          </a:xfrm>
          <a:prstGeom prst="rect">
            <a:avLst/>
          </a:prstGeom>
          <a:noFill/>
        </p:spPr>
        <p:txBody>
          <a:bodyPr wrap="square" lIns="0" rIns="0" tIns="0" bIns="0" anchor="t">
            <a:spAutoFit/>
          </a:bodyPr>
          <a:lstStyle/>
          <a:p>
            <a:pPr algn="ctr">
              <a:lnSpc>
                <a:spcPct val="100000"/>
              </a:lnSpc>
            </a:pPr>
            <a:r>
              <a:rPr sz="1900" b="1" i="0">
                <a:solidFill>
                  <a:srgbClr val="FF6B1A"/>
                </a:solidFill>
                <a:latin typeface="Arial"/>
              </a:rPr>
              <a:t>→</a:t>
            </a:r>
          </a:p>
        </p:txBody>
      </p:sp>
      <p:sp>
        <p:nvSpPr>
          <p:cNvPr id="12" name="Rounded Rectangle 11"/>
          <p:cNvSpPr/>
          <p:nvPr/>
        </p:nvSpPr>
        <p:spPr>
          <a:xfrm>
            <a:off x="5138928" y="1938528"/>
            <a:ext cx="1691640" cy="1051560"/>
          </a:xfrm>
          <a:prstGeom prst="roundRect">
            <a:avLst/>
          </a:prstGeom>
          <a:solidFill>
            <a:srgbClr val="141414"/>
          </a:solidFill>
          <a:ln w="1016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76088" y="2176272"/>
            <a:ext cx="1417320" cy="256032"/>
          </a:xfrm>
          <a:prstGeom prst="rect">
            <a:avLst/>
          </a:prstGeom>
          <a:noFill/>
        </p:spPr>
        <p:txBody>
          <a:bodyPr wrap="square" lIns="0" rIns="0" tIns="0" bIns="0" anchor="t">
            <a:spAutoFit/>
          </a:bodyPr>
          <a:lstStyle/>
          <a:p>
            <a:pPr algn="ctr">
              <a:lnSpc>
                <a:spcPct val="100000"/>
              </a:lnSpc>
            </a:pPr>
            <a:r>
              <a:rPr sz="1300" b="1" i="0">
                <a:solidFill>
                  <a:srgbClr val="F5F5F5"/>
                </a:solidFill>
                <a:latin typeface="Arial"/>
              </a:rPr>
              <a:t>enrich</a:t>
            </a:r>
          </a:p>
        </p:txBody>
      </p:sp>
      <p:sp>
        <p:nvSpPr>
          <p:cNvPr id="14" name="TextBox 13"/>
          <p:cNvSpPr txBox="1"/>
          <p:nvPr/>
        </p:nvSpPr>
        <p:spPr>
          <a:xfrm>
            <a:off x="5248656" y="2542032"/>
            <a:ext cx="1472184" cy="228600"/>
          </a:xfrm>
          <a:prstGeom prst="rect">
            <a:avLst/>
          </a:prstGeom>
          <a:noFill/>
        </p:spPr>
        <p:txBody>
          <a:bodyPr wrap="square" lIns="0" rIns="0" tIns="0" bIns="0" anchor="t">
            <a:spAutoFit/>
          </a:bodyPr>
          <a:lstStyle/>
          <a:p>
            <a:pPr algn="ctr">
              <a:lnSpc>
                <a:spcPct val="100000"/>
              </a:lnSpc>
            </a:pPr>
            <a:r>
              <a:rPr sz="850" b="0" i="0">
                <a:solidFill>
                  <a:srgbClr val="A0A0A0"/>
                </a:solidFill>
                <a:latin typeface="Arial"/>
              </a:rPr>
              <a:t>derive features</a:t>
            </a:r>
          </a:p>
        </p:txBody>
      </p:sp>
      <p:sp>
        <p:nvSpPr>
          <p:cNvPr id="15" name="TextBox 14"/>
          <p:cNvSpPr txBox="1"/>
          <p:nvPr/>
        </p:nvSpPr>
        <p:spPr>
          <a:xfrm>
            <a:off x="6876288" y="2267712"/>
            <a:ext cx="438912" cy="274320"/>
          </a:xfrm>
          <a:prstGeom prst="rect">
            <a:avLst/>
          </a:prstGeom>
          <a:noFill/>
        </p:spPr>
        <p:txBody>
          <a:bodyPr wrap="square" lIns="0" rIns="0" tIns="0" bIns="0" anchor="t">
            <a:spAutoFit/>
          </a:bodyPr>
          <a:lstStyle/>
          <a:p>
            <a:pPr algn="ctr">
              <a:lnSpc>
                <a:spcPct val="100000"/>
              </a:lnSpc>
            </a:pPr>
            <a:r>
              <a:rPr sz="1900" b="1" i="0">
                <a:solidFill>
                  <a:srgbClr val="FF6B1A"/>
                </a:solidFill>
                <a:latin typeface="Arial"/>
              </a:rPr>
              <a:t>→</a:t>
            </a:r>
          </a:p>
        </p:txBody>
      </p:sp>
      <p:sp>
        <p:nvSpPr>
          <p:cNvPr id="16" name="Rounded Rectangle 15"/>
          <p:cNvSpPr/>
          <p:nvPr/>
        </p:nvSpPr>
        <p:spPr>
          <a:xfrm>
            <a:off x="7379208" y="1938528"/>
            <a:ext cx="1691640" cy="1051560"/>
          </a:xfrm>
          <a:prstGeom prst="roundRect">
            <a:avLst/>
          </a:prstGeom>
          <a:solidFill>
            <a:srgbClr val="141414"/>
          </a:solidFill>
          <a:ln w="10160">
            <a:solidFill>
              <a:srgbClr val="FF6B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6368" y="2176272"/>
            <a:ext cx="1417320" cy="256032"/>
          </a:xfrm>
          <a:prstGeom prst="rect">
            <a:avLst/>
          </a:prstGeom>
          <a:noFill/>
        </p:spPr>
        <p:txBody>
          <a:bodyPr wrap="square" lIns="0" rIns="0" tIns="0" bIns="0" anchor="t">
            <a:spAutoFit/>
          </a:bodyPr>
          <a:lstStyle/>
          <a:p>
            <a:pPr algn="ctr">
              <a:lnSpc>
                <a:spcPct val="100000"/>
              </a:lnSpc>
            </a:pPr>
            <a:r>
              <a:rPr sz="1300" b="1" i="0">
                <a:solidFill>
                  <a:srgbClr val="FF6B1A"/>
                </a:solidFill>
                <a:latin typeface="Arial"/>
              </a:rPr>
              <a:t>DuckDB</a:t>
            </a:r>
          </a:p>
        </p:txBody>
      </p:sp>
      <p:sp>
        <p:nvSpPr>
          <p:cNvPr id="18" name="TextBox 17"/>
          <p:cNvSpPr txBox="1"/>
          <p:nvPr/>
        </p:nvSpPr>
        <p:spPr>
          <a:xfrm>
            <a:off x="7488936" y="2542032"/>
            <a:ext cx="1472184" cy="228600"/>
          </a:xfrm>
          <a:prstGeom prst="rect">
            <a:avLst/>
          </a:prstGeom>
          <a:noFill/>
        </p:spPr>
        <p:txBody>
          <a:bodyPr wrap="square" lIns="0" rIns="0" tIns="0" bIns="0" anchor="t">
            <a:spAutoFit/>
          </a:bodyPr>
          <a:lstStyle/>
          <a:p>
            <a:pPr algn="ctr">
              <a:lnSpc>
                <a:spcPct val="100000"/>
              </a:lnSpc>
            </a:pPr>
            <a:r>
              <a:rPr sz="850" b="0" i="0">
                <a:solidFill>
                  <a:srgbClr val="A0A0A0"/>
                </a:solidFill>
                <a:latin typeface="Arial"/>
              </a:rPr>
              <a:t>columnar analytics</a:t>
            </a:r>
          </a:p>
        </p:txBody>
      </p:sp>
      <p:sp>
        <p:nvSpPr>
          <p:cNvPr id="19" name="TextBox 18"/>
          <p:cNvSpPr txBox="1"/>
          <p:nvPr/>
        </p:nvSpPr>
        <p:spPr>
          <a:xfrm>
            <a:off x="9116568" y="2267712"/>
            <a:ext cx="438912" cy="274320"/>
          </a:xfrm>
          <a:prstGeom prst="rect">
            <a:avLst/>
          </a:prstGeom>
          <a:noFill/>
        </p:spPr>
        <p:txBody>
          <a:bodyPr wrap="square" lIns="0" rIns="0" tIns="0" bIns="0" anchor="t">
            <a:spAutoFit/>
          </a:bodyPr>
          <a:lstStyle/>
          <a:p>
            <a:pPr algn="ctr">
              <a:lnSpc>
                <a:spcPct val="100000"/>
              </a:lnSpc>
            </a:pPr>
            <a:r>
              <a:rPr sz="1900" b="1" i="0">
                <a:solidFill>
                  <a:srgbClr val="FF6B1A"/>
                </a:solidFill>
                <a:latin typeface="Arial"/>
              </a:rPr>
              <a:t>→</a:t>
            </a:r>
          </a:p>
        </p:txBody>
      </p:sp>
      <p:sp>
        <p:nvSpPr>
          <p:cNvPr id="20" name="Rounded Rectangle 19"/>
          <p:cNvSpPr/>
          <p:nvPr/>
        </p:nvSpPr>
        <p:spPr>
          <a:xfrm>
            <a:off x="9619488" y="1938528"/>
            <a:ext cx="1691640" cy="1051560"/>
          </a:xfrm>
          <a:prstGeom prst="roundRect">
            <a:avLst/>
          </a:prstGeom>
          <a:solidFill>
            <a:srgbClr val="141414"/>
          </a:solidFill>
          <a:ln w="1016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56648" y="2176272"/>
            <a:ext cx="1417320" cy="256032"/>
          </a:xfrm>
          <a:prstGeom prst="rect">
            <a:avLst/>
          </a:prstGeom>
          <a:noFill/>
        </p:spPr>
        <p:txBody>
          <a:bodyPr wrap="square" lIns="0" rIns="0" tIns="0" bIns="0" anchor="t">
            <a:spAutoFit/>
          </a:bodyPr>
          <a:lstStyle/>
          <a:p>
            <a:pPr algn="ctr">
              <a:lnSpc>
                <a:spcPct val="100000"/>
              </a:lnSpc>
            </a:pPr>
            <a:r>
              <a:rPr sz="1300" b="1" i="0">
                <a:solidFill>
                  <a:srgbClr val="F5F5F5"/>
                </a:solidFill>
                <a:latin typeface="Arial"/>
              </a:rPr>
              <a:t>Streamlit</a:t>
            </a:r>
          </a:p>
        </p:txBody>
      </p:sp>
      <p:sp>
        <p:nvSpPr>
          <p:cNvPr id="22" name="TextBox 21"/>
          <p:cNvSpPr txBox="1"/>
          <p:nvPr/>
        </p:nvSpPr>
        <p:spPr>
          <a:xfrm>
            <a:off x="9729215" y="2542032"/>
            <a:ext cx="1472184" cy="228600"/>
          </a:xfrm>
          <a:prstGeom prst="rect">
            <a:avLst/>
          </a:prstGeom>
          <a:noFill/>
        </p:spPr>
        <p:txBody>
          <a:bodyPr wrap="square" lIns="0" rIns="0" tIns="0" bIns="0" anchor="t">
            <a:spAutoFit/>
          </a:bodyPr>
          <a:lstStyle/>
          <a:p>
            <a:pPr algn="ctr">
              <a:lnSpc>
                <a:spcPct val="100000"/>
              </a:lnSpc>
            </a:pPr>
            <a:r>
              <a:rPr sz="850" b="0" i="0">
                <a:solidFill>
                  <a:srgbClr val="A0A0A0"/>
                </a:solidFill>
                <a:latin typeface="Arial"/>
              </a:rPr>
              <a:t>4 boards</a:t>
            </a:r>
          </a:p>
        </p:txBody>
      </p:sp>
      <p:sp>
        <p:nvSpPr>
          <p:cNvPr id="23" name="Rounded Rectangle 22"/>
          <p:cNvSpPr/>
          <p:nvPr/>
        </p:nvSpPr>
        <p:spPr>
          <a:xfrm>
            <a:off x="658368" y="3675887"/>
            <a:ext cx="5257800" cy="1536192"/>
          </a:xfrm>
          <a:prstGeom prst="roundRect">
            <a:avLst/>
          </a:prstGeom>
          <a:solidFill>
            <a:srgbClr val="0E0E0E"/>
          </a:solidFill>
          <a:ln w="1016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931920"/>
            <a:ext cx="2011680" cy="228600"/>
          </a:xfrm>
          <a:prstGeom prst="rect">
            <a:avLst/>
          </a:prstGeom>
          <a:noFill/>
        </p:spPr>
        <p:txBody>
          <a:bodyPr wrap="square" lIns="0" rIns="0" tIns="0" bIns="0" anchor="t">
            <a:spAutoFit/>
          </a:bodyPr>
          <a:lstStyle/>
          <a:p>
            <a:pPr algn="l">
              <a:lnSpc>
                <a:spcPct val="100000"/>
              </a:lnSpc>
            </a:pPr>
            <a:r>
              <a:rPr sz="900" b="1" i="0">
                <a:solidFill>
                  <a:srgbClr val="FF6B1A"/>
                </a:solidFill>
                <a:latin typeface="Arial"/>
              </a:rPr>
              <a:t>ONE IMPLEMENTATION</a:t>
            </a:r>
          </a:p>
        </p:txBody>
      </p:sp>
      <p:sp>
        <p:nvSpPr>
          <p:cNvPr id="25" name="TextBox 24"/>
          <p:cNvSpPr txBox="1"/>
          <p:nvPr/>
        </p:nvSpPr>
        <p:spPr>
          <a:xfrm>
            <a:off x="896112" y="4261104"/>
            <a:ext cx="4617720" cy="420624"/>
          </a:xfrm>
          <a:prstGeom prst="rect">
            <a:avLst/>
          </a:prstGeom>
          <a:noFill/>
        </p:spPr>
        <p:txBody>
          <a:bodyPr wrap="square" lIns="0" rIns="0" tIns="0" bIns="0" anchor="t">
            <a:spAutoFit/>
          </a:bodyPr>
          <a:lstStyle/>
          <a:p>
            <a:pPr algn="l">
              <a:lnSpc>
                <a:spcPct val="100000"/>
              </a:lnSpc>
            </a:pPr>
            <a:r>
              <a:rPr sz="1200" b="0">
                <a:solidFill>
                  <a:srgbClr val="AAAAAA"/>
                </a:solidFill>
                <a:latin typeface="Aptos"/>
              </a:rPr>
              <a:t>Cleaning and enrichment live in tested modules under src/pipeline/.</a:t>
            </a:r>
          </a:p>
        </p:txBody>
      </p:sp>
      <p:sp>
        <p:nvSpPr>
          <p:cNvPr id="26" name="TextBox 25"/>
          <p:cNvSpPr txBox="1"/>
          <p:nvPr/>
        </p:nvSpPr>
        <p:spPr>
          <a:xfrm>
            <a:off x="896112" y="4718304"/>
            <a:ext cx="4599432" cy="347472"/>
          </a:xfrm>
          <a:prstGeom prst="rect">
            <a:avLst/>
          </a:prstGeom>
          <a:noFill/>
        </p:spPr>
        <p:txBody>
          <a:bodyPr wrap="square" lIns="0" rIns="0" tIns="0" bIns="0" anchor="t">
            <a:spAutoFit/>
          </a:bodyPr>
          <a:lstStyle/>
          <a:p>
            <a:pPr algn="l">
              <a:lnSpc>
                <a:spcPct val="100000"/>
              </a:lnSpc>
            </a:pPr>
            <a:r>
              <a:rPr sz="1100" b="0">
                <a:solidFill>
                  <a:srgbClr val="AAAAAA"/>
                </a:solidFill>
                <a:latin typeface="Aptos"/>
              </a:rPr>
              <a:t>Notebook and dashboard import the same pipeline — so the analysis and product cannot drift apart.</a:t>
            </a:r>
          </a:p>
        </p:txBody>
      </p:sp>
      <p:sp>
        <p:nvSpPr>
          <p:cNvPr id="27" name="Rounded Rectangle 26"/>
          <p:cNvSpPr/>
          <p:nvPr/>
        </p:nvSpPr>
        <p:spPr>
          <a:xfrm>
            <a:off x="6144768" y="3675887"/>
            <a:ext cx="5376672" cy="1536192"/>
          </a:xfrm>
          <a:prstGeom prst="roundRect">
            <a:avLst/>
          </a:prstGeom>
          <a:solidFill>
            <a:srgbClr val="0E0E0E"/>
          </a:solidFill>
          <a:ln w="1016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82512" y="3931920"/>
            <a:ext cx="2011680" cy="228600"/>
          </a:xfrm>
          <a:prstGeom prst="rect">
            <a:avLst/>
          </a:prstGeom>
          <a:noFill/>
        </p:spPr>
        <p:txBody>
          <a:bodyPr wrap="square" lIns="0" rIns="0" tIns="0" bIns="0" anchor="t">
            <a:spAutoFit/>
          </a:bodyPr>
          <a:lstStyle/>
          <a:p>
            <a:pPr algn="l">
              <a:lnSpc>
                <a:spcPct val="100000"/>
              </a:lnSpc>
            </a:pPr>
            <a:r>
              <a:rPr sz="900" b="1" i="0">
                <a:solidFill>
                  <a:srgbClr val="FF6B1A"/>
                </a:solidFill>
                <a:latin typeface="Arial"/>
              </a:rPr>
              <a:t>WHY DUCKDB</a:t>
            </a:r>
          </a:p>
        </p:txBody>
      </p:sp>
      <p:sp>
        <p:nvSpPr>
          <p:cNvPr id="29" name="TextBox 28"/>
          <p:cNvSpPr txBox="1"/>
          <p:nvPr/>
        </p:nvSpPr>
        <p:spPr>
          <a:xfrm>
            <a:off x="6382512" y="4261104"/>
            <a:ext cx="4709160" cy="420624"/>
          </a:xfrm>
          <a:prstGeom prst="rect">
            <a:avLst/>
          </a:prstGeom>
          <a:noFill/>
        </p:spPr>
        <p:txBody>
          <a:bodyPr wrap="square" lIns="0" rIns="0" tIns="0" bIns="0" anchor="t">
            <a:spAutoFit/>
          </a:bodyPr>
          <a:lstStyle/>
          <a:p>
            <a:pPr algn="l">
              <a:lnSpc>
                <a:spcPct val="100000"/>
              </a:lnSpc>
            </a:pPr>
            <a:r>
              <a:rPr sz="1400" b="1" i="0">
                <a:solidFill>
                  <a:srgbClr val="F5F5F5"/>
                </a:solidFill>
                <a:latin typeface="Arial"/>
              </a:rPr>
              <a:t>Aggregate a million postings inside a click.</a:t>
            </a:r>
          </a:p>
        </p:txBody>
      </p:sp>
      <p:sp>
        <p:nvSpPr>
          <p:cNvPr id="30" name="TextBox 29"/>
          <p:cNvSpPr txBox="1"/>
          <p:nvPr/>
        </p:nvSpPr>
        <p:spPr>
          <a:xfrm>
            <a:off x="6382512" y="4718304"/>
            <a:ext cx="4645152" cy="347472"/>
          </a:xfrm>
          <a:prstGeom prst="rect">
            <a:avLst/>
          </a:prstGeom>
          <a:noFill/>
        </p:spPr>
        <p:txBody>
          <a:bodyPr wrap="square" lIns="0" rIns="0" tIns="0" bIns="0" anchor="t">
            <a:spAutoFit/>
          </a:bodyPr>
          <a:lstStyle/>
          <a:p>
            <a:pPr algn="l">
              <a:lnSpc>
                <a:spcPct val="100000"/>
              </a:lnSpc>
            </a:pPr>
            <a:r>
              <a:rPr sz="1050" b="0" i="0">
                <a:solidFill>
                  <a:srgbClr val="A0A0A0"/>
                </a:solidFill>
                <a:latin typeface="Arial"/>
              </a:rPr>
              <a:t>No 400 MB CSV re-read on every filter change.</a:t>
            </a:r>
          </a:p>
        </p:txBody>
      </p:sp>
      <p:sp>
        <p:nvSpPr>
          <p:cNvPr id="31" name="TextBox 30"/>
          <p:cNvSpPr txBox="1"/>
          <p:nvPr/>
        </p:nvSpPr>
        <p:spPr>
          <a:xfrm>
            <a:off x="11384280" y="6473952"/>
            <a:ext cx="320040" cy="182880"/>
          </a:xfrm>
          <a:prstGeom prst="rect">
            <a:avLst/>
          </a:prstGeom>
          <a:noFill/>
        </p:spPr>
        <p:txBody>
          <a:bodyPr wrap="square" lIns="0" rIns="0" tIns="0" bIns="0" anchor="t">
            <a:spAutoFit/>
          </a:bodyPr>
          <a:lstStyle/>
          <a:p>
            <a:pPr algn="r">
              <a:lnSpc>
                <a:spcPct val="100000"/>
              </a:lnSpc>
            </a:pPr>
            <a:r>
              <a:rPr sz="800" b="0" i="0">
                <a:solidFill>
                  <a:srgbClr val="5F5F5F"/>
                </a:solidFill>
                <a:latin typeface="Arial"/>
              </a:rPr>
              <a:t>9</a:t>
            </a: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SG" sz="2400" b="0" u="none" strike="noStrike">
              <a:solidFill>
                <a:srgbClr val="000000"/>
              </a:solidFill>
              <a:effectLst/>
              <a:uFillTx/>
              <a:latin typeface="Times New Roman"/>
            </a:endParaRPr>
          </a:p>
        </p:txBody>
      </p:sp>
      <p:sp>
        <p:nvSpPr>
          <p:cNvPr id="45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SG" sz="2400" b="0" u="none" strike="noStrike">
              <a:solidFill>
                <a:srgbClr val="000000"/>
              </a:solidFill>
              <a:effectLst/>
              <a:uFillTx/>
              <a:latin typeface="Times New Roman"/>
            </a:endParaRPr>
          </a:p>
        </p:txBody>
      </p:sp>
      <p:sp>
        <p:nvSpPr>
          <p:cNvPr id="45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000000"/>
          </a:solidFill>
          <a:ln w="0">
            <a:noFill/>
          </a:ln>
        </p:spPr>
        <p:txBody>
          <a:bodyPr lIns="0" tIns="0" rIns="0" bIns="0" anchor="t">
            <a:noAutofit/>
          </a:bodyPr>
          <a:p>
            <a:endParaRPr lang="en-SG" sz="2400" b="0" u="none" strike="noStrike">
              <a:solidFill>
                <a:srgbClr val="FFFFFF"/>
              </a:solidFill>
              <a:effectLst/>
              <a:uFillTx/>
              <a:latin typeface="Times New Roman"/>
            </a:endParaRPr>
          </a:p>
        </p:txBody>
      </p:sp>
      <p:pic>
        <p:nvPicPr>
          <p:cNvPr id="457" name=""/>
          <p:cNvPicPr/>
          <p:nvPr/>
        </p:nvPicPr>
        <p:blipFill>
          <a:blip r:embed="rId1"/>
          <a:stretch/>
        </p:blipFill>
        <p:spPr>
          <a:xfrm>
            <a:off x="-2880" y="-2880"/>
            <a:ext cx="12197880" cy="6863760"/>
          </a:xfrm>
          <a:prstGeom prst="rect">
            <a:avLst/>
          </a:prstGeom>
          <a:noFill/>
          <a:ln w="0">
            <a:noFill/>
          </a:ln>
        </p:spPr>
      </p:pic>
      <p:sp>
        <p:nvSpPr>
          <p:cNvPr id="458" name=""/>
          <p:cNvSpPr/>
          <p:nvPr/>
        </p:nvSpPr>
        <p:spPr>
          <a:xfrm>
            <a:off x="5974200" y="2012040"/>
            <a:ext cx="243360" cy="243360"/>
          </a:xfrm>
          <a:custGeom>
            <a:avLst/>
            <a:gdLst/>
            <a:ahLst/>
            <a:rect l="0" t="0" r="r" b="b"/>
            <a:pathLst>
              <a:path w="676" h="676">
                <a:moveTo>
                  <a:pt x="75" y="0"/>
                </a:moveTo>
                <a:lnTo>
                  <a:pt x="601" y="0"/>
                </a:lnTo>
                <a:cubicBezTo>
                  <a:pt x="611" y="0"/>
                  <a:pt x="621" y="2"/>
                  <a:pt x="630" y="6"/>
                </a:cubicBezTo>
                <a:cubicBezTo>
                  <a:pt x="639" y="9"/>
                  <a:pt x="647" y="15"/>
                  <a:pt x="654" y="22"/>
                </a:cubicBezTo>
                <a:cubicBezTo>
                  <a:pt x="661" y="29"/>
                  <a:pt x="667" y="37"/>
                  <a:pt x="670" y="46"/>
                </a:cubicBezTo>
                <a:cubicBezTo>
                  <a:pt x="674" y="55"/>
                  <a:pt x="676" y="65"/>
                  <a:pt x="676" y="75"/>
                </a:cubicBezTo>
                <a:lnTo>
                  <a:pt x="676" y="601"/>
                </a:lnTo>
                <a:cubicBezTo>
                  <a:pt x="676" y="610"/>
                  <a:pt x="674" y="620"/>
                  <a:pt x="670" y="629"/>
                </a:cubicBezTo>
                <a:cubicBezTo>
                  <a:pt x="667" y="638"/>
                  <a:pt x="661" y="647"/>
                  <a:pt x="654" y="654"/>
                </a:cubicBezTo>
                <a:cubicBezTo>
                  <a:pt x="647" y="661"/>
                  <a:pt x="639" y="666"/>
                  <a:pt x="630" y="670"/>
                </a:cubicBezTo>
                <a:cubicBezTo>
                  <a:pt x="621" y="674"/>
                  <a:pt x="611" y="676"/>
                  <a:pt x="601" y="676"/>
                </a:cubicBezTo>
                <a:lnTo>
                  <a:pt x="75" y="676"/>
                </a:lnTo>
                <a:cubicBezTo>
                  <a:pt x="66" y="676"/>
                  <a:pt x="56" y="674"/>
                  <a:pt x="47" y="670"/>
                </a:cubicBezTo>
                <a:cubicBezTo>
                  <a:pt x="38" y="666"/>
                  <a:pt x="29" y="661"/>
                  <a:pt x="22" y="654"/>
                </a:cubicBezTo>
                <a:cubicBezTo>
                  <a:pt x="15" y="647"/>
                  <a:pt x="10" y="638"/>
                  <a:pt x="6" y="629"/>
                </a:cubicBezTo>
                <a:cubicBezTo>
                  <a:pt x="2" y="620"/>
                  <a:pt x="0" y="610"/>
                  <a:pt x="0" y="601"/>
                </a:cubicBezTo>
                <a:lnTo>
                  <a:pt x="0" y="75"/>
                </a:lnTo>
                <a:cubicBezTo>
                  <a:pt x="0" y="65"/>
                  <a:pt x="2" y="55"/>
                  <a:pt x="6" y="46"/>
                </a:cubicBezTo>
                <a:cubicBezTo>
                  <a:pt x="10" y="37"/>
                  <a:pt x="15" y="29"/>
                  <a:pt x="22" y="22"/>
                </a:cubicBezTo>
                <a:cubicBezTo>
                  <a:pt x="29" y="15"/>
                  <a:pt x="38" y="9"/>
                  <a:pt x="47" y="6"/>
                </a:cubicBezTo>
                <a:cubicBezTo>
                  <a:pt x="56" y="2"/>
                  <a:pt x="66" y="0"/>
                  <a:pt x="75" y="0"/>
                </a:cubicBezTo>
                <a:close/>
              </a:path>
            </a:pathLst>
          </a:custGeom>
          <a:noFill/>
          <a:ln w="15840">
            <a:solidFill>
              <a:srgbClr val="FF6B1A"/>
            </a:solidFill>
            <a:miter/>
          </a:ln>
        </p:spPr>
        <p:txBody>
          <a:bodyPr lIns="7920" tIns="7920" rIns="7920" bIns="7920" anchor="t">
            <a:noAutofit/>
          </a:bodyPr>
          <a:p>
            <a:endParaRPr lang="en-SG" sz="2400" b="0" u="none" strike="noStrike">
              <a:solidFill>
                <a:srgbClr val="000000"/>
              </a:solidFill>
              <a:effectLst/>
              <a:uFillTx/>
              <a:latin typeface="Times New Roman"/>
            </a:endParaRPr>
          </a:p>
        </p:txBody>
      </p:sp>
      <p:sp>
        <p:nvSpPr>
          <p:cNvPr id="459" name=""/>
          <p:cNvSpPr/>
          <p:nvPr/>
        </p:nvSpPr>
        <p:spPr>
          <a:xfrm>
            <a:off x="5974200" y="2093040"/>
            <a:ext cx="243360" cy="162360"/>
          </a:xfrm>
          <a:custGeom>
            <a:avLst/>
            <a:gdLst/>
            <a:ahLst/>
            <a:rect l="0" t="0" r="r" b="b"/>
            <a:pathLst>
              <a:path fill="none" w="676" h="451">
                <a:moveTo>
                  <a:pt x="0" y="0"/>
                </a:moveTo>
                <a:lnTo>
                  <a:pt x="676" y="0"/>
                </a:lnTo>
                <a:moveTo>
                  <a:pt x="225" y="451"/>
                </a:moveTo>
                <a:lnTo>
                  <a:pt x="225" y="0"/>
                </a:lnTo>
              </a:path>
            </a:pathLst>
          </a:custGeom>
          <a:ln w="15840">
            <a:solidFill>
              <a:srgbClr val="FF6B1A"/>
            </a:solidFill>
            <a:miter/>
          </a:ln>
        </p:spPr>
        <p:txBody>
          <a:bodyPr lIns="7920" tIns="7920" rIns="7920" bIns="7920" anchor="t">
            <a:noAutofit/>
          </a:bodyPr>
          <a:p>
            <a:endParaRPr lang="en-SG" sz="2400" b="0" u="none" strike="noStrike">
              <a:solidFill>
                <a:srgbClr val="000000"/>
              </a:solidFill>
              <a:effectLst/>
              <a:uFillTx/>
              <a:latin typeface="Times New Roman"/>
            </a:endParaRPr>
          </a:p>
        </p:txBody>
      </p:sp>
      <p:sp>
        <p:nvSpPr>
          <p:cNvPr id="460" name=""/>
          <p:cNvSpPr txBox="1"/>
          <p:nvPr/>
        </p:nvSpPr>
        <p:spPr>
          <a:xfrm>
            <a:off x="3796560" y="2365920"/>
            <a:ext cx="5687640" cy="1402560"/>
          </a:xfrm>
          <a:prstGeom prst="rect">
            <a:avLst/>
          </a:prstGeom>
          <a:noFill/>
          <a:ln w="0">
            <a:noFill/>
          </a:ln>
        </p:spPr>
        <p:txBody>
          <a:bodyPr wrap="none" lIns="0" tIns="0" rIns="0" bIns="0" anchor="t">
            <a:spAutoFit/>
          </a:bodyPr>
          <a:p>
            <a:pPr/>
            <a:r>
              <a:rPr lang="en-SG" sz="7830" b="1" u="none" strike="noStrike">
                <a:solidFill>
                  <a:srgbClr val="FFFFFF"/>
                </a:solidFill>
                <a:effectLst/>
                <a:uFillTx/>
                <a:latin typeface="Outfit-Thin_"/>
                <a:ea typeface="Outfit-Thin_"/>
              </a:rPr>
              <a:t>Live Demo</a:t>
            </a:r>
            <a:endParaRPr lang="en-SG" sz="7830" b="0" u="none" strike="noStrike">
              <a:solidFill>
                <a:srgbClr val="000000"/>
              </a:solidFill>
              <a:effectLst/>
              <a:uFillTx/>
              <a:latin typeface="Times New Roman"/>
            </a:endParaRPr>
          </a:p>
        </p:txBody>
      </p:sp>
      <p:sp>
        <p:nvSpPr>
          <p:cNvPr id="461" name=""/>
          <p:cNvSpPr/>
          <p:nvPr/>
        </p:nvSpPr>
        <p:spPr>
          <a:xfrm>
            <a:off x="2871720" y="4605120"/>
            <a:ext cx="1286280" cy="276480"/>
          </a:xfrm>
          <a:custGeom>
            <a:avLst/>
            <a:gdLst/>
            <a:ahLst/>
            <a:rect l="0" t="0" r="r" b="b"/>
            <a:pathLst>
              <a:path w="3573" h="768">
                <a:moveTo>
                  <a:pt x="0" y="384"/>
                </a:moveTo>
                <a:cubicBezTo>
                  <a:pt x="0" y="359"/>
                  <a:pt x="2" y="334"/>
                  <a:pt x="7" y="309"/>
                </a:cubicBezTo>
                <a:cubicBezTo>
                  <a:pt x="12" y="284"/>
                  <a:pt x="19" y="260"/>
                  <a:pt x="29" y="237"/>
                </a:cubicBezTo>
                <a:cubicBezTo>
                  <a:pt x="39" y="214"/>
                  <a:pt x="50" y="192"/>
                  <a:pt x="64" y="171"/>
                </a:cubicBezTo>
                <a:cubicBezTo>
                  <a:pt x="78" y="150"/>
                  <a:pt x="94" y="130"/>
                  <a:pt x="112" y="112"/>
                </a:cubicBezTo>
                <a:cubicBezTo>
                  <a:pt x="130" y="95"/>
                  <a:pt x="149" y="79"/>
                  <a:pt x="170" y="65"/>
                </a:cubicBezTo>
                <a:cubicBezTo>
                  <a:pt x="191" y="51"/>
                  <a:pt x="213" y="39"/>
                  <a:pt x="237" y="29"/>
                </a:cubicBezTo>
                <a:cubicBezTo>
                  <a:pt x="260" y="20"/>
                  <a:pt x="284" y="12"/>
                  <a:pt x="308" y="7"/>
                </a:cubicBezTo>
                <a:cubicBezTo>
                  <a:pt x="333" y="3"/>
                  <a:pt x="358" y="0"/>
                  <a:pt x="383" y="0"/>
                </a:cubicBezTo>
                <a:lnTo>
                  <a:pt x="3189" y="0"/>
                </a:lnTo>
                <a:cubicBezTo>
                  <a:pt x="3214" y="0"/>
                  <a:pt x="3239" y="3"/>
                  <a:pt x="3264" y="7"/>
                </a:cubicBezTo>
                <a:cubicBezTo>
                  <a:pt x="3288" y="12"/>
                  <a:pt x="3312" y="20"/>
                  <a:pt x="3336" y="29"/>
                </a:cubicBezTo>
                <a:cubicBezTo>
                  <a:pt x="3359" y="39"/>
                  <a:pt x="3381" y="51"/>
                  <a:pt x="3402" y="65"/>
                </a:cubicBezTo>
                <a:cubicBezTo>
                  <a:pt x="3423" y="79"/>
                  <a:pt x="3442" y="95"/>
                  <a:pt x="3460" y="112"/>
                </a:cubicBezTo>
                <a:cubicBezTo>
                  <a:pt x="3478" y="130"/>
                  <a:pt x="3494" y="150"/>
                  <a:pt x="3508" y="171"/>
                </a:cubicBezTo>
                <a:cubicBezTo>
                  <a:pt x="3522" y="192"/>
                  <a:pt x="3534" y="214"/>
                  <a:pt x="3543" y="237"/>
                </a:cubicBezTo>
                <a:cubicBezTo>
                  <a:pt x="3553" y="260"/>
                  <a:pt x="3560" y="284"/>
                  <a:pt x="3565" y="309"/>
                </a:cubicBezTo>
                <a:cubicBezTo>
                  <a:pt x="3570" y="334"/>
                  <a:pt x="3573" y="359"/>
                  <a:pt x="3573" y="384"/>
                </a:cubicBezTo>
                <a:cubicBezTo>
                  <a:pt x="3573" y="409"/>
                  <a:pt x="3570" y="434"/>
                  <a:pt x="3565" y="459"/>
                </a:cubicBezTo>
                <a:cubicBezTo>
                  <a:pt x="3560" y="483"/>
                  <a:pt x="3553" y="507"/>
                  <a:pt x="3543" y="531"/>
                </a:cubicBezTo>
                <a:cubicBezTo>
                  <a:pt x="3534" y="554"/>
                  <a:pt x="3522" y="576"/>
                  <a:pt x="3508" y="597"/>
                </a:cubicBezTo>
                <a:cubicBezTo>
                  <a:pt x="3494" y="618"/>
                  <a:pt x="3478" y="638"/>
                  <a:pt x="3460" y="656"/>
                </a:cubicBezTo>
                <a:cubicBezTo>
                  <a:pt x="3442" y="674"/>
                  <a:pt x="3423" y="690"/>
                  <a:pt x="3402" y="704"/>
                </a:cubicBezTo>
                <a:cubicBezTo>
                  <a:pt x="3381" y="718"/>
                  <a:pt x="3359" y="730"/>
                  <a:pt x="3336" y="739"/>
                </a:cubicBezTo>
                <a:cubicBezTo>
                  <a:pt x="3312" y="749"/>
                  <a:pt x="3288" y="756"/>
                  <a:pt x="3264" y="761"/>
                </a:cubicBezTo>
                <a:cubicBezTo>
                  <a:pt x="3239" y="766"/>
                  <a:pt x="3214" y="768"/>
                  <a:pt x="3189" y="768"/>
                </a:cubicBezTo>
                <a:lnTo>
                  <a:pt x="383" y="768"/>
                </a:lnTo>
                <a:cubicBezTo>
                  <a:pt x="358" y="768"/>
                  <a:pt x="333" y="766"/>
                  <a:pt x="308" y="761"/>
                </a:cubicBezTo>
                <a:cubicBezTo>
                  <a:pt x="284" y="756"/>
                  <a:pt x="260" y="749"/>
                  <a:pt x="237" y="739"/>
                </a:cubicBezTo>
                <a:cubicBezTo>
                  <a:pt x="213" y="730"/>
                  <a:pt x="191" y="718"/>
                  <a:pt x="170" y="704"/>
                </a:cubicBezTo>
                <a:cubicBezTo>
                  <a:pt x="149" y="690"/>
                  <a:pt x="130" y="674"/>
                  <a:pt x="112" y="656"/>
                </a:cubicBezTo>
                <a:cubicBezTo>
                  <a:pt x="94" y="638"/>
                  <a:pt x="78" y="618"/>
                  <a:pt x="64" y="597"/>
                </a:cubicBezTo>
                <a:cubicBezTo>
                  <a:pt x="50" y="576"/>
                  <a:pt x="39" y="554"/>
                  <a:pt x="29" y="531"/>
                </a:cubicBezTo>
                <a:cubicBezTo>
                  <a:pt x="19" y="507"/>
                  <a:pt x="12" y="483"/>
                  <a:pt x="7" y="459"/>
                </a:cubicBezTo>
                <a:cubicBezTo>
                  <a:pt x="2" y="434"/>
                  <a:pt x="0" y="409"/>
                  <a:pt x="0" y="384"/>
                </a:cubicBezTo>
                <a:close/>
              </a:path>
            </a:pathLst>
          </a:custGeom>
          <a:solidFill>
            <a:srgbClr val="141414"/>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462" name=""/>
          <p:cNvSpPr/>
          <p:nvPr/>
        </p:nvSpPr>
        <p:spPr>
          <a:xfrm>
            <a:off x="2871720" y="4605120"/>
            <a:ext cx="1286280" cy="276480"/>
          </a:xfrm>
          <a:custGeom>
            <a:avLst/>
            <a:gdLst/>
            <a:ahLst/>
            <a:rect l="0" t="0" r="r" b="b"/>
            <a:pathLst>
              <a:path w="3573" h="768">
                <a:moveTo>
                  <a:pt x="0" y="384"/>
                </a:moveTo>
                <a:cubicBezTo>
                  <a:pt x="0" y="359"/>
                  <a:pt x="2" y="334"/>
                  <a:pt x="7" y="309"/>
                </a:cubicBezTo>
                <a:cubicBezTo>
                  <a:pt x="12" y="284"/>
                  <a:pt x="19" y="260"/>
                  <a:pt x="29" y="237"/>
                </a:cubicBezTo>
                <a:cubicBezTo>
                  <a:pt x="39" y="214"/>
                  <a:pt x="50" y="192"/>
                  <a:pt x="64" y="171"/>
                </a:cubicBezTo>
                <a:cubicBezTo>
                  <a:pt x="78" y="150"/>
                  <a:pt x="94" y="130"/>
                  <a:pt x="112" y="112"/>
                </a:cubicBezTo>
                <a:cubicBezTo>
                  <a:pt x="130" y="95"/>
                  <a:pt x="149" y="79"/>
                  <a:pt x="170" y="65"/>
                </a:cubicBezTo>
                <a:cubicBezTo>
                  <a:pt x="191" y="51"/>
                  <a:pt x="213" y="39"/>
                  <a:pt x="237" y="29"/>
                </a:cubicBezTo>
                <a:cubicBezTo>
                  <a:pt x="260" y="20"/>
                  <a:pt x="284" y="12"/>
                  <a:pt x="308" y="7"/>
                </a:cubicBezTo>
                <a:cubicBezTo>
                  <a:pt x="333" y="3"/>
                  <a:pt x="358" y="0"/>
                  <a:pt x="383" y="0"/>
                </a:cubicBezTo>
                <a:lnTo>
                  <a:pt x="3189" y="0"/>
                </a:lnTo>
                <a:cubicBezTo>
                  <a:pt x="3214" y="0"/>
                  <a:pt x="3239" y="3"/>
                  <a:pt x="3264" y="7"/>
                </a:cubicBezTo>
                <a:cubicBezTo>
                  <a:pt x="3288" y="12"/>
                  <a:pt x="3312" y="20"/>
                  <a:pt x="3336" y="29"/>
                </a:cubicBezTo>
                <a:cubicBezTo>
                  <a:pt x="3359" y="39"/>
                  <a:pt x="3381" y="51"/>
                  <a:pt x="3402" y="65"/>
                </a:cubicBezTo>
                <a:cubicBezTo>
                  <a:pt x="3423" y="79"/>
                  <a:pt x="3442" y="95"/>
                  <a:pt x="3460" y="112"/>
                </a:cubicBezTo>
                <a:cubicBezTo>
                  <a:pt x="3478" y="130"/>
                  <a:pt x="3494" y="150"/>
                  <a:pt x="3508" y="171"/>
                </a:cubicBezTo>
                <a:cubicBezTo>
                  <a:pt x="3522" y="192"/>
                  <a:pt x="3534" y="214"/>
                  <a:pt x="3543" y="237"/>
                </a:cubicBezTo>
                <a:cubicBezTo>
                  <a:pt x="3553" y="260"/>
                  <a:pt x="3560" y="284"/>
                  <a:pt x="3565" y="309"/>
                </a:cubicBezTo>
                <a:cubicBezTo>
                  <a:pt x="3570" y="334"/>
                  <a:pt x="3573" y="359"/>
                  <a:pt x="3573" y="384"/>
                </a:cubicBezTo>
                <a:cubicBezTo>
                  <a:pt x="3573" y="409"/>
                  <a:pt x="3570" y="434"/>
                  <a:pt x="3565" y="459"/>
                </a:cubicBezTo>
                <a:cubicBezTo>
                  <a:pt x="3560" y="483"/>
                  <a:pt x="3553" y="507"/>
                  <a:pt x="3543" y="531"/>
                </a:cubicBezTo>
                <a:cubicBezTo>
                  <a:pt x="3534" y="554"/>
                  <a:pt x="3522" y="576"/>
                  <a:pt x="3508" y="597"/>
                </a:cubicBezTo>
                <a:cubicBezTo>
                  <a:pt x="3494" y="618"/>
                  <a:pt x="3478" y="638"/>
                  <a:pt x="3460" y="656"/>
                </a:cubicBezTo>
                <a:cubicBezTo>
                  <a:pt x="3442" y="674"/>
                  <a:pt x="3423" y="690"/>
                  <a:pt x="3402" y="704"/>
                </a:cubicBezTo>
                <a:cubicBezTo>
                  <a:pt x="3381" y="718"/>
                  <a:pt x="3359" y="730"/>
                  <a:pt x="3336" y="739"/>
                </a:cubicBezTo>
                <a:cubicBezTo>
                  <a:pt x="3312" y="749"/>
                  <a:pt x="3288" y="756"/>
                  <a:pt x="3264" y="761"/>
                </a:cubicBezTo>
                <a:cubicBezTo>
                  <a:pt x="3239" y="766"/>
                  <a:pt x="3214" y="768"/>
                  <a:pt x="3189" y="768"/>
                </a:cubicBezTo>
                <a:lnTo>
                  <a:pt x="383" y="768"/>
                </a:lnTo>
                <a:cubicBezTo>
                  <a:pt x="358" y="768"/>
                  <a:pt x="333" y="766"/>
                  <a:pt x="308" y="761"/>
                </a:cubicBezTo>
                <a:cubicBezTo>
                  <a:pt x="284" y="756"/>
                  <a:pt x="260" y="749"/>
                  <a:pt x="237" y="739"/>
                </a:cubicBezTo>
                <a:cubicBezTo>
                  <a:pt x="213" y="730"/>
                  <a:pt x="191" y="718"/>
                  <a:pt x="170" y="704"/>
                </a:cubicBezTo>
                <a:cubicBezTo>
                  <a:pt x="149" y="690"/>
                  <a:pt x="130" y="674"/>
                  <a:pt x="112" y="656"/>
                </a:cubicBezTo>
                <a:cubicBezTo>
                  <a:pt x="94" y="638"/>
                  <a:pt x="78" y="618"/>
                  <a:pt x="64" y="597"/>
                </a:cubicBezTo>
                <a:cubicBezTo>
                  <a:pt x="50" y="576"/>
                  <a:pt x="39" y="554"/>
                  <a:pt x="29" y="531"/>
                </a:cubicBezTo>
                <a:cubicBezTo>
                  <a:pt x="19" y="507"/>
                  <a:pt x="12" y="483"/>
                  <a:pt x="7" y="459"/>
                </a:cubicBezTo>
                <a:cubicBezTo>
                  <a:pt x="2" y="434"/>
                  <a:pt x="0" y="409"/>
                  <a:pt x="0" y="384"/>
                </a:cubicBezTo>
                <a:close/>
              </a:path>
            </a:pathLst>
          </a:custGeom>
          <a:noFill/>
          <a:ln w="9360">
            <a:solidFill>
              <a:srgbClr val="2B2B2B"/>
            </a:solidFill>
            <a:miter/>
          </a:ln>
        </p:spPr>
        <p:txBody>
          <a:bodyPr lIns="4680" tIns="4680" rIns="4680" bIns="4680" anchor="t">
            <a:noAutofit/>
          </a:bodyPr>
          <a:p>
            <a:endParaRPr lang="en-SG" sz="2400" b="0" u="none" strike="noStrike">
              <a:solidFill>
                <a:srgbClr val="000000"/>
              </a:solidFill>
              <a:effectLst/>
              <a:uFillTx/>
              <a:latin typeface="Times New Roman"/>
            </a:endParaRPr>
          </a:p>
        </p:txBody>
      </p:sp>
      <p:sp>
        <p:nvSpPr>
          <p:cNvPr id="463" name=""/>
          <p:cNvSpPr txBox="1"/>
          <p:nvPr/>
        </p:nvSpPr>
        <p:spPr>
          <a:xfrm>
            <a:off x="4514760" y="3996360"/>
            <a:ext cx="3220200" cy="262440"/>
          </a:xfrm>
          <a:prstGeom prst="rect">
            <a:avLst/>
          </a:prstGeom>
          <a:noFill/>
          <a:ln w="0">
            <a:noFill/>
          </a:ln>
        </p:spPr>
        <p:txBody>
          <a:bodyPr wrap="square" lIns="0" tIns="0" rIns="0" bIns="0" anchor="t">
            <a:spAutoFit/>
          </a:bodyPr>
          <a:p>
            <a:pPr/>
            <a:r>
              <a:rPr sz="1400" b="0">
                <a:solidFill>
                  <a:srgbClr val="AAAAAA"/>
                </a:solidFill>
                <a:latin typeface="Aptos"/>
              </a:rPr>
              <a:t>Five decisions in one hirer workflow</a:t>
            </a:r>
            <a:endParaRPr lang="en-SG" sz="2060" b="0" u="none" strike="noStrike">
              <a:solidFill>
                <a:srgbClr val="000000"/>
              </a:solidFill>
              <a:effectLst/>
              <a:uFillTx/>
              <a:latin typeface="Times New Roman"/>
            </a:endParaRPr>
          </a:p>
        </p:txBody>
      </p:sp>
      <p:sp>
        <p:nvSpPr>
          <p:cNvPr id="464" name=""/>
          <p:cNvSpPr/>
          <p:nvPr/>
        </p:nvSpPr>
        <p:spPr>
          <a:xfrm>
            <a:off x="4233600" y="4605120"/>
            <a:ext cx="1267200" cy="276480"/>
          </a:xfrm>
          <a:custGeom>
            <a:avLst/>
            <a:gdLst/>
            <a:ahLst/>
            <a:rect l="0" t="0" r="r" b="b"/>
            <a:pathLst>
              <a:path w="3520" h="768">
                <a:moveTo>
                  <a:pt x="0" y="384"/>
                </a:moveTo>
                <a:cubicBezTo>
                  <a:pt x="0" y="359"/>
                  <a:pt x="3" y="334"/>
                  <a:pt x="8" y="309"/>
                </a:cubicBezTo>
                <a:cubicBezTo>
                  <a:pt x="13" y="284"/>
                  <a:pt x="20" y="260"/>
                  <a:pt x="29" y="237"/>
                </a:cubicBezTo>
                <a:cubicBezTo>
                  <a:pt x="39" y="214"/>
                  <a:pt x="51" y="192"/>
                  <a:pt x="65" y="171"/>
                </a:cubicBezTo>
                <a:cubicBezTo>
                  <a:pt x="79" y="150"/>
                  <a:pt x="95" y="130"/>
                  <a:pt x="113" y="112"/>
                </a:cubicBezTo>
                <a:cubicBezTo>
                  <a:pt x="130" y="95"/>
                  <a:pt x="150" y="79"/>
                  <a:pt x="171" y="65"/>
                </a:cubicBezTo>
                <a:cubicBezTo>
                  <a:pt x="192" y="51"/>
                  <a:pt x="214" y="39"/>
                  <a:pt x="237" y="29"/>
                </a:cubicBezTo>
                <a:cubicBezTo>
                  <a:pt x="260" y="20"/>
                  <a:pt x="284" y="12"/>
                  <a:pt x="309" y="7"/>
                </a:cubicBezTo>
                <a:cubicBezTo>
                  <a:pt x="334" y="3"/>
                  <a:pt x="359" y="0"/>
                  <a:pt x="384" y="0"/>
                </a:cubicBezTo>
                <a:lnTo>
                  <a:pt x="3137" y="0"/>
                </a:lnTo>
                <a:cubicBezTo>
                  <a:pt x="3162" y="0"/>
                  <a:pt x="3187" y="3"/>
                  <a:pt x="3211" y="7"/>
                </a:cubicBezTo>
                <a:cubicBezTo>
                  <a:pt x="3236" y="12"/>
                  <a:pt x="3260" y="20"/>
                  <a:pt x="3283" y="29"/>
                </a:cubicBezTo>
                <a:cubicBezTo>
                  <a:pt x="3307" y="39"/>
                  <a:pt x="3329" y="51"/>
                  <a:pt x="3350" y="65"/>
                </a:cubicBezTo>
                <a:cubicBezTo>
                  <a:pt x="3371" y="79"/>
                  <a:pt x="3390" y="95"/>
                  <a:pt x="3408" y="112"/>
                </a:cubicBezTo>
                <a:cubicBezTo>
                  <a:pt x="3426" y="130"/>
                  <a:pt x="3442" y="150"/>
                  <a:pt x="3456" y="171"/>
                </a:cubicBezTo>
                <a:cubicBezTo>
                  <a:pt x="3470" y="192"/>
                  <a:pt x="3481" y="214"/>
                  <a:pt x="3491" y="237"/>
                </a:cubicBezTo>
                <a:cubicBezTo>
                  <a:pt x="3501" y="260"/>
                  <a:pt x="3508" y="284"/>
                  <a:pt x="3513" y="309"/>
                </a:cubicBezTo>
                <a:cubicBezTo>
                  <a:pt x="3518" y="334"/>
                  <a:pt x="3520" y="359"/>
                  <a:pt x="3520" y="384"/>
                </a:cubicBezTo>
                <a:cubicBezTo>
                  <a:pt x="3520" y="409"/>
                  <a:pt x="3518" y="434"/>
                  <a:pt x="3513" y="459"/>
                </a:cubicBezTo>
                <a:cubicBezTo>
                  <a:pt x="3508" y="483"/>
                  <a:pt x="3501" y="507"/>
                  <a:pt x="3491" y="531"/>
                </a:cubicBezTo>
                <a:cubicBezTo>
                  <a:pt x="3481" y="554"/>
                  <a:pt x="3470" y="576"/>
                  <a:pt x="3456" y="597"/>
                </a:cubicBezTo>
                <a:cubicBezTo>
                  <a:pt x="3442" y="618"/>
                  <a:pt x="3426" y="638"/>
                  <a:pt x="3408" y="656"/>
                </a:cubicBezTo>
                <a:cubicBezTo>
                  <a:pt x="3390" y="674"/>
                  <a:pt x="3371" y="690"/>
                  <a:pt x="3350" y="704"/>
                </a:cubicBezTo>
                <a:cubicBezTo>
                  <a:pt x="3329" y="718"/>
                  <a:pt x="3307" y="730"/>
                  <a:pt x="3283" y="739"/>
                </a:cubicBezTo>
                <a:cubicBezTo>
                  <a:pt x="3260" y="749"/>
                  <a:pt x="3236" y="756"/>
                  <a:pt x="3211" y="761"/>
                </a:cubicBezTo>
                <a:cubicBezTo>
                  <a:pt x="3187" y="766"/>
                  <a:pt x="3162" y="768"/>
                  <a:pt x="3137" y="768"/>
                </a:cubicBezTo>
                <a:lnTo>
                  <a:pt x="384" y="768"/>
                </a:lnTo>
                <a:cubicBezTo>
                  <a:pt x="359" y="768"/>
                  <a:pt x="334" y="766"/>
                  <a:pt x="309" y="761"/>
                </a:cubicBezTo>
                <a:cubicBezTo>
                  <a:pt x="284" y="756"/>
                  <a:pt x="260" y="749"/>
                  <a:pt x="237" y="739"/>
                </a:cubicBezTo>
                <a:cubicBezTo>
                  <a:pt x="214" y="730"/>
                  <a:pt x="192" y="718"/>
                  <a:pt x="171" y="704"/>
                </a:cubicBezTo>
                <a:cubicBezTo>
                  <a:pt x="150" y="690"/>
                  <a:pt x="130" y="674"/>
                  <a:pt x="113" y="656"/>
                </a:cubicBezTo>
                <a:cubicBezTo>
                  <a:pt x="95" y="638"/>
                  <a:pt x="79" y="618"/>
                  <a:pt x="65" y="597"/>
                </a:cubicBezTo>
                <a:cubicBezTo>
                  <a:pt x="51" y="576"/>
                  <a:pt x="39" y="554"/>
                  <a:pt x="29" y="531"/>
                </a:cubicBezTo>
                <a:cubicBezTo>
                  <a:pt x="20" y="507"/>
                  <a:pt x="13" y="483"/>
                  <a:pt x="8" y="459"/>
                </a:cubicBezTo>
                <a:cubicBezTo>
                  <a:pt x="3" y="434"/>
                  <a:pt x="0" y="409"/>
                  <a:pt x="0" y="384"/>
                </a:cubicBezTo>
                <a:close/>
              </a:path>
            </a:pathLst>
          </a:custGeom>
          <a:solidFill>
            <a:srgbClr val="141414"/>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465" name=""/>
          <p:cNvSpPr/>
          <p:nvPr/>
        </p:nvSpPr>
        <p:spPr>
          <a:xfrm>
            <a:off x="4233600" y="4605120"/>
            <a:ext cx="1267200" cy="276480"/>
          </a:xfrm>
          <a:custGeom>
            <a:avLst/>
            <a:gdLst/>
            <a:ahLst/>
            <a:rect l="0" t="0" r="r" b="b"/>
            <a:pathLst>
              <a:path w="3520" h="768">
                <a:moveTo>
                  <a:pt x="0" y="384"/>
                </a:moveTo>
                <a:cubicBezTo>
                  <a:pt x="0" y="359"/>
                  <a:pt x="3" y="334"/>
                  <a:pt x="8" y="309"/>
                </a:cubicBezTo>
                <a:cubicBezTo>
                  <a:pt x="13" y="284"/>
                  <a:pt x="20" y="260"/>
                  <a:pt x="29" y="237"/>
                </a:cubicBezTo>
                <a:cubicBezTo>
                  <a:pt x="39" y="214"/>
                  <a:pt x="51" y="192"/>
                  <a:pt x="65" y="171"/>
                </a:cubicBezTo>
                <a:cubicBezTo>
                  <a:pt x="79" y="150"/>
                  <a:pt x="95" y="130"/>
                  <a:pt x="113" y="112"/>
                </a:cubicBezTo>
                <a:cubicBezTo>
                  <a:pt x="130" y="95"/>
                  <a:pt x="150" y="79"/>
                  <a:pt x="171" y="65"/>
                </a:cubicBezTo>
                <a:cubicBezTo>
                  <a:pt x="192" y="51"/>
                  <a:pt x="214" y="39"/>
                  <a:pt x="237" y="29"/>
                </a:cubicBezTo>
                <a:cubicBezTo>
                  <a:pt x="260" y="20"/>
                  <a:pt x="284" y="12"/>
                  <a:pt x="309" y="7"/>
                </a:cubicBezTo>
                <a:cubicBezTo>
                  <a:pt x="334" y="3"/>
                  <a:pt x="359" y="0"/>
                  <a:pt x="384" y="0"/>
                </a:cubicBezTo>
                <a:lnTo>
                  <a:pt x="3137" y="0"/>
                </a:lnTo>
                <a:cubicBezTo>
                  <a:pt x="3162" y="0"/>
                  <a:pt x="3187" y="3"/>
                  <a:pt x="3211" y="7"/>
                </a:cubicBezTo>
                <a:cubicBezTo>
                  <a:pt x="3236" y="12"/>
                  <a:pt x="3260" y="20"/>
                  <a:pt x="3283" y="29"/>
                </a:cubicBezTo>
                <a:cubicBezTo>
                  <a:pt x="3307" y="39"/>
                  <a:pt x="3329" y="51"/>
                  <a:pt x="3350" y="65"/>
                </a:cubicBezTo>
                <a:cubicBezTo>
                  <a:pt x="3371" y="79"/>
                  <a:pt x="3390" y="95"/>
                  <a:pt x="3408" y="112"/>
                </a:cubicBezTo>
                <a:cubicBezTo>
                  <a:pt x="3426" y="130"/>
                  <a:pt x="3442" y="150"/>
                  <a:pt x="3456" y="171"/>
                </a:cubicBezTo>
                <a:cubicBezTo>
                  <a:pt x="3470" y="192"/>
                  <a:pt x="3481" y="214"/>
                  <a:pt x="3491" y="237"/>
                </a:cubicBezTo>
                <a:cubicBezTo>
                  <a:pt x="3501" y="260"/>
                  <a:pt x="3508" y="284"/>
                  <a:pt x="3513" y="309"/>
                </a:cubicBezTo>
                <a:cubicBezTo>
                  <a:pt x="3518" y="334"/>
                  <a:pt x="3520" y="359"/>
                  <a:pt x="3520" y="384"/>
                </a:cubicBezTo>
                <a:cubicBezTo>
                  <a:pt x="3520" y="409"/>
                  <a:pt x="3518" y="434"/>
                  <a:pt x="3513" y="459"/>
                </a:cubicBezTo>
                <a:cubicBezTo>
                  <a:pt x="3508" y="483"/>
                  <a:pt x="3501" y="507"/>
                  <a:pt x="3491" y="531"/>
                </a:cubicBezTo>
                <a:cubicBezTo>
                  <a:pt x="3481" y="554"/>
                  <a:pt x="3470" y="576"/>
                  <a:pt x="3456" y="597"/>
                </a:cubicBezTo>
                <a:cubicBezTo>
                  <a:pt x="3442" y="618"/>
                  <a:pt x="3426" y="638"/>
                  <a:pt x="3408" y="656"/>
                </a:cubicBezTo>
                <a:cubicBezTo>
                  <a:pt x="3390" y="674"/>
                  <a:pt x="3371" y="690"/>
                  <a:pt x="3350" y="704"/>
                </a:cubicBezTo>
                <a:cubicBezTo>
                  <a:pt x="3329" y="718"/>
                  <a:pt x="3307" y="730"/>
                  <a:pt x="3283" y="739"/>
                </a:cubicBezTo>
                <a:cubicBezTo>
                  <a:pt x="3260" y="749"/>
                  <a:pt x="3236" y="756"/>
                  <a:pt x="3211" y="761"/>
                </a:cubicBezTo>
                <a:cubicBezTo>
                  <a:pt x="3187" y="766"/>
                  <a:pt x="3162" y="768"/>
                  <a:pt x="3137" y="768"/>
                </a:cubicBezTo>
                <a:lnTo>
                  <a:pt x="384" y="768"/>
                </a:lnTo>
                <a:cubicBezTo>
                  <a:pt x="359" y="768"/>
                  <a:pt x="334" y="766"/>
                  <a:pt x="309" y="761"/>
                </a:cubicBezTo>
                <a:cubicBezTo>
                  <a:pt x="284" y="756"/>
                  <a:pt x="260" y="749"/>
                  <a:pt x="237" y="739"/>
                </a:cubicBezTo>
                <a:cubicBezTo>
                  <a:pt x="214" y="730"/>
                  <a:pt x="192" y="718"/>
                  <a:pt x="171" y="704"/>
                </a:cubicBezTo>
                <a:cubicBezTo>
                  <a:pt x="150" y="690"/>
                  <a:pt x="130" y="674"/>
                  <a:pt x="113" y="656"/>
                </a:cubicBezTo>
                <a:cubicBezTo>
                  <a:pt x="95" y="638"/>
                  <a:pt x="79" y="618"/>
                  <a:pt x="65" y="597"/>
                </a:cubicBezTo>
                <a:cubicBezTo>
                  <a:pt x="51" y="576"/>
                  <a:pt x="39" y="554"/>
                  <a:pt x="29" y="531"/>
                </a:cubicBezTo>
                <a:cubicBezTo>
                  <a:pt x="20" y="507"/>
                  <a:pt x="13" y="483"/>
                  <a:pt x="8" y="459"/>
                </a:cubicBezTo>
                <a:cubicBezTo>
                  <a:pt x="3" y="434"/>
                  <a:pt x="0" y="409"/>
                  <a:pt x="0" y="384"/>
                </a:cubicBezTo>
                <a:close/>
              </a:path>
            </a:pathLst>
          </a:custGeom>
          <a:noFill/>
          <a:ln w="9360">
            <a:solidFill>
              <a:srgbClr val="2B2B2B"/>
            </a:solidFill>
            <a:miter/>
          </a:ln>
        </p:spPr>
        <p:txBody>
          <a:bodyPr lIns="4680" tIns="4680" rIns="4680" bIns="4680" anchor="t">
            <a:noAutofit/>
          </a:bodyPr>
          <a:p>
            <a:endParaRPr lang="en-SG" sz="2400" b="0" u="none" strike="noStrike">
              <a:solidFill>
                <a:srgbClr val="000000"/>
              </a:solidFill>
              <a:effectLst/>
              <a:uFillTx/>
              <a:latin typeface="Times New Roman"/>
            </a:endParaRPr>
          </a:p>
        </p:txBody>
      </p:sp>
      <p:sp>
        <p:nvSpPr>
          <p:cNvPr id="466" name=""/>
          <p:cNvSpPr txBox="1"/>
          <p:nvPr/>
        </p:nvSpPr>
        <p:spPr>
          <a:xfrm>
            <a:off x="3000600" y="4655160"/>
            <a:ext cx="1020240" cy="169560"/>
          </a:xfrm>
          <a:prstGeom prst="rect">
            <a:avLst/>
          </a:prstGeom>
          <a:noFill/>
          <a:ln w="0">
            <a:noFill/>
          </a:ln>
        </p:spPr>
        <p:txBody>
          <a:bodyPr wrap="none" lIns="0" tIns="0" rIns="0" bIns="0" anchor="t">
            <a:spAutoFit/>
          </a:bodyPr>
          <a:p>
            <a:pPr/>
            <a:r>
              <a:rPr lang="en-SG" sz="1000" b="0" u="none" strike="noStrike">
                <a:solidFill>
                  <a:srgbClr val="AAAAAA"/>
                </a:solidFill>
                <a:effectLst/>
                <a:uFillTx/>
                <a:latin typeface="Outfit-Thin_"/>
                <a:ea typeface="Outfit-Thin_"/>
              </a:rPr>
              <a:t>Salary benchmark</a:t>
            </a:r>
            <a:endParaRPr lang="en-SG" sz="1000" b="0" u="none" strike="noStrike">
              <a:solidFill>
                <a:srgbClr val="000000"/>
              </a:solidFill>
              <a:effectLst/>
              <a:uFillTx/>
              <a:latin typeface="Times New Roman"/>
            </a:endParaRPr>
          </a:p>
        </p:txBody>
      </p:sp>
      <p:sp>
        <p:nvSpPr>
          <p:cNvPr id="467" name=""/>
          <p:cNvSpPr/>
          <p:nvPr/>
        </p:nvSpPr>
        <p:spPr>
          <a:xfrm>
            <a:off x="5576760" y="4605120"/>
            <a:ext cx="1333800" cy="276480"/>
          </a:xfrm>
          <a:custGeom>
            <a:avLst/>
            <a:gdLst/>
            <a:ahLst/>
            <a:rect l="0" t="0" r="r" b="b"/>
            <a:pathLst>
              <a:path w="3705" h="768">
                <a:moveTo>
                  <a:pt x="0" y="384"/>
                </a:moveTo>
                <a:cubicBezTo>
                  <a:pt x="0" y="359"/>
                  <a:pt x="2" y="334"/>
                  <a:pt x="7" y="309"/>
                </a:cubicBezTo>
                <a:cubicBezTo>
                  <a:pt x="12" y="284"/>
                  <a:pt x="19" y="260"/>
                  <a:pt x="29" y="237"/>
                </a:cubicBezTo>
                <a:cubicBezTo>
                  <a:pt x="39" y="214"/>
                  <a:pt x="51" y="192"/>
                  <a:pt x="65" y="171"/>
                </a:cubicBezTo>
                <a:cubicBezTo>
                  <a:pt x="79" y="150"/>
                  <a:pt x="94" y="130"/>
                  <a:pt x="112" y="112"/>
                </a:cubicBezTo>
                <a:cubicBezTo>
                  <a:pt x="130" y="95"/>
                  <a:pt x="149" y="79"/>
                  <a:pt x="170" y="65"/>
                </a:cubicBezTo>
                <a:cubicBezTo>
                  <a:pt x="191" y="51"/>
                  <a:pt x="213" y="39"/>
                  <a:pt x="237" y="29"/>
                </a:cubicBezTo>
                <a:cubicBezTo>
                  <a:pt x="260" y="20"/>
                  <a:pt x="284" y="12"/>
                  <a:pt x="309" y="7"/>
                </a:cubicBezTo>
                <a:cubicBezTo>
                  <a:pt x="333" y="3"/>
                  <a:pt x="358" y="0"/>
                  <a:pt x="383" y="0"/>
                </a:cubicBezTo>
                <a:lnTo>
                  <a:pt x="3321" y="0"/>
                </a:lnTo>
                <a:cubicBezTo>
                  <a:pt x="3347" y="0"/>
                  <a:pt x="3372" y="3"/>
                  <a:pt x="3396" y="7"/>
                </a:cubicBezTo>
                <a:cubicBezTo>
                  <a:pt x="3421" y="12"/>
                  <a:pt x="3445" y="20"/>
                  <a:pt x="3468" y="29"/>
                </a:cubicBezTo>
                <a:cubicBezTo>
                  <a:pt x="3491" y="39"/>
                  <a:pt x="3514" y="51"/>
                  <a:pt x="3535" y="65"/>
                </a:cubicBezTo>
                <a:cubicBezTo>
                  <a:pt x="3555" y="79"/>
                  <a:pt x="3575" y="95"/>
                  <a:pt x="3593" y="112"/>
                </a:cubicBezTo>
                <a:cubicBezTo>
                  <a:pt x="3610" y="130"/>
                  <a:pt x="3626" y="150"/>
                  <a:pt x="3640" y="171"/>
                </a:cubicBezTo>
                <a:cubicBezTo>
                  <a:pt x="3654" y="192"/>
                  <a:pt x="3666" y="214"/>
                  <a:pt x="3676" y="237"/>
                </a:cubicBezTo>
                <a:cubicBezTo>
                  <a:pt x="3685" y="260"/>
                  <a:pt x="3693" y="284"/>
                  <a:pt x="3698" y="309"/>
                </a:cubicBezTo>
                <a:cubicBezTo>
                  <a:pt x="3703" y="334"/>
                  <a:pt x="3705" y="359"/>
                  <a:pt x="3705" y="384"/>
                </a:cubicBezTo>
                <a:cubicBezTo>
                  <a:pt x="3705" y="409"/>
                  <a:pt x="3703" y="434"/>
                  <a:pt x="3698" y="459"/>
                </a:cubicBezTo>
                <a:cubicBezTo>
                  <a:pt x="3693" y="483"/>
                  <a:pt x="3685" y="507"/>
                  <a:pt x="3676" y="531"/>
                </a:cubicBezTo>
                <a:cubicBezTo>
                  <a:pt x="3666" y="554"/>
                  <a:pt x="3654" y="576"/>
                  <a:pt x="3640" y="597"/>
                </a:cubicBezTo>
                <a:cubicBezTo>
                  <a:pt x="3626" y="618"/>
                  <a:pt x="3610" y="638"/>
                  <a:pt x="3593" y="656"/>
                </a:cubicBezTo>
                <a:cubicBezTo>
                  <a:pt x="3575" y="674"/>
                  <a:pt x="3555" y="690"/>
                  <a:pt x="3535" y="704"/>
                </a:cubicBezTo>
                <a:cubicBezTo>
                  <a:pt x="3514" y="718"/>
                  <a:pt x="3491" y="730"/>
                  <a:pt x="3468" y="739"/>
                </a:cubicBezTo>
                <a:cubicBezTo>
                  <a:pt x="3445" y="749"/>
                  <a:pt x="3421" y="756"/>
                  <a:pt x="3396" y="761"/>
                </a:cubicBezTo>
                <a:cubicBezTo>
                  <a:pt x="3372" y="766"/>
                  <a:pt x="3347" y="768"/>
                  <a:pt x="3321" y="768"/>
                </a:cubicBezTo>
                <a:lnTo>
                  <a:pt x="383" y="768"/>
                </a:lnTo>
                <a:cubicBezTo>
                  <a:pt x="358" y="768"/>
                  <a:pt x="333" y="766"/>
                  <a:pt x="309" y="761"/>
                </a:cubicBezTo>
                <a:cubicBezTo>
                  <a:pt x="284" y="756"/>
                  <a:pt x="260" y="749"/>
                  <a:pt x="237" y="739"/>
                </a:cubicBezTo>
                <a:cubicBezTo>
                  <a:pt x="213" y="730"/>
                  <a:pt x="191" y="718"/>
                  <a:pt x="170" y="704"/>
                </a:cubicBezTo>
                <a:cubicBezTo>
                  <a:pt x="149" y="690"/>
                  <a:pt x="130" y="674"/>
                  <a:pt x="112" y="656"/>
                </a:cubicBezTo>
                <a:cubicBezTo>
                  <a:pt x="94" y="638"/>
                  <a:pt x="79" y="618"/>
                  <a:pt x="65" y="597"/>
                </a:cubicBezTo>
                <a:cubicBezTo>
                  <a:pt x="51" y="576"/>
                  <a:pt x="39" y="554"/>
                  <a:pt x="29" y="531"/>
                </a:cubicBezTo>
                <a:cubicBezTo>
                  <a:pt x="19" y="507"/>
                  <a:pt x="12" y="483"/>
                  <a:pt x="7" y="459"/>
                </a:cubicBezTo>
                <a:cubicBezTo>
                  <a:pt x="2" y="434"/>
                  <a:pt x="0" y="409"/>
                  <a:pt x="0" y="384"/>
                </a:cubicBezTo>
                <a:close/>
              </a:path>
            </a:pathLst>
          </a:custGeom>
          <a:solidFill>
            <a:srgbClr val="141414"/>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468" name=""/>
          <p:cNvSpPr/>
          <p:nvPr/>
        </p:nvSpPr>
        <p:spPr>
          <a:xfrm>
            <a:off x="5576760" y="4605120"/>
            <a:ext cx="1333800" cy="276480"/>
          </a:xfrm>
          <a:custGeom>
            <a:avLst/>
            <a:gdLst/>
            <a:ahLst/>
            <a:rect l="0" t="0" r="r" b="b"/>
            <a:pathLst>
              <a:path w="3705" h="768">
                <a:moveTo>
                  <a:pt x="0" y="384"/>
                </a:moveTo>
                <a:cubicBezTo>
                  <a:pt x="0" y="359"/>
                  <a:pt x="2" y="334"/>
                  <a:pt x="7" y="309"/>
                </a:cubicBezTo>
                <a:cubicBezTo>
                  <a:pt x="12" y="284"/>
                  <a:pt x="19" y="260"/>
                  <a:pt x="29" y="237"/>
                </a:cubicBezTo>
                <a:cubicBezTo>
                  <a:pt x="39" y="214"/>
                  <a:pt x="51" y="192"/>
                  <a:pt x="65" y="171"/>
                </a:cubicBezTo>
                <a:cubicBezTo>
                  <a:pt x="79" y="150"/>
                  <a:pt x="94" y="130"/>
                  <a:pt x="112" y="112"/>
                </a:cubicBezTo>
                <a:cubicBezTo>
                  <a:pt x="130" y="95"/>
                  <a:pt x="149" y="79"/>
                  <a:pt x="170" y="65"/>
                </a:cubicBezTo>
                <a:cubicBezTo>
                  <a:pt x="191" y="51"/>
                  <a:pt x="213" y="39"/>
                  <a:pt x="237" y="29"/>
                </a:cubicBezTo>
                <a:cubicBezTo>
                  <a:pt x="260" y="20"/>
                  <a:pt x="284" y="12"/>
                  <a:pt x="309" y="7"/>
                </a:cubicBezTo>
                <a:cubicBezTo>
                  <a:pt x="333" y="3"/>
                  <a:pt x="358" y="0"/>
                  <a:pt x="383" y="0"/>
                </a:cubicBezTo>
                <a:lnTo>
                  <a:pt x="3321" y="0"/>
                </a:lnTo>
                <a:cubicBezTo>
                  <a:pt x="3347" y="0"/>
                  <a:pt x="3372" y="3"/>
                  <a:pt x="3396" y="7"/>
                </a:cubicBezTo>
                <a:cubicBezTo>
                  <a:pt x="3421" y="12"/>
                  <a:pt x="3445" y="20"/>
                  <a:pt x="3468" y="29"/>
                </a:cubicBezTo>
                <a:cubicBezTo>
                  <a:pt x="3491" y="39"/>
                  <a:pt x="3514" y="51"/>
                  <a:pt x="3535" y="65"/>
                </a:cubicBezTo>
                <a:cubicBezTo>
                  <a:pt x="3555" y="79"/>
                  <a:pt x="3575" y="95"/>
                  <a:pt x="3593" y="112"/>
                </a:cubicBezTo>
                <a:cubicBezTo>
                  <a:pt x="3610" y="130"/>
                  <a:pt x="3626" y="150"/>
                  <a:pt x="3640" y="171"/>
                </a:cubicBezTo>
                <a:cubicBezTo>
                  <a:pt x="3654" y="192"/>
                  <a:pt x="3666" y="214"/>
                  <a:pt x="3676" y="237"/>
                </a:cubicBezTo>
                <a:cubicBezTo>
                  <a:pt x="3685" y="260"/>
                  <a:pt x="3693" y="284"/>
                  <a:pt x="3698" y="309"/>
                </a:cubicBezTo>
                <a:cubicBezTo>
                  <a:pt x="3703" y="334"/>
                  <a:pt x="3705" y="359"/>
                  <a:pt x="3705" y="384"/>
                </a:cubicBezTo>
                <a:cubicBezTo>
                  <a:pt x="3705" y="409"/>
                  <a:pt x="3703" y="434"/>
                  <a:pt x="3698" y="459"/>
                </a:cubicBezTo>
                <a:cubicBezTo>
                  <a:pt x="3693" y="483"/>
                  <a:pt x="3685" y="507"/>
                  <a:pt x="3676" y="531"/>
                </a:cubicBezTo>
                <a:cubicBezTo>
                  <a:pt x="3666" y="554"/>
                  <a:pt x="3654" y="576"/>
                  <a:pt x="3640" y="597"/>
                </a:cubicBezTo>
                <a:cubicBezTo>
                  <a:pt x="3626" y="618"/>
                  <a:pt x="3610" y="638"/>
                  <a:pt x="3593" y="656"/>
                </a:cubicBezTo>
                <a:cubicBezTo>
                  <a:pt x="3575" y="674"/>
                  <a:pt x="3555" y="690"/>
                  <a:pt x="3535" y="704"/>
                </a:cubicBezTo>
                <a:cubicBezTo>
                  <a:pt x="3514" y="718"/>
                  <a:pt x="3491" y="730"/>
                  <a:pt x="3468" y="739"/>
                </a:cubicBezTo>
                <a:cubicBezTo>
                  <a:pt x="3445" y="749"/>
                  <a:pt x="3421" y="756"/>
                  <a:pt x="3396" y="761"/>
                </a:cubicBezTo>
                <a:cubicBezTo>
                  <a:pt x="3372" y="766"/>
                  <a:pt x="3347" y="768"/>
                  <a:pt x="3321" y="768"/>
                </a:cubicBezTo>
                <a:lnTo>
                  <a:pt x="383" y="768"/>
                </a:lnTo>
                <a:cubicBezTo>
                  <a:pt x="358" y="768"/>
                  <a:pt x="333" y="766"/>
                  <a:pt x="309" y="761"/>
                </a:cubicBezTo>
                <a:cubicBezTo>
                  <a:pt x="284" y="756"/>
                  <a:pt x="260" y="749"/>
                  <a:pt x="237" y="739"/>
                </a:cubicBezTo>
                <a:cubicBezTo>
                  <a:pt x="213" y="730"/>
                  <a:pt x="191" y="718"/>
                  <a:pt x="170" y="704"/>
                </a:cubicBezTo>
                <a:cubicBezTo>
                  <a:pt x="149" y="690"/>
                  <a:pt x="130" y="674"/>
                  <a:pt x="112" y="656"/>
                </a:cubicBezTo>
                <a:cubicBezTo>
                  <a:pt x="94" y="638"/>
                  <a:pt x="79" y="618"/>
                  <a:pt x="65" y="597"/>
                </a:cubicBezTo>
                <a:cubicBezTo>
                  <a:pt x="51" y="576"/>
                  <a:pt x="39" y="554"/>
                  <a:pt x="29" y="531"/>
                </a:cubicBezTo>
                <a:cubicBezTo>
                  <a:pt x="19" y="507"/>
                  <a:pt x="12" y="483"/>
                  <a:pt x="7" y="459"/>
                </a:cubicBezTo>
                <a:cubicBezTo>
                  <a:pt x="2" y="434"/>
                  <a:pt x="0" y="409"/>
                  <a:pt x="0" y="384"/>
                </a:cubicBezTo>
                <a:close/>
              </a:path>
            </a:pathLst>
          </a:custGeom>
          <a:noFill/>
          <a:ln w="9360">
            <a:solidFill>
              <a:srgbClr val="2B2B2B"/>
            </a:solidFill>
            <a:miter/>
          </a:ln>
        </p:spPr>
        <p:txBody>
          <a:bodyPr lIns="4680" tIns="4680" rIns="4680" bIns="4680" anchor="t">
            <a:noAutofit/>
          </a:bodyPr>
          <a:p>
            <a:endParaRPr lang="en-SG" sz="2400" b="0" u="none" strike="noStrike">
              <a:solidFill>
                <a:srgbClr val="000000"/>
              </a:solidFill>
              <a:effectLst/>
              <a:uFillTx/>
              <a:latin typeface="Times New Roman"/>
            </a:endParaRPr>
          </a:p>
        </p:txBody>
      </p:sp>
      <p:sp>
        <p:nvSpPr>
          <p:cNvPr id="469" name=""/>
          <p:cNvSpPr txBox="1"/>
          <p:nvPr/>
        </p:nvSpPr>
        <p:spPr>
          <a:xfrm>
            <a:off x="4361400" y="4655160"/>
            <a:ext cx="1020240" cy="169560"/>
          </a:xfrm>
          <a:prstGeom prst="rect">
            <a:avLst/>
          </a:prstGeom>
          <a:noFill/>
          <a:ln w="0">
            <a:noFill/>
          </a:ln>
        </p:spPr>
        <p:txBody>
          <a:bodyPr wrap="none" lIns="0" tIns="0" rIns="0" bIns="0" anchor="t">
            <a:spAutoFit/>
          </a:bodyPr>
          <a:p>
            <a:pPr/>
            <a:r>
              <a:rPr lang="en-SG" sz="1000" b="0" u="none" strike="noStrike">
                <a:solidFill>
                  <a:srgbClr val="AAAAAA"/>
                </a:solidFill>
                <a:effectLst/>
                <a:uFillTx/>
                <a:latin typeface="Outfit-Thin_"/>
                <a:ea typeface="Outfit-Thin_"/>
              </a:rPr>
              <a:t>Experience norms</a:t>
            </a:r>
            <a:endParaRPr lang="en-SG" sz="1000" b="0" u="none" strike="noStrike">
              <a:solidFill>
                <a:srgbClr val="000000"/>
              </a:solidFill>
              <a:effectLst/>
              <a:uFillTx/>
              <a:latin typeface="Times New Roman"/>
            </a:endParaRPr>
          </a:p>
        </p:txBody>
      </p:sp>
      <p:sp>
        <p:nvSpPr>
          <p:cNvPr id="470" name=""/>
          <p:cNvSpPr/>
          <p:nvPr/>
        </p:nvSpPr>
        <p:spPr>
          <a:xfrm>
            <a:off x="6986520" y="4605120"/>
            <a:ext cx="1381320" cy="276480"/>
          </a:xfrm>
          <a:custGeom>
            <a:avLst/>
            <a:gdLst/>
            <a:ahLst/>
            <a:rect l="0" t="0" r="r" b="b"/>
            <a:pathLst>
              <a:path w="3837" h="768">
                <a:moveTo>
                  <a:pt x="0" y="384"/>
                </a:moveTo>
                <a:cubicBezTo>
                  <a:pt x="0" y="359"/>
                  <a:pt x="2" y="334"/>
                  <a:pt x="7" y="309"/>
                </a:cubicBezTo>
                <a:cubicBezTo>
                  <a:pt x="12" y="284"/>
                  <a:pt x="19" y="260"/>
                  <a:pt x="29" y="237"/>
                </a:cubicBezTo>
                <a:cubicBezTo>
                  <a:pt x="39" y="214"/>
                  <a:pt x="50" y="192"/>
                  <a:pt x="64" y="171"/>
                </a:cubicBezTo>
                <a:cubicBezTo>
                  <a:pt x="78" y="150"/>
                  <a:pt x="94" y="130"/>
                  <a:pt x="112" y="112"/>
                </a:cubicBezTo>
                <a:cubicBezTo>
                  <a:pt x="130" y="95"/>
                  <a:pt x="149" y="79"/>
                  <a:pt x="170" y="65"/>
                </a:cubicBezTo>
                <a:cubicBezTo>
                  <a:pt x="191" y="51"/>
                  <a:pt x="213" y="39"/>
                  <a:pt x="237" y="29"/>
                </a:cubicBezTo>
                <a:cubicBezTo>
                  <a:pt x="260" y="20"/>
                  <a:pt x="284" y="12"/>
                  <a:pt x="308" y="7"/>
                </a:cubicBezTo>
                <a:cubicBezTo>
                  <a:pt x="333" y="3"/>
                  <a:pt x="358" y="0"/>
                  <a:pt x="383" y="0"/>
                </a:cubicBezTo>
                <a:lnTo>
                  <a:pt x="3453" y="0"/>
                </a:lnTo>
                <a:cubicBezTo>
                  <a:pt x="3479" y="0"/>
                  <a:pt x="3504" y="3"/>
                  <a:pt x="3528" y="7"/>
                </a:cubicBezTo>
                <a:cubicBezTo>
                  <a:pt x="3553" y="12"/>
                  <a:pt x="3577" y="20"/>
                  <a:pt x="3600" y="29"/>
                </a:cubicBezTo>
                <a:cubicBezTo>
                  <a:pt x="3624" y="39"/>
                  <a:pt x="3646" y="51"/>
                  <a:pt x="3667" y="65"/>
                </a:cubicBezTo>
                <a:cubicBezTo>
                  <a:pt x="3688" y="79"/>
                  <a:pt x="3707" y="95"/>
                  <a:pt x="3725" y="112"/>
                </a:cubicBezTo>
                <a:cubicBezTo>
                  <a:pt x="3743" y="130"/>
                  <a:pt x="3758" y="150"/>
                  <a:pt x="3772" y="171"/>
                </a:cubicBezTo>
                <a:cubicBezTo>
                  <a:pt x="3786" y="192"/>
                  <a:pt x="3798" y="214"/>
                  <a:pt x="3808" y="237"/>
                </a:cubicBezTo>
                <a:cubicBezTo>
                  <a:pt x="3818" y="260"/>
                  <a:pt x="3825" y="284"/>
                  <a:pt x="3830" y="309"/>
                </a:cubicBezTo>
                <a:cubicBezTo>
                  <a:pt x="3835" y="334"/>
                  <a:pt x="3837" y="359"/>
                  <a:pt x="3837" y="384"/>
                </a:cubicBezTo>
                <a:cubicBezTo>
                  <a:pt x="3837" y="409"/>
                  <a:pt x="3835" y="434"/>
                  <a:pt x="3830" y="459"/>
                </a:cubicBezTo>
                <a:cubicBezTo>
                  <a:pt x="3825" y="483"/>
                  <a:pt x="3818" y="507"/>
                  <a:pt x="3808" y="531"/>
                </a:cubicBezTo>
                <a:cubicBezTo>
                  <a:pt x="3798" y="554"/>
                  <a:pt x="3786" y="576"/>
                  <a:pt x="3772" y="597"/>
                </a:cubicBezTo>
                <a:cubicBezTo>
                  <a:pt x="3758" y="618"/>
                  <a:pt x="3743" y="638"/>
                  <a:pt x="3725" y="656"/>
                </a:cubicBezTo>
                <a:cubicBezTo>
                  <a:pt x="3707" y="674"/>
                  <a:pt x="3688" y="690"/>
                  <a:pt x="3667" y="704"/>
                </a:cubicBezTo>
                <a:cubicBezTo>
                  <a:pt x="3646" y="718"/>
                  <a:pt x="3624" y="730"/>
                  <a:pt x="3600" y="739"/>
                </a:cubicBezTo>
                <a:cubicBezTo>
                  <a:pt x="3577" y="749"/>
                  <a:pt x="3553" y="756"/>
                  <a:pt x="3528" y="761"/>
                </a:cubicBezTo>
                <a:cubicBezTo>
                  <a:pt x="3504" y="766"/>
                  <a:pt x="3479" y="768"/>
                  <a:pt x="3453" y="768"/>
                </a:cubicBezTo>
                <a:lnTo>
                  <a:pt x="383" y="768"/>
                </a:lnTo>
                <a:cubicBezTo>
                  <a:pt x="358" y="768"/>
                  <a:pt x="333" y="766"/>
                  <a:pt x="308" y="761"/>
                </a:cubicBezTo>
                <a:cubicBezTo>
                  <a:pt x="284" y="756"/>
                  <a:pt x="260" y="749"/>
                  <a:pt x="237" y="739"/>
                </a:cubicBezTo>
                <a:cubicBezTo>
                  <a:pt x="213" y="730"/>
                  <a:pt x="191" y="718"/>
                  <a:pt x="170" y="704"/>
                </a:cubicBezTo>
                <a:cubicBezTo>
                  <a:pt x="149" y="690"/>
                  <a:pt x="130" y="674"/>
                  <a:pt x="112" y="656"/>
                </a:cubicBezTo>
                <a:cubicBezTo>
                  <a:pt x="94" y="638"/>
                  <a:pt x="78" y="618"/>
                  <a:pt x="64" y="597"/>
                </a:cubicBezTo>
                <a:cubicBezTo>
                  <a:pt x="50" y="576"/>
                  <a:pt x="39" y="554"/>
                  <a:pt x="29" y="531"/>
                </a:cubicBezTo>
                <a:cubicBezTo>
                  <a:pt x="19" y="507"/>
                  <a:pt x="12" y="483"/>
                  <a:pt x="7" y="459"/>
                </a:cubicBezTo>
                <a:cubicBezTo>
                  <a:pt x="2" y="434"/>
                  <a:pt x="0" y="409"/>
                  <a:pt x="0" y="384"/>
                </a:cubicBezTo>
                <a:close/>
              </a:path>
            </a:pathLst>
          </a:custGeom>
          <a:solidFill>
            <a:srgbClr val="141414"/>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471" name=""/>
          <p:cNvSpPr/>
          <p:nvPr/>
        </p:nvSpPr>
        <p:spPr>
          <a:xfrm>
            <a:off x="6986520" y="4605120"/>
            <a:ext cx="1381320" cy="276480"/>
          </a:xfrm>
          <a:custGeom>
            <a:avLst/>
            <a:gdLst/>
            <a:ahLst/>
            <a:rect l="0" t="0" r="r" b="b"/>
            <a:pathLst>
              <a:path w="3837" h="768">
                <a:moveTo>
                  <a:pt x="0" y="384"/>
                </a:moveTo>
                <a:cubicBezTo>
                  <a:pt x="0" y="359"/>
                  <a:pt x="2" y="334"/>
                  <a:pt x="7" y="309"/>
                </a:cubicBezTo>
                <a:cubicBezTo>
                  <a:pt x="12" y="284"/>
                  <a:pt x="19" y="260"/>
                  <a:pt x="29" y="237"/>
                </a:cubicBezTo>
                <a:cubicBezTo>
                  <a:pt x="39" y="214"/>
                  <a:pt x="50" y="192"/>
                  <a:pt x="64" y="171"/>
                </a:cubicBezTo>
                <a:cubicBezTo>
                  <a:pt x="78" y="150"/>
                  <a:pt x="94" y="130"/>
                  <a:pt x="112" y="112"/>
                </a:cubicBezTo>
                <a:cubicBezTo>
                  <a:pt x="130" y="95"/>
                  <a:pt x="149" y="79"/>
                  <a:pt x="170" y="65"/>
                </a:cubicBezTo>
                <a:cubicBezTo>
                  <a:pt x="191" y="51"/>
                  <a:pt x="213" y="39"/>
                  <a:pt x="237" y="29"/>
                </a:cubicBezTo>
                <a:cubicBezTo>
                  <a:pt x="260" y="20"/>
                  <a:pt x="284" y="12"/>
                  <a:pt x="308" y="7"/>
                </a:cubicBezTo>
                <a:cubicBezTo>
                  <a:pt x="333" y="3"/>
                  <a:pt x="358" y="0"/>
                  <a:pt x="383" y="0"/>
                </a:cubicBezTo>
                <a:lnTo>
                  <a:pt x="3453" y="0"/>
                </a:lnTo>
                <a:cubicBezTo>
                  <a:pt x="3479" y="0"/>
                  <a:pt x="3504" y="3"/>
                  <a:pt x="3528" y="7"/>
                </a:cubicBezTo>
                <a:cubicBezTo>
                  <a:pt x="3553" y="12"/>
                  <a:pt x="3577" y="20"/>
                  <a:pt x="3600" y="29"/>
                </a:cubicBezTo>
                <a:cubicBezTo>
                  <a:pt x="3624" y="39"/>
                  <a:pt x="3646" y="51"/>
                  <a:pt x="3667" y="65"/>
                </a:cubicBezTo>
                <a:cubicBezTo>
                  <a:pt x="3688" y="79"/>
                  <a:pt x="3707" y="95"/>
                  <a:pt x="3725" y="112"/>
                </a:cubicBezTo>
                <a:cubicBezTo>
                  <a:pt x="3743" y="130"/>
                  <a:pt x="3758" y="150"/>
                  <a:pt x="3772" y="171"/>
                </a:cubicBezTo>
                <a:cubicBezTo>
                  <a:pt x="3786" y="192"/>
                  <a:pt x="3798" y="214"/>
                  <a:pt x="3808" y="237"/>
                </a:cubicBezTo>
                <a:cubicBezTo>
                  <a:pt x="3818" y="260"/>
                  <a:pt x="3825" y="284"/>
                  <a:pt x="3830" y="309"/>
                </a:cubicBezTo>
                <a:cubicBezTo>
                  <a:pt x="3835" y="334"/>
                  <a:pt x="3837" y="359"/>
                  <a:pt x="3837" y="384"/>
                </a:cubicBezTo>
                <a:cubicBezTo>
                  <a:pt x="3837" y="409"/>
                  <a:pt x="3835" y="434"/>
                  <a:pt x="3830" y="459"/>
                </a:cubicBezTo>
                <a:cubicBezTo>
                  <a:pt x="3825" y="483"/>
                  <a:pt x="3818" y="507"/>
                  <a:pt x="3808" y="531"/>
                </a:cubicBezTo>
                <a:cubicBezTo>
                  <a:pt x="3798" y="554"/>
                  <a:pt x="3786" y="576"/>
                  <a:pt x="3772" y="597"/>
                </a:cubicBezTo>
                <a:cubicBezTo>
                  <a:pt x="3758" y="618"/>
                  <a:pt x="3743" y="638"/>
                  <a:pt x="3725" y="656"/>
                </a:cubicBezTo>
                <a:cubicBezTo>
                  <a:pt x="3707" y="674"/>
                  <a:pt x="3688" y="690"/>
                  <a:pt x="3667" y="704"/>
                </a:cubicBezTo>
                <a:cubicBezTo>
                  <a:pt x="3646" y="718"/>
                  <a:pt x="3624" y="730"/>
                  <a:pt x="3600" y="739"/>
                </a:cubicBezTo>
                <a:cubicBezTo>
                  <a:pt x="3577" y="749"/>
                  <a:pt x="3553" y="756"/>
                  <a:pt x="3528" y="761"/>
                </a:cubicBezTo>
                <a:cubicBezTo>
                  <a:pt x="3504" y="766"/>
                  <a:pt x="3479" y="768"/>
                  <a:pt x="3453" y="768"/>
                </a:cubicBezTo>
                <a:lnTo>
                  <a:pt x="383" y="768"/>
                </a:lnTo>
                <a:cubicBezTo>
                  <a:pt x="358" y="768"/>
                  <a:pt x="333" y="766"/>
                  <a:pt x="308" y="761"/>
                </a:cubicBezTo>
                <a:cubicBezTo>
                  <a:pt x="284" y="756"/>
                  <a:pt x="260" y="749"/>
                  <a:pt x="237" y="739"/>
                </a:cubicBezTo>
                <a:cubicBezTo>
                  <a:pt x="213" y="730"/>
                  <a:pt x="191" y="718"/>
                  <a:pt x="170" y="704"/>
                </a:cubicBezTo>
                <a:cubicBezTo>
                  <a:pt x="149" y="690"/>
                  <a:pt x="130" y="674"/>
                  <a:pt x="112" y="656"/>
                </a:cubicBezTo>
                <a:cubicBezTo>
                  <a:pt x="94" y="638"/>
                  <a:pt x="78" y="618"/>
                  <a:pt x="64" y="597"/>
                </a:cubicBezTo>
                <a:cubicBezTo>
                  <a:pt x="50" y="576"/>
                  <a:pt x="39" y="554"/>
                  <a:pt x="29" y="531"/>
                </a:cubicBezTo>
                <a:cubicBezTo>
                  <a:pt x="19" y="507"/>
                  <a:pt x="12" y="483"/>
                  <a:pt x="7" y="459"/>
                </a:cubicBezTo>
                <a:cubicBezTo>
                  <a:pt x="2" y="434"/>
                  <a:pt x="0" y="409"/>
                  <a:pt x="0" y="384"/>
                </a:cubicBezTo>
                <a:close/>
              </a:path>
            </a:pathLst>
          </a:custGeom>
          <a:noFill/>
          <a:ln w="9360">
            <a:solidFill>
              <a:srgbClr val="2B2B2B"/>
            </a:solidFill>
            <a:miter/>
          </a:ln>
        </p:spPr>
        <p:txBody>
          <a:bodyPr lIns="4680" tIns="4680" rIns="4680" bIns="4680" anchor="t">
            <a:noAutofit/>
          </a:bodyPr>
          <a:p>
            <a:endParaRPr lang="en-SG" sz="2400" b="0" u="none" strike="noStrike">
              <a:solidFill>
                <a:srgbClr val="000000"/>
              </a:solidFill>
              <a:effectLst/>
              <a:uFillTx/>
              <a:latin typeface="Times New Roman"/>
            </a:endParaRPr>
          </a:p>
        </p:txBody>
      </p:sp>
      <p:sp>
        <p:nvSpPr>
          <p:cNvPr id="472" name=""/>
          <p:cNvSpPr txBox="1"/>
          <p:nvPr/>
        </p:nvSpPr>
        <p:spPr>
          <a:xfrm>
            <a:off x="5703840" y="4655160"/>
            <a:ext cx="1076760" cy="169560"/>
          </a:xfrm>
          <a:prstGeom prst="rect">
            <a:avLst/>
          </a:prstGeom>
          <a:noFill/>
          <a:ln w="0">
            <a:noFill/>
          </a:ln>
        </p:spPr>
        <p:txBody>
          <a:bodyPr wrap="none" lIns="0" tIns="0" rIns="0" bIns="0" anchor="t">
            <a:spAutoFit/>
          </a:bodyPr>
          <a:p>
            <a:pPr/>
            <a:r>
              <a:rPr lang="en-SG" sz="1000" b="0" u="none" strike="noStrike">
                <a:solidFill>
                  <a:srgbClr val="AAAAAA"/>
                </a:solidFill>
                <a:effectLst/>
                <a:uFillTx/>
                <a:latin typeface="Outfit-Thin_"/>
                <a:ea typeface="Outfit-Thin_"/>
              </a:rPr>
              <a:t>Applicant response</a:t>
            </a:r>
            <a:endParaRPr lang="en-SG" sz="1000" b="0" u="none" strike="noStrike">
              <a:solidFill>
                <a:srgbClr val="000000"/>
              </a:solidFill>
              <a:effectLst/>
              <a:uFillTx/>
              <a:latin typeface="Times New Roman"/>
            </a:endParaRPr>
          </a:p>
        </p:txBody>
      </p:sp>
      <p:sp>
        <p:nvSpPr>
          <p:cNvPr id="473" name=""/>
          <p:cNvSpPr/>
          <p:nvPr/>
        </p:nvSpPr>
        <p:spPr>
          <a:xfrm>
            <a:off x="8443800" y="4605120"/>
            <a:ext cx="876600" cy="276480"/>
          </a:xfrm>
          <a:custGeom>
            <a:avLst/>
            <a:gdLst/>
            <a:ahLst/>
            <a:rect l="0" t="0" r="r" b="b"/>
            <a:pathLst>
              <a:path w="2435" h="768">
                <a:moveTo>
                  <a:pt x="0" y="384"/>
                </a:moveTo>
                <a:cubicBezTo>
                  <a:pt x="0" y="359"/>
                  <a:pt x="2" y="334"/>
                  <a:pt x="7" y="309"/>
                </a:cubicBezTo>
                <a:cubicBezTo>
                  <a:pt x="12" y="284"/>
                  <a:pt x="19" y="260"/>
                  <a:pt x="29" y="237"/>
                </a:cubicBezTo>
                <a:cubicBezTo>
                  <a:pt x="39" y="214"/>
                  <a:pt x="50" y="192"/>
                  <a:pt x="64" y="171"/>
                </a:cubicBezTo>
                <a:cubicBezTo>
                  <a:pt x="78" y="150"/>
                  <a:pt x="94" y="130"/>
                  <a:pt x="112" y="112"/>
                </a:cubicBezTo>
                <a:cubicBezTo>
                  <a:pt x="130" y="95"/>
                  <a:pt x="149" y="79"/>
                  <a:pt x="170" y="65"/>
                </a:cubicBezTo>
                <a:cubicBezTo>
                  <a:pt x="191" y="51"/>
                  <a:pt x="213" y="39"/>
                  <a:pt x="237" y="29"/>
                </a:cubicBezTo>
                <a:cubicBezTo>
                  <a:pt x="260" y="20"/>
                  <a:pt x="284" y="12"/>
                  <a:pt x="309" y="7"/>
                </a:cubicBezTo>
                <a:cubicBezTo>
                  <a:pt x="333" y="3"/>
                  <a:pt x="358" y="0"/>
                  <a:pt x="383" y="0"/>
                </a:cubicBezTo>
                <a:lnTo>
                  <a:pt x="2050" y="0"/>
                </a:lnTo>
                <a:cubicBezTo>
                  <a:pt x="2076" y="0"/>
                  <a:pt x="2100" y="3"/>
                  <a:pt x="2126" y="7"/>
                </a:cubicBezTo>
                <a:cubicBezTo>
                  <a:pt x="2151" y="12"/>
                  <a:pt x="2175" y="20"/>
                  <a:pt x="2198" y="29"/>
                </a:cubicBezTo>
                <a:cubicBezTo>
                  <a:pt x="2221" y="39"/>
                  <a:pt x="2244" y="51"/>
                  <a:pt x="2264" y="65"/>
                </a:cubicBezTo>
                <a:cubicBezTo>
                  <a:pt x="2285" y="79"/>
                  <a:pt x="2305" y="95"/>
                  <a:pt x="2323" y="112"/>
                </a:cubicBezTo>
                <a:cubicBezTo>
                  <a:pt x="2340" y="130"/>
                  <a:pt x="2356" y="150"/>
                  <a:pt x="2370" y="171"/>
                </a:cubicBezTo>
                <a:cubicBezTo>
                  <a:pt x="2384" y="192"/>
                  <a:pt x="2396" y="214"/>
                  <a:pt x="2406" y="237"/>
                </a:cubicBezTo>
                <a:cubicBezTo>
                  <a:pt x="2415" y="260"/>
                  <a:pt x="2423" y="284"/>
                  <a:pt x="2428" y="309"/>
                </a:cubicBezTo>
                <a:cubicBezTo>
                  <a:pt x="2433" y="334"/>
                  <a:pt x="2435" y="359"/>
                  <a:pt x="2435" y="384"/>
                </a:cubicBezTo>
                <a:cubicBezTo>
                  <a:pt x="2435" y="409"/>
                  <a:pt x="2433" y="434"/>
                  <a:pt x="2428" y="459"/>
                </a:cubicBezTo>
                <a:cubicBezTo>
                  <a:pt x="2423" y="483"/>
                  <a:pt x="2415" y="507"/>
                  <a:pt x="2406" y="531"/>
                </a:cubicBezTo>
                <a:cubicBezTo>
                  <a:pt x="2396" y="554"/>
                  <a:pt x="2384" y="576"/>
                  <a:pt x="2370" y="597"/>
                </a:cubicBezTo>
                <a:cubicBezTo>
                  <a:pt x="2356" y="618"/>
                  <a:pt x="2340" y="638"/>
                  <a:pt x="2323" y="656"/>
                </a:cubicBezTo>
                <a:cubicBezTo>
                  <a:pt x="2305" y="674"/>
                  <a:pt x="2285" y="690"/>
                  <a:pt x="2264" y="704"/>
                </a:cubicBezTo>
                <a:cubicBezTo>
                  <a:pt x="2244" y="718"/>
                  <a:pt x="2221" y="730"/>
                  <a:pt x="2198" y="739"/>
                </a:cubicBezTo>
                <a:cubicBezTo>
                  <a:pt x="2175" y="749"/>
                  <a:pt x="2151" y="756"/>
                  <a:pt x="2126" y="761"/>
                </a:cubicBezTo>
                <a:cubicBezTo>
                  <a:pt x="2100" y="766"/>
                  <a:pt x="2076" y="768"/>
                  <a:pt x="2050" y="768"/>
                </a:cubicBezTo>
                <a:lnTo>
                  <a:pt x="383" y="768"/>
                </a:lnTo>
                <a:cubicBezTo>
                  <a:pt x="358" y="768"/>
                  <a:pt x="333" y="766"/>
                  <a:pt x="309" y="761"/>
                </a:cubicBezTo>
                <a:cubicBezTo>
                  <a:pt x="284" y="756"/>
                  <a:pt x="260" y="749"/>
                  <a:pt x="237" y="739"/>
                </a:cubicBezTo>
                <a:cubicBezTo>
                  <a:pt x="213" y="730"/>
                  <a:pt x="191" y="718"/>
                  <a:pt x="170" y="704"/>
                </a:cubicBezTo>
                <a:cubicBezTo>
                  <a:pt x="149" y="690"/>
                  <a:pt x="130" y="674"/>
                  <a:pt x="112" y="656"/>
                </a:cubicBezTo>
                <a:cubicBezTo>
                  <a:pt x="94" y="638"/>
                  <a:pt x="78" y="618"/>
                  <a:pt x="64" y="597"/>
                </a:cubicBezTo>
                <a:cubicBezTo>
                  <a:pt x="50" y="576"/>
                  <a:pt x="39" y="554"/>
                  <a:pt x="29" y="531"/>
                </a:cubicBezTo>
                <a:cubicBezTo>
                  <a:pt x="19" y="507"/>
                  <a:pt x="12" y="483"/>
                  <a:pt x="7" y="459"/>
                </a:cubicBezTo>
                <a:cubicBezTo>
                  <a:pt x="2" y="434"/>
                  <a:pt x="0" y="409"/>
                  <a:pt x="0" y="384"/>
                </a:cubicBezTo>
                <a:close/>
              </a:path>
            </a:pathLst>
          </a:custGeom>
          <a:solidFill>
            <a:srgbClr val="1F0F06"/>
          </a:solidFill>
          <a:ln w="0">
            <a:noFill/>
          </a:ln>
        </p:spPr>
        <p:txBody>
          <a:bodyPr lIns="0" tIns="0" rIns="0" bIns="0" anchor="t">
            <a:noAutofit/>
          </a:bodyPr>
          <a:p>
            <a:endParaRPr lang="en-SG" sz="2400" b="0" u="none" strike="noStrike">
              <a:solidFill>
                <a:srgbClr val="FFFFFF"/>
              </a:solidFill>
              <a:effectLst/>
              <a:uFillTx/>
              <a:latin typeface="Times New Roman"/>
            </a:endParaRPr>
          </a:p>
        </p:txBody>
      </p:sp>
      <p:sp>
        <p:nvSpPr>
          <p:cNvPr id="474" name=""/>
          <p:cNvSpPr/>
          <p:nvPr/>
        </p:nvSpPr>
        <p:spPr>
          <a:xfrm>
            <a:off x="8443800" y="4605120"/>
            <a:ext cx="876600" cy="276480"/>
          </a:xfrm>
          <a:custGeom>
            <a:avLst/>
            <a:gdLst/>
            <a:ahLst/>
            <a:rect l="0" t="0" r="r" b="b"/>
            <a:pathLst>
              <a:path w="2435" h="768">
                <a:moveTo>
                  <a:pt x="0" y="384"/>
                </a:moveTo>
                <a:cubicBezTo>
                  <a:pt x="0" y="359"/>
                  <a:pt x="2" y="334"/>
                  <a:pt x="7" y="309"/>
                </a:cubicBezTo>
                <a:cubicBezTo>
                  <a:pt x="12" y="284"/>
                  <a:pt x="19" y="260"/>
                  <a:pt x="29" y="237"/>
                </a:cubicBezTo>
                <a:cubicBezTo>
                  <a:pt x="39" y="214"/>
                  <a:pt x="50" y="192"/>
                  <a:pt x="64" y="171"/>
                </a:cubicBezTo>
                <a:cubicBezTo>
                  <a:pt x="78" y="150"/>
                  <a:pt x="94" y="130"/>
                  <a:pt x="112" y="112"/>
                </a:cubicBezTo>
                <a:cubicBezTo>
                  <a:pt x="130" y="95"/>
                  <a:pt x="149" y="79"/>
                  <a:pt x="170" y="65"/>
                </a:cubicBezTo>
                <a:cubicBezTo>
                  <a:pt x="191" y="51"/>
                  <a:pt x="213" y="39"/>
                  <a:pt x="237" y="29"/>
                </a:cubicBezTo>
                <a:cubicBezTo>
                  <a:pt x="260" y="20"/>
                  <a:pt x="284" y="12"/>
                  <a:pt x="309" y="7"/>
                </a:cubicBezTo>
                <a:cubicBezTo>
                  <a:pt x="333" y="3"/>
                  <a:pt x="358" y="0"/>
                  <a:pt x="383" y="0"/>
                </a:cubicBezTo>
                <a:lnTo>
                  <a:pt x="2050" y="0"/>
                </a:lnTo>
                <a:cubicBezTo>
                  <a:pt x="2076" y="0"/>
                  <a:pt x="2100" y="3"/>
                  <a:pt x="2126" y="7"/>
                </a:cubicBezTo>
                <a:cubicBezTo>
                  <a:pt x="2151" y="12"/>
                  <a:pt x="2175" y="20"/>
                  <a:pt x="2198" y="29"/>
                </a:cubicBezTo>
                <a:cubicBezTo>
                  <a:pt x="2221" y="39"/>
                  <a:pt x="2244" y="51"/>
                  <a:pt x="2264" y="65"/>
                </a:cubicBezTo>
                <a:cubicBezTo>
                  <a:pt x="2285" y="79"/>
                  <a:pt x="2305" y="95"/>
                  <a:pt x="2323" y="112"/>
                </a:cubicBezTo>
                <a:cubicBezTo>
                  <a:pt x="2340" y="130"/>
                  <a:pt x="2356" y="150"/>
                  <a:pt x="2370" y="171"/>
                </a:cubicBezTo>
                <a:cubicBezTo>
                  <a:pt x="2384" y="192"/>
                  <a:pt x="2396" y="214"/>
                  <a:pt x="2406" y="237"/>
                </a:cubicBezTo>
                <a:cubicBezTo>
                  <a:pt x="2415" y="260"/>
                  <a:pt x="2423" y="284"/>
                  <a:pt x="2428" y="309"/>
                </a:cubicBezTo>
                <a:cubicBezTo>
                  <a:pt x="2433" y="334"/>
                  <a:pt x="2435" y="359"/>
                  <a:pt x="2435" y="384"/>
                </a:cubicBezTo>
                <a:cubicBezTo>
                  <a:pt x="2435" y="409"/>
                  <a:pt x="2433" y="434"/>
                  <a:pt x="2428" y="459"/>
                </a:cubicBezTo>
                <a:cubicBezTo>
                  <a:pt x="2423" y="483"/>
                  <a:pt x="2415" y="507"/>
                  <a:pt x="2406" y="531"/>
                </a:cubicBezTo>
                <a:cubicBezTo>
                  <a:pt x="2396" y="554"/>
                  <a:pt x="2384" y="576"/>
                  <a:pt x="2370" y="597"/>
                </a:cubicBezTo>
                <a:cubicBezTo>
                  <a:pt x="2356" y="618"/>
                  <a:pt x="2340" y="638"/>
                  <a:pt x="2323" y="656"/>
                </a:cubicBezTo>
                <a:cubicBezTo>
                  <a:pt x="2305" y="674"/>
                  <a:pt x="2285" y="690"/>
                  <a:pt x="2264" y="704"/>
                </a:cubicBezTo>
                <a:cubicBezTo>
                  <a:pt x="2244" y="718"/>
                  <a:pt x="2221" y="730"/>
                  <a:pt x="2198" y="739"/>
                </a:cubicBezTo>
                <a:cubicBezTo>
                  <a:pt x="2175" y="749"/>
                  <a:pt x="2151" y="756"/>
                  <a:pt x="2126" y="761"/>
                </a:cubicBezTo>
                <a:cubicBezTo>
                  <a:pt x="2100" y="766"/>
                  <a:pt x="2076" y="768"/>
                  <a:pt x="2050" y="768"/>
                </a:cubicBezTo>
                <a:lnTo>
                  <a:pt x="383" y="768"/>
                </a:lnTo>
                <a:cubicBezTo>
                  <a:pt x="358" y="768"/>
                  <a:pt x="333" y="766"/>
                  <a:pt x="309" y="761"/>
                </a:cubicBezTo>
                <a:cubicBezTo>
                  <a:pt x="284" y="756"/>
                  <a:pt x="260" y="749"/>
                  <a:pt x="237" y="739"/>
                </a:cubicBezTo>
                <a:cubicBezTo>
                  <a:pt x="213" y="730"/>
                  <a:pt x="191" y="718"/>
                  <a:pt x="170" y="704"/>
                </a:cubicBezTo>
                <a:cubicBezTo>
                  <a:pt x="149" y="690"/>
                  <a:pt x="130" y="674"/>
                  <a:pt x="112" y="656"/>
                </a:cubicBezTo>
                <a:cubicBezTo>
                  <a:pt x="94" y="638"/>
                  <a:pt x="78" y="618"/>
                  <a:pt x="64" y="597"/>
                </a:cubicBezTo>
                <a:cubicBezTo>
                  <a:pt x="50" y="576"/>
                  <a:pt x="39" y="554"/>
                  <a:pt x="29" y="531"/>
                </a:cubicBezTo>
                <a:cubicBezTo>
                  <a:pt x="19" y="507"/>
                  <a:pt x="12" y="483"/>
                  <a:pt x="7" y="459"/>
                </a:cubicBezTo>
                <a:cubicBezTo>
                  <a:pt x="2" y="434"/>
                  <a:pt x="0" y="409"/>
                  <a:pt x="0" y="384"/>
                </a:cubicBezTo>
                <a:close/>
              </a:path>
            </a:pathLst>
          </a:custGeom>
          <a:noFill/>
          <a:ln w="9360">
            <a:solidFill>
              <a:srgbClr val="7A4015"/>
            </a:solidFill>
            <a:miter/>
          </a:ln>
        </p:spPr>
        <p:txBody>
          <a:bodyPr lIns="4680" tIns="4680" rIns="4680" bIns="4680" anchor="t">
            <a:noAutofit/>
          </a:bodyPr>
          <a:p>
            <a:endParaRPr lang="en-SG" sz="2400" b="0" u="none" strike="noStrike">
              <a:solidFill>
                <a:srgbClr val="000000"/>
              </a:solidFill>
              <a:effectLst/>
              <a:uFillTx/>
              <a:latin typeface="Times New Roman"/>
            </a:endParaRPr>
          </a:p>
        </p:txBody>
      </p:sp>
      <p:sp>
        <p:nvSpPr>
          <p:cNvPr id="475" name=""/>
          <p:cNvSpPr txBox="1"/>
          <p:nvPr/>
        </p:nvSpPr>
        <p:spPr>
          <a:xfrm>
            <a:off x="7116480" y="4655160"/>
            <a:ext cx="1174680" cy="169560"/>
          </a:xfrm>
          <a:prstGeom prst="rect">
            <a:avLst/>
          </a:prstGeom>
          <a:noFill/>
          <a:ln w="0">
            <a:noFill/>
          </a:ln>
        </p:spPr>
        <p:txBody>
          <a:bodyPr wrap="none" lIns="0" tIns="0" rIns="0" bIns="0" anchor="t">
            <a:spAutoFit/>
          </a:bodyPr>
          <a:p>
            <a:pPr/>
            <a:r>
              <a:rPr lang="en-SG" sz="1000" b="0" u="none" strike="noStrike">
                <a:solidFill>
                  <a:srgbClr val="AAAAAA"/>
                </a:solidFill>
                <a:effectLst/>
                <a:uFillTx/>
                <a:latin typeface="Outfit-Thin_"/>
                <a:ea typeface="Outfit-Thin_"/>
              </a:rPr>
              <a:t>Reach vs conversion</a:t>
            </a:r>
            <a:endParaRPr lang="en-SG" sz="1000" b="0" u="none" strike="noStrike">
              <a:solidFill>
                <a:srgbClr val="000000"/>
              </a:solidFill>
              <a:effectLst/>
              <a:uFillTx/>
              <a:latin typeface="Times New Roman"/>
            </a:endParaRPr>
          </a:p>
        </p:txBody>
      </p:sp>
      <p:sp>
        <p:nvSpPr>
          <p:cNvPr id="476" name=""/>
          <p:cNvSpPr txBox="1"/>
          <p:nvPr/>
        </p:nvSpPr>
        <p:spPr>
          <a:xfrm>
            <a:off x="8577000" y="4655160"/>
            <a:ext cx="633240" cy="169560"/>
          </a:xfrm>
          <a:prstGeom prst="rect">
            <a:avLst/>
          </a:prstGeom>
          <a:noFill/>
          <a:ln w="0">
            <a:noFill/>
          </a:ln>
        </p:spPr>
        <p:txBody>
          <a:bodyPr wrap="none" lIns="0" tIns="0" rIns="0" bIns="0" anchor="t">
            <a:spAutoFit/>
          </a:bodyPr>
          <a:p>
            <a:pPr/>
            <a:r>
              <a:rPr lang="en-SG" sz="1000" b="0" u="none" strike="noStrike">
                <a:solidFill>
                  <a:srgbClr val="FF6B1A"/>
                </a:solidFill>
                <a:effectLst/>
                <a:uFillTx/>
                <a:latin typeface="Outfit-Thin_"/>
                <a:ea typeface="Outfit-Thin_"/>
              </a:rPr>
              <a:t>Repost risk</a:t>
            </a:r>
            <a:endParaRPr lang="en-SG"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640080" y="530352"/>
            <a:ext cx="5303520" cy="228600"/>
          </a:xfrm>
          <a:prstGeom prst="rect">
            <a:avLst/>
          </a:prstGeom>
          <a:noFill/>
        </p:spPr>
        <p:txBody>
          <a:bodyPr wrap="square" lIns="0" rIns="0" tIns="0" bIns="0" anchor="t">
            <a:spAutoFit/>
          </a:bodyPr>
          <a:lstStyle/>
          <a:p>
            <a:pPr algn="l"/>
            <a:r>
              <a:rPr sz="1100" b="1">
                <a:solidFill>
                  <a:srgbClr val="5C5C5C"/>
                </a:solidFill>
                <a:latin typeface="Aptos"/>
              </a:rPr>
              <a:t>P A Y   &amp;   R E S P O N S E</a:t>
            </a:r>
          </a:p>
        </p:txBody>
      </p:sp>
      <p:sp>
        <p:nvSpPr>
          <p:cNvPr id="3" name="TextBox 2"/>
          <p:cNvSpPr txBox="1"/>
          <p:nvPr/>
        </p:nvSpPr>
        <p:spPr>
          <a:xfrm>
            <a:off x="640080" y="841248"/>
            <a:ext cx="10789920" cy="475488"/>
          </a:xfrm>
          <a:prstGeom prst="rect">
            <a:avLst/>
          </a:prstGeom>
          <a:noFill/>
        </p:spPr>
        <p:txBody>
          <a:bodyPr wrap="square" lIns="0" rIns="0" tIns="0" bIns="0" anchor="t">
            <a:spAutoFit/>
          </a:bodyPr>
          <a:lstStyle/>
          <a:p>
            <a:pPr algn="l"/>
            <a:r>
              <a:rPr sz="2500" b="0">
                <a:solidFill>
                  <a:srgbClr val="F2F2F2"/>
                </a:solidFill>
                <a:latin typeface="Aptos"/>
              </a:rPr>
              <a:t>Low-pay postings lose twice: less reach, weaker conversion</a:t>
            </a:r>
          </a:p>
        </p:txBody>
      </p:sp>
      <p:sp>
        <p:nvSpPr>
          <p:cNvPr id="4" name="TextBox 3"/>
          <p:cNvSpPr txBox="1"/>
          <p:nvPr/>
        </p:nvSpPr>
        <p:spPr>
          <a:xfrm>
            <a:off x="640080" y="1389888"/>
            <a:ext cx="9875520" cy="274320"/>
          </a:xfrm>
          <a:prstGeom prst="rect">
            <a:avLst/>
          </a:prstGeom>
          <a:noFill/>
        </p:spPr>
        <p:txBody>
          <a:bodyPr wrap="square" lIns="0" rIns="0" tIns="0" bIns="0" anchor="t">
            <a:spAutoFit/>
          </a:bodyPr>
          <a:lstStyle/>
          <a:p>
            <a:pPr algn="l"/>
            <a:r>
              <a:rPr sz="1300" b="0">
                <a:solidFill>
                  <a:srgbClr val="AAAAAA"/>
                </a:solidFill>
                <a:latin typeface="Aptos"/>
              </a:rPr>
              <a:t>Entry roles draw just 2 median applications and show a 43.3% application-shortfall rate.</a:t>
            </a:r>
          </a:p>
        </p:txBody>
      </p:sp>
      <p:sp>
        <p:nvSpPr>
          <p:cNvPr id="5" name="Rounded Rectangle 4"/>
          <p:cNvSpPr/>
          <p:nvPr/>
        </p:nvSpPr>
        <p:spPr>
          <a:xfrm>
            <a:off x="640080" y="1874519"/>
            <a:ext cx="6537960" cy="3401568"/>
          </a:xfrm>
          <a:prstGeom prst="roundRect">
            <a:avLst/>
          </a:prstGeom>
          <a:solidFill>
            <a:srgbClr val="050505"/>
          </a:solidFill>
          <a:ln w="889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84831"/>
            <a:ext cx="2560320" cy="219456"/>
          </a:xfrm>
          <a:prstGeom prst="rect">
            <a:avLst/>
          </a:prstGeom>
          <a:noFill/>
        </p:spPr>
        <p:txBody>
          <a:bodyPr wrap="square" lIns="0" rIns="0" tIns="0" bIns="0" anchor="t">
            <a:spAutoFit/>
          </a:bodyPr>
          <a:lstStyle/>
          <a:p>
            <a:pPr algn="l"/>
            <a:r>
              <a:rPr sz="1000" b="1">
                <a:solidFill>
                  <a:srgbClr val="5C5C5C"/>
                </a:solidFill>
                <a:latin typeface="Aptos"/>
              </a:rPr>
              <a:t>APPLICATIONS · UNDER-FILLED</a:t>
            </a:r>
          </a:p>
        </p:txBody>
      </p:sp>
      <p:sp>
        <p:nvSpPr>
          <p:cNvPr id="7" name="TextBox 6"/>
          <p:cNvSpPr txBox="1"/>
          <p:nvPr/>
        </p:nvSpPr>
        <p:spPr>
          <a:xfrm>
            <a:off x="5468112" y="2084831"/>
            <a:ext cx="640080" cy="219456"/>
          </a:xfrm>
          <a:prstGeom prst="rect">
            <a:avLst/>
          </a:prstGeom>
          <a:noFill/>
        </p:spPr>
        <p:txBody>
          <a:bodyPr wrap="square" lIns="0" rIns="0" tIns="0" bIns="0" anchor="t">
            <a:spAutoFit/>
          </a:bodyPr>
          <a:lstStyle/>
          <a:p>
            <a:pPr algn="r"/>
            <a:r>
              <a:rPr sz="800" b="1">
                <a:solidFill>
                  <a:srgbClr val="5C5C5C"/>
                </a:solidFill>
                <a:latin typeface="Aptos"/>
              </a:rPr>
              <a:t>MEDIAN</a:t>
            </a:r>
          </a:p>
        </p:txBody>
      </p:sp>
      <p:sp>
        <p:nvSpPr>
          <p:cNvPr id="8" name="TextBox 7"/>
          <p:cNvSpPr txBox="1"/>
          <p:nvPr/>
        </p:nvSpPr>
        <p:spPr>
          <a:xfrm>
            <a:off x="6199632" y="2084831"/>
            <a:ext cx="731520" cy="219456"/>
          </a:xfrm>
          <a:prstGeom prst="rect">
            <a:avLst/>
          </a:prstGeom>
          <a:noFill/>
        </p:spPr>
        <p:txBody>
          <a:bodyPr wrap="square" lIns="0" rIns="0" tIns="0" bIns="0" anchor="t">
            <a:spAutoFit/>
          </a:bodyPr>
          <a:lstStyle/>
          <a:p>
            <a:pPr algn="r"/>
            <a:r>
              <a:rPr sz="800" b="1">
                <a:solidFill>
                  <a:srgbClr val="5C5C5C"/>
                </a:solidFill>
                <a:latin typeface="Aptos"/>
              </a:rPr>
              <a:t>UNDER-FILLED</a:t>
            </a:r>
          </a:p>
        </p:txBody>
      </p:sp>
      <p:sp>
        <p:nvSpPr>
          <p:cNvPr id="9" name="TextBox 8"/>
          <p:cNvSpPr txBox="1"/>
          <p:nvPr/>
        </p:nvSpPr>
        <p:spPr>
          <a:xfrm>
            <a:off x="868680" y="2578608"/>
            <a:ext cx="1463040" cy="274320"/>
          </a:xfrm>
          <a:prstGeom prst="rect">
            <a:avLst/>
          </a:prstGeom>
          <a:noFill/>
        </p:spPr>
        <p:txBody>
          <a:bodyPr wrap="square" lIns="0" rIns="0" tIns="0" bIns="0" anchor="t">
            <a:spAutoFit/>
          </a:bodyPr>
          <a:lstStyle/>
          <a:p>
            <a:pPr algn="l"/>
            <a:r>
              <a:rPr sz="1300" b="0">
                <a:solidFill>
                  <a:srgbClr val="AAAAAA"/>
                </a:solidFill>
                <a:latin typeface="Aptos"/>
              </a:rPr>
              <a:t>Entry &lt; $3k</a:t>
            </a:r>
          </a:p>
        </p:txBody>
      </p:sp>
      <p:cxnSp>
        <p:nvCxnSpPr>
          <p:cNvPr id="10" name="Connector 9"/>
          <p:cNvCxnSpPr/>
          <p:nvPr/>
        </p:nvCxnSpPr>
        <p:spPr>
          <a:xfrm>
            <a:off x="2331720" y="2724912"/>
            <a:ext cx="2743200" cy="0"/>
          </a:xfrm>
          <a:prstGeom prst="line">
            <a:avLst/>
          </a:prstGeom>
          <a:ln w="50800">
            <a:solidFill>
              <a:srgbClr val="1C1C1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331720" y="2724912"/>
            <a:ext cx="614476" cy="0"/>
          </a:xfrm>
          <a:prstGeom prst="line">
            <a:avLst/>
          </a:prstGeom>
          <a:ln w="50800">
            <a:solidFill>
              <a:srgbClr val="FF484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13248" y="2551176"/>
            <a:ext cx="502920" cy="274320"/>
          </a:xfrm>
          <a:prstGeom prst="rect">
            <a:avLst/>
          </a:prstGeom>
          <a:noFill/>
        </p:spPr>
        <p:txBody>
          <a:bodyPr wrap="square" lIns="0" rIns="0" tIns="0" bIns="0" anchor="t">
            <a:spAutoFit/>
          </a:bodyPr>
          <a:lstStyle/>
          <a:p>
            <a:pPr algn="r"/>
            <a:r>
              <a:rPr sz="1400" b="1">
                <a:solidFill>
                  <a:srgbClr val="F2F2F2"/>
                </a:solidFill>
                <a:latin typeface="Aptos"/>
              </a:rPr>
              <a:t>2</a:t>
            </a:r>
          </a:p>
        </p:txBody>
      </p:sp>
      <p:sp>
        <p:nvSpPr>
          <p:cNvPr id="13" name="TextBox 12"/>
          <p:cNvSpPr txBox="1"/>
          <p:nvPr/>
        </p:nvSpPr>
        <p:spPr>
          <a:xfrm>
            <a:off x="6053328" y="2551176"/>
            <a:ext cx="841248" cy="274320"/>
          </a:xfrm>
          <a:prstGeom prst="rect">
            <a:avLst/>
          </a:prstGeom>
          <a:noFill/>
        </p:spPr>
        <p:txBody>
          <a:bodyPr wrap="square" lIns="0" rIns="0" tIns="0" bIns="0" anchor="t">
            <a:spAutoFit/>
          </a:bodyPr>
          <a:lstStyle/>
          <a:p>
            <a:pPr algn="r"/>
            <a:r>
              <a:rPr sz="1300" b="0">
                <a:solidFill>
                  <a:srgbClr val="FF4848"/>
                </a:solidFill>
                <a:latin typeface="Aptos"/>
              </a:rPr>
              <a:t>43.3%</a:t>
            </a:r>
          </a:p>
        </p:txBody>
      </p:sp>
      <p:sp>
        <p:nvSpPr>
          <p:cNvPr id="14" name="TextBox 13"/>
          <p:cNvSpPr txBox="1"/>
          <p:nvPr/>
        </p:nvSpPr>
        <p:spPr>
          <a:xfrm>
            <a:off x="868680" y="3172968"/>
            <a:ext cx="1463040" cy="274320"/>
          </a:xfrm>
          <a:prstGeom prst="rect">
            <a:avLst/>
          </a:prstGeom>
          <a:noFill/>
        </p:spPr>
        <p:txBody>
          <a:bodyPr wrap="square" lIns="0" rIns="0" tIns="0" bIns="0" anchor="t">
            <a:spAutoFit/>
          </a:bodyPr>
          <a:lstStyle/>
          <a:p>
            <a:pPr algn="l"/>
            <a:r>
              <a:rPr sz="1300" b="0">
                <a:solidFill>
                  <a:srgbClr val="AAAAAA"/>
                </a:solidFill>
                <a:latin typeface="Aptos"/>
              </a:rPr>
              <a:t>Mid $3–5k</a:t>
            </a:r>
          </a:p>
        </p:txBody>
      </p:sp>
      <p:cxnSp>
        <p:nvCxnSpPr>
          <p:cNvPr id="15" name="Connector 14"/>
          <p:cNvCxnSpPr/>
          <p:nvPr/>
        </p:nvCxnSpPr>
        <p:spPr>
          <a:xfrm>
            <a:off x="2331720" y="3319272"/>
            <a:ext cx="2743200" cy="0"/>
          </a:xfrm>
          <a:prstGeom prst="line">
            <a:avLst/>
          </a:prstGeom>
          <a:ln w="50800">
            <a:solidFill>
              <a:srgbClr val="1C1C1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331720" y="3319272"/>
            <a:ext cx="907084" cy="0"/>
          </a:xfrm>
          <a:prstGeom prst="line">
            <a:avLst/>
          </a:prstGeom>
          <a:ln w="50800">
            <a:solidFill>
              <a:srgbClr val="FFAB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13248" y="3145536"/>
            <a:ext cx="502920" cy="274320"/>
          </a:xfrm>
          <a:prstGeom prst="rect">
            <a:avLst/>
          </a:prstGeom>
          <a:noFill/>
        </p:spPr>
        <p:txBody>
          <a:bodyPr wrap="square" lIns="0" rIns="0" tIns="0" bIns="0" anchor="t">
            <a:spAutoFit/>
          </a:bodyPr>
          <a:lstStyle/>
          <a:p>
            <a:pPr algn="r"/>
            <a:r>
              <a:rPr sz="1400" b="1">
                <a:solidFill>
                  <a:srgbClr val="F2F2F2"/>
                </a:solidFill>
                <a:latin typeface="Aptos"/>
              </a:rPr>
              <a:t>3</a:t>
            </a:r>
          </a:p>
        </p:txBody>
      </p:sp>
      <p:sp>
        <p:nvSpPr>
          <p:cNvPr id="18" name="TextBox 17"/>
          <p:cNvSpPr txBox="1"/>
          <p:nvPr/>
        </p:nvSpPr>
        <p:spPr>
          <a:xfrm>
            <a:off x="6053328" y="3145536"/>
            <a:ext cx="841248" cy="274320"/>
          </a:xfrm>
          <a:prstGeom prst="rect">
            <a:avLst/>
          </a:prstGeom>
          <a:noFill/>
        </p:spPr>
        <p:txBody>
          <a:bodyPr wrap="square" lIns="0" rIns="0" tIns="0" bIns="0" anchor="t">
            <a:spAutoFit/>
          </a:bodyPr>
          <a:lstStyle/>
          <a:p>
            <a:pPr algn="r"/>
            <a:r>
              <a:rPr sz="1300" b="0">
                <a:solidFill>
                  <a:srgbClr val="FFAB00"/>
                </a:solidFill>
                <a:latin typeface="Aptos"/>
              </a:rPr>
              <a:t>31.3%</a:t>
            </a:r>
          </a:p>
        </p:txBody>
      </p:sp>
      <p:sp>
        <p:nvSpPr>
          <p:cNvPr id="19" name="TextBox 18"/>
          <p:cNvSpPr txBox="1"/>
          <p:nvPr/>
        </p:nvSpPr>
        <p:spPr>
          <a:xfrm>
            <a:off x="868680" y="3767328"/>
            <a:ext cx="1463040" cy="274320"/>
          </a:xfrm>
          <a:prstGeom prst="rect">
            <a:avLst/>
          </a:prstGeom>
          <a:noFill/>
        </p:spPr>
        <p:txBody>
          <a:bodyPr wrap="square" lIns="0" rIns="0" tIns="0" bIns="0" anchor="t">
            <a:spAutoFit/>
          </a:bodyPr>
          <a:lstStyle/>
          <a:p>
            <a:pPr algn="l"/>
            <a:r>
              <a:rPr sz="1300" b="0">
                <a:solidFill>
                  <a:srgbClr val="AAAAAA"/>
                </a:solidFill>
                <a:latin typeface="Aptos"/>
              </a:rPr>
              <a:t>Senior $5–8k</a:t>
            </a:r>
          </a:p>
        </p:txBody>
      </p:sp>
      <p:cxnSp>
        <p:nvCxnSpPr>
          <p:cNvPr id="20" name="Connector 19"/>
          <p:cNvCxnSpPr/>
          <p:nvPr/>
        </p:nvCxnSpPr>
        <p:spPr>
          <a:xfrm>
            <a:off x="2331720" y="3913632"/>
            <a:ext cx="2743200" cy="0"/>
          </a:xfrm>
          <a:prstGeom prst="line">
            <a:avLst/>
          </a:prstGeom>
          <a:ln w="50800">
            <a:solidFill>
              <a:srgbClr val="1C1C1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331720" y="3913632"/>
            <a:ext cx="1550822" cy="0"/>
          </a:xfrm>
          <a:prstGeom prst="line">
            <a:avLst/>
          </a:prstGeom>
          <a:ln w="50800">
            <a:solidFill>
              <a:srgbClr val="FF6A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13248" y="3739896"/>
            <a:ext cx="502920" cy="274320"/>
          </a:xfrm>
          <a:prstGeom prst="rect">
            <a:avLst/>
          </a:prstGeom>
          <a:noFill/>
        </p:spPr>
        <p:txBody>
          <a:bodyPr wrap="square" lIns="0" rIns="0" tIns="0" bIns="0" anchor="t">
            <a:spAutoFit/>
          </a:bodyPr>
          <a:lstStyle/>
          <a:p>
            <a:pPr algn="r"/>
            <a:r>
              <a:rPr sz="1400" b="1">
                <a:solidFill>
                  <a:srgbClr val="F2F2F2"/>
                </a:solidFill>
                <a:latin typeface="Aptos"/>
              </a:rPr>
              <a:t>5</a:t>
            </a:r>
          </a:p>
        </p:txBody>
      </p:sp>
      <p:sp>
        <p:nvSpPr>
          <p:cNvPr id="23" name="TextBox 22"/>
          <p:cNvSpPr txBox="1"/>
          <p:nvPr/>
        </p:nvSpPr>
        <p:spPr>
          <a:xfrm>
            <a:off x="6053328" y="3739896"/>
            <a:ext cx="841248" cy="274320"/>
          </a:xfrm>
          <a:prstGeom prst="rect">
            <a:avLst/>
          </a:prstGeom>
          <a:noFill/>
        </p:spPr>
        <p:txBody>
          <a:bodyPr wrap="square" lIns="0" rIns="0" tIns="0" bIns="0" anchor="t">
            <a:spAutoFit/>
          </a:bodyPr>
          <a:lstStyle/>
          <a:p>
            <a:pPr algn="r"/>
            <a:r>
              <a:rPr sz="1300" b="0">
                <a:solidFill>
                  <a:srgbClr val="FF6A00"/>
                </a:solidFill>
                <a:latin typeface="Aptos"/>
              </a:rPr>
              <a:t>18.5%</a:t>
            </a:r>
          </a:p>
        </p:txBody>
      </p:sp>
      <p:sp>
        <p:nvSpPr>
          <p:cNvPr id="24" name="TextBox 23"/>
          <p:cNvSpPr txBox="1"/>
          <p:nvPr/>
        </p:nvSpPr>
        <p:spPr>
          <a:xfrm>
            <a:off x="868680" y="4361688"/>
            <a:ext cx="1463040" cy="274320"/>
          </a:xfrm>
          <a:prstGeom prst="rect">
            <a:avLst/>
          </a:prstGeom>
          <a:noFill/>
        </p:spPr>
        <p:txBody>
          <a:bodyPr wrap="square" lIns="0" rIns="0" tIns="0" bIns="0" anchor="t">
            <a:spAutoFit/>
          </a:bodyPr>
          <a:lstStyle/>
          <a:p>
            <a:pPr algn="l"/>
            <a:r>
              <a:rPr sz="1300" b="0">
                <a:solidFill>
                  <a:srgbClr val="AAAAAA"/>
                </a:solidFill>
                <a:latin typeface="Aptos"/>
              </a:rPr>
              <a:t>Exec &gt; $8k</a:t>
            </a:r>
          </a:p>
        </p:txBody>
      </p:sp>
      <p:cxnSp>
        <p:nvCxnSpPr>
          <p:cNvPr id="25" name="Connector 24"/>
          <p:cNvCxnSpPr/>
          <p:nvPr/>
        </p:nvCxnSpPr>
        <p:spPr>
          <a:xfrm>
            <a:off x="2331720" y="4507992"/>
            <a:ext cx="2743200" cy="0"/>
          </a:xfrm>
          <a:prstGeom prst="line">
            <a:avLst/>
          </a:prstGeom>
          <a:ln w="50800">
            <a:solidFill>
              <a:srgbClr val="1C1C1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331720" y="4507992"/>
            <a:ext cx="2721254" cy="0"/>
          </a:xfrm>
          <a:prstGeom prst="line">
            <a:avLst/>
          </a:prstGeom>
          <a:ln w="50800">
            <a:solidFill>
              <a:srgbClr val="00C86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413248" y="4334255"/>
            <a:ext cx="502920" cy="274320"/>
          </a:xfrm>
          <a:prstGeom prst="rect">
            <a:avLst/>
          </a:prstGeom>
          <a:noFill/>
        </p:spPr>
        <p:txBody>
          <a:bodyPr wrap="square" lIns="0" rIns="0" tIns="0" bIns="0" anchor="t">
            <a:spAutoFit/>
          </a:bodyPr>
          <a:lstStyle/>
          <a:p>
            <a:pPr algn="r"/>
            <a:r>
              <a:rPr sz="1400" b="1">
                <a:solidFill>
                  <a:srgbClr val="F2F2F2"/>
                </a:solidFill>
                <a:latin typeface="Aptos"/>
              </a:rPr>
              <a:t>10</a:t>
            </a:r>
          </a:p>
        </p:txBody>
      </p:sp>
      <p:sp>
        <p:nvSpPr>
          <p:cNvPr id="28" name="TextBox 27"/>
          <p:cNvSpPr txBox="1"/>
          <p:nvPr/>
        </p:nvSpPr>
        <p:spPr>
          <a:xfrm>
            <a:off x="6053328" y="4334255"/>
            <a:ext cx="841248" cy="274320"/>
          </a:xfrm>
          <a:prstGeom prst="rect">
            <a:avLst/>
          </a:prstGeom>
          <a:noFill/>
        </p:spPr>
        <p:txBody>
          <a:bodyPr wrap="square" lIns="0" rIns="0" tIns="0" bIns="0" anchor="t">
            <a:spAutoFit/>
          </a:bodyPr>
          <a:lstStyle/>
          <a:p>
            <a:pPr algn="r"/>
            <a:r>
              <a:rPr sz="1300" b="0">
                <a:solidFill>
                  <a:srgbClr val="00C86E"/>
                </a:solidFill>
                <a:latin typeface="Aptos"/>
              </a:rPr>
              <a:t>12.6%</a:t>
            </a:r>
          </a:p>
        </p:txBody>
      </p:sp>
      <p:sp>
        <p:nvSpPr>
          <p:cNvPr id="29" name="Rounded Rectangle 28"/>
          <p:cNvSpPr/>
          <p:nvPr/>
        </p:nvSpPr>
        <p:spPr>
          <a:xfrm>
            <a:off x="868680" y="4690872"/>
            <a:ext cx="6062472" cy="411480"/>
          </a:xfrm>
          <a:prstGeom prst="roundRect">
            <a:avLst/>
          </a:prstGeom>
          <a:solidFill>
            <a:srgbClr val="0C0C0C"/>
          </a:solidFill>
          <a:ln w="889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4128" y="4773168"/>
            <a:ext cx="5669280" cy="256032"/>
          </a:xfrm>
          <a:prstGeom prst="rect">
            <a:avLst/>
          </a:prstGeom>
          <a:noFill/>
        </p:spPr>
        <p:txBody>
          <a:bodyPr wrap="square" lIns="0" rIns="0" tIns="0" bIns="0" anchor="t">
            <a:spAutoFit/>
          </a:bodyPr>
          <a:lstStyle/>
          <a:p>
            <a:r>
              <a:rPr sz="1200" b="0">
                <a:solidFill>
                  <a:srgbClr val="AAAAAA"/>
                </a:solidFill>
                <a:latin typeface="Aptos"/>
              </a:rPr>
              <a:t>Median </a:t>
            </a:r>
            <a:r>
              <a:rPr sz="1200" b="1">
                <a:solidFill>
                  <a:srgbClr val="FF6A00"/>
                </a:solidFill>
                <a:latin typeface="Aptos"/>
              </a:rPr>
              <a:t>3</a:t>
            </a:r>
            <a:r>
              <a:rPr sz="1200" b="0">
                <a:solidFill>
                  <a:srgbClr val="AAAAAA"/>
                </a:solidFill>
                <a:latin typeface="Aptos"/>
              </a:rPr>
              <a:t> applications vs mean </a:t>
            </a:r>
            <a:r>
              <a:rPr sz="1200" b="1">
                <a:solidFill>
                  <a:srgbClr val="FF6A00"/>
                </a:solidFill>
                <a:latin typeface="Aptos"/>
              </a:rPr>
              <a:t>9.6</a:t>
            </a:r>
            <a:r>
              <a:rPr sz="1200" b="0">
                <a:solidFill>
                  <a:srgbClr val="AAAAAA"/>
                </a:solidFill>
                <a:latin typeface="Aptos"/>
              </a:rPr>
              <a:t> — averages set expectations about 3× too high.</a:t>
            </a:r>
          </a:p>
        </p:txBody>
      </p:sp>
      <p:sp>
        <p:nvSpPr>
          <p:cNvPr id="31" name="Rounded Rectangle 30"/>
          <p:cNvSpPr/>
          <p:nvPr/>
        </p:nvSpPr>
        <p:spPr>
          <a:xfrm>
            <a:off x="7360920" y="1874519"/>
            <a:ext cx="4187952" cy="3401568"/>
          </a:xfrm>
          <a:prstGeom prst="roundRect">
            <a:avLst/>
          </a:prstGeom>
          <a:solidFill>
            <a:srgbClr val="050505"/>
          </a:solidFill>
          <a:ln w="889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07808" y="2084831"/>
            <a:ext cx="2468880" cy="219456"/>
          </a:xfrm>
          <a:prstGeom prst="rect">
            <a:avLst/>
          </a:prstGeom>
          <a:noFill/>
        </p:spPr>
        <p:txBody>
          <a:bodyPr wrap="square" lIns="0" rIns="0" tIns="0" bIns="0" anchor="t">
            <a:spAutoFit/>
          </a:bodyPr>
          <a:lstStyle/>
          <a:p>
            <a:pPr algn="l"/>
            <a:r>
              <a:rPr sz="1000" b="1">
                <a:solidFill>
                  <a:srgbClr val="5C5C5C"/>
                </a:solidFill>
                <a:latin typeface="Aptos"/>
              </a:rPr>
              <a:t>REACH × CONVERSION</a:t>
            </a:r>
          </a:p>
        </p:txBody>
      </p:sp>
      <p:sp>
        <p:nvSpPr>
          <p:cNvPr id="33" name="TextBox 32"/>
          <p:cNvSpPr txBox="1"/>
          <p:nvPr/>
        </p:nvSpPr>
        <p:spPr>
          <a:xfrm>
            <a:off x="7607808" y="2487168"/>
            <a:ext cx="3429000" cy="475488"/>
          </a:xfrm>
          <a:prstGeom prst="rect">
            <a:avLst/>
          </a:prstGeom>
          <a:noFill/>
        </p:spPr>
        <p:txBody>
          <a:bodyPr wrap="square" lIns="0" rIns="0" tIns="0" bIns="0" anchor="t">
            <a:spAutoFit/>
          </a:bodyPr>
          <a:lstStyle/>
          <a:p>
            <a:pPr algn="l"/>
            <a:r>
              <a:rPr sz="1400" b="0">
                <a:solidFill>
                  <a:srgbClr val="AAAAAA"/>
                </a:solidFill>
                <a:latin typeface="Aptos"/>
              </a:rPr>
              <a:t>Entry roles get roughly</a:t>
            </a:r>
          </a:p>
        </p:txBody>
      </p:sp>
      <p:sp>
        <p:nvSpPr>
          <p:cNvPr id="34" name="TextBox 33"/>
          <p:cNvSpPr txBox="1"/>
          <p:nvPr/>
        </p:nvSpPr>
        <p:spPr>
          <a:xfrm>
            <a:off x="7607808" y="2834640"/>
            <a:ext cx="2057400" cy="841248"/>
          </a:xfrm>
          <a:prstGeom prst="rect">
            <a:avLst/>
          </a:prstGeom>
          <a:noFill/>
        </p:spPr>
        <p:txBody>
          <a:bodyPr wrap="square" lIns="0" rIns="0" tIns="0" bIns="0" anchor="t">
            <a:spAutoFit/>
          </a:bodyPr>
          <a:lstStyle/>
          <a:p>
            <a:r>
              <a:rPr sz="1800" b="1">
                <a:solidFill>
                  <a:srgbClr val="FF6A00"/>
                </a:solidFill>
                <a:latin typeface="Aptos"/>
              </a:rPr>
              <a:t>½ the views
⅓ the conversion</a:t>
            </a:r>
          </a:p>
        </p:txBody>
      </p:sp>
      <p:cxnSp>
        <p:nvCxnSpPr>
          <p:cNvPr id="35" name="Connector 34"/>
          <p:cNvCxnSpPr/>
          <p:nvPr/>
        </p:nvCxnSpPr>
        <p:spPr>
          <a:xfrm flipV="1">
            <a:off x="7818120" y="3200400"/>
            <a:ext cx="3081528" cy="768096"/>
          </a:xfrm>
          <a:prstGeom prst="line">
            <a:avLst/>
          </a:prstGeom>
          <a:ln w="20320">
            <a:solidFill>
              <a:srgbClr val="FF6A00"/>
            </a:solidFill>
            <a:prstDash val="dash"/>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7776972" y="3899915"/>
            <a:ext cx="137160" cy="137160"/>
          </a:xfrm>
          <a:prstGeom prst="ellipse">
            <a:avLst/>
          </a:prstGeom>
          <a:solidFill>
            <a:srgbClr val="FF4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831068" y="3131820"/>
            <a:ext cx="137160" cy="137160"/>
          </a:xfrm>
          <a:prstGeom prst="ellipse">
            <a:avLst/>
          </a:prstGeom>
          <a:solidFill>
            <a:srgbClr val="00C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44383" y="4105656"/>
            <a:ext cx="1463040" cy="420624"/>
          </a:xfrm>
          <a:prstGeom prst="rect">
            <a:avLst/>
          </a:prstGeom>
          <a:noFill/>
        </p:spPr>
        <p:txBody>
          <a:bodyPr wrap="square" lIns="0" rIns="0" tIns="0" bIns="0" anchor="t">
            <a:spAutoFit/>
          </a:bodyPr>
          <a:lstStyle/>
          <a:p>
            <a:pPr algn="l"/>
            <a:r>
              <a:rPr sz="1000" b="1">
                <a:solidFill>
                  <a:srgbClr val="FF4848"/>
                </a:solidFill>
                <a:latin typeface="Aptos"/>
              </a:rPr>
              <a:t>ENTRY
53 views · 3.2%</a:t>
            </a:r>
          </a:p>
        </p:txBody>
      </p:sp>
      <p:sp>
        <p:nvSpPr>
          <p:cNvPr id="39" name="TextBox 38"/>
          <p:cNvSpPr txBox="1"/>
          <p:nvPr/>
        </p:nvSpPr>
        <p:spPr>
          <a:xfrm>
            <a:off x="10040112" y="2761488"/>
            <a:ext cx="1188720" cy="420624"/>
          </a:xfrm>
          <a:prstGeom prst="rect">
            <a:avLst/>
          </a:prstGeom>
          <a:noFill/>
        </p:spPr>
        <p:txBody>
          <a:bodyPr wrap="square" lIns="0" rIns="0" tIns="0" bIns="0" anchor="t">
            <a:spAutoFit/>
          </a:bodyPr>
          <a:lstStyle/>
          <a:p>
            <a:pPr algn="r"/>
            <a:r>
              <a:rPr sz="1000" b="1">
                <a:solidFill>
                  <a:srgbClr val="00C86E"/>
                </a:solidFill>
                <a:latin typeface="Aptos"/>
              </a:rPr>
              <a:t>EXEC
116 views · 8.9%</a:t>
            </a:r>
          </a:p>
        </p:txBody>
      </p:sp>
      <p:sp>
        <p:nvSpPr>
          <p:cNvPr id="40" name="TextBox 39"/>
          <p:cNvSpPr txBox="1"/>
          <p:nvPr/>
        </p:nvSpPr>
        <p:spPr>
          <a:xfrm>
            <a:off x="7607808" y="4608576"/>
            <a:ext cx="3511296" cy="475488"/>
          </a:xfrm>
          <a:prstGeom prst="rect">
            <a:avLst/>
          </a:prstGeom>
          <a:noFill/>
        </p:spPr>
        <p:txBody>
          <a:bodyPr wrap="square" lIns="0" rIns="0" tIns="0" bIns="0" anchor="t">
            <a:spAutoFit/>
          </a:bodyPr>
          <a:lstStyle/>
          <a:p>
            <a:r>
              <a:rPr sz="1400" b="1">
                <a:solidFill>
                  <a:srgbClr val="F2F2F2"/>
                </a:solidFill>
                <a:latin typeface="Aptos"/>
              </a:rPr>
              <a:t>The gap compounds across both stages — this is not a visibility-only problem.</a:t>
            </a:r>
          </a:p>
        </p:txBody>
      </p:sp>
      <p:sp>
        <p:nvSpPr>
          <p:cNvPr id="41" name="TextBox 40"/>
          <p:cNvSpPr txBox="1"/>
          <p:nvPr/>
        </p:nvSpPr>
        <p:spPr>
          <a:xfrm>
            <a:off x="11567160" y="6428232"/>
            <a:ext cx="228600" cy="182880"/>
          </a:xfrm>
          <a:prstGeom prst="rect">
            <a:avLst/>
          </a:prstGeom>
          <a:noFill/>
        </p:spPr>
        <p:txBody>
          <a:bodyPr wrap="square" lIns="0" rIns="0" tIns="0" bIns="0" anchor="t">
            <a:spAutoFit/>
          </a:bodyPr>
          <a:lstStyle/>
          <a:p>
            <a:pPr algn="r"/>
            <a:r>
              <a:rPr sz="900" b="0">
                <a:solidFill>
                  <a:srgbClr val="282828"/>
                </a:solidFill>
                <a:latin typeface="Aptos"/>
              </a:rPr>
              <a:t>11</a:t>
            </a:r>
          </a:p>
        </p:txBody>
      </p:sp>
      <p:sp>
        <p:nvSpPr>
          <p:cNvPr id="42" name="TextBox 41"/>
          <p:cNvSpPr txBox="1"/>
          <p:nvPr/>
        </p:nvSpPr>
        <p:spPr>
          <a:xfrm>
            <a:off x="640080" y="5989320"/>
            <a:ext cx="8046720" cy="182880"/>
          </a:xfrm>
          <a:prstGeom prst="rect">
            <a:avLst/>
          </a:prstGeom>
          <a:noFill/>
        </p:spPr>
        <p:txBody>
          <a:bodyPr wrap="square" lIns="0" rIns="0" tIns="0" bIns="0">
            <a:spAutoFit/>
          </a:bodyPr>
          <a:lstStyle/>
          <a:p>
            <a:r>
              <a:rPr sz="800" b="1">
                <a:solidFill>
                  <a:srgbClr val="5C5C5C"/>
                </a:solidFill>
                <a:latin typeface="Aptos"/>
              </a:rPr>
              <a:t>SCOPE · pay-band subset of first-cycle 30-day postings · N = 78,430 · Mar–Jun 2023</a:t>
            </a: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505"/>
        </a:solidFill>
        <a:effectLst/>
      </p:bgPr>
    </p:bg>
    <p:spTree>
      <p:nvGrpSpPr>
        <p:cNvPr id="1" name=""/>
        <p:cNvGrpSpPr/>
        <p:nvPr/>
      </p:nvGrpSpPr>
      <p:grpSpPr>
        <a:xfrm>
          <a:off x="0" y="0"/>
          <a:ext cx="0" cy="0"/>
          <a:chOff x="0" y="0"/>
          <a:chExt cx="0" cy="0"/>
        </a:xfrm>
      </p:grpSpPr>
      <p:sp>
        <p:nvSpPr>
          <p:cNvPr id="2" name="TextBox 1"/>
          <p:cNvSpPr txBox="1"/>
          <p:nvPr/>
        </p:nvSpPr>
        <p:spPr>
          <a:xfrm>
            <a:off x="658368" y="658368"/>
            <a:ext cx="10881360" cy="292608"/>
          </a:xfrm>
          <a:prstGeom prst="rect">
            <a:avLst/>
          </a:prstGeom>
          <a:noFill/>
        </p:spPr>
        <p:txBody>
          <a:bodyPr wrap="square" lIns="0" rIns="0" tIns="0" bIns="0" anchor="t">
            <a:spAutoFit/>
          </a:bodyPr>
          <a:lstStyle/>
          <a:p>
            <a:pPr algn="l">
              <a:lnSpc>
                <a:spcPct val="100000"/>
              </a:lnSpc>
            </a:pPr>
            <a:r>
              <a:rPr sz="900" b="1" i="0">
                <a:solidFill>
                  <a:srgbClr val="5F5F5F"/>
                </a:solidFill>
                <a:latin typeface="Arial"/>
              </a:rPr>
              <a:t>THE HEADLINE FINDING</a:t>
            </a:r>
          </a:p>
        </p:txBody>
      </p:sp>
      <p:sp>
        <p:nvSpPr>
          <p:cNvPr id="3" name="TextBox 2"/>
          <p:cNvSpPr txBox="1"/>
          <p:nvPr/>
        </p:nvSpPr>
        <p:spPr>
          <a:xfrm>
            <a:off x="658368" y="914400"/>
            <a:ext cx="10881360" cy="594360"/>
          </a:xfrm>
          <a:prstGeom prst="rect">
            <a:avLst/>
          </a:prstGeom>
          <a:noFill/>
        </p:spPr>
        <p:txBody>
          <a:bodyPr wrap="square" lIns="0" rIns="0" tIns="0" bIns="0" anchor="t">
            <a:spAutoFit/>
          </a:bodyPr>
          <a:lstStyle/>
          <a:p>
            <a:pPr algn="l">
              <a:lnSpc>
                <a:spcPct val="100000"/>
              </a:lnSpc>
            </a:pPr>
            <a:r>
              <a:rPr sz="2500" b="0">
                <a:solidFill>
                  <a:srgbClr val="F2F2F2"/>
                </a:solidFill>
                <a:latin typeface="Aptos"/>
              </a:rPr>
              <a:t>Aggregate data hides a reversal at entry pay</a:t>
            </a:r>
          </a:p>
        </p:txBody>
      </p:sp>
      <p:sp>
        <p:nvSpPr>
          <p:cNvPr id="4" name="Rounded Rectangle 3"/>
          <p:cNvSpPr/>
          <p:nvPr/>
        </p:nvSpPr>
        <p:spPr>
          <a:xfrm>
            <a:off x="658368" y="1755648"/>
            <a:ext cx="10863072" cy="1307592"/>
          </a:xfrm>
          <a:prstGeom prst="roundRect">
            <a:avLst/>
          </a:prstGeom>
          <a:solidFill>
            <a:srgbClr val="120909"/>
          </a:solidFill>
          <a:ln w="10160">
            <a:solidFill>
              <a:srgbClr val="60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975104"/>
            <a:ext cx="2468880" cy="201168"/>
          </a:xfrm>
          <a:prstGeom prst="rect">
            <a:avLst/>
          </a:prstGeom>
          <a:noFill/>
        </p:spPr>
        <p:txBody>
          <a:bodyPr wrap="square" lIns="0" rIns="0" tIns="0" bIns="0" anchor="t">
            <a:spAutoFit/>
          </a:bodyPr>
          <a:lstStyle/>
          <a:p>
            <a:pPr algn="l">
              <a:lnSpc>
                <a:spcPct val="100000"/>
              </a:lnSpc>
            </a:pPr>
            <a:r>
              <a:rPr sz="900" b="1" i="0">
                <a:solidFill>
                  <a:srgbClr val="EF4444"/>
                </a:solidFill>
                <a:latin typeface="Arial"/>
              </a:rPr>
              <a:t>WHAT THE WHOLE MARKET SHOWS</a:t>
            </a:r>
          </a:p>
        </p:txBody>
      </p:sp>
      <p:sp>
        <p:nvSpPr>
          <p:cNvPr id="6" name="TextBox 5"/>
          <p:cNvSpPr txBox="1"/>
          <p:nvPr/>
        </p:nvSpPr>
        <p:spPr>
          <a:xfrm>
            <a:off x="896112" y="2267712"/>
            <a:ext cx="1005840" cy="365760"/>
          </a:xfrm>
          <a:prstGeom prst="rect">
            <a:avLst/>
          </a:prstGeom>
          <a:noFill/>
        </p:spPr>
        <p:txBody>
          <a:bodyPr wrap="square" lIns="0" rIns="0" tIns="0" bIns="0" anchor="t">
            <a:spAutoFit/>
          </a:bodyPr>
          <a:lstStyle/>
          <a:p>
            <a:pPr algn="l">
              <a:lnSpc>
                <a:spcPct val="100000"/>
              </a:lnSpc>
            </a:pPr>
            <a:r>
              <a:rPr sz="2300" b="1" i="0">
                <a:solidFill>
                  <a:srgbClr val="F5F5F5"/>
                </a:solidFill>
                <a:latin typeface="Arial"/>
              </a:rPr>
              <a:t>18.7%</a:t>
            </a:r>
          </a:p>
        </p:txBody>
      </p:sp>
      <p:sp>
        <p:nvSpPr>
          <p:cNvPr id="7" name="TextBox 6"/>
          <p:cNvSpPr txBox="1"/>
          <p:nvPr/>
        </p:nvSpPr>
        <p:spPr>
          <a:xfrm>
            <a:off x="896112" y="2651760"/>
            <a:ext cx="1097280" cy="201168"/>
          </a:xfrm>
          <a:prstGeom prst="rect">
            <a:avLst/>
          </a:prstGeom>
          <a:noFill/>
        </p:spPr>
        <p:txBody>
          <a:bodyPr wrap="square" lIns="0" rIns="0" tIns="0" bIns="0" anchor="t">
            <a:spAutoFit/>
          </a:bodyPr>
          <a:lstStyle/>
          <a:p>
            <a:pPr algn="l">
              <a:lnSpc>
                <a:spcPct val="100000"/>
              </a:lnSpc>
            </a:pPr>
            <a:r>
              <a:rPr sz="900" b="0" i="0">
                <a:solidFill>
                  <a:srgbClr val="A0A0A0"/>
                </a:solidFill>
                <a:latin typeface="Arial"/>
              </a:rPr>
              <a:t>&lt; 3 years</a:t>
            </a:r>
          </a:p>
        </p:txBody>
      </p:sp>
      <p:sp>
        <p:nvSpPr>
          <p:cNvPr id="8" name="TextBox 7"/>
          <p:cNvSpPr txBox="1"/>
          <p:nvPr/>
        </p:nvSpPr>
        <p:spPr>
          <a:xfrm>
            <a:off x="1965960" y="2286000"/>
            <a:ext cx="502920" cy="320040"/>
          </a:xfrm>
          <a:prstGeom prst="rect">
            <a:avLst/>
          </a:prstGeom>
          <a:noFill/>
        </p:spPr>
        <p:txBody>
          <a:bodyPr wrap="square" lIns="0" rIns="0" tIns="0" bIns="0" anchor="t">
            <a:spAutoFit/>
          </a:bodyPr>
          <a:lstStyle/>
          <a:p>
            <a:pPr algn="ctr">
              <a:lnSpc>
                <a:spcPct val="100000"/>
              </a:lnSpc>
            </a:pPr>
            <a:r>
              <a:rPr sz="2200" b="1" i="0">
                <a:solidFill>
                  <a:srgbClr val="EF4444"/>
                </a:solidFill>
                <a:latin typeface="Arial"/>
              </a:rPr>
              <a:t>→</a:t>
            </a:r>
          </a:p>
        </p:txBody>
      </p:sp>
      <p:sp>
        <p:nvSpPr>
          <p:cNvPr id="9" name="TextBox 8"/>
          <p:cNvSpPr txBox="1"/>
          <p:nvPr/>
        </p:nvSpPr>
        <p:spPr>
          <a:xfrm>
            <a:off x="2560320" y="2267712"/>
            <a:ext cx="1005840" cy="365760"/>
          </a:xfrm>
          <a:prstGeom prst="rect">
            <a:avLst/>
          </a:prstGeom>
          <a:noFill/>
        </p:spPr>
        <p:txBody>
          <a:bodyPr wrap="square" lIns="0" rIns="0" tIns="0" bIns="0" anchor="t">
            <a:spAutoFit/>
          </a:bodyPr>
          <a:lstStyle/>
          <a:p>
            <a:pPr algn="l">
              <a:lnSpc>
                <a:spcPct val="100000"/>
              </a:lnSpc>
            </a:pPr>
            <a:r>
              <a:rPr sz="2300" b="1" i="0">
                <a:solidFill>
                  <a:srgbClr val="F5F5F5"/>
                </a:solidFill>
                <a:latin typeface="Arial"/>
              </a:rPr>
              <a:t>16.2%</a:t>
            </a:r>
          </a:p>
        </p:txBody>
      </p:sp>
      <p:sp>
        <p:nvSpPr>
          <p:cNvPr id="10" name="TextBox 9"/>
          <p:cNvSpPr txBox="1"/>
          <p:nvPr/>
        </p:nvSpPr>
        <p:spPr>
          <a:xfrm>
            <a:off x="2560320" y="2651760"/>
            <a:ext cx="1097280" cy="201168"/>
          </a:xfrm>
          <a:prstGeom prst="rect">
            <a:avLst/>
          </a:prstGeom>
          <a:noFill/>
        </p:spPr>
        <p:txBody>
          <a:bodyPr wrap="square" lIns="0" rIns="0" tIns="0" bIns="0" anchor="t">
            <a:spAutoFit/>
          </a:bodyPr>
          <a:lstStyle/>
          <a:p>
            <a:pPr algn="l">
              <a:lnSpc>
                <a:spcPct val="100000"/>
              </a:lnSpc>
            </a:pPr>
            <a:r>
              <a:rPr sz="900" b="0" i="0">
                <a:solidFill>
                  <a:srgbClr val="A0A0A0"/>
                </a:solidFill>
                <a:latin typeface="Arial"/>
              </a:rPr>
              <a:t>3+ years</a:t>
            </a:r>
          </a:p>
        </p:txBody>
      </p:sp>
      <p:sp>
        <p:nvSpPr>
          <p:cNvPr id="11" name="TextBox 10"/>
          <p:cNvSpPr txBox="1"/>
          <p:nvPr/>
        </p:nvSpPr>
        <p:spPr>
          <a:xfrm>
            <a:off x="3950208" y="2240280"/>
            <a:ext cx="4279392" cy="310896"/>
          </a:xfrm>
          <a:prstGeom prst="rect">
            <a:avLst/>
          </a:prstGeom>
          <a:noFill/>
        </p:spPr>
        <p:txBody>
          <a:bodyPr wrap="square" lIns="0" rIns="0" tIns="0" bIns="0" anchor="t">
            <a:spAutoFit/>
          </a:bodyPr>
          <a:lstStyle/>
          <a:p>
            <a:pPr algn="l">
              <a:lnSpc>
                <a:spcPct val="100000"/>
              </a:lnSpc>
            </a:pPr>
            <a:r>
              <a:rPr sz="1300" b="0" i="0">
                <a:solidFill>
                  <a:srgbClr val="F5F5F5"/>
                </a:solidFill>
                <a:latin typeface="Arial"/>
              </a:rPr>
              <a:t>Reads as: raise the experience bar, get fewer reposts.</a:t>
            </a:r>
          </a:p>
        </p:txBody>
      </p:sp>
      <p:sp>
        <p:nvSpPr>
          <p:cNvPr id="12" name="TextBox 11"/>
          <p:cNvSpPr txBox="1"/>
          <p:nvPr/>
        </p:nvSpPr>
        <p:spPr>
          <a:xfrm>
            <a:off x="8366760" y="2240280"/>
            <a:ext cx="2916936" cy="310896"/>
          </a:xfrm>
          <a:prstGeom prst="rect">
            <a:avLst/>
          </a:prstGeom>
          <a:noFill/>
        </p:spPr>
        <p:txBody>
          <a:bodyPr wrap="square" lIns="0" rIns="0" tIns="0" bIns="0" anchor="t">
            <a:spAutoFit/>
          </a:bodyPr>
          <a:lstStyle/>
          <a:p>
            <a:pPr algn="l">
              <a:lnSpc>
                <a:spcPct val="100000"/>
              </a:lnSpc>
            </a:pPr>
            <a:r>
              <a:rPr sz="1500" b="1" i="0">
                <a:solidFill>
                  <a:srgbClr val="EF4444"/>
                </a:solidFill>
                <a:latin typeface="Arial"/>
              </a:rPr>
              <a:t>True number. Wrong advice.</a:t>
            </a:r>
          </a:p>
        </p:txBody>
      </p:sp>
      <p:sp>
        <p:nvSpPr>
          <p:cNvPr id="13" name="TextBox 12"/>
          <p:cNvSpPr txBox="1"/>
          <p:nvPr/>
        </p:nvSpPr>
        <p:spPr>
          <a:xfrm>
            <a:off x="3950208" y="2615184"/>
            <a:ext cx="6812280" cy="237744"/>
          </a:xfrm>
          <a:prstGeom prst="rect">
            <a:avLst/>
          </a:prstGeom>
          <a:noFill/>
        </p:spPr>
        <p:txBody>
          <a:bodyPr wrap="square" lIns="0" rIns="0" tIns="0" bIns="0" anchor="t">
            <a:spAutoFit/>
          </a:bodyPr>
          <a:lstStyle/>
          <a:p>
            <a:pPr algn="l">
              <a:lnSpc>
                <a:spcPct val="100000"/>
              </a:lnSpc>
            </a:pPr>
            <a:r>
              <a:rPr sz="1050" b="0" i="0">
                <a:solidFill>
                  <a:srgbClr val="A0A0A0"/>
                </a:solidFill>
                <a:latin typeface="Arial"/>
              </a:rPr>
              <a:t>It compares ~$3,000 roles with ~$5,400 roles. The higher-experience group is simply better paid.</a:t>
            </a:r>
          </a:p>
        </p:txBody>
      </p:sp>
      <p:sp>
        <p:nvSpPr>
          <p:cNvPr id="14" name="TextBox 13"/>
          <p:cNvSpPr txBox="1"/>
          <p:nvPr/>
        </p:nvSpPr>
        <p:spPr>
          <a:xfrm>
            <a:off x="676656" y="3429000"/>
            <a:ext cx="4937760" cy="219456"/>
          </a:xfrm>
          <a:prstGeom prst="rect">
            <a:avLst/>
          </a:prstGeom>
          <a:noFill/>
        </p:spPr>
        <p:txBody>
          <a:bodyPr wrap="square" lIns="0" rIns="0" tIns="0" bIns="0" anchor="t">
            <a:spAutoFit/>
          </a:bodyPr>
          <a:lstStyle/>
          <a:p>
            <a:pPr algn="l">
              <a:lnSpc>
                <a:spcPct val="100000"/>
              </a:lnSpc>
            </a:pPr>
            <a:r>
              <a:rPr sz="1000" b="1">
                <a:solidFill>
                  <a:srgbClr val="FF6A00"/>
                </a:solidFill>
                <a:latin typeface="Aptos"/>
              </a:rPr>
              <a:t>COMPARE WITHIN PAY BANDS — THE HIRER'S ACTUAL DECISION</a:t>
            </a:r>
          </a:p>
        </p:txBody>
      </p:sp>
      <p:sp>
        <p:nvSpPr>
          <p:cNvPr id="15" name="TextBox 14"/>
          <p:cNvSpPr txBox="1"/>
          <p:nvPr/>
        </p:nvSpPr>
        <p:spPr>
          <a:xfrm>
            <a:off x="841248" y="3767328"/>
            <a:ext cx="1965960" cy="274320"/>
          </a:xfrm>
          <a:prstGeom prst="rect">
            <a:avLst/>
          </a:prstGeom>
          <a:noFill/>
        </p:spPr>
        <p:txBody>
          <a:bodyPr wrap="square" lIns="0" rIns="0" tIns="0" bIns="0" anchor="t">
            <a:spAutoFit/>
          </a:bodyPr>
          <a:lstStyle/>
          <a:p>
            <a:pPr algn="l">
              <a:lnSpc>
                <a:spcPct val="100000"/>
              </a:lnSpc>
            </a:pPr>
            <a:r>
              <a:rPr sz="1200" b="1" i="0">
                <a:solidFill>
                  <a:srgbClr val="F5F5F5"/>
                </a:solidFill>
                <a:latin typeface="Arial"/>
              </a:rPr>
              <a:t>Entry &lt; $3k</a:t>
            </a:r>
          </a:p>
        </p:txBody>
      </p:sp>
      <p:sp>
        <p:nvSpPr>
          <p:cNvPr id="16" name="TextBox 15"/>
          <p:cNvSpPr txBox="1"/>
          <p:nvPr/>
        </p:nvSpPr>
        <p:spPr>
          <a:xfrm>
            <a:off x="3017520" y="3767328"/>
            <a:ext cx="777240" cy="274320"/>
          </a:xfrm>
          <a:prstGeom prst="rect">
            <a:avLst/>
          </a:prstGeom>
          <a:noFill/>
        </p:spPr>
        <p:txBody>
          <a:bodyPr wrap="square" lIns="0" rIns="0" tIns="0" bIns="0" anchor="t">
            <a:spAutoFit/>
          </a:bodyPr>
          <a:lstStyle/>
          <a:p>
            <a:pPr algn="r">
              <a:lnSpc>
                <a:spcPct val="100000"/>
              </a:lnSpc>
            </a:pPr>
            <a:r>
              <a:rPr sz="1200" b="0" i="0">
                <a:solidFill>
                  <a:srgbClr val="A0A0A0"/>
                </a:solidFill>
                <a:latin typeface="Arial"/>
              </a:rPr>
              <a:t>19.4%</a:t>
            </a:r>
          </a:p>
        </p:txBody>
      </p:sp>
      <p:sp>
        <p:nvSpPr>
          <p:cNvPr id="17" name="TextBox 16"/>
          <p:cNvSpPr txBox="1"/>
          <p:nvPr/>
        </p:nvSpPr>
        <p:spPr>
          <a:xfrm>
            <a:off x="3886200" y="3767328"/>
            <a:ext cx="411480" cy="274320"/>
          </a:xfrm>
          <a:prstGeom prst="rect">
            <a:avLst/>
          </a:prstGeom>
          <a:noFill/>
        </p:spPr>
        <p:txBody>
          <a:bodyPr wrap="square" lIns="0" rIns="0" tIns="0" bIns="0" anchor="t">
            <a:spAutoFit/>
          </a:bodyPr>
          <a:lstStyle/>
          <a:p>
            <a:pPr algn="ctr">
              <a:lnSpc>
                <a:spcPct val="100000"/>
              </a:lnSpc>
            </a:pPr>
            <a:r>
              <a:rPr sz="1400" b="0" i="0">
                <a:solidFill>
                  <a:srgbClr val="5F5F5F"/>
                </a:solidFill>
                <a:latin typeface="Arial"/>
              </a:rPr>
              <a:t>→</a:t>
            </a:r>
          </a:p>
        </p:txBody>
      </p:sp>
      <p:sp>
        <p:nvSpPr>
          <p:cNvPr id="18" name="TextBox 17"/>
          <p:cNvSpPr txBox="1"/>
          <p:nvPr/>
        </p:nvSpPr>
        <p:spPr>
          <a:xfrm>
            <a:off x="4370832" y="3767328"/>
            <a:ext cx="822960" cy="274320"/>
          </a:xfrm>
          <a:prstGeom prst="rect">
            <a:avLst/>
          </a:prstGeom>
          <a:noFill/>
        </p:spPr>
        <p:txBody>
          <a:bodyPr wrap="square" lIns="0" rIns="0" tIns="0" bIns="0" anchor="t">
            <a:spAutoFit/>
          </a:bodyPr>
          <a:lstStyle/>
          <a:p>
            <a:pPr algn="r">
              <a:lnSpc>
                <a:spcPct val="100000"/>
              </a:lnSpc>
            </a:pPr>
            <a:r>
              <a:rPr sz="1200" b="1" i="0">
                <a:solidFill>
                  <a:srgbClr val="F5F5F5"/>
                </a:solidFill>
                <a:latin typeface="Arial"/>
              </a:rPr>
              <a:t>24.6%</a:t>
            </a:r>
          </a:p>
        </p:txBody>
      </p:sp>
      <p:sp>
        <p:nvSpPr>
          <p:cNvPr id="19" name="TextBox 18"/>
          <p:cNvSpPr txBox="1"/>
          <p:nvPr/>
        </p:nvSpPr>
        <p:spPr>
          <a:xfrm>
            <a:off x="5440680" y="3767328"/>
            <a:ext cx="822960" cy="274320"/>
          </a:xfrm>
          <a:prstGeom prst="rect">
            <a:avLst/>
          </a:prstGeom>
          <a:noFill/>
        </p:spPr>
        <p:txBody>
          <a:bodyPr wrap="square" lIns="0" rIns="0" tIns="0" bIns="0" anchor="t">
            <a:spAutoFit/>
          </a:bodyPr>
          <a:lstStyle/>
          <a:p>
            <a:pPr algn="r">
              <a:lnSpc>
                <a:spcPct val="100000"/>
              </a:lnSpc>
            </a:pPr>
            <a:r>
              <a:rPr sz="1200" b="1" i="0">
                <a:solidFill>
                  <a:srgbClr val="EF4444"/>
                </a:solidFill>
                <a:latin typeface="Arial"/>
              </a:rPr>
              <a:t>+5.3 pts</a:t>
            </a:r>
          </a:p>
        </p:txBody>
      </p:sp>
      <p:sp>
        <p:nvSpPr>
          <p:cNvPr id="20" name="Rectangle 19"/>
          <p:cNvSpPr/>
          <p:nvPr/>
        </p:nvSpPr>
        <p:spPr>
          <a:xfrm>
            <a:off x="6400800" y="3849624"/>
            <a:ext cx="1218895"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4270248"/>
            <a:ext cx="1965960" cy="274320"/>
          </a:xfrm>
          <a:prstGeom prst="rect">
            <a:avLst/>
          </a:prstGeom>
          <a:noFill/>
        </p:spPr>
        <p:txBody>
          <a:bodyPr wrap="square" lIns="0" rIns="0" tIns="0" bIns="0" anchor="t">
            <a:spAutoFit/>
          </a:bodyPr>
          <a:lstStyle/>
          <a:p>
            <a:pPr algn="l">
              <a:lnSpc>
                <a:spcPct val="100000"/>
              </a:lnSpc>
            </a:pPr>
            <a:r>
              <a:rPr sz="1200" b="1" i="0">
                <a:solidFill>
                  <a:srgbClr val="F5F5F5"/>
                </a:solidFill>
                <a:latin typeface="Arial"/>
              </a:rPr>
              <a:t>Mid $3–5k</a:t>
            </a:r>
          </a:p>
        </p:txBody>
      </p:sp>
      <p:sp>
        <p:nvSpPr>
          <p:cNvPr id="22" name="TextBox 21"/>
          <p:cNvSpPr txBox="1"/>
          <p:nvPr/>
        </p:nvSpPr>
        <p:spPr>
          <a:xfrm>
            <a:off x="3017520" y="4270248"/>
            <a:ext cx="777240" cy="274320"/>
          </a:xfrm>
          <a:prstGeom prst="rect">
            <a:avLst/>
          </a:prstGeom>
          <a:noFill/>
        </p:spPr>
        <p:txBody>
          <a:bodyPr wrap="square" lIns="0" rIns="0" tIns="0" bIns="0" anchor="t">
            <a:spAutoFit/>
          </a:bodyPr>
          <a:lstStyle/>
          <a:p>
            <a:pPr algn="r">
              <a:lnSpc>
                <a:spcPct val="100000"/>
              </a:lnSpc>
            </a:pPr>
            <a:r>
              <a:rPr sz="1200" b="0" i="0">
                <a:solidFill>
                  <a:srgbClr val="A0A0A0"/>
                </a:solidFill>
                <a:latin typeface="Arial"/>
              </a:rPr>
              <a:t>18.4%</a:t>
            </a:r>
          </a:p>
        </p:txBody>
      </p:sp>
      <p:sp>
        <p:nvSpPr>
          <p:cNvPr id="23" name="TextBox 22"/>
          <p:cNvSpPr txBox="1"/>
          <p:nvPr/>
        </p:nvSpPr>
        <p:spPr>
          <a:xfrm>
            <a:off x="3886200" y="4270248"/>
            <a:ext cx="411480" cy="274320"/>
          </a:xfrm>
          <a:prstGeom prst="rect">
            <a:avLst/>
          </a:prstGeom>
          <a:noFill/>
        </p:spPr>
        <p:txBody>
          <a:bodyPr wrap="square" lIns="0" rIns="0" tIns="0" bIns="0" anchor="t">
            <a:spAutoFit/>
          </a:bodyPr>
          <a:lstStyle/>
          <a:p>
            <a:pPr algn="ctr">
              <a:lnSpc>
                <a:spcPct val="100000"/>
              </a:lnSpc>
            </a:pPr>
            <a:r>
              <a:rPr sz="1400" b="0" i="0">
                <a:solidFill>
                  <a:srgbClr val="5F5F5F"/>
                </a:solidFill>
                <a:latin typeface="Arial"/>
              </a:rPr>
              <a:t>→</a:t>
            </a:r>
          </a:p>
        </p:txBody>
      </p:sp>
      <p:sp>
        <p:nvSpPr>
          <p:cNvPr id="24" name="TextBox 23"/>
          <p:cNvSpPr txBox="1"/>
          <p:nvPr/>
        </p:nvSpPr>
        <p:spPr>
          <a:xfrm>
            <a:off x="4370832" y="4270248"/>
            <a:ext cx="822960" cy="274320"/>
          </a:xfrm>
          <a:prstGeom prst="rect">
            <a:avLst/>
          </a:prstGeom>
          <a:noFill/>
        </p:spPr>
        <p:txBody>
          <a:bodyPr wrap="square" lIns="0" rIns="0" tIns="0" bIns="0" anchor="t">
            <a:spAutoFit/>
          </a:bodyPr>
          <a:lstStyle/>
          <a:p>
            <a:pPr algn="r">
              <a:lnSpc>
                <a:spcPct val="100000"/>
              </a:lnSpc>
            </a:pPr>
            <a:r>
              <a:rPr sz="1200" b="1" i="0">
                <a:solidFill>
                  <a:srgbClr val="F5F5F5"/>
                </a:solidFill>
                <a:latin typeface="Arial"/>
              </a:rPr>
              <a:t>18.1%</a:t>
            </a:r>
          </a:p>
        </p:txBody>
      </p:sp>
      <p:sp>
        <p:nvSpPr>
          <p:cNvPr id="25" name="TextBox 24"/>
          <p:cNvSpPr txBox="1"/>
          <p:nvPr/>
        </p:nvSpPr>
        <p:spPr>
          <a:xfrm>
            <a:off x="5440680" y="4270248"/>
            <a:ext cx="822960" cy="274320"/>
          </a:xfrm>
          <a:prstGeom prst="rect">
            <a:avLst/>
          </a:prstGeom>
          <a:noFill/>
        </p:spPr>
        <p:txBody>
          <a:bodyPr wrap="square" lIns="0" rIns="0" tIns="0" bIns="0" anchor="t">
            <a:spAutoFit/>
          </a:bodyPr>
          <a:lstStyle/>
          <a:p>
            <a:pPr algn="r">
              <a:lnSpc>
                <a:spcPct val="100000"/>
              </a:lnSpc>
            </a:pPr>
            <a:r>
              <a:rPr sz="1200" b="1" i="0">
                <a:solidFill>
                  <a:srgbClr val="22C55E"/>
                </a:solidFill>
                <a:latin typeface="Arial"/>
              </a:rPr>
              <a:t>−0.3</a:t>
            </a:r>
          </a:p>
        </p:txBody>
      </p:sp>
      <p:sp>
        <p:nvSpPr>
          <p:cNvPr id="26" name="Rectangle 25"/>
          <p:cNvSpPr/>
          <p:nvPr/>
        </p:nvSpPr>
        <p:spPr>
          <a:xfrm>
            <a:off x="6400800" y="4352544"/>
            <a:ext cx="715975"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4773168"/>
            <a:ext cx="1965960" cy="274320"/>
          </a:xfrm>
          <a:prstGeom prst="rect">
            <a:avLst/>
          </a:prstGeom>
          <a:noFill/>
        </p:spPr>
        <p:txBody>
          <a:bodyPr wrap="square" lIns="0" rIns="0" tIns="0" bIns="0" anchor="t">
            <a:spAutoFit/>
          </a:bodyPr>
          <a:lstStyle/>
          <a:p>
            <a:pPr algn="l">
              <a:lnSpc>
                <a:spcPct val="100000"/>
              </a:lnSpc>
            </a:pPr>
            <a:r>
              <a:rPr sz="1200" b="1" i="0">
                <a:solidFill>
                  <a:srgbClr val="F5F5F5"/>
                </a:solidFill>
                <a:latin typeface="Arial"/>
              </a:rPr>
              <a:t>Senior $5–8k</a:t>
            </a:r>
          </a:p>
        </p:txBody>
      </p:sp>
      <p:sp>
        <p:nvSpPr>
          <p:cNvPr id="28" name="TextBox 27"/>
          <p:cNvSpPr txBox="1"/>
          <p:nvPr/>
        </p:nvSpPr>
        <p:spPr>
          <a:xfrm>
            <a:off x="3017520" y="4773168"/>
            <a:ext cx="777240" cy="274320"/>
          </a:xfrm>
          <a:prstGeom prst="rect">
            <a:avLst/>
          </a:prstGeom>
          <a:noFill/>
        </p:spPr>
        <p:txBody>
          <a:bodyPr wrap="square" lIns="0" rIns="0" tIns="0" bIns="0" anchor="t">
            <a:spAutoFit/>
          </a:bodyPr>
          <a:lstStyle/>
          <a:p>
            <a:pPr algn="r">
              <a:lnSpc>
                <a:spcPct val="100000"/>
              </a:lnSpc>
            </a:pPr>
            <a:r>
              <a:rPr sz="1200" b="0" i="0">
                <a:solidFill>
                  <a:srgbClr val="A0A0A0"/>
                </a:solidFill>
                <a:latin typeface="Arial"/>
              </a:rPr>
              <a:t>17.9%</a:t>
            </a:r>
          </a:p>
        </p:txBody>
      </p:sp>
      <p:sp>
        <p:nvSpPr>
          <p:cNvPr id="29" name="TextBox 28"/>
          <p:cNvSpPr txBox="1"/>
          <p:nvPr/>
        </p:nvSpPr>
        <p:spPr>
          <a:xfrm>
            <a:off x="3886200" y="4773168"/>
            <a:ext cx="411480" cy="274320"/>
          </a:xfrm>
          <a:prstGeom prst="rect">
            <a:avLst/>
          </a:prstGeom>
          <a:noFill/>
        </p:spPr>
        <p:txBody>
          <a:bodyPr wrap="square" lIns="0" rIns="0" tIns="0" bIns="0" anchor="t">
            <a:spAutoFit/>
          </a:bodyPr>
          <a:lstStyle/>
          <a:p>
            <a:pPr algn="ctr">
              <a:lnSpc>
                <a:spcPct val="100000"/>
              </a:lnSpc>
            </a:pPr>
            <a:r>
              <a:rPr sz="1400" b="0" i="0">
                <a:solidFill>
                  <a:srgbClr val="5F5F5F"/>
                </a:solidFill>
                <a:latin typeface="Arial"/>
              </a:rPr>
              <a:t>→</a:t>
            </a:r>
          </a:p>
        </p:txBody>
      </p:sp>
      <p:sp>
        <p:nvSpPr>
          <p:cNvPr id="30" name="TextBox 29"/>
          <p:cNvSpPr txBox="1"/>
          <p:nvPr/>
        </p:nvSpPr>
        <p:spPr>
          <a:xfrm>
            <a:off x="4370832" y="4773168"/>
            <a:ext cx="822960" cy="274320"/>
          </a:xfrm>
          <a:prstGeom prst="rect">
            <a:avLst/>
          </a:prstGeom>
          <a:noFill/>
        </p:spPr>
        <p:txBody>
          <a:bodyPr wrap="square" lIns="0" rIns="0" tIns="0" bIns="0" anchor="t">
            <a:spAutoFit/>
          </a:bodyPr>
          <a:lstStyle/>
          <a:p>
            <a:pPr algn="r">
              <a:lnSpc>
                <a:spcPct val="100000"/>
              </a:lnSpc>
            </a:pPr>
            <a:r>
              <a:rPr sz="1200" b="1" i="0">
                <a:solidFill>
                  <a:srgbClr val="F5F5F5"/>
                </a:solidFill>
                <a:latin typeface="Arial"/>
              </a:rPr>
              <a:t>15.5%</a:t>
            </a:r>
          </a:p>
        </p:txBody>
      </p:sp>
      <p:sp>
        <p:nvSpPr>
          <p:cNvPr id="31" name="TextBox 30"/>
          <p:cNvSpPr txBox="1"/>
          <p:nvPr/>
        </p:nvSpPr>
        <p:spPr>
          <a:xfrm>
            <a:off x="5440680" y="4773168"/>
            <a:ext cx="822960" cy="274320"/>
          </a:xfrm>
          <a:prstGeom prst="rect">
            <a:avLst/>
          </a:prstGeom>
          <a:noFill/>
        </p:spPr>
        <p:txBody>
          <a:bodyPr wrap="square" lIns="0" rIns="0" tIns="0" bIns="0" anchor="t">
            <a:spAutoFit/>
          </a:bodyPr>
          <a:lstStyle/>
          <a:p>
            <a:pPr algn="r">
              <a:lnSpc>
                <a:spcPct val="100000"/>
              </a:lnSpc>
            </a:pPr>
            <a:r>
              <a:rPr sz="1200" b="1" i="0">
                <a:solidFill>
                  <a:srgbClr val="22C55E"/>
                </a:solidFill>
                <a:latin typeface="Arial"/>
              </a:rPr>
              <a:t>−2.4</a:t>
            </a:r>
          </a:p>
        </p:txBody>
      </p:sp>
      <p:sp>
        <p:nvSpPr>
          <p:cNvPr id="32" name="Rectangle 31"/>
          <p:cNvSpPr/>
          <p:nvPr/>
        </p:nvSpPr>
        <p:spPr>
          <a:xfrm>
            <a:off x="6400800" y="4855464"/>
            <a:ext cx="927201"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 y="5276088"/>
            <a:ext cx="1965960" cy="274320"/>
          </a:xfrm>
          <a:prstGeom prst="rect">
            <a:avLst/>
          </a:prstGeom>
          <a:noFill/>
        </p:spPr>
        <p:txBody>
          <a:bodyPr wrap="square" lIns="0" rIns="0" tIns="0" bIns="0" anchor="t">
            <a:spAutoFit/>
          </a:bodyPr>
          <a:lstStyle/>
          <a:p>
            <a:pPr algn="l">
              <a:lnSpc>
                <a:spcPct val="100000"/>
              </a:lnSpc>
            </a:pPr>
            <a:r>
              <a:rPr sz="1200" b="1" i="0">
                <a:solidFill>
                  <a:srgbClr val="F5F5F5"/>
                </a:solidFill>
                <a:latin typeface="Arial"/>
              </a:rPr>
              <a:t>Exec &gt; $8k</a:t>
            </a:r>
          </a:p>
        </p:txBody>
      </p:sp>
      <p:sp>
        <p:nvSpPr>
          <p:cNvPr id="34" name="TextBox 33"/>
          <p:cNvSpPr txBox="1"/>
          <p:nvPr/>
        </p:nvSpPr>
        <p:spPr>
          <a:xfrm>
            <a:off x="3017520" y="5276088"/>
            <a:ext cx="777240" cy="274320"/>
          </a:xfrm>
          <a:prstGeom prst="rect">
            <a:avLst/>
          </a:prstGeom>
          <a:noFill/>
        </p:spPr>
        <p:txBody>
          <a:bodyPr wrap="square" lIns="0" rIns="0" tIns="0" bIns="0" anchor="t">
            <a:spAutoFit/>
          </a:bodyPr>
          <a:lstStyle/>
          <a:p>
            <a:pPr algn="r">
              <a:lnSpc>
                <a:spcPct val="100000"/>
              </a:lnSpc>
            </a:pPr>
            <a:r>
              <a:rPr sz="1200" b="0" i="0">
                <a:solidFill>
                  <a:srgbClr val="A0A0A0"/>
                </a:solidFill>
                <a:latin typeface="Arial"/>
              </a:rPr>
              <a:t>15.0%</a:t>
            </a:r>
          </a:p>
        </p:txBody>
      </p:sp>
      <p:sp>
        <p:nvSpPr>
          <p:cNvPr id="35" name="TextBox 34"/>
          <p:cNvSpPr txBox="1"/>
          <p:nvPr/>
        </p:nvSpPr>
        <p:spPr>
          <a:xfrm>
            <a:off x="3886200" y="5276088"/>
            <a:ext cx="411480" cy="274320"/>
          </a:xfrm>
          <a:prstGeom prst="rect">
            <a:avLst/>
          </a:prstGeom>
          <a:noFill/>
        </p:spPr>
        <p:txBody>
          <a:bodyPr wrap="square" lIns="0" rIns="0" tIns="0" bIns="0" anchor="t">
            <a:spAutoFit/>
          </a:bodyPr>
          <a:lstStyle/>
          <a:p>
            <a:pPr algn="ctr">
              <a:lnSpc>
                <a:spcPct val="100000"/>
              </a:lnSpc>
            </a:pPr>
            <a:r>
              <a:rPr sz="1400" b="0" i="0">
                <a:solidFill>
                  <a:srgbClr val="5F5F5F"/>
                </a:solidFill>
                <a:latin typeface="Arial"/>
              </a:rPr>
              <a:t>→</a:t>
            </a:r>
          </a:p>
        </p:txBody>
      </p:sp>
      <p:sp>
        <p:nvSpPr>
          <p:cNvPr id="36" name="TextBox 35"/>
          <p:cNvSpPr txBox="1"/>
          <p:nvPr/>
        </p:nvSpPr>
        <p:spPr>
          <a:xfrm>
            <a:off x="4370832" y="5276088"/>
            <a:ext cx="822960" cy="274320"/>
          </a:xfrm>
          <a:prstGeom prst="rect">
            <a:avLst/>
          </a:prstGeom>
          <a:noFill/>
        </p:spPr>
        <p:txBody>
          <a:bodyPr wrap="square" lIns="0" rIns="0" tIns="0" bIns="0" anchor="t">
            <a:spAutoFit/>
          </a:bodyPr>
          <a:lstStyle/>
          <a:p>
            <a:pPr algn="r">
              <a:lnSpc>
                <a:spcPct val="100000"/>
              </a:lnSpc>
            </a:pPr>
            <a:r>
              <a:rPr sz="1200" b="1" i="0">
                <a:solidFill>
                  <a:srgbClr val="F5F5F5"/>
                </a:solidFill>
                <a:latin typeface="Arial"/>
              </a:rPr>
              <a:t>12.1%</a:t>
            </a:r>
          </a:p>
        </p:txBody>
      </p:sp>
      <p:sp>
        <p:nvSpPr>
          <p:cNvPr id="37" name="TextBox 36"/>
          <p:cNvSpPr txBox="1"/>
          <p:nvPr/>
        </p:nvSpPr>
        <p:spPr>
          <a:xfrm>
            <a:off x="5440680" y="5276088"/>
            <a:ext cx="822960" cy="274320"/>
          </a:xfrm>
          <a:prstGeom prst="rect">
            <a:avLst/>
          </a:prstGeom>
          <a:noFill/>
        </p:spPr>
        <p:txBody>
          <a:bodyPr wrap="square" lIns="0" rIns="0" tIns="0" bIns="0" anchor="t">
            <a:spAutoFit/>
          </a:bodyPr>
          <a:lstStyle/>
          <a:p>
            <a:pPr algn="r">
              <a:lnSpc>
                <a:spcPct val="100000"/>
              </a:lnSpc>
            </a:pPr>
            <a:r>
              <a:rPr sz="1200" b="1" i="0">
                <a:solidFill>
                  <a:srgbClr val="22C55E"/>
                </a:solidFill>
                <a:latin typeface="Arial"/>
              </a:rPr>
              <a:t>−2.9</a:t>
            </a:r>
          </a:p>
        </p:txBody>
      </p:sp>
      <p:sp>
        <p:nvSpPr>
          <p:cNvPr id="38" name="Rectangle 37"/>
          <p:cNvSpPr/>
          <p:nvPr/>
        </p:nvSpPr>
        <p:spPr>
          <a:xfrm>
            <a:off x="6400800" y="5358383"/>
            <a:ext cx="977493"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790688" y="3712463"/>
            <a:ext cx="3730752" cy="1801368"/>
          </a:xfrm>
          <a:prstGeom prst="roundRect">
            <a:avLst/>
          </a:prstGeom>
          <a:solidFill>
            <a:srgbClr val="0E0E0E"/>
          </a:solidFill>
          <a:ln w="1016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19" y="3941063"/>
            <a:ext cx="1554480" cy="219456"/>
          </a:xfrm>
          <a:prstGeom prst="rect">
            <a:avLst/>
          </a:prstGeom>
          <a:noFill/>
        </p:spPr>
        <p:txBody>
          <a:bodyPr wrap="square" lIns="0" rIns="0" tIns="0" bIns="0" anchor="t">
            <a:spAutoFit/>
          </a:bodyPr>
          <a:lstStyle/>
          <a:p>
            <a:pPr algn="l">
              <a:lnSpc>
                <a:spcPct val="100000"/>
              </a:lnSpc>
            </a:pPr>
            <a:r>
              <a:rPr sz="900" b="1">
                <a:solidFill>
                  <a:srgbClr val="FF6A00"/>
                </a:solidFill>
                <a:latin typeface="Aptos"/>
              </a:rPr>
              <a:t>THE REVERSAL</a:t>
            </a:r>
          </a:p>
        </p:txBody>
      </p:sp>
      <p:sp>
        <p:nvSpPr>
          <p:cNvPr id="41" name="TextBox 40"/>
          <p:cNvSpPr txBox="1"/>
          <p:nvPr/>
        </p:nvSpPr>
        <p:spPr>
          <a:xfrm>
            <a:off x="8046719" y="4160520"/>
            <a:ext cx="3218690" cy="502920"/>
          </a:xfrm>
          <a:prstGeom prst="rect">
            <a:avLst/>
          </a:prstGeom>
          <a:noFill/>
        </p:spPr>
        <p:txBody>
          <a:bodyPr wrap="square" lIns="0" rIns="0" tIns="0" bIns="0" anchor="t">
            <a:spAutoFit/>
          </a:bodyPr>
          <a:lstStyle/>
          <a:p>
            <a:pPr algn="l">
              <a:lnSpc>
                <a:spcPct val="100000"/>
              </a:lnSpc>
            </a:pPr>
            <a:r>
              <a:rPr sz="3000" b="1">
                <a:solidFill>
                  <a:srgbClr val="FF6A00"/>
                </a:solidFill>
                <a:latin typeface="Aptos"/>
              </a:rPr>
              <a:t>+5.3 pts</a:t>
            </a:r>
          </a:p>
        </p:txBody>
      </p:sp>
      <p:sp>
        <p:nvSpPr>
          <p:cNvPr id="42" name="TextBox 41"/>
          <p:cNvSpPr txBox="1"/>
          <p:nvPr/>
        </p:nvSpPr>
        <p:spPr>
          <a:xfrm>
            <a:off x="8046719" y="4681728"/>
            <a:ext cx="3218690" cy="457200"/>
          </a:xfrm>
          <a:prstGeom prst="rect">
            <a:avLst/>
          </a:prstGeom>
          <a:noFill/>
        </p:spPr>
        <p:txBody>
          <a:bodyPr wrap="square" lIns="0" rIns="0" tIns="0" bIns="0" anchor="t">
            <a:spAutoFit/>
          </a:bodyPr>
          <a:lstStyle/>
          <a:p>
            <a:pPr algn="l">
              <a:lnSpc>
                <a:spcPct val="100000"/>
              </a:lnSpc>
            </a:pPr>
            <a:r>
              <a:rPr sz="1200" b="1">
                <a:solidFill>
                  <a:srgbClr val="F2F2F2"/>
                </a:solidFill>
                <a:latin typeface="Aptos"/>
              </a:rPr>
              <a:t>reposting when Entry roles (&lt;$3k)
ask for 3+ years</a:t>
            </a:r>
          </a:p>
        </p:txBody>
      </p:sp>
      <p:sp>
        <p:nvSpPr>
          <p:cNvPr id="43" name="TextBox 42"/>
          <p:cNvSpPr txBox="1"/>
          <p:nvPr/>
        </p:nvSpPr>
        <p:spPr>
          <a:xfrm>
            <a:off x="676656" y="5797296"/>
            <a:ext cx="10789920" cy="246888"/>
          </a:xfrm>
          <a:prstGeom prst="rect">
            <a:avLst/>
          </a:prstGeom>
          <a:noFill/>
        </p:spPr>
        <p:txBody>
          <a:bodyPr wrap="square" lIns="0" rIns="0" tIns="0" bIns="0" anchor="t">
            <a:spAutoFit/>
          </a:bodyPr>
          <a:lstStyle/>
          <a:p>
            <a:pPr algn="l">
              <a:lnSpc>
                <a:spcPct val="100000"/>
              </a:lnSpc>
            </a:pPr>
            <a:r>
              <a:rPr sz="1000" b="0">
                <a:solidFill>
                  <a:srgbClr val="AAAAAA"/>
                </a:solidFill>
                <a:latin typeface="Aptos"/>
              </a:rPr>
              <a:t>Heterogeneity is real: Breslow–Day p ≈ 6×10⁻¹². The un-split view does not ship.</a:t>
            </a:r>
          </a:p>
        </p:txBody>
      </p:sp>
      <p:sp>
        <p:nvSpPr>
          <p:cNvPr id="44" name="TextBox 43"/>
          <p:cNvSpPr txBox="1"/>
          <p:nvPr/>
        </p:nvSpPr>
        <p:spPr>
          <a:xfrm>
            <a:off x="11384280" y="6473952"/>
            <a:ext cx="320040" cy="182880"/>
          </a:xfrm>
          <a:prstGeom prst="rect">
            <a:avLst/>
          </a:prstGeom>
          <a:noFill/>
        </p:spPr>
        <p:txBody>
          <a:bodyPr wrap="square" lIns="0" rIns="0" tIns="0" bIns="0" anchor="t">
            <a:spAutoFit/>
          </a:bodyPr>
          <a:lstStyle/>
          <a:p>
            <a:pPr algn="r">
              <a:lnSpc>
                <a:spcPct val="100000"/>
              </a:lnSpc>
            </a:pPr>
            <a:r>
              <a:rPr sz="800" b="0" i="0">
                <a:solidFill>
                  <a:srgbClr val="5F5F5F"/>
                </a:solidFill>
                <a:latin typeface="Arial"/>
              </a:rPr>
              <a:t>12</a:t>
            </a:r>
          </a:p>
        </p:txBody>
      </p:sp>
      <p:sp>
        <p:nvSpPr>
          <p:cNvPr id="45" name="TextBox 44"/>
          <p:cNvSpPr txBox="1"/>
          <p:nvPr/>
        </p:nvSpPr>
        <p:spPr>
          <a:xfrm>
            <a:off x="8046719" y="5193792"/>
            <a:ext cx="3218690" cy="201168"/>
          </a:xfrm>
          <a:prstGeom prst="rect">
            <a:avLst/>
          </a:prstGeom>
          <a:noFill/>
        </p:spPr>
        <p:txBody>
          <a:bodyPr wrap="square" lIns="0" rIns="0" tIns="0" bIns="0" anchor="t">
            <a:spAutoFit/>
          </a:bodyPr>
          <a:lstStyle/>
          <a:p>
            <a:pPr algn="l"/>
            <a:r>
              <a:rPr sz="900" b="1">
                <a:solidFill>
                  <a:srgbClr val="AAAAAA"/>
                </a:solidFill>
                <a:latin typeface="Aptos"/>
              </a:rPr>
              <a:t>OR 1.36 · 95% CI 1.23–1.51</a:t>
            </a:r>
          </a:p>
        </p:txBody>
      </p:sp>
      <p:sp>
        <p:nvSpPr>
          <p:cNvPr id="46" name="TextBox 45"/>
          <p:cNvSpPr txBox="1"/>
          <p:nvPr/>
        </p:nvSpPr>
        <p:spPr>
          <a:xfrm>
            <a:off x="676656" y="6144768"/>
            <a:ext cx="8869680" cy="182880"/>
          </a:xfrm>
          <a:prstGeom prst="rect">
            <a:avLst/>
          </a:prstGeom>
          <a:noFill/>
        </p:spPr>
        <p:txBody>
          <a:bodyPr wrap="square" lIns="0" rIns="0" tIns="0" bIns="0">
            <a:spAutoFit/>
          </a:bodyPr>
          <a:lstStyle/>
          <a:p>
            <a:r>
              <a:rPr sz="800" b="1">
                <a:solidFill>
                  <a:srgbClr val="5C5C5C"/>
                </a:solidFill>
                <a:latin typeface="Aptos"/>
              </a:rPr>
              <a:t>SCOPE · 30-day postings with a pay band · N = 95,289 · Mar–Jun 2023 · association, not causation</a:t>
            </a: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505"/>
        </a:solidFill>
        <a:effectLst/>
      </p:bgPr>
    </p:bg>
    <p:spTree>
      <p:nvGrpSpPr>
        <p:cNvPr id="1" name=""/>
        <p:cNvGrpSpPr/>
        <p:nvPr/>
      </p:nvGrpSpPr>
      <p:grpSpPr>
        <a:xfrm>
          <a:off x="0" y="0"/>
          <a:ext cx="0" cy="0"/>
          <a:chOff x="0" y="0"/>
          <a:chExt cx="0" cy="0"/>
        </a:xfrm>
      </p:grpSpPr>
      <p:sp>
        <p:nvSpPr>
          <p:cNvPr id="2" name="TextBox 1"/>
          <p:cNvSpPr txBox="1"/>
          <p:nvPr/>
        </p:nvSpPr>
        <p:spPr>
          <a:xfrm>
            <a:off x="658368" y="658368"/>
            <a:ext cx="10881360" cy="292608"/>
          </a:xfrm>
          <a:prstGeom prst="rect">
            <a:avLst/>
          </a:prstGeom>
          <a:noFill/>
        </p:spPr>
        <p:txBody>
          <a:bodyPr wrap="square" lIns="0" rIns="0" tIns="0" bIns="0" anchor="t">
            <a:spAutoFit/>
          </a:bodyPr>
          <a:lstStyle/>
          <a:p>
            <a:pPr algn="l">
              <a:lnSpc>
                <a:spcPct val="100000"/>
              </a:lnSpc>
            </a:pPr>
            <a:r>
              <a:rPr sz="900" b="1" i="0">
                <a:solidFill>
                  <a:srgbClr val="5F5F5F"/>
                </a:solidFill>
                <a:latin typeface="Arial"/>
              </a:rPr>
              <a:t>CHALLENGES &amp; LEARNINGS</a:t>
            </a:r>
          </a:p>
        </p:txBody>
      </p:sp>
      <p:sp>
        <p:nvSpPr>
          <p:cNvPr id="3" name="TextBox 2"/>
          <p:cNvSpPr txBox="1"/>
          <p:nvPr/>
        </p:nvSpPr>
        <p:spPr>
          <a:xfrm>
            <a:off x="658368" y="914400"/>
            <a:ext cx="10881360" cy="594360"/>
          </a:xfrm>
          <a:prstGeom prst="rect">
            <a:avLst/>
          </a:prstGeom>
          <a:noFill/>
        </p:spPr>
        <p:txBody>
          <a:bodyPr wrap="square" lIns="0" rIns="0" tIns="0" bIns="0" anchor="t">
            <a:spAutoFit/>
          </a:bodyPr>
          <a:lstStyle/>
          <a:p>
            <a:pPr algn="l">
              <a:lnSpc>
                <a:spcPct val="100000"/>
              </a:lnSpc>
            </a:pPr>
            <a:r>
              <a:rPr sz="2500" b="0">
                <a:solidFill>
                  <a:srgbClr val="F2F2F2"/>
                </a:solidFill>
                <a:latin typeface="Aptos"/>
              </a:rPr>
              <a:t>Three rules that kept the board honest</a:t>
            </a:r>
          </a:p>
        </p:txBody>
      </p:sp>
      <p:sp>
        <p:nvSpPr>
          <p:cNvPr id="4" name="TextBox 3"/>
          <p:cNvSpPr txBox="1"/>
          <p:nvPr/>
        </p:nvSpPr>
        <p:spPr>
          <a:xfrm>
            <a:off x="694944" y="1783080"/>
            <a:ext cx="566928" cy="320040"/>
          </a:xfrm>
          <a:prstGeom prst="rect">
            <a:avLst/>
          </a:prstGeom>
          <a:noFill/>
        </p:spPr>
        <p:txBody>
          <a:bodyPr wrap="square" lIns="0" rIns="0" tIns="0" bIns="0" anchor="t">
            <a:spAutoFit/>
          </a:bodyPr>
          <a:lstStyle/>
          <a:p>
            <a:pPr algn="l">
              <a:lnSpc>
                <a:spcPct val="100000"/>
              </a:lnSpc>
            </a:pPr>
            <a:r>
              <a:rPr sz="1800" b="1" i="0">
                <a:solidFill>
                  <a:srgbClr val="5F5F5F"/>
                </a:solidFill>
                <a:latin typeface="Arial"/>
              </a:rPr>
              <a:t>01</a:t>
            </a:r>
          </a:p>
        </p:txBody>
      </p:sp>
      <p:sp>
        <p:nvSpPr>
          <p:cNvPr id="5" name="TextBox 4"/>
          <p:cNvSpPr txBox="1"/>
          <p:nvPr/>
        </p:nvSpPr>
        <p:spPr>
          <a:xfrm>
            <a:off x="1389888" y="1783080"/>
            <a:ext cx="4892040" cy="320040"/>
          </a:xfrm>
          <a:prstGeom prst="rect">
            <a:avLst/>
          </a:prstGeom>
          <a:noFill/>
        </p:spPr>
        <p:txBody>
          <a:bodyPr wrap="square" lIns="0" rIns="0" tIns="0" bIns="0" anchor="t">
            <a:spAutoFit/>
          </a:bodyPr>
          <a:lstStyle/>
          <a:p>
            <a:pPr algn="l">
              <a:lnSpc>
                <a:spcPct val="100000"/>
              </a:lnSpc>
            </a:pPr>
            <a:r>
              <a:rPr sz="1600" b="1">
                <a:solidFill>
                  <a:srgbClr val="F2F2F2"/>
                </a:solidFill>
                <a:latin typeface="Aptos"/>
              </a:rPr>
              <a:t>Know what the data cannot answer</a:t>
            </a:r>
          </a:p>
        </p:txBody>
      </p:sp>
      <p:sp>
        <p:nvSpPr>
          <p:cNvPr id="6" name="TextBox 5"/>
          <p:cNvSpPr txBox="1"/>
          <p:nvPr/>
        </p:nvSpPr>
        <p:spPr>
          <a:xfrm>
            <a:off x="1389888" y="2176272"/>
            <a:ext cx="9738360" cy="493776"/>
          </a:xfrm>
          <a:prstGeom prst="rect">
            <a:avLst/>
          </a:prstGeom>
          <a:noFill/>
        </p:spPr>
        <p:txBody>
          <a:bodyPr wrap="square" lIns="0" rIns="0" tIns="0" bIns="0" anchor="t">
            <a:spAutoFit/>
          </a:bodyPr>
          <a:lstStyle/>
          <a:p>
            <a:pPr algn="l">
              <a:lnSpc>
                <a:spcPct val="100000"/>
              </a:lnSpc>
            </a:pPr>
            <a:r>
              <a:rPr sz="1050" b="0" i="0">
                <a:solidFill>
                  <a:srgbClr val="A0A0A0"/>
                </a:solidFill>
                <a:latin typeface="Arial"/>
              </a:rPr>
              <a:t>Layer two uses 78,942 rows instead of a million because engagement counters must be comparable. That is the difference between a number and a trustworthy one.</a:t>
            </a:r>
          </a:p>
        </p:txBody>
      </p:sp>
      <p:sp>
        <p:nvSpPr>
          <p:cNvPr id="7" name="Rectangle 6"/>
          <p:cNvSpPr/>
          <p:nvPr/>
        </p:nvSpPr>
        <p:spPr>
          <a:xfrm>
            <a:off x="1389888" y="2788920"/>
            <a:ext cx="9838944" cy="9144"/>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3118104"/>
            <a:ext cx="566928" cy="320040"/>
          </a:xfrm>
          <a:prstGeom prst="rect">
            <a:avLst/>
          </a:prstGeom>
          <a:noFill/>
        </p:spPr>
        <p:txBody>
          <a:bodyPr wrap="square" lIns="0" rIns="0" tIns="0" bIns="0" anchor="t">
            <a:spAutoFit/>
          </a:bodyPr>
          <a:lstStyle/>
          <a:p>
            <a:pPr algn="l">
              <a:lnSpc>
                <a:spcPct val="100000"/>
              </a:lnSpc>
            </a:pPr>
            <a:r>
              <a:rPr sz="1800" b="1" i="0">
                <a:solidFill>
                  <a:srgbClr val="5F5F5F"/>
                </a:solidFill>
                <a:latin typeface="Arial"/>
              </a:rPr>
              <a:t>02</a:t>
            </a:r>
          </a:p>
        </p:txBody>
      </p:sp>
      <p:sp>
        <p:nvSpPr>
          <p:cNvPr id="9" name="TextBox 8"/>
          <p:cNvSpPr txBox="1"/>
          <p:nvPr/>
        </p:nvSpPr>
        <p:spPr>
          <a:xfrm>
            <a:off x="1389888" y="3118104"/>
            <a:ext cx="4892040" cy="320040"/>
          </a:xfrm>
          <a:prstGeom prst="rect">
            <a:avLst/>
          </a:prstGeom>
          <a:noFill/>
        </p:spPr>
        <p:txBody>
          <a:bodyPr wrap="square" lIns="0" rIns="0" tIns="0" bIns="0" anchor="t">
            <a:spAutoFit/>
          </a:bodyPr>
          <a:lstStyle/>
          <a:p>
            <a:pPr algn="l">
              <a:lnSpc>
                <a:spcPct val="100000"/>
              </a:lnSpc>
            </a:pPr>
            <a:r>
              <a:rPr sz="1600" b="1">
                <a:solidFill>
                  <a:srgbClr val="F2F2F2"/>
                </a:solidFill>
                <a:latin typeface="Aptos"/>
              </a:rPr>
              <a:t>Delete weak proxies</a:t>
            </a:r>
          </a:p>
        </p:txBody>
      </p:sp>
      <p:sp>
        <p:nvSpPr>
          <p:cNvPr id="10" name="TextBox 9"/>
          <p:cNvSpPr txBox="1"/>
          <p:nvPr/>
        </p:nvSpPr>
        <p:spPr>
          <a:xfrm>
            <a:off x="1389888" y="3511296"/>
            <a:ext cx="9738360" cy="493776"/>
          </a:xfrm>
          <a:prstGeom prst="rect">
            <a:avLst/>
          </a:prstGeom>
          <a:noFill/>
        </p:spPr>
        <p:txBody>
          <a:bodyPr wrap="square" lIns="0" rIns="0" tIns="0" bIns="0" anchor="t">
            <a:spAutoFit/>
          </a:bodyPr>
          <a:lstStyle/>
          <a:p>
            <a:pPr algn="l">
              <a:lnSpc>
                <a:spcPct val="100000"/>
              </a:lnSpc>
            </a:pPr>
            <a:r>
              <a:rPr sz="1050" b="0" i="0">
                <a:solidFill>
                  <a:srgbClr val="A0A0A0"/>
                </a:solidFill>
                <a:latin typeface="Arial"/>
              </a:rPr>
              <a:t>skill_count relies on job titles, not descriptions. competitiveness_score barely tracks applications, views or vacancies. A weak proxy is worse than no proxy.</a:t>
            </a:r>
          </a:p>
        </p:txBody>
      </p:sp>
      <p:sp>
        <p:nvSpPr>
          <p:cNvPr id="11" name="Rectangle 10"/>
          <p:cNvSpPr/>
          <p:nvPr/>
        </p:nvSpPr>
        <p:spPr>
          <a:xfrm>
            <a:off x="1389888" y="4123944"/>
            <a:ext cx="9838944" cy="9144"/>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4453128"/>
            <a:ext cx="566928" cy="320040"/>
          </a:xfrm>
          <a:prstGeom prst="rect">
            <a:avLst/>
          </a:prstGeom>
          <a:noFill/>
        </p:spPr>
        <p:txBody>
          <a:bodyPr wrap="square" lIns="0" rIns="0" tIns="0" bIns="0" anchor="t">
            <a:spAutoFit/>
          </a:bodyPr>
          <a:lstStyle/>
          <a:p>
            <a:pPr algn="l">
              <a:lnSpc>
                <a:spcPct val="100000"/>
              </a:lnSpc>
            </a:pPr>
            <a:r>
              <a:rPr sz="1800" b="1" i="0">
                <a:solidFill>
                  <a:srgbClr val="5F5F5F"/>
                </a:solidFill>
                <a:latin typeface="Arial"/>
              </a:rPr>
              <a:t>03</a:t>
            </a:r>
          </a:p>
        </p:txBody>
      </p:sp>
      <p:sp>
        <p:nvSpPr>
          <p:cNvPr id="13" name="TextBox 12"/>
          <p:cNvSpPr txBox="1"/>
          <p:nvPr/>
        </p:nvSpPr>
        <p:spPr>
          <a:xfrm>
            <a:off x="1389888" y="4453128"/>
            <a:ext cx="4892040" cy="320040"/>
          </a:xfrm>
          <a:prstGeom prst="rect">
            <a:avLst/>
          </a:prstGeom>
          <a:noFill/>
        </p:spPr>
        <p:txBody>
          <a:bodyPr wrap="square" lIns="0" rIns="0" tIns="0" bIns="0" anchor="t">
            <a:spAutoFit/>
          </a:bodyPr>
          <a:lstStyle/>
          <a:p>
            <a:pPr algn="l">
              <a:lnSpc>
                <a:spcPct val="100000"/>
              </a:lnSpc>
            </a:pPr>
            <a:r>
              <a:rPr sz="1600" b="1">
                <a:solidFill>
                  <a:srgbClr val="F2F2F2"/>
                </a:solidFill>
                <a:latin typeface="Aptos"/>
              </a:rPr>
              <a:t>Ship the caveat with the chart</a:t>
            </a:r>
          </a:p>
        </p:txBody>
      </p:sp>
      <p:sp>
        <p:nvSpPr>
          <p:cNvPr id="14" name="TextBox 13"/>
          <p:cNvSpPr txBox="1"/>
          <p:nvPr/>
        </p:nvSpPr>
        <p:spPr>
          <a:xfrm>
            <a:off x="1389888" y="4846320"/>
            <a:ext cx="9738360" cy="493776"/>
          </a:xfrm>
          <a:prstGeom prst="rect">
            <a:avLst/>
          </a:prstGeom>
          <a:noFill/>
        </p:spPr>
        <p:txBody>
          <a:bodyPr wrap="square" lIns="0" rIns="0" tIns="0" bIns="0" anchor="t">
            <a:spAutoFit/>
          </a:bodyPr>
          <a:lstStyle/>
          <a:p>
            <a:pPr algn="l">
              <a:lnSpc>
                <a:spcPct val="100000"/>
              </a:lnSpc>
            </a:pPr>
            <a:r>
              <a:rPr sz="1200" b="0">
                <a:solidFill>
                  <a:srgbClr val="AAAAAA"/>
                </a:solidFill>
                <a:latin typeface="Aptos"/>
              </a:rPr>
              <a:t>Every chart carries its cohort, sample size and window. The board does not imply causation or claim that a role actually filled.</a:t>
            </a:r>
          </a:p>
        </p:txBody>
      </p:sp>
      <p:sp>
        <p:nvSpPr>
          <p:cNvPr id="15" name="Rounded Rectangle 14"/>
          <p:cNvSpPr/>
          <p:nvPr/>
        </p:nvSpPr>
        <p:spPr>
          <a:xfrm>
            <a:off x="694944" y="5815584"/>
            <a:ext cx="5212080" cy="576072"/>
          </a:xfrm>
          <a:prstGeom prst="roundRect">
            <a:avLst/>
          </a:prstGeom>
          <a:solidFill>
            <a:srgbClr val="0C0C0C"/>
          </a:solidFill>
          <a:ln w="1016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971032"/>
            <a:ext cx="4800600" cy="201168"/>
          </a:xfrm>
          <a:prstGeom prst="rect">
            <a:avLst/>
          </a:prstGeom>
          <a:noFill/>
        </p:spPr>
        <p:txBody>
          <a:bodyPr wrap="square" lIns="0" rIns="0" tIns="0" bIns="0">
            <a:spAutoFit/>
          </a:bodyPr>
          <a:lstStyle/>
          <a:p>
            <a:r>
              <a:rPr sz="980" b="1" i="0">
                <a:solidFill>
                  <a:srgbClr val="F5F5F5"/>
                </a:solidFill>
                <a:latin typeface="Arial"/>
              </a:rPr>
              <a:t>NOT ESTABLISHED — </a:t>
            </a:r>
            <a:r>
              <a:rPr sz="980" b="0" i="0">
                <a:solidFill>
                  <a:srgbClr val="A0A0A0"/>
                </a:solidFill>
                <a:latin typeface="Arial"/>
              </a:rPr>
              <a:t>causation, seasonality (one 4-month window), or whether a role actually filled.</a:t>
            </a:r>
          </a:p>
        </p:txBody>
      </p:sp>
      <p:sp>
        <p:nvSpPr>
          <p:cNvPr id="17" name="Rounded Rectangle 16"/>
          <p:cNvSpPr/>
          <p:nvPr/>
        </p:nvSpPr>
        <p:spPr>
          <a:xfrm>
            <a:off x="6108192" y="5815584"/>
            <a:ext cx="5431536" cy="576072"/>
          </a:xfrm>
          <a:prstGeom prst="roundRect">
            <a:avLst/>
          </a:prstGeom>
          <a:solidFill>
            <a:srgbClr val="0C0C0C"/>
          </a:solidFill>
          <a:ln w="10160">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5971032"/>
            <a:ext cx="4956048" cy="201168"/>
          </a:xfrm>
          <a:prstGeom prst="rect">
            <a:avLst/>
          </a:prstGeom>
          <a:noFill/>
        </p:spPr>
        <p:txBody>
          <a:bodyPr wrap="square" lIns="0" rIns="0" tIns="0" bIns="0">
            <a:spAutoFit/>
          </a:bodyPr>
          <a:lstStyle/>
          <a:p>
            <a:r>
              <a:rPr sz="980" b="1" i="0">
                <a:solidFill>
                  <a:srgbClr val="FF6B1A"/>
                </a:solidFill>
                <a:latin typeface="Arial"/>
              </a:rPr>
              <a:t>NEXT — </a:t>
            </a:r>
            <a:r>
              <a:rPr sz="980" b="0" i="0">
                <a:solidFill>
                  <a:srgbClr val="A0A0A0"/>
                </a:solidFill>
                <a:latin typeface="Arial"/>
              </a:rPr>
              <a:t>high-volume employers get markedly less engagement per posting (ρ = −0.53).</a:t>
            </a:r>
          </a:p>
        </p:txBody>
      </p:sp>
      <p:sp>
        <p:nvSpPr>
          <p:cNvPr id="19" name="TextBox 18"/>
          <p:cNvSpPr txBox="1"/>
          <p:nvPr/>
        </p:nvSpPr>
        <p:spPr>
          <a:xfrm>
            <a:off x="11384280" y="6473952"/>
            <a:ext cx="320040" cy="182880"/>
          </a:xfrm>
          <a:prstGeom prst="rect">
            <a:avLst/>
          </a:prstGeom>
          <a:noFill/>
        </p:spPr>
        <p:txBody>
          <a:bodyPr wrap="square" lIns="0" rIns="0" tIns="0" bIns="0" anchor="t">
            <a:spAutoFit/>
          </a:bodyPr>
          <a:lstStyle/>
          <a:p>
            <a:pPr algn="r">
              <a:lnSpc>
                <a:spcPct val="100000"/>
              </a:lnSpc>
            </a:pPr>
            <a:r>
              <a:rPr sz="800" b="0" i="0">
                <a:solidFill>
                  <a:srgbClr val="5F5F5F"/>
                </a:solidFill>
                <a:latin typeface="Arial"/>
              </a:rPr>
              <a:t>13</a:t>
            </a: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SG" sz="2400" b="0" u="none" strike="noStrike">
              <a:solidFill>
                <a:srgbClr val="000000"/>
              </a:solidFill>
              <a:effectLst/>
              <a:uFillTx/>
              <a:latin typeface="Times New Roman"/>
            </a:endParaRPr>
          </a:p>
        </p:txBody>
      </p:sp>
      <p:sp>
        <p:nvSpPr>
          <p:cNvPr id="63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SG" sz="2400" b="0" u="none" strike="noStrike">
              <a:solidFill>
                <a:srgbClr val="000000"/>
              </a:solidFill>
              <a:effectLst/>
              <a:uFillTx/>
              <a:latin typeface="Times New Roman"/>
            </a:endParaRPr>
          </a:p>
        </p:txBody>
      </p:sp>
      <p:sp>
        <p:nvSpPr>
          <p:cNvPr id="63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000000"/>
          </a:solidFill>
          <a:ln w="0">
            <a:noFill/>
          </a:ln>
        </p:spPr>
        <p:txBody>
          <a:bodyPr lIns="0" tIns="0" rIns="0" bIns="0" anchor="t">
            <a:noAutofit/>
          </a:bodyPr>
          <a:p>
            <a:endParaRPr lang="en-SG" sz="2400" b="0" u="none" strike="noStrike">
              <a:solidFill>
                <a:srgbClr val="FFFFFF"/>
              </a:solidFill>
              <a:effectLst/>
              <a:uFillTx/>
              <a:latin typeface="Times New Roman"/>
            </a:endParaRPr>
          </a:p>
        </p:txBody>
      </p:sp>
      <p:pic>
        <p:nvPicPr>
          <p:cNvPr id="635" name=""/>
          <p:cNvPicPr/>
          <p:nvPr/>
        </p:nvPicPr>
        <p:blipFill>
          <a:blip r:embed="rId1"/>
          <a:stretch/>
        </p:blipFill>
        <p:spPr>
          <a:xfrm>
            <a:off x="-2880" y="-2880"/>
            <a:ext cx="12197880" cy="6863760"/>
          </a:xfrm>
          <a:prstGeom prst="rect">
            <a:avLst/>
          </a:prstGeom>
          <a:noFill/>
          <a:ln w="0">
            <a:noFill/>
          </a:ln>
        </p:spPr>
      </p:pic>
      <p:sp>
        <p:nvSpPr>
          <p:cNvPr id="638" name="TextBox 637"/>
          <p:cNvSpPr txBox="1"/>
          <p:nvPr/>
        </p:nvSpPr>
        <p:spPr>
          <a:xfrm>
            <a:off x="822960" y="1005840"/>
            <a:ext cx="3657600" cy="228600"/>
          </a:xfrm>
          <a:prstGeom prst="rect">
            <a:avLst/>
          </a:prstGeom>
          <a:noFill/>
        </p:spPr>
        <p:txBody>
          <a:bodyPr wrap="square" lIns="0" rIns="0" tIns="0" bIns="0" anchor="t">
            <a:spAutoFit/>
          </a:bodyPr>
          <a:lstStyle/>
          <a:p>
            <a:pPr algn="l"/>
            <a:r>
              <a:rPr sz="1000" b="1">
                <a:solidFill>
                  <a:srgbClr val="FF6A00"/>
                </a:solidFill>
                <a:latin typeface="Aptos"/>
              </a:rPr>
              <a:t>B U S I N E S S   T A K E A W A Y</a:t>
            </a:r>
          </a:p>
        </p:txBody>
      </p:sp>
      <p:sp>
        <p:nvSpPr>
          <p:cNvPr id="639" name="TextBox 638"/>
          <p:cNvSpPr txBox="1"/>
          <p:nvPr/>
        </p:nvSpPr>
        <p:spPr>
          <a:xfrm>
            <a:off x="822960" y="1353312"/>
            <a:ext cx="10607040" cy="566928"/>
          </a:xfrm>
          <a:prstGeom prst="rect">
            <a:avLst/>
          </a:prstGeom>
          <a:noFill/>
        </p:spPr>
        <p:txBody>
          <a:bodyPr wrap="square" lIns="0" rIns="0" tIns="0" bIns="0" anchor="t">
            <a:spAutoFit/>
          </a:bodyPr>
          <a:lstStyle/>
          <a:p>
            <a:pPr algn="l"/>
            <a:r>
              <a:rPr sz="2800" b="0">
                <a:solidFill>
                  <a:srgbClr val="F2F2F2"/>
                </a:solidFill>
                <a:latin typeface="Aptos"/>
              </a:rPr>
              <a:t>Before you post, answer three questions.</a:t>
            </a:r>
          </a:p>
        </p:txBody>
      </p:sp>
      <p:sp>
        <p:nvSpPr>
          <p:cNvPr id="640" name="Rounded Rectangle 639"/>
          <p:cNvSpPr/>
          <p:nvPr/>
        </p:nvSpPr>
        <p:spPr>
          <a:xfrm>
            <a:off x="822960" y="2331720"/>
            <a:ext cx="3044952" cy="1965960"/>
          </a:xfrm>
          <a:prstGeom prst="roundRect">
            <a:avLst/>
          </a:prstGeom>
          <a:solidFill>
            <a:srgbClr val="0A0A0A"/>
          </a:solidFill>
          <a:ln w="1016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TextBox 640"/>
          <p:cNvSpPr txBox="1"/>
          <p:nvPr/>
        </p:nvSpPr>
        <p:spPr>
          <a:xfrm>
            <a:off x="1024128" y="2542032"/>
            <a:ext cx="457200" cy="228600"/>
          </a:xfrm>
          <a:prstGeom prst="rect">
            <a:avLst/>
          </a:prstGeom>
          <a:noFill/>
        </p:spPr>
        <p:txBody>
          <a:bodyPr wrap="square" lIns="0" rIns="0" tIns="0" bIns="0" anchor="t">
            <a:spAutoFit/>
          </a:bodyPr>
          <a:lstStyle/>
          <a:p>
            <a:pPr algn="l"/>
            <a:r>
              <a:rPr sz="1000" b="1">
                <a:solidFill>
                  <a:srgbClr val="FF6A00"/>
                </a:solidFill>
                <a:latin typeface="Aptos"/>
              </a:rPr>
              <a:t>01</a:t>
            </a:r>
          </a:p>
        </p:txBody>
      </p:sp>
      <p:sp>
        <p:nvSpPr>
          <p:cNvPr id="642" name="TextBox 641"/>
          <p:cNvSpPr txBox="1"/>
          <p:nvPr/>
        </p:nvSpPr>
        <p:spPr>
          <a:xfrm>
            <a:off x="1024128" y="2852928"/>
            <a:ext cx="2633472" cy="502920"/>
          </a:xfrm>
          <a:prstGeom prst="rect">
            <a:avLst/>
          </a:prstGeom>
          <a:noFill/>
        </p:spPr>
        <p:txBody>
          <a:bodyPr wrap="square" lIns="0" rIns="0" tIns="0" bIns="0" anchor="t">
            <a:spAutoFit/>
          </a:bodyPr>
          <a:lstStyle/>
          <a:p>
            <a:pPr algn="l"/>
            <a:r>
              <a:rPr sz="1700" b="1">
                <a:solidFill>
                  <a:srgbClr val="F2F2F2"/>
                </a:solidFill>
                <a:latin typeface="Aptos"/>
              </a:rPr>
              <a:t>Is the pay competitive?</a:t>
            </a:r>
          </a:p>
        </p:txBody>
      </p:sp>
      <p:sp>
        <p:nvSpPr>
          <p:cNvPr id="643" name="TextBox 642"/>
          <p:cNvSpPr txBox="1"/>
          <p:nvPr/>
        </p:nvSpPr>
        <p:spPr>
          <a:xfrm>
            <a:off x="1024128" y="3493008"/>
            <a:ext cx="2633472" cy="530352"/>
          </a:xfrm>
          <a:prstGeom prst="rect">
            <a:avLst/>
          </a:prstGeom>
          <a:noFill/>
        </p:spPr>
        <p:txBody>
          <a:bodyPr wrap="square" lIns="0" rIns="0" tIns="0" bIns="0" anchor="t">
            <a:spAutoFit/>
          </a:bodyPr>
          <a:lstStyle/>
          <a:p>
            <a:pPr algn="l"/>
            <a:r>
              <a:rPr sz="1100" b="0">
                <a:solidFill>
                  <a:srgbClr val="AAAAAA"/>
                </a:solidFill>
                <a:latin typeface="Aptos"/>
              </a:rPr>
              <a:t>Benchmark against comparable roles — not the whole market.</a:t>
            </a:r>
          </a:p>
        </p:txBody>
      </p:sp>
      <p:sp>
        <p:nvSpPr>
          <p:cNvPr id="644" name="Rounded Rectangle 643"/>
          <p:cNvSpPr/>
          <p:nvPr/>
        </p:nvSpPr>
        <p:spPr>
          <a:xfrm>
            <a:off x="4142232" y="2331720"/>
            <a:ext cx="3044952" cy="1965960"/>
          </a:xfrm>
          <a:prstGeom prst="roundRect">
            <a:avLst/>
          </a:prstGeom>
          <a:solidFill>
            <a:srgbClr val="0A0A0A"/>
          </a:solidFill>
          <a:ln w="1016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TextBox 644"/>
          <p:cNvSpPr txBox="1"/>
          <p:nvPr/>
        </p:nvSpPr>
        <p:spPr>
          <a:xfrm>
            <a:off x="4343400" y="2542032"/>
            <a:ext cx="457200" cy="228600"/>
          </a:xfrm>
          <a:prstGeom prst="rect">
            <a:avLst/>
          </a:prstGeom>
          <a:noFill/>
        </p:spPr>
        <p:txBody>
          <a:bodyPr wrap="square" lIns="0" rIns="0" tIns="0" bIns="0" anchor="t">
            <a:spAutoFit/>
          </a:bodyPr>
          <a:lstStyle/>
          <a:p>
            <a:pPr algn="l"/>
            <a:r>
              <a:rPr sz="1000" b="1">
                <a:solidFill>
                  <a:srgbClr val="FF6A00"/>
                </a:solidFill>
                <a:latin typeface="Aptos"/>
              </a:rPr>
              <a:t>02</a:t>
            </a:r>
          </a:p>
        </p:txBody>
      </p:sp>
      <p:sp>
        <p:nvSpPr>
          <p:cNvPr id="646" name="TextBox 645"/>
          <p:cNvSpPr txBox="1"/>
          <p:nvPr/>
        </p:nvSpPr>
        <p:spPr>
          <a:xfrm>
            <a:off x="4343400" y="2852928"/>
            <a:ext cx="2633472" cy="502920"/>
          </a:xfrm>
          <a:prstGeom prst="rect">
            <a:avLst/>
          </a:prstGeom>
          <a:noFill/>
        </p:spPr>
        <p:txBody>
          <a:bodyPr wrap="square" lIns="0" rIns="0" tIns="0" bIns="0" anchor="t">
            <a:spAutoFit/>
          </a:bodyPr>
          <a:lstStyle/>
          <a:p>
            <a:pPr algn="l"/>
            <a:r>
              <a:rPr sz="1700" b="1">
                <a:solidFill>
                  <a:srgbClr val="F2F2F2"/>
                </a:solidFill>
                <a:latin typeface="Aptos"/>
              </a:rPr>
              <a:t>Is the experience ask normal?</a:t>
            </a:r>
          </a:p>
        </p:txBody>
      </p:sp>
      <p:sp>
        <p:nvSpPr>
          <p:cNvPr id="647" name="TextBox 646"/>
          <p:cNvSpPr txBox="1"/>
          <p:nvPr/>
        </p:nvSpPr>
        <p:spPr>
          <a:xfrm>
            <a:off x="4343400" y="3493008"/>
            <a:ext cx="2633472" cy="530352"/>
          </a:xfrm>
          <a:prstGeom prst="rect">
            <a:avLst/>
          </a:prstGeom>
          <a:noFill/>
        </p:spPr>
        <p:txBody>
          <a:bodyPr wrap="square" lIns="0" rIns="0" tIns="0" bIns="0" anchor="t">
            <a:spAutoFit/>
          </a:bodyPr>
          <a:lstStyle/>
          <a:p>
            <a:pPr algn="l"/>
            <a:r>
              <a:rPr sz="1100" b="0">
                <a:solidFill>
                  <a:srgbClr val="AAAAAA"/>
                </a:solidFill>
                <a:latin typeface="Aptos"/>
              </a:rPr>
              <a:t>Check what similar employers actually request.</a:t>
            </a:r>
          </a:p>
        </p:txBody>
      </p:sp>
      <p:sp>
        <p:nvSpPr>
          <p:cNvPr id="648" name="Rounded Rectangle 647"/>
          <p:cNvSpPr/>
          <p:nvPr/>
        </p:nvSpPr>
        <p:spPr>
          <a:xfrm>
            <a:off x="7461504" y="2331720"/>
            <a:ext cx="3044952" cy="1965960"/>
          </a:xfrm>
          <a:prstGeom prst="roundRect">
            <a:avLst/>
          </a:prstGeom>
          <a:solidFill>
            <a:srgbClr val="0A0A0A"/>
          </a:solidFill>
          <a:ln w="1016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TextBox 648"/>
          <p:cNvSpPr txBox="1"/>
          <p:nvPr/>
        </p:nvSpPr>
        <p:spPr>
          <a:xfrm>
            <a:off x="7662672" y="2542032"/>
            <a:ext cx="457200" cy="228600"/>
          </a:xfrm>
          <a:prstGeom prst="rect">
            <a:avLst/>
          </a:prstGeom>
          <a:noFill/>
        </p:spPr>
        <p:txBody>
          <a:bodyPr wrap="square" lIns="0" rIns="0" tIns="0" bIns="0" anchor="t">
            <a:spAutoFit/>
          </a:bodyPr>
          <a:lstStyle/>
          <a:p>
            <a:pPr algn="l"/>
            <a:r>
              <a:rPr sz="1000" b="1">
                <a:solidFill>
                  <a:srgbClr val="FF6A00"/>
                </a:solidFill>
                <a:latin typeface="Aptos"/>
              </a:rPr>
              <a:t>03</a:t>
            </a:r>
          </a:p>
        </p:txBody>
      </p:sp>
      <p:sp>
        <p:nvSpPr>
          <p:cNvPr id="650" name="TextBox 649"/>
          <p:cNvSpPr txBox="1"/>
          <p:nvPr/>
        </p:nvSpPr>
        <p:spPr>
          <a:xfrm>
            <a:off x="7662672" y="2852928"/>
            <a:ext cx="2633472" cy="502920"/>
          </a:xfrm>
          <a:prstGeom prst="rect">
            <a:avLst/>
          </a:prstGeom>
          <a:noFill/>
        </p:spPr>
        <p:txBody>
          <a:bodyPr wrap="square" lIns="0" rIns="0" tIns="0" bIns="0" anchor="t">
            <a:spAutoFit/>
          </a:bodyPr>
          <a:lstStyle/>
          <a:p>
            <a:pPr algn="l"/>
            <a:r>
              <a:rPr sz="1700" b="1">
                <a:solidFill>
                  <a:srgbClr val="F2F2F2"/>
                </a:solidFill>
                <a:latin typeface="Aptos"/>
              </a:rPr>
              <a:t>What response should I expect?</a:t>
            </a:r>
          </a:p>
        </p:txBody>
      </p:sp>
      <p:sp>
        <p:nvSpPr>
          <p:cNvPr id="651" name="TextBox 650"/>
          <p:cNvSpPr txBox="1"/>
          <p:nvPr/>
        </p:nvSpPr>
        <p:spPr>
          <a:xfrm>
            <a:off x="7662672" y="3493008"/>
            <a:ext cx="2633472" cy="530352"/>
          </a:xfrm>
          <a:prstGeom prst="rect">
            <a:avLst/>
          </a:prstGeom>
          <a:noFill/>
        </p:spPr>
        <p:txBody>
          <a:bodyPr wrap="square" lIns="0" rIns="0" tIns="0" bIns="0" anchor="t">
            <a:spAutoFit/>
          </a:bodyPr>
          <a:lstStyle/>
          <a:p>
            <a:pPr algn="l"/>
            <a:r>
              <a:rPr sz="1100" b="0">
                <a:solidFill>
                  <a:srgbClr val="AAAAAA"/>
                </a:solidFill>
                <a:latin typeface="Aptos"/>
              </a:rPr>
              <a:t>Use only fully observed, comparable postings.</a:t>
            </a:r>
          </a:p>
        </p:txBody>
      </p:sp>
      <p:sp>
        <p:nvSpPr>
          <p:cNvPr id="652" name="Rounded Rectangle 651"/>
          <p:cNvSpPr/>
          <p:nvPr/>
        </p:nvSpPr>
        <p:spPr>
          <a:xfrm>
            <a:off x="822960" y="4645152"/>
            <a:ext cx="9692640" cy="749808"/>
          </a:xfrm>
          <a:prstGeom prst="roundRect">
            <a:avLst/>
          </a:prstGeom>
          <a:solidFill>
            <a:srgbClr val="080808"/>
          </a:solidFill>
          <a:ln w="10160">
            <a:solidFill>
              <a:srgbClr val="3723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TextBox 652"/>
          <p:cNvSpPr txBox="1"/>
          <p:nvPr/>
        </p:nvSpPr>
        <p:spPr>
          <a:xfrm>
            <a:off x="1078992" y="4855464"/>
            <a:ext cx="9189720" cy="310896"/>
          </a:xfrm>
          <a:prstGeom prst="rect">
            <a:avLst/>
          </a:prstGeom>
          <a:noFill/>
        </p:spPr>
        <p:txBody>
          <a:bodyPr wrap="square" lIns="0" rIns="0" tIns="0" bIns="0">
            <a:spAutoFit/>
          </a:bodyPr>
          <a:lstStyle/>
          <a:p>
            <a:pPr algn="l"/>
            <a:r>
              <a:rPr sz="1500">
                <a:solidFill>
                  <a:srgbClr val="AAAAAA"/>
                </a:solidFill>
                <a:latin typeface="Aptos"/>
              </a:rPr>
              <a:t>Clearest measurable risk zone in this dataset: </a:t>
            </a:r>
            <a:r>
              <a:rPr sz="1500" b="1">
                <a:solidFill>
                  <a:srgbClr val="FF6A00"/>
                </a:solidFill>
                <a:latin typeface="Aptos"/>
              </a:rPr>
              <a:t>low pay + high experience.</a:t>
            </a:r>
          </a:p>
        </p:txBody>
      </p:sp>
      <p:sp>
        <p:nvSpPr>
          <p:cNvPr id="654" name="TextBox 653"/>
          <p:cNvSpPr txBox="1"/>
          <p:nvPr/>
        </p:nvSpPr>
        <p:spPr>
          <a:xfrm>
            <a:off x="822960" y="5705856"/>
            <a:ext cx="7132320" cy="320040"/>
          </a:xfrm>
          <a:prstGeom prst="rect">
            <a:avLst/>
          </a:prstGeom>
          <a:noFill/>
        </p:spPr>
        <p:txBody>
          <a:bodyPr wrap="square" lIns="0" rIns="0" tIns="0" bIns="0" anchor="t">
            <a:spAutoFit/>
          </a:bodyPr>
          <a:lstStyle/>
          <a:p>
            <a:pPr algn="l"/>
            <a:r>
              <a:rPr sz="1600" b="1">
                <a:solidFill>
                  <a:srgbClr val="F2F2F2"/>
                </a:solidFill>
                <a:latin typeface="Aptos"/>
              </a:rPr>
              <a:t>One board. One vacancy. Three checks before you post.</a:t>
            </a:r>
          </a:p>
        </p:txBody>
      </p:sp>
      <p:sp>
        <p:nvSpPr>
          <p:cNvPr id="655" name="TextBox 654"/>
          <p:cNvSpPr txBox="1"/>
          <p:nvPr/>
        </p:nvSpPr>
        <p:spPr>
          <a:xfrm>
            <a:off x="9326880" y="5769864"/>
            <a:ext cx="2057400" cy="201168"/>
          </a:xfrm>
          <a:prstGeom prst="rect">
            <a:avLst/>
          </a:prstGeom>
          <a:noFill/>
        </p:spPr>
        <p:txBody>
          <a:bodyPr wrap="square" lIns="0" rIns="0" tIns="0" bIns="0" anchor="t">
            <a:spAutoFit/>
          </a:bodyPr>
          <a:lstStyle/>
          <a:p>
            <a:pPr algn="r"/>
            <a:r>
              <a:rPr sz="900" b="1">
                <a:solidFill>
                  <a:srgbClr val="5C5C5C"/>
                </a:solidFill>
                <a:latin typeface="Aptos"/>
              </a:rPr>
              <a:t>THANK YOU — QUESTIONS?</a:t>
            </a:r>
          </a:p>
        </p:txBody>
      </p:sp>
      <p:sp>
        <p:nvSpPr>
          <p:cNvPr id="656" name="TextBox 655"/>
          <p:cNvSpPr txBox="1"/>
          <p:nvPr/>
        </p:nvSpPr>
        <p:spPr>
          <a:xfrm>
            <a:off x="11384280" y="6473952"/>
            <a:ext cx="320040" cy="182880"/>
          </a:xfrm>
          <a:prstGeom prst="rect">
            <a:avLst/>
          </a:prstGeom>
          <a:noFill/>
        </p:spPr>
        <p:txBody>
          <a:bodyPr wrap="square" lIns="0" rIns="0" tIns="0" bIns="0" anchor="t">
            <a:spAutoFit/>
          </a:bodyPr>
          <a:lstStyle/>
          <a:p>
            <a:pPr algn="r"/>
            <a:r>
              <a:rPr sz="900" b="0">
                <a:solidFill>
                  <a:srgbClr val="282828"/>
                </a:solidFill>
                <a:latin typeface="Aptos"/>
              </a:rPr>
              <a:t>14</a:t>
            </a: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LibreOffice/26.2.5.2$MacOSX_AARCH64 LibreOffice_project/cd7284b4cbbfeb507e630c1aac019f4157393acb</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en-SG</dc:language>
  <cp:lastModifiedBy/>
  <cp:revision>0</cp:revision>
  <dc:subject/>
  <dc:title/>
</cp:coreProperties>
</file>