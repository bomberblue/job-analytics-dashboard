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SG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SG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SG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SG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SG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SG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SG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SG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SG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SG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9" name=""/>
          <p:cNvPicPr/>
          <p:nvPr/>
        </p:nvPicPr>
        <p:blipFill>
          <a:blip r:embed="rId1"/>
          <a:stretch/>
        </p:blipFill>
        <p:spPr>
          <a:xfrm>
            <a:off x="-2880" y="-2880"/>
            <a:ext cx="12197880" cy="686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"/>
          <p:cNvSpPr txBox="1"/>
          <p:nvPr/>
        </p:nvSpPr>
        <p:spPr>
          <a:xfrm>
            <a:off x="4784400" y="2032920"/>
            <a:ext cx="3667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1" u="none" strike="noStrike">
                <a:solidFill>
                  <a:srgbClr val="FF6B1A"/>
                </a:solidFill>
                <a:effectLst/>
                <a:uFillTx/>
                <a:latin typeface="Outfit-Thin_Semi"/>
                <a:ea typeface="Outfit-Thin_Semi"/>
              </a:rPr>
              <a:t>S I N G A P O R E   J O B S   A N A LY T I C S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691360" y="2194560"/>
            <a:ext cx="8778960" cy="1402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783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Before You Post</a:t>
            </a:r>
            <a:endParaRPr lang="en-SG" sz="7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3862080" y="4519440"/>
            <a:ext cx="1200600" cy="295560"/>
          </a:xfrm>
          <a:custGeom>
            <a:avLst/>
            <a:gdLst/>
            <a:ahLst/>
            <a:rect l="0" t="0" r="r" b="b"/>
            <a:pathLst>
              <a:path w="3335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2" y="254"/>
                </a:cubicBezTo>
                <a:cubicBezTo>
                  <a:pt x="42" y="229"/>
                  <a:pt x="55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40" y="101"/>
                  <a:pt x="160" y="84"/>
                  <a:pt x="183" y="69"/>
                </a:cubicBezTo>
                <a:cubicBezTo>
                  <a:pt x="205" y="54"/>
                  <a:pt x="229" y="41"/>
                  <a:pt x="254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4" y="0"/>
                  <a:pt x="410" y="0"/>
                </a:cubicBezTo>
                <a:lnTo>
                  <a:pt x="2925" y="0"/>
                </a:lnTo>
                <a:cubicBezTo>
                  <a:pt x="2952" y="0"/>
                  <a:pt x="2979" y="3"/>
                  <a:pt x="3005" y="8"/>
                </a:cubicBezTo>
                <a:cubicBezTo>
                  <a:pt x="3031" y="13"/>
                  <a:pt x="3057" y="21"/>
                  <a:pt x="3082" y="31"/>
                </a:cubicBezTo>
                <a:cubicBezTo>
                  <a:pt x="3107" y="41"/>
                  <a:pt x="3130" y="54"/>
                  <a:pt x="3153" y="69"/>
                </a:cubicBezTo>
                <a:cubicBezTo>
                  <a:pt x="3175" y="84"/>
                  <a:pt x="3196" y="101"/>
                  <a:pt x="3215" y="120"/>
                </a:cubicBezTo>
                <a:cubicBezTo>
                  <a:pt x="3234" y="139"/>
                  <a:pt x="3251" y="161"/>
                  <a:pt x="3266" y="183"/>
                </a:cubicBezTo>
                <a:cubicBezTo>
                  <a:pt x="3281" y="206"/>
                  <a:pt x="3294" y="229"/>
                  <a:pt x="3304" y="254"/>
                </a:cubicBezTo>
                <a:cubicBezTo>
                  <a:pt x="3314" y="279"/>
                  <a:pt x="3322" y="305"/>
                  <a:pt x="3327" y="331"/>
                </a:cubicBezTo>
                <a:cubicBezTo>
                  <a:pt x="3332" y="357"/>
                  <a:pt x="3335" y="384"/>
                  <a:pt x="3335" y="411"/>
                </a:cubicBezTo>
                <a:cubicBezTo>
                  <a:pt x="3335" y="438"/>
                  <a:pt x="3332" y="465"/>
                  <a:pt x="3327" y="491"/>
                </a:cubicBezTo>
                <a:cubicBezTo>
                  <a:pt x="3322" y="517"/>
                  <a:pt x="3314" y="543"/>
                  <a:pt x="3304" y="568"/>
                </a:cubicBezTo>
                <a:cubicBezTo>
                  <a:pt x="3294" y="593"/>
                  <a:pt x="3281" y="617"/>
                  <a:pt x="3266" y="639"/>
                </a:cubicBezTo>
                <a:cubicBezTo>
                  <a:pt x="3251" y="661"/>
                  <a:pt x="3234" y="682"/>
                  <a:pt x="3215" y="701"/>
                </a:cubicBezTo>
                <a:cubicBezTo>
                  <a:pt x="3196" y="720"/>
                  <a:pt x="3175" y="737"/>
                  <a:pt x="3153" y="752"/>
                </a:cubicBezTo>
                <a:cubicBezTo>
                  <a:pt x="3130" y="767"/>
                  <a:pt x="3107" y="780"/>
                  <a:pt x="3082" y="790"/>
                </a:cubicBezTo>
                <a:cubicBezTo>
                  <a:pt x="3057" y="800"/>
                  <a:pt x="3031" y="808"/>
                  <a:pt x="3005" y="813"/>
                </a:cubicBezTo>
                <a:cubicBezTo>
                  <a:pt x="2979" y="819"/>
                  <a:pt x="2952" y="821"/>
                  <a:pt x="2925" y="821"/>
                </a:cubicBezTo>
                <a:lnTo>
                  <a:pt x="410" y="821"/>
                </a:lnTo>
                <a:cubicBezTo>
                  <a:pt x="384" y="821"/>
                  <a:pt x="357" y="819"/>
                  <a:pt x="330" y="813"/>
                </a:cubicBezTo>
                <a:cubicBezTo>
                  <a:pt x="304" y="808"/>
                  <a:pt x="278" y="800"/>
                  <a:pt x="254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40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5" y="617"/>
                  <a:pt x="42" y="593"/>
                  <a:pt x="32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1C0E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3862080" y="4519440"/>
            <a:ext cx="1200600" cy="295560"/>
          </a:xfrm>
          <a:custGeom>
            <a:avLst/>
            <a:gdLst/>
            <a:ahLst/>
            <a:rect l="0" t="0" r="r" b="b"/>
            <a:pathLst>
              <a:path w="3335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2" y="254"/>
                </a:cubicBezTo>
                <a:cubicBezTo>
                  <a:pt x="42" y="229"/>
                  <a:pt x="55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40" y="101"/>
                  <a:pt x="160" y="84"/>
                  <a:pt x="183" y="69"/>
                </a:cubicBezTo>
                <a:cubicBezTo>
                  <a:pt x="205" y="54"/>
                  <a:pt x="229" y="41"/>
                  <a:pt x="254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4" y="0"/>
                  <a:pt x="410" y="0"/>
                </a:cubicBezTo>
                <a:lnTo>
                  <a:pt x="2925" y="0"/>
                </a:lnTo>
                <a:cubicBezTo>
                  <a:pt x="2952" y="0"/>
                  <a:pt x="2979" y="3"/>
                  <a:pt x="3005" y="8"/>
                </a:cubicBezTo>
                <a:cubicBezTo>
                  <a:pt x="3031" y="13"/>
                  <a:pt x="3057" y="21"/>
                  <a:pt x="3082" y="31"/>
                </a:cubicBezTo>
                <a:cubicBezTo>
                  <a:pt x="3107" y="41"/>
                  <a:pt x="3130" y="54"/>
                  <a:pt x="3153" y="69"/>
                </a:cubicBezTo>
                <a:cubicBezTo>
                  <a:pt x="3175" y="84"/>
                  <a:pt x="3196" y="101"/>
                  <a:pt x="3215" y="120"/>
                </a:cubicBezTo>
                <a:cubicBezTo>
                  <a:pt x="3234" y="139"/>
                  <a:pt x="3251" y="161"/>
                  <a:pt x="3266" y="183"/>
                </a:cubicBezTo>
                <a:cubicBezTo>
                  <a:pt x="3281" y="206"/>
                  <a:pt x="3294" y="229"/>
                  <a:pt x="3304" y="254"/>
                </a:cubicBezTo>
                <a:cubicBezTo>
                  <a:pt x="3314" y="279"/>
                  <a:pt x="3322" y="305"/>
                  <a:pt x="3327" y="331"/>
                </a:cubicBezTo>
                <a:cubicBezTo>
                  <a:pt x="3332" y="357"/>
                  <a:pt x="3335" y="384"/>
                  <a:pt x="3335" y="411"/>
                </a:cubicBezTo>
                <a:cubicBezTo>
                  <a:pt x="3335" y="438"/>
                  <a:pt x="3332" y="465"/>
                  <a:pt x="3327" y="491"/>
                </a:cubicBezTo>
                <a:cubicBezTo>
                  <a:pt x="3322" y="517"/>
                  <a:pt x="3314" y="543"/>
                  <a:pt x="3304" y="568"/>
                </a:cubicBezTo>
                <a:cubicBezTo>
                  <a:pt x="3294" y="593"/>
                  <a:pt x="3281" y="617"/>
                  <a:pt x="3266" y="639"/>
                </a:cubicBezTo>
                <a:cubicBezTo>
                  <a:pt x="3251" y="661"/>
                  <a:pt x="3234" y="682"/>
                  <a:pt x="3215" y="701"/>
                </a:cubicBezTo>
                <a:cubicBezTo>
                  <a:pt x="3196" y="720"/>
                  <a:pt x="3175" y="737"/>
                  <a:pt x="3153" y="752"/>
                </a:cubicBezTo>
                <a:cubicBezTo>
                  <a:pt x="3130" y="767"/>
                  <a:pt x="3107" y="780"/>
                  <a:pt x="3082" y="790"/>
                </a:cubicBezTo>
                <a:cubicBezTo>
                  <a:pt x="3057" y="800"/>
                  <a:pt x="3031" y="808"/>
                  <a:pt x="3005" y="813"/>
                </a:cubicBezTo>
                <a:cubicBezTo>
                  <a:pt x="2979" y="819"/>
                  <a:pt x="2952" y="821"/>
                  <a:pt x="2925" y="821"/>
                </a:cubicBezTo>
                <a:lnTo>
                  <a:pt x="410" y="821"/>
                </a:lnTo>
                <a:cubicBezTo>
                  <a:pt x="384" y="821"/>
                  <a:pt x="357" y="819"/>
                  <a:pt x="330" y="813"/>
                </a:cubicBezTo>
                <a:cubicBezTo>
                  <a:pt x="304" y="808"/>
                  <a:pt x="278" y="800"/>
                  <a:pt x="254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40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5" y="617"/>
                  <a:pt x="42" y="593"/>
                  <a:pt x="32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5A301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3104280" y="3833280"/>
            <a:ext cx="595584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280" b="0" u="none" strike="noStrike">
                <a:solidFill>
                  <a:srgbClr val="8A8A8A"/>
                </a:solidFill>
                <a:effectLst/>
                <a:uFillTx/>
                <a:latin typeface="Raleway"/>
                <a:ea typeface="Raleway"/>
              </a:rPr>
              <a:t>A decision tool for the hiring side of the market</a:t>
            </a:r>
            <a:endParaRPr lang="en-SG" sz="2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5148000" y="4519440"/>
            <a:ext cx="1619640" cy="295560"/>
          </a:xfrm>
          <a:custGeom>
            <a:avLst/>
            <a:gdLst/>
            <a:ahLst/>
            <a:rect l="0" t="0" r="r" b="b"/>
            <a:pathLst>
              <a:path w="4499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4089" y="0"/>
                </a:lnTo>
                <a:cubicBezTo>
                  <a:pt x="4116" y="0"/>
                  <a:pt x="4143" y="3"/>
                  <a:pt x="4169" y="8"/>
                </a:cubicBezTo>
                <a:cubicBezTo>
                  <a:pt x="4195" y="13"/>
                  <a:pt x="4221" y="21"/>
                  <a:pt x="4246" y="31"/>
                </a:cubicBezTo>
                <a:cubicBezTo>
                  <a:pt x="4271" y="41"/>
                  <a:pt x="4294" y="54"/>
                  <a:pt x="4317" y="69"/>
                </a:cubicBezTo>
                <a:cubicBezTo>
                  <a:pt x="4339" y="84"/>
                  <a:pt x="4360" y="101"/>
                  <a:pt x="4379" y="120"/>
                </a:cubicBezTo>
                <a:cubicBezTo>
                  <a:pt x="4398" y="139"/>
                  <a:pt x="4415" y="161"/>
                  <a:pt x="4430" y="183"/>
                </a:cubicBezTo>
                <a:cubicBezTo>
                  <a:pt x="4445" y="206"/>
                  <a:pt x="4458" y="229"/>
                  <a:pt x="4468" y="254"/>
                </a:cubicBezTo>
                <a:cubicBezTo>
                  <a:pt x="4478" y="279"/>
                  <a:pt x="4486" y="305"/>
                  <a:pt x="4491" y="331"/>
                </a:cubicBezTo>
                <a:cubicBezTo>
                  <a:pt x="4497" y="357"/>
                  <a:pt x="4499" y="384"/>
                  <a:pt x="4499" y="411"/>
                </a:cubicBezTo>
                <a:cubicBezTo>
                  <a:pt x="4499" y="438"/>
                  <a:pt x="4497" y="465"/>
                  <a:pt x="4491" y="491"/>
                </a:cubicBezTo>
                <a:cubicBezTo>
                  <a:pt x="4486" y="517"/>
                  <a:pt x="4478" y="543"/>
                  <a:pt x="4468" y="568"/>
                </a:cubicBezTo>
                <a:cubicBezTo>
                  <a:pt x="4458" y="593"/>
                  <a:pt x="4445" y="617"/>
                  <a:pt x="4430" y="639"/>
                </a:cubicBezTo>
                <a:cubicBezTo>
                  <a:pt x="4415" y="661"/>
                  <a:pt x="4398" y="682"/>
                  <a:pt x="4379" y="701"/>
                </a:cubicBezTo>
                <a:cubicBezTo>
                  <a:pt x="4360" y="720"/>
                  <a:pt x="4339" y="737"/>
                  <a:pt x="4317" y="752"/>
                </a:cubicBezTo>
                <a:cubicBezTo>
                  <a:pt x="4294" y="767"/>
                  <a:pt x="4271" y="780"/>
                  <a:pt x="4246" y="790"/>
                </a:cubicBezTo>
                <a:cubicBezTo>
                  <a:pt x="4221" y="800"/>
                  <a:pt x="4195" y="808"/>
                  <a:pt x="4169" y="813"/>
                </a:cubicBezTo>
                <a:cubicBezTo>
                  <a:pt x="4143" y="819"/>
                  <a:pt x="4116" y="821"/>
                  <a:pt x="4089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1C0E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5148000" y="4519440"/>
            <a:ext cx="1619640" cy="295560"/>
          </a:xfrm>
          <a:custGeom>
            <a:avLst/>
            <a:gdLst/>
            <a:ahLst/>
            <a:rect l="0" t="0" r="r" b="b"/>
            <a:pathLst>
              <a:path w="4499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4089" y="0"/>
                </a:lnTo>
                <a:cubicBezTo>
                  <a:pt x="4116" y="0"/>
                  <a:pt x="4143" y="3"/>
                  <a:pt x="4169" y="8"/>
                </a:cubicBezTo>
                <a:cubicBezTo>
                  <a:pt x="4195" y="13"/>
                  <a:pt x="4221" y="21"/>
                  <a:pt x="4246" y="31"/>
                </a:cubicBezTo>
                <a:cubicBezTo>
                  <a:pt x="4271" y="41"/>
                  <a:pt x="4294" y="54"/>
                  <a:pt x="4317" y="69"/>
                </a:cubicBezTo>
                <a:cubicBezTo>
                  <a:pt x="4339" y="84"/>
                  <a:pt x="4360" y="101"/>
                  <a:pt x="4379" y="120"/>
                </a:cubicBezTo>
                <a:cubicBezTo>
                  <a:pt x="4398" y="139"/>
                  <a:pt x="4415" y="161"/>
                  <a:pt x="4430" y="183"/>
                </a:cubicBezTo>
                <a:cubicBezTo>
                  <a:pt x="4445" y="206"/>
                  <a:pt x="4458" y="229"/>
                  <a:pt x="4468" y="254"/>
                </a:cubicBezTo>
                <a:cubicBezTo>
                  <a:pt x="4478" y="279"/>
                  <a:pt x="4486" y="305"/>
                  <a:pt x="4491" y="331"/>
                </a:cubicBezTo>
                <a:cubicBezTo>
                  <a:pt x="4497" y="357"/>
                  <a:pt x="4499" y="384"/>
                  <a:pt x="4499" y="411"/>
                </a:cubicBezTo>
                <a:cubicBezTo>
                  <a:pt x="4499" y="438"/>
                  <a:pt x="4497" y="465"/>
                  <a:pt x="4491" y="491"/>
                </a:cubicBezTo>
                <a:cubicBezTo>
                  <a:pt x="4486" y="517"/>
                  <a:pt x="4478" y="543"/>
                  <a:pt x="4468" y="568"/>
                </a:cubicBezTo>
                <a:cubicBezTo>
                  <a:pt x="4458" y="593"/>
                  <a:pt x="4445" y="617"/>
                  <a:pt x="4430" y="639"/>
                </a:cubicBezTo>
                <a:cubicBezTo>
                  <a:pt x="4415" y="661"/>
                  <a:pt x="4398" y="682"/>
                  <a:pt x="4379" y="701"/>
                </a:cubicBezTo>
                <a:cubicBezTo>
                  <a:pt x="4360" y="720"/>
                  <a:pt x="4339" y="737"/>
                  <a:pt x="4317" y="752"/>
                </a:cubicBezTo>
                <a:cubicBezTo>
                  <a:pt x="4294" y="767"/>
                  <a:pt x="4271" y="780"/>
                  <a:pt x="4246" y="790"/>
                </a:cubicBezTo>
                <a:cubicBezTo>
                  <a:pt x="4221" y="800"/>
                  <a:pt x="4195" y="808"/>
                  <a:pt x="4169" y="813"/>
                </a:cubicBezTo>
                <a:cubicBezTo>
                  <a:pt x="4143" y="819"/>
                  <a:pt x="4116" y="821"/>
                  <a:pt x="4089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5A301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4004640" y="4567320"/>
            <a:ext cx="941400" cy="18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0" u="none" strike="noStrike">
                <a:solidFill>
                  <a:srgbClr val="D2884D"/>
                </a:solidFill>
                <a:effectLst/>
                <a:uFillTx/>
                <a:latin typeface="Outfit-Thin_"/>
                <a:ea typeface="Outfit-Thin_"/>
              </a:rPr>
              <a:t>1.04M postings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6852960" y="4519440"/>
            <a:ext cx="1476720" cy="295560"/>
          </a:xfrm>
          <a:custGeom>
            <a:avLst/>
            <a:gdLst/>
            <a:ahLst/>
            <a:rect l="0" t="0" r="r" b="b"/>
            <a:pathLst>
              <a:path w="4102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3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3692" y="0"/>
                </a:lnTo>
                <a:cubicBezTo>
                  <a:pt x="3719" y="0"/>
                  <a:pt x="3746" y="3"/>
                  <a:pt x="3772" y="8"/>
                </a:cubicBezTo>
                <a:cubicBezTo>
                  <a:pt x="3799" y="13"/>
                  <a:pt x="3824" y="21"/>
                  <a:pt x="3849" y="31"/>
                </a:cubicBezTo>
                <a:cubicBezTo>
                  <a:pt x="3874" y="41"/>
                  <a:pt x="3898" y="54"/>
                  <a:pt x="3920" y="69"/>
                </a:cubicBezTo>
                <a:cubicBezTo>
                  <a:pt x="3942" y="84"/>
                  <a:pt x="3963" y="101"/>
                  <a:pt x="3982" y="120"/>
                </a:cubicBezTo>
                <a:cubicBezTo>
                  <a:pt x="4001" y="139"/>
                  <a:pt x="4018" y="161"/>
                  <a:pt x="4033" y="183"/>
                </a:cubicBezTo>
                <a:cubicBezTo>
                  <a:pt x="4048" y="206"/>
                  <a:pt x="4061" y="229"/>
                  <a:pt x="4071" y="254"/>
                </a:cubicBezTo>
                <a:cubicBezTo>
                  <a:pt x="4081" y="279"/>
                  <a:pt x="4089" y="305"/>
                  <a:pt x="4094" y="331"/>
                </a:cubicBezTo>
                <a:cubicBezTo>
                  <a:pt x="4100" y="357"/>
                  <a:pt x="4102" y="384"/>
                  <a:pt x="4102" y="411"/>
                </a:cubicBezTo>
                <a:cubicBezTo>
                  <a:pt x="4102" y="438"/>
                  <a:pt x="4100" y="465"/>
                  <a:pt x="4094" y="491"/>
                </a:cubicBezTo>
                <a:cubicBezTo>
                  <a:pt x="4089" y="517"/>
                  <a:pt x="4081" y="543"/>
                  <a:pt x="4071" y="568"/>
                </a:cubicBezTo>
                <a:cubicBezTo>
                  <a:pt x="4061" y="593"/>
                  <a:pt x="4048" y="617"/>
                  <a:pt x="4033" y="639"/>
                </a:cubicBezTo>
                <a:cubicBezTo>
                  <a:pt x="4018" y="661"/>
                  <a:pt x="4001" y="682"/>
                  <a:pt x="3982" y="701"/>
                </a:cubicBezTo>
                <a:cubicBezTo>
                  <a:pt x="3963" y="720"/>
                  <a:pt x="3942" y="737"/>
                  <a:pt x="3920" y="752"/>
                </a:cubicBezTo>
                <a:cubicBezTo>
                  <a:pt x="3898" y="767"/>
                  <a:pt x="3874" y="780"/>
                  <a:pt x="3849" y="790"/>
                </a:cubicBezTo>
                <a:cubicBezTo>
                  <a:pt x="3824" y="800"/>
                  <a:pt x="3799" y="808"/>
                  <a:pt x="3772" y="813"/>
                </a:cubicBezTo>
                <a:cubicBezTo>
                  <a:pt x="3746" y="819"/>
                  <a:pt x="3719" y="821"/>
                  <a:pt x="3692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1C0E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6852960" y="4519440"/>
            <a:ext cx="1476720" cy="295560"/>
          </a:xfrm>
          <a:custGeom>
            <a:avLst/>
            <a:gdLst/>
            <a:ahLst/>
            <a:rect l="0" t="0" r="r" b="b"/>
            <a:pathLst>
              <a:path w="4102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3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3692" y="0"/>
                </a:lnTo>
                <a:cubicBezTo>
                  <a:pt x="3719" y="0"/>
                  <a:pt x="3746" y="3"/>
                  <a:pt x="3772" y="8"/>
                </a:cubicBezTo>
                <a:cubicBezTo>
                  <a:pt x="3799" y="13"/>
                  <a:pt x="3824" y="21"/>
                  <a:pt x="3849" y="31"/>
                </a:cubicBezTo>
                <a:cubicBezTo>
                  <a:pt x="3874" y="41"/>
                  <a:pt x="3898" y="54"/>
                  <a:pt x="3920" y="69"/>
                </a:cubicBezTo>
                <a:cubicBezTo>
                  <a:pt x="3942" y="84"/>
                  <a:pt x="3963" y="101"/>
                  <a:pt x="3982" y="120"/>
                </a:cubicBezTo>
                <a:cubicBezTo>
                  <a:pt x="4001" y="139"/>
                  <a:pt x="4018" y="161"/>
                  <a:pt x="4033" y="183"/>
                </a:cubicBezTo>
                <a:cubicBezTo>
                  <a:pt x="4048" y="206"/>
                  <a:pt x="4061" y="229"/>
                  <a:pt x="4071" y="254"/>
                </a:cubicBezTo>
                <a:cubicBezTo>
                  <a:pt x="4081" y="279"/>
                  <a:pt x="4089" y="305"/>
                  <a:pt x="4094" y="331"/>
                </a:cubicBezTo>
                <a:cubicBezTo>
                  <a:pt x="4100" y="357"/>
                  <a:pt x="4102" y="384"/>
                  <a:pt x="4102" y="411"/>
                </a:cubicBezTo>
                <a:cubicBezTo>
                  <a:pt x="4102" y="438"/>
                  <a:pt x="4100" y="465"/>
                  <a:pt x="4094" y="491"/>
                </a:cubicBezTo>
                <a:cubicBezTo>
                  <a:pt x="4089" y="517"/>
                  <a:pt x="4081" y="543"/>
                  <a:pt x="4071" y="568"/>
                </a:cubicBezTo>
                <a:cubicBezTo>
                  <a:pt x="4061" y="593"/>
                  <a:pt x="4048" y="617"/>
                  <a:pt x="4033" y="639"/>
                </a:cubicBezTo>
                <a:cubicBezTo>
                  <a:pt x="4018" y="661"/>
                  <a:pt x="4001" y="682"/>
                  <a:pt x="3982" y="701"/>
                </a:cubicBezTo>
                <a:cubicBezTo>
                  <a:pt x="3963" y="720"/>
                  <a:pt x="3942" y="737"/>
                  <a:pt x="3920" y="752"/>
                </a:cubicBezTo>
                <a:cubicBezTo>
                  <a:pt x="3898" y="767"/>
                  <a:pt x="3874" y="780"/>
                  <a:pt x="3849" y="790"/>
                </a:cubicBezTo>
                <a:cubicBezTo>
                  <a:pt x="3824" y="800"/>
                  <a:pt x="3799" y="808"/>
                  <a:pt x="3772" y="813"/>
                </a:cubicBezTo>
                <a:cubicBezTo>
                  <a:pt x="3746" y="819"/>
                  <a:pt x="3719" y="821"/>
                  <a:pt x="3692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5A301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5281920" y="4567320"/>
            <a:ext cx="1342080" cy="18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0" u="none" strike="noStrike">
                <a:solidFill>
                  <a:srgbClr val="D2884D"/>
                </a:solidFill>
                <a:effectLst/>
                <a:uFillTx/>
                <a:latin typeface="Outfit-Thin_"/>
                <a:ea typeface="Outfit-Thin_"/>
              </a:rPr>
              <a:t>Mar 2023 – May 2024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6991920" y="4567320"/>
            <a:ext cx="1214640" cy="18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0" u="none" strike="noStrike">
                <a:solidFill>
                  <a:srgbClr val="D2884D"/>
                </a:solidFill>
                <a:effectLst/>
                <a:uFillTx/>
                <a:latin typeface="Outfit-Thin_"/>
                <a:ea typeface="Outfit-Thin_"/>
              </a:rPr>
              <a:t>Streamlit + DuckDB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657000" y="4667040"/>
            <a:ext cx="10887480" cy="686160"/>
          </a:xfrm>
          <a:custGeom>
            <a:avLst/>
            <a:gdLst/>
            <a:ahLst/>
            <a:rect l="0" t="0" r="r" b="b"/>
            <a:pathLst>
              <a:path w="30243" h="1906">
                <a:moveTo>
                  <a:pt x="0" y="1906"/>
                </a:moveTo>
                <a:lnTo>
                  <a:pt x="0" y="0"/>
                </a:lnTo>
                <a:lnTo>
                  <a:pt x="30031" y="0"/>
                </a:lnTo>
                <a:cubicBezTo>
                  <a:pt x="30045" y="0"/>
                  <a:pt x="30059" y="1"/>
                  <a:pt x="30073" y="4"/>
                </a:cubicBezTo>
                <a:cubicBezTo>
                  <a:pt x="30086" y="7"/>
                  <a:pt x="30099" y="11"/>
                  <a:pt x="30112" y="16"/>
                </a:cubicBezTo>
                <a:cubicBezTo>
                  <a:pt x="30125" y="22"/>
                  <a:pt x="30137" y="28"/>
                  <a:pt x="30149" y="36"/>
                </a:cubicBezTo>
                <a:cubicBezTo>
                  <a:pt x="30160" y="43"/>
                  <a:pt x="30171" y="52"/>
                  <a:pt x="30181" y="62"/>
                </a:cubicBezTo>
                <a:cubicBezTo>
                  <a:pt x="30191" y="72"/>
                  <a:pt x="30200" y="83"/>
                  <a:pt x="30207" y="94"/>
                </a:cubicBezTo>
                <a:cubicBezTo>
                  <a:pt x="30215" y="106"/>
                  <a:pt x="30222" y="118"/>
                  <a:pt x="30227" y="131"/>
                </a:cubicBezTo>
                <a:cubicBezTo>
                  <a:pt x="30232" y="144"/>
                  <a:pt x="30236" y="157"/>
                  <a:pt x="30239" y="170"/>
                </a:cubicBezTo>
                <a:cubicBezTo>
                  <a:pt x="30242" y="184"/>
                  <a:pt x="30243" y="198"/>
                  <a:pt x="30243" y="212"/>
                </a:cubicBezTo>
                <a:lnTo>
                  <a:pt x="30243" y="1694"/>
                </a:lnTo>
                <a:cubicBezTo>
                  <a:pt x="30243" y="1708"/>
                  <a:pt x="30242" y="1722"/>
                  <a:pt x="30239" y="1736"/>
                </a:cubicBezTo>
                <a:cubicBezTo>
                  <a:pt x="30236" y="1749"/>
                  <a:pt x="30232" y="1763"/>
                  <a:pt x="30227" y="1775"/>
                </a:cubicBezTo>
                <a:cubicBezTo>
                  <a:pt x="30222" y="1788"/>
                  <a:pt x="30215" y="1800"/>
                  <a:pt x="30207" y="1812"/>
                </a:cubicBezTo>
                <a:cubicBezTo>
                  <a:pt x="30200" y="1824"/>
                  <a:pt x="30191" y="1834"/>
                  <a:pt x="30181" y="1844"/>
                </a:cubicBezTo>
                <a:cubicBezTo>
                  <a:pt x="30171" y="1854"/>
                  <a:pt x="30160" y="1863"/>
                  <a:pt x="30149" y="1870"/>
                </a:cubicBezTo>
                <a:cubicBezTo>
                  <a:pt x="30137" y="1878"/>
                  <a:pt x="30125" y="1885"/>
                  <a:pt x="30112" y="1890"/>
                </a:cubicBezTo>
                <a:cubicBezTo>
                  <a:pt x="30099" y="1895"/>
                  <a:pt x="30086" y="1899"/>
                  <a:pt x="30073" y="1902"/>
                </a:cubicBezTo>
                <a:cubicBezTo>
                  <a:pt x="30059" y="1905"/>
                  <a:pt x="30045" y="1906"/>
                  <a:pt x="30031" y="1906"/>
                </a:cubicBezTo>
                <a:lnTo>
                  <a:pt x="0" y="1906"/>
                </a:lnTo>
                <a:close/>
              </a:path>
            </a:pathLst>
          </a:custGeom>
          <a:solidFill>
            <a:srgbClr val="120A0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647640" y="4667040"/>
            <a:ext cx="19440" cy="686160"/>
          </a:xfrm>
          <a:custGeom>
            <a:avLst/>
            <a:gdLst/>
            <a:ahLst/>
            <a:rect l="0" t="0" r="r" b="b"/>
            <a:pathLst>
              <a:path w="54" h="1906">
                <a:moveTo>
                  <a:pt x="0" y="0"/>
                </a:moveTo>
                <a:lnTo>
                  <a:pt x="54" y="0"/>
                </a:lnTo>
                <a:lnTo>
                  <a:pt x="54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647640" y="1474920"/>
            <a:ext cx="1329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T H E   U S E R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47640" y="1716840"/>
            <a:ext cx="68472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720" b="0" u="none" strike="noStrike">
                <a:solidFill>
                  <a:srgbClr val="888888"/>
                </a:solidFill>
                <a:effectLst/>
                <a:uFillTx/>
                <a:latin typeface="Raleway"/>
                <a:ea typeface="Raleway"/>
              </a:rPr>
              <a:t>A talent acquisition lead at a Singapore SME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652320" y="2447640"/>
            <a:ext cx="3534120" cy="2024640"/>
          </a:xfrm>
          <a:custGeom>
            <a:avLst/>
            <a:gdLst/>
            <a:ahLst/>
            <a:rect l="0" t="0" r="r" b="b"/>
            <a:pathLst>
              <a:path w="9817" h="5624">
                <a:moveTo>
                  <a:pt x="0" y="5372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7"/>
                  <a:pt x="13" y="162"/>
                  <a:pt x="19" y="147"/>
                </a:cubicBezTo>
                <a:cubicBezTo>
                  <a:pt x="25" y="133"/>
                  <a:pt x="33" y="119"/>
                  <a:pt x="42" y="106"/>
                </a:cubicBezTo>
                <a:cubicBezTo>
                  <a:pt x="51" y="93"/>
                  <a:pt x="62" y="81"/>
                  <a:pt x="74" y="70"/>
                </a:cubicBezTo>
                <a:cubicBezTo>
                  <a:pt x="85" y="59"/>
                  <a:pt x="98" y="49"/>
                  <a:pt x="112" y="40"/>
                </a:cubicBezTo>
                <a:cubicBezTo>
                  <a:pt x="125" y="32"/>
                  <a:pt x="140" y="24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9566" y="0"/>
                </a:lnTo>
                <a:cubicBezTo>
                  <a:pt x="9582" y="0"/>
                  <a:pt x="9598" y="2"/>
                  <a:pt x="9615" y="5"/>
                </a:cubicBezTo>
                <a:cubicBezTo>
                  <a:pt x="9631" y="8"/>
                  <a:pt x="9647" y="12"/>
                  <a:pt x="9662" y="18"/>
                </a:cubicBezTo>
                <a:cubicBezTo>
                  <a:pt x="9677" y="24"/>
                  <a:pt x="9692" y="32"/>
                  <a:pt x="9705" y="40"/>
                </a:cubicBezTo>
                <a:cubicBezTo>
                  <a:pt x="9719" y="49"/>
                  <a:pt x="9732" y="59"/>
                  <a:pt x="9743" y="70"/>
                </a:cubicBezTo>
                <a:cubicBezTo>
                  <a:pt x="9755" y="81"/>
                  <a:pt x="9765" y="93"/>
                  <a:pt x="9775" y="106"/>
                </a:cubicBezTo>
                <a:cubicBezTo>
                  <a:pt x="9784" y="119"/>
                  <a:pt x="9791" y="133"/>
                  <a:pt x="9798" y="147"/>
                </a:cubicBezTo>
                <a:cubicBezTo>
                  <a:pt x="9804" y="162"/>
                  <a:pt x="9809" y="177"/>
                  <a:pt x="9812" y="192"/>
                </a:cubicBezTo>
                <a:cubicBezTo>
                  <a:pt x="9815" y="207"/>
                  <a:pt x="9817" y="223"/>
                  <a:pt x="9817" y="238"/>
                </a:cubicBezTo>
                <a:lnTo>
                  <a:pt x="9817" y="5372"/>
                </a:lnTo>
                <a:cubicBezTo>
                  <a:pt x="9817" y="5389"/>
                  <a:pt x="9815" y="5405"/>
                  <a:pt x="9812" y="5421"/>
                </a:cubicBezTo>
                <a:cubicBezTo>
                  <a:pt x="9809" y="5438"/>
                  <a:pt x="9804" y="5453"/>
                  <a:pt x="9798" y="5469"/>
                </a:cubicBezTo>
                <a:cubicBezTo>
                  <a:pt x="9791" y="5484"/>
                  <a:pt x="9784" y="5498"/>
                  <a:pt x="9775" y="5512"/>
                </a:cubicBezTo>
                <a:cubicBezTo>
                  <a:pt x="9765" y="5526"/>
                  <a:pt x="9755" y="5538"/>
                  <a:pt x="9743" y="5550"/>
                </a:cubicBezTo>
                <a:cubicBezTo>
                  <a:pt x="9732" y="5562"/>
                  <a:pt x="9719" y="5572"/>
                  <a:pt x="9705" y="5581"/>
                </a:cubicBezTo>
                <a:cubicBezTo>
                  <a:pt x="9692" y="5590"/>
                  <a:pt x="9677" y="5598"/>
                  <a:pt x="9662" y="5605"/>
                </a:cubicBezTo>
                <a:cubicBezTo>
                  <a:pt x="9647" y="5611"/>
                  <a:pt x="9631" y="5616"/>
                  <a:pt x="9615" y="5619"/>
                </a:cubicBezTo>
                <a:cubicBezTo>
                  <a:pt x="9598" y="5622"/>
                  <a:pt x="9582" y="5624"/>
                  <a:pt x="9566" y="5624"/>
                </a:cubicBezTo>
                <a:lnTo>
                  <a:pt x="251" y="5624"/>
                </a:lnTo>
                <a:cubicBezTo>
                  <a:pt x="235" y="5624"/>
                  <a:pt x="218" y="5622"/>
                  <a:pt x="202" y="5619"/>
                </a:cubicBezTo>
                <a:cubicBezTo>
                  <a:pt x="186" y="5616"/>
                  <a:pt x="170" y="5611"/>
                  <a:pt x="155" y="5605"/>
                </a:cubicBezTo>
                <a:cubicBezTo>
                  <a:pt x="140" y="5598"/>
                  <a:pt x="125" y="5590"/>
                  <a:pt x="112" y="5581"/>
                </a:cubicBezTo>
                <a:cubicBezTo>
                  <a:pt x="98" y="5572"/>
                  <a:pt x="85" y="5562"/>
                  <a:pt x="74" y="5550"/>
                </a:cubicBezTo>
                <a:cubicBezTo>
                  <a:pt x="62" y="5538"/>
                  <a:pt x="51" y="5526"/>
                  <a:pt x="42" y="5512"/>
                </a:cubicBezTo>
                <a:cubicBezTo>
                  <a:pt x="33" y="5498"/>
                  <a:pt x="25" y="5484"/>
                  <a:pt x="19" y="5469"/>
                </a:cubicBezTo>
                <a:cubicBezTo>
                  <a:pt x="13" y="5453"/>
                  <a:pt x="8" y="5438"/>
                  <a:pt x="5" y="5421"/>
                </a:cubicBezTo>
                <a:cubicBezTo>
                  <a:pt x="2" y="5405"/>
                  <a:pt x="0" y="5389"/>
                  <a:pt x="0" y="5372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672840" y="2457360"/>
            <a:ext cx="3492720" cy="52920"/>
          </a:xfrm>
          <a:custGeom>
            <a:avLst/>
            <a:gdLst/>
            <a:ahLst/>
            <a:rect l="0" t="0" r="r" b="b"/>
            <a:pathLst>
              <a:path w="9702" h="147">
                <a:moveTo>
                  <a:pt x="9673" y="147"/>
                </a:moveTo>
                <a:lnTo>
                  <a:pt x="29" y="147"/>
                </a:lnTo>
                <a:lnTo>
                  <a:pt x="0" y="88"/>
                </a:lnTo>
                <a:cubicBezTo>
                  <a:pt x="8" y="79"/>
                  <a:pt x="16" y="70"/>
                  <a:pt x="26" y="62"/>
                </a:cubicBezTo>
                <a:cubicBezTo>
                  <a:pt x="48" y="42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9509" y="0"/>
                </a:lnTo>
                <a:cubicBezTo>
                  <a:pt x="9540" y="0"/>
                  <a:pt x="9571" y="5"/>
                  <a:pt x="9600" y="16"/>
                </a:cubicBezTo>
                <a:cubicBezTo>
                  <a:pt x="9629" y="27"/>
                  <a:pt x="9655" y="42"/>
                  <a:pt x="9677" y="62"/>
                </a:cubicBezTo>
                <a:cubicBezTo>
                  <a:pt x="9686" y="70"/>
                  <a:pt x="9695" y="79"/>
                  <a:pt x="9702" y="88"/>
                </a:cubicBezTo>
                <a:lnTo>
                  <a:pt x="9673" y="147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682200" y="4424040"/>
            <a:ext cx="3474360" cy="43200"/>
          </a:xfrm>
          <a:custGeom>
            <a:avLst/>
            <a:gdLst/>
            <a:ahLst/>
            <a:rect l="0" t="0" r="r" b="b"/>
            <a:pathLst>
              <a:path w="9651" h="120">
                <a:moveTo>
                  <a:pt x="49" y="0"/>
                </a:moveTo>
                <a:lnTo>
                  <a:pt x="9602" y="0"/>
                </a:lnTo>
                <a:lnTo>
                  <a:pt x="9651" y="51"/>
                </a:lnTo>
                <a:cubicBezTo>
                  <a:pt x="9629" y="73"/>
                  <a:pt x="9603" y="90"/>
                  <a:pt x="9574" y="102"/>
                </a:cubicBezTo>
                <a:cubicBezTo>
                  <a:pt x="9545" y="114"/>
                  <a:pt x="9514" y="120"/>
                  <a:pt x="9483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413856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0" y="5380"/>
                </a:moveTo>
                <a:lnTo>
                  <a:pt x="0" y="148"/>
                </a:lnTo>
                <a:lnTo>
                  <a:pt x="74" y="0"/>
                </a:lnTo>
                <a:cubicBezTo>
                  <a:pt x="84" y="14"/>
                  <a:pt x="93" y="28"/>
                  <a:pt x="101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5258"/>
                </a:lnTo>
                <a:cubicBezTo>
                  <a:pt x="120" y="5290"/>
                  <a:pt x="114" y="5320"/>
                  <a:pt x="101" y="5349"/>
                </a:cubicBezTo>
                <a:cubicBezTo>
                  <a:pt x="88" y="5379"/>
                  <a:pt x="71" y="5404"/>
                  <a:pt x="49" y="5427"/>
                </a:cubicBezTo>
                <a:lnTo>
                  <a:pt x="48" y="5428"/>
                </a:lnTo>
                <a:lnTo>
                  <a:pt x="0" y="538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65700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120" y="148"/>
                </a:moveTo>
                <a:lnTo>
                  <a:pt x="120" y="5380"/>
                </a:lnTo>
                <a:lnTo>
                  <a:pt x="72" y="5428"/>
                </a:lnTo>
                <a:lnTo>
                  <a:pt x="71" y="5427"/>
                </a:lnTo>
                <a:cubicBezTo>
                  <a:pt x="49" y="5404"/>
                  <a:pt x="31" y="5379"/>
                  <a:pt x="18" y="5349"/>
                </a:cubicBezTo>
                <a:cubicBezTo>
                  <a:pt x="6" y="5320"/>
                  <a:pt x="0" y="5290"/>
                  <a:pt x="0" y="5258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6" y="28"/>
                  <a:pt x="35" y="14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838080" y="4859640"/>
            <a:ext cx="1035396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40" b="0" u="none" strike="noStrike">
                <a:solidFill>
                  <a:srgbClr val="DDDDDD"/>
                </a:solidFill>
                <a:effectLst/>
                <a:uFillTx/>
                <a:latin typeface="RalewayRoman"/>
                <a:ea typeface="RalewayRoman"/>
              </a:rPr>
              <a:t>Before I post this — is my configuration </a:t>
            </a:r>
            <a:r>
              <a:rPr lang="en-SG" sz="174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normal</a:t>
            </a:r>
            <a:r>
              <a:rPr lang="en-SG" sz="1740" b="0" u="none" strike="noStrike">
                <a:solidFill>
                  <a:srgbClr val="DDDDDD"/>
                </a:solidFill>
                <a:effectLst/>
                <a:uFillTx/>
                <a:latin typeface="RalewayRoman"/>
                <a:ea typeface="RalewayRoman"/>
              </a:rPr>
              <a:t>, and what response did configurations like it </a:t>
            </a:r>
            <a:r>
              <a:rPr lang="en-SG" sz="174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actually get</a:t>
            </a:r>
            <a:r>
              <a:rPr lang="en-SG" sz="1740" b="0" u="none" strike="noStrike">
                <a:solidFill>
                  <a:srgbClr val="DDDDDD"/>
                </a:solidFill>
                <a:effectLst/>
                <a:uFillTx/>
                <a:latin typeface="RalewayRoman"/>
                <a:ea typeface="RalewayRoman"/>
              </a:rPr>
              <a:t>?</a:t>
            </a:r>
            <a:endParaRPr lang="en-SG" sz="1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828720" y="2629080"/>
            <a:ext cx="7711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THEY SET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828720" y="2998800"/>
            <a:ext cx="979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Pay range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828720" y="3456000"/>
            <a:ext cx="2830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Minimum years of experience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4329000" y="2447640"/>
            <a:ext cx="3534120" cy="2024640"/>
          </a:xfrm>
          <a:custGeom>
            <a:avLst/>
            <a:gdLst/>
            <a:ahLst/>
            <a:rect l="0" t="0" r="r" b="b"/>
            <a:pathLst>
              <a:path w="9817" h="5624">
                <a:moveTo>
                  <a:pt x="0" y="537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3" y="162"/>
                  <a:pt x="19" y="147"/>
                </a:cubicBezTo>
                <a:cubicBezTo>
                  <a:pt x="25" y="133"/>
                  <a:pt x="33" y="119"/>
                  <a:pt x="42" y="106"/>
                </a:cubicBezTo>
                <a:cubicBezTo>
                  <a:pt x="51" y="93"/>
                  <a:pt x="62" y="81"/>
                  <a:pt x="73" y="70"/>
                </a:cubicBezTo>
                <a:cubicBezTo>
                  <a:pt x="85" y="59"/>
                  <a:pt x="98" y="49"/>
                  <a:pt x="112" y="40"/>
                </a:cubicBezTo>
                <a:cubicBezTo>
                  <a:pt x="125" y="32"/>
                  <a:pt x="140" y="24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9565" y="0"/>
                </a:lnTo>
                <a:cubicBezTo>
                  <a:pt x="9582" y="0"/>
                  <a:pt x="9598" y="2"/>
                  <a:pt x="9615" y="5"/>
                </a:cubicBezTo>
                <a:cubicBezTo>
                  <a:pt x="9631" y="8"/>
                  <a:pt x="9646" y="12"/>
                  <a:pt x="9662" y="18"/>
                </a:cubicBezTo>
                <a:cubicBezTo>
                  <a:pt x="9677" y="24"/>
                  <a:pt x="9691" y="32"/>
                  <a:pt x="9705" y="40"/>
                </a:cubicBezTo>
                <a:cubicBezTo>
                  <a:pt x="9719" y="49"/>
                  <a:pt x="9732" y="59"/>
                  <a:pt x="9743" y="70"/>
                </a:cubicBezTo>
                <a:cubicBezTo>
                  <a:pt x="9755" y="81"/>
                  <a:pt x="9765" y="93"/>
                  <a:pt x="9774" y="106"/>
                </a:cubicBezTo>
                <a:cubicBezTo>
                  <a:pt x="9784" y="119"/>
                  <a:pt x="9791" y="133"/>
                  <a:pt x="9798" y="147"/>
                </a:cubicBezTo>
                <a:cubicBezTo>
                  <a:pt x="9804" y="162"/>
                  <a:pt x="9809" y="177"/>
                  <a:pt x="9812" y="192"/>
                </a:cubicBezTo>
                <a:cubicBezTo>
                  <a:pt x="9815" y="207"/>
                  <a:pt x="9817" y="223"/>
                  <a:pt x="9817" y="238"/>
                </a:cubicBezTo>
                <a:lnTo>
                  <a:pt x="9817" y="5372"/>
                </a:lnTo>
                <a:cubicBezTo>
                  <a:pt x="9817" y="5389"/>
                  <a:pt x="9815" y="5405"/>
                  <a:pt x="9812" y="5421"/>
                </a:cubicBezTo>
                <a:cubicBezTo>
                  <a:pt x="9809" y="5438"/>
                  <a:pt x="9804" y="5453"/>
                  <a:pt x="9798" y="5469"/>
                </a:cubicBezTo>
                <a:cubicBezTo>
                  <a:pt x="9791" y="5484"/>
                  <a:pt x="9784" y="5498"/>
                  <a:pt x="9774" y="5512"/>
                </a:cubicBezTo>
                <a:cubicBezTo>
                  <a:pt x="9765" y="5526"/>
                  <a:pt x="9755" y="5538"/>
                  <a:pt x="9743" y="5550"/>
                </a:cubicBezTo>
                <a:cubicBezTo>
                  <a:pt x="9732" y="5562"/>
                  <a:pt x="9719" y="5572"/>
                  <a:pt x="9705" y="5581"/>
                </a:cubicBezTo>
                <a:cubicBezTo>
                  <a:pt x="9691" y="5590"/>
                  <a:pt x="9677" y="5598"/>
                  <a:pt x="9662" y="5605"/>
                </a:cubicBezTo>
                <a:cubicBezTo>
                  <a:pt x="9646" y="5611"/>
                  <a:pt x="9631" y="5616"/>
                  <a:pt x="9615" y="5619"/>
                </a:cubicBezTo>
                <a:cubicBezTo>
                  <a:pt x="9598" y="5622"/>
                  <a:pt x="9582" y="5624"/>
                  <a:pt x="9565" y="5624"/>
                </a:cubicBezTo>
                <a:lnTo>
                  <a:pt x="251" y="5624"/>
                </a:lnTo>
                <a:cubicBezTo>
                  <a:pt x="235" y="5624"/>
                  <a:pt x="218" y="5622"/>
                  <a:pt x="202" y="5619"/>
                </a:cubicBezTo>
                <a:cubicBezTo>
                  <a:pt x="186" y="5616"/>
                  <a:pt x="170" y="5611"/>
                  <a:pt x="155" y="5605"/>
                </a:cubicBezTo>
                <a:cubicBezTo>
                  <a:pt x="140" y="5598"/>
                  <a:pt x="125" y="5590"/>
                  <a:pt x="112" y="5581"/>
                </a:cubicBezTo>
                <a:cubicBezTo>
                  <a:pt x="98" y="5572"/>
                  <a:pt x="85" y="5562"/>
                  <a:pt x="73" y="5550"/>
                </a:cubicBezTo>
                <a:cubicBezTo>
                  <a:pt x="62" y="5538"/>
                  <a:pt x="51" y="5526"/>
                  <a:pt x="42" y="5512"/>
                </a:cubicBezTo>
                <a:cubicBezTo>
                  <a:pt x="33" y="5498"/>
                  <a:pt x="25" y="5484"/>
                  <a:pt x="19" y="5469"/>
                </a:cubicBezTo>
                <a:cubicBezTo>
                  <a:pt x="13" y="5453"/>
                  <a:pt x="8" y="5438"/>
                  <a:pt x="5" y="5421"/>
                </a:cubicBezTo>
                <a:cubicBezTo>
                  <a:pt x="1" y="5405"/>
                  <a:pt x="0" y="5389"/>
                  <a:pt x="0" y="5372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4349520" y="2457360"/>
            <a:ext cx="3492720" cy="52920"/>
          </a:xfrm>
          <a:custGeom>
            <a:avLst/>
            <a:gdLst/>
            <a:ahLst/>
            <a:rect l="0" t="0" r="r" b="b"/>
            <a:pathLst>
              <a:path w="9702" h="147">
                <a:moveTo>
                  <a:pt x="9673" y="147"/>
                </a:moveTo>
                <a:lnTo>
                  <a:pt x="29" y="147"/>
                </a:lnTo>
                <a:lnTo>
                  <a:pt x="0" y="88"/>
                </a:lnTo>
                <a:cubicBezTo>
                  <a:pt x="8" y="79"/>
                  <a:pt x="16" y="70"/>
                  <a:pt x="26" y="62"/>
                </a:cubicBezTo>
                <a:cubicBezTo>
                  <a:pt x="48" y="42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9508" y="0"/>
                </a:lnTo>
                <a:cubicBezTo>
                  <a:pt x="9540" y="0"/>
                  <a:pt x="9570" y="5"/>
                  <a:pt x="9600" y="16"/>
                </a:cubicBezTo>
                <a:cubicBezTo>
                  <a:pt x="9629" y="27"/>
                  <a:pt x="9655" y="42"/>
                  <a:pt x="9677" y="62"/>
                </a:cubicBezTo>
                <a:cubicBezTo>
                  <a:pt x="9686" y="70"/>
                  <a:pt x="9695" y="79"/>
                  <a:pt x="9702" y="88"/>
                </a:cubicBezTo>
                <a:lnTo>
                  <a:pt x="9673" y="14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4358880" y="4424040"/>
            <a:ext cx="3474360" cy="43200"/>
          </a:xfrm>
          <a:custGeom>
            <a:avLst/>
            <a:gdLst/>
            <a:ahLst/>
            <a:rect l="0" t="0" r="r" b="b"/>
            <a:pathLst>
              <a:path w="9651" h="120">
                <a:moveTo>
                  <a:pt x="49" y="0"/>
                </a:moveTo>
                <a:lnTo>
                  <a:pt x="9602" y="0"/>
                </a:lnTo>
                <a:lnTo>
                  <a:pt x="9651" y="51"/>
                </a:lnTo>
                <a:cubicBezTo>
                  <a:pt x="9629" y="73"/>
                  <a:pt x="9603" y="90"/>
                  <a:pt x="9574" y="102"/>
                </a:cubicBezTo>
                <a:cubicBezTo>
                  <a:pt x="9544" y="114"/>
                  <a:pt x="9514" y="120"/>
                  <a:pt x="9482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781524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0" y="5380"/>
                </a:moveTo>
                <a:lnTo>
                  <a:pt x="0" y="148"/>
                </a:lnTo>
                <a:lnTo>
                  <a:pt x="74" y="0"/>
                </a:lnTo>
                <a:cubicBezTo>
                  <a:pt x="85" y="14"/>
                  <a:pt x="94" y="28"/>
                  <a:pt x="101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5258"/>
                </a:lnTo>
                <a:cubicBezTo>
                  <a:pt x="120" y="5290"/>
                  <a:pt x="114" y="5320"/>
                  <a:pt x="101" y="5349"/>
                </a:cubicBezTo>
                <a:cubicBezTo>
                  <a:pt x="89" y="5379"/>
                  <a:pt x="72" y="5404"/>
                  <a:pt x="50" y="5427"/>
                </a:cubicBezTo>
                <a:cubicBezTo>
                  <a:pt x="49" y="5427"/>
                  <a:pt x="49" y="5428"/>
                  <a:pt x="49" y="5428"/>
                </a:cubicBezTo>
                <a:lnTo>
                  <a:pt x="0" y="538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433368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120" y="148"/>
                </a:moveTo>
                <a:lnTo>
                  <a:pt x="120" y="5380"/>
                </a:lnTo>
                <a:lnTo>
                  <a:pt x="72" y="5428"/>
                </a:lnTo>
                <a:lnTo>
                  <a:pt x="71" y="5427"/>
                </a:lnTo>
                <a:cubicBezTo>
                  <a:pt x="48" y="5404"/>
                  <a:pt x="30" y="5379"/>
                  <a:pt x="18" y="5349"/>
                </a:cubicBezTo>
                <a:cubicBezTo>
                  <a:pt x="6" y="5320"/>
                  <a:pt x="0" y="5290"/>
                  <a:pt x="0" y="5258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5" y="28"/>
                  <a:pt x="34" y="14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828720" y="3903480"/>
            <a:ext cx="12546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Position level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4505400" y="2629080"/>
            <a:ext cx="15415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THEY DECIDE FROM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4505400" y="2998800"/>
            <a:ext cx="2305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What they paid last time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505400" y="3456000"/>
            <a:ext cx="1947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A colleague's guess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8005680" y="2447640"/>
            <a:ext cx="3534120" cy="2024640"/>
          </a:xfrm>
          <a:custGeom>
            <a:avLst/>
            <a:gdLst/>
            <a:ahLst/>
            <a:rect l="0" t="0" r="r" b="b"/>
            <a:pathLst>
              <a:path w="9817" h="5624">
                <a:moveTo>
                  <a:pt x="0" y="537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3" y="162"/>
                  <a:pt x="19" y="147"/>
                </a:cubicBezTo>
                <a:cubicBezTo>
                  <a:pt x="25" y="133"/>
                  <a:pt x="33" y="119"/>
                  <a:pt x="42" y="106"/>
                </a:cubicBezTo>
                <a:cubicBezTo>
                  <a:pt x="51" y="93"/>
                  <a:pt x="62" y="81"/>
                  <a:pt x="73" y="70"/>
                </a:cubicBezTo>
                <a:cubicBezTo>
                  <a:pt x="85" y="59"/>
                  <a:pt x="98" y="49"/>
                  <a:pt x="111" y="40"/>
                </a:cubicBezTo>
                <a:cubicBezTo>
                  <a:pt x="125" y="32"/>
                  <a:pt x="140" y="24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9565" y="0"/>
                </a:lnTo>
                <a:cubicBezTo>
                  <a:pt x="9582" y="0"/>
                  <a:pt x="9598" y="2"/>
                  <a:pt x="9614" y="5"/>
                </a:cubicBezTo>
                <a:cubicBezTo>
                  <a:pt x="9631" y="8"/>
                  <a:pt x="9646" y="12"/>
                  <a:pt x="9662" y="18"/>
                </a:cubicBezTo>
                <a:cubicBezTo>
                  <a:pt x="9677" y="24"/>
                  <a:pt x="9691" y="32"/>
                  <a:pt x="9705" y="40"/>
                </a:cubicBezTo>
                <a:cubicBezTo>
                  <a:pt x="9719" y="49"/>
                  <a:pt x="9731" y="59"/>
                  <a:pt x="9743" y="70"/>
                </a:cubicBezTo>
                <a:cubicBezTo>
                  <a:pt x="9755" y="81"/>
                  <a:pt x="9765" y="93"/>
                  <a:pt x="9774" y="106"/>
                </a:cubicBezTo>
                <a:cubicBezTo>
                  <a:pt x="9784" y="119"/>
                  <a:pt x="9791" y="133"/>
                  <a:pt x="9798" y="147"/>
                </a:cubicBezTo>
                <a:cubicBezTo>
                  <a:pt x="9804" y="162"/>
                  <a:pt x="9809" y="177"/>
                  <a:pt x="9812" y="192"/>
                </a:cubicBezTo>
                <a:cubicBezTo>
                  <a:pt x="9815" y="207"/>
                  <a:pt x="9817" y="223"/>
                  <a:pt x="9817" y="238"/>
                </a:cubicBezTo>
                <a:lnTo>
                  <a:pt x="9817" y="5372"/>
                </a:lnTo>
                <a:cubicBezTo>
                  <a:pt x="9817" y="5389"/>
                  <a:pt x="9815" y="5405"/>
                  <a:pt x="9812" y="5421"/>
                </a:cubicBezTo>
                <a:cubicBezTo>
                  <a:pt x="9809" y="5438"/>
                  <a:pt x="9804" y="5453"/>
                  <a:pt x="9798" y="5469"/>
                </a:cubicBezTo>
                <a:cubicBezTo>
                  <a:pt x="9791" y="5484"/>
                  <a:pt x="9784" y="5498"/>
                  <a:pt x="9774" y="5512"/>
                </a:cubicBezTo>
                <a:cubicBezTo>
                  <a:pt x="9765" y="5526"/>
                  <a:pt x="9755" y="5538"/>
                  <a:pt x="9743" y="5550"/>
                </a:cubicBezTo>
                <a:cubicBezTo>
                  <a:pt x="9731" y="5562"/>
                  <a:pt x="9719" y="5572"/>
                  <a:pt x="9705" y="5581"/>
                </a:cubicBezTo>
                <a:cubicBezTo>
                  <a:pt x="9691" y="5590"/>
                  <a:pt x="9677" y="5598"/>
                  <a:pt x="9662" y="5605"/>
                </a:cubicBezTo>
                <a:cubicBezTo>
                  <a:pt x="9646" y="5611"/>
                  <a:pt x="9631" y="5616"/>
                  <a:pt x="9614" y="5619"/>
                </a:cubicBezTo>
                <a:cubicBezTo>
                  <a:pt x="9598" y="5622"/>
                  <a:pt x="9582" y="5624"/>
                  <a:pt x="9565" y="5624"/>
                </a:cubicBezTo>
                <a:lnTo>
                  <a:pt x="251" y="5624"/>
                </a:lnTo>
                <a:cubicBezTo>
                  <a:pt x="235" y="5624"/>
                  <a:pt x="218" y="5622"/>
                  <a:pt x="202" y="5619"/>
                </a:cubicBezTo>
                <a:cubicBezTo>
                  <a:pt x="186" y="5616"/>
                  <a:pt x="170" y="5611"/>
                  <a:pt x="155" y="5605"/>
                </a:cubicBezTo>
                <a:cubicBezTo>
                  <a:pt x="140" y="5598"/>
                  <a:pt x="125" y="5590"/>
                  <a:pt x="111" y="5581"/>
                </a:cubicBezTo>
                <a:cubicBezTo>
                  <a:pt x="98" y="5572"/>
                  <a:pt x="85" y="5562"/>
                  <a:pt x="73" y="5550"/>
                </a:cubicBezTo>
                <a:cubicBezTo>
                  <a:pt x="62" y="5538"/>
                  <a:pt x="51" y="5526"/>
                  <a:pt x="42" y="5512"/>
                </a:cubicBezTo>
                <a:cubicBezTo>
                  <a:pt x="33" y="5498"/>
                  <a:pt x="25" y="5484"/>
                  <a:pt x="19" y="5469"/>
                </a:cubicBezTo>
                <a:cubicBezTo>
                  <a:pt x="13" y="5453"/>
                  <a:pt x="8" y="5438"/>
                  <a:pt x="5" y="5421"/>
                </a:cubicBezTo>
                <a:cubicBezTo>
                  <a:pt x="1" y="5405"/>
                  <a:pt x="0" y="5389"/>
                  <a:pt x="0" y="5372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8026200" y="2457360"/>
            <a:ext cx="3492720" cy="52920"/>
          </a:xfrm>
          <a:custGeom>
            <a:avLst/>
            <a:gdLst/>
            <a:ahLst/>
            <a:rect l="0" t="0" r="r" b="b"/>
            <a:pathLst>
              <a:path w="9702" h="147">
                <a:moveTo>
                  <a:pt x="9673" y="147"/>
                </a:moveTo>
                <a:lnTo>
                  <a:pt x="29" y="147"/>
                </a:lnTo>
                <a:lnTo>
                  <a:pt x="0" y="88"/>
                </a:lnTo>
                <a:cubicBezTo>
                  <a:pt x="8" y="79"/>
                  <a:pt x="16" y="70"/>
                  <a:pt x="26" y="62"/>
                </a:cubicBezTo>
                <a:cubicBezTo>
                  <a:pt x="48" y="42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9508" y="0"/>
                </a:lnTo>
                <a:cubicBezTo>
                  <a:pt x="9540" y="0"/>
                  <a:pt x="9570" y="5"/>
                  <a:pt x="9600" y="16"/>
                </a:cubicBezTo>
                <a:cubicBezTo>
                  <a:pt x="9629" y="27"/>
                  <a:pt x="9654" y="42"/>
                  <a:pt x="9677" y="62"/>
                </a:cubicBezTo>
                <a:cubicBezTo>
                  <a:pt x="9686" y="70"/>
                  <a:pt x="9695" y="79"/>
                  <a:pt x="9702" y="88"/>
                </a:cubicBezTo>
                <a:lnTo>
                  <a:pt x="9673" y="147"/>
                </a:lnTo>
                <a:close/>
              </a:path>
            </a:pathLst>
          </a:custGeom>
          <a:solidFill>
            <a:srgbClr val="EF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8035560" y="4424040"/>
            <a:ext cx="3474360" cy="43200"/>
          </a:xfrm>
          <a:custGeom>
            <a:avLst/>
            <a:gdLst/>
            <a:ahLst/>
            <a:rect l="0" t="0" r="r" b="b"/>
            <a:pathLst>
              <a:path w="9651" h="120">
                <a:moveTo>
                  <a:pt x="49" y="0"/>
                </a:moveTo>
                <a:lnTo>
                  <a:pt x="9601" y="0"/>
                </a:lnTo>
                <a:lnTo>
                  <a:pt x="9651" y="51"/>
                </a:lnTo>
                <a:cubicBezTo>
                  <a:pt x="9628" y="73"/>
                  <a:pt x="9603" y="90"/>
                  <a:pt x="9574" y="102"/>
                </a:cubicBezTo>
                <a:cubicBezTo>
                  <a:pt x="9544" y="114"/>
                  <a:pt x="9514" y="120"/>
                  <a:pt x="9482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11491560" y="2488680"/>
            <a:ext cx="43560" cy="1954080"/>
          </a:xfrm>
          <a:custGeom>
            <a:avLst/>
            <a:gdLst/>
            <a:ahLst/>
            <a:rect l="0" t="0" r="r" b="b"/>
            <a:pathLst>
              <a:path w="121" h="5428">
                <a:moveTo>
                  <a:pt x="0" y="5380"/>
                </a:moveTo>
                <a:lnTo>
                  <a:pt x="0" y="148"/>
                </a:lnTo>
                <a:lnTo>
                  <a:pt x="75" y="0"/>
                </a:lnTo>
                <a:cubicBezTo>
                  <a:pt x="86" y="14"/>
                  <a:pt x="95" y="28"/>
                  <a:pt x="102" y="43"/>
                </a:cubicBezTo>
                <a:cubicBezTo>
                  <a:pt x="114" y="69"/>
                  <a:pt x="121" y="96"/>
                  <a:pt x="121" y="124"/>
                </a:cubicBezTo>
                <a:lnTo>
                  <a:pt x="121" y="5258"/>
                </a:lnTo>
                <a:cubicBezTo>
                  <a:pt x="121" y="5290"/>
                  <a:pt x="114" y="5320"/>
                  <a:pt x="102" y="5349"/>
                </a:cubicBezTo>
                <a:cubicBezTo>
                  <a:pt x="90" y="5379"/>
                  <a:pt x="73" y="5404"/>
                  <a:pt x="51" y="5427"/>
                </a:cubicBezTo>
                <a:cubicBezTo>
                  <a:pt x="50" y="5427"/>
                  <a:pt x="50" y="5428"/>
                  <a:pt x="49" y="5428"/>
                </a:cubicBezTo>
                <a:lnTo>
                  <a:pt x="0" y="538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801036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120" y="148"/>
                </a:moveTo>
                <a:lnTo>
                  <a:pt x="120" y="5380"/>
                </a:lnTo>
                <a:lnTo>
                  <a:pt x="72" y="5428"/>
                </a:lnTo>
                <a:lnTo>
                  <a:pt x="71" y="5427"/>
                </a:lnTo>
                <a:cubicBezTo>
                  <a:pt x="47" y="5404"/>
                  <a:pt x="30" y="5379"/>
                  <a:pt x="18" y="5349"/>
                </a:cubicBezTo>
                <a:cubicBezTo>
                  <a:pt x="6" y="5320"/>
                  <a:pt x="0" y="5290"/>
                  <a:pt x="0" y="5258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5" y="28"/>
                  <a:pt x="34" y="14"/>
                  <a:pt x="45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4505400" y="3903480"/>
            <a:ext cx="2305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— no reference point —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8182080" y="2629080"/>
            <a:ext cx="11023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AND IT COSTS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8182080" y="2873520"/>
            <a:ext cx="840240" cy="50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830" b="1" u="none" strike="noStrike">
                <a:solidFill>
                  <a:srgbClr val="EF4444"/>
                </a:solidFill>
                <a:effectLst/>
                <a:uFillTx/>
                <a:latin typeface="Outfit-Thin_"/>
                <a:ea typeface="Outfit-Thin_"/>
              </a:rPr>
              <a:t>30%</a:t>
            </a:r>
            <a:endParaRPr lang="en-SG" sz="2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8182080" y="3328200"/>
            <a:ext cx="84060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under-filled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8182080" y="3597480"/>
            <a:ext cx="1199880" cy="50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830" b="1" u="none" strike="noStrike">
                <a:solidFill>
                  <a:srgbClr val="F5A623"/>
                </a:solidFill>
                <a:effectLst/>
                <a:uFillTx/>
                <a:latin typeface="Outfit-Thin_"/>
                <a:ea typeface="Outfit-Thin_"/>
              </a:rPr>
              <a:t>17.8%</a:t>
            </a:r>
            <a:endParaRPr lang="en-SG" sz="2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8182080" y="4051800"/>
            <a:ext cx="66528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reposted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1181664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2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647640" y="1293840"/>
            <a:ext cx="23817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T H E   C O N S T R A I N T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647640" y="1526400"/>
            <a:ext cx="86346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720" b="0" u="none" strike="noStrike">
                <a:solidFill>
                  <a:srgbClr val="888888"/>
                </a:solidFill>
                <a:effectLst/>
                <a:uFillTx/>
                <a:latin typeface="Raleway"/>
                <a:ea typeface="Raleway"/>
              </a:rPr>
              <a:t>Two questions, answered from different amounts of data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6006600" y="3479400"/>
            <a:ext cx="194400" cy="25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555555"/>
                </a:solidFill>
                <a:effectLst/>
                <a:uFillTx/>
                <a:latin typeface="Outfit-Thin_"/>
                <a:ea typeface="Outfit-Thin_"/>
              </a:rPr>
              <a:t>vs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652320" y="2266920"/>
            <a:ext cx="5181840" cy="2729160"/>
          </a:xfrm>
          <a:custGeom>
            <a:avLst/>
            <a:gdLst/>
            <a:ahLst/>
            <a:rect l="0" t="0" r="r" b="b"/>
            <a:pathLst>
              <a:path w="14394" h="7581">
                <a:moveTo>
                  <a:pt x="0" y="7330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3" y="118"/>
                  <a:pt x="42" y="105"/>
                </a:cubicBezTo>
                <a:cubicBezTo>
                  <a:pt x="51" y="92"/>
                  <a:pt x="62" y="80"/>
                  <a:pt x="74" y="69"/>
                </a:cubicBezTo>
                <a:cubicBezTo>
                  <a:pt x="85" y="58"/>
                  <a:pt x="98" y="48"/>
                  <a:pt x="112" y="40"/>
                </a:cubicBezTo>
                <a:cubicBezTo>
                  <a:pt x="125" y="31"/>
                  <a:pt x="140" y="24"/>
                  <a:pt x="155" y="18"/>
                </a:cubicBezTo>
                <a:cubicBezTo>
                  <a:pt x="170" y="12"/>
                  <a:pt x="186" y="7"/>
                  <a:pt x="202" y="4"/>
                </a:cubicBezTo>
                <a:cubicBezTo>
                  <a:pt x="218" y="1"/>
                  <a:pt x="235" y="0"/>
                  <a:pt x="251" y="0"/>
                </a:cubicBezTo>
                <a:lnTo>
                  <a:pt x="14143" y="0"/>
                </a:lnTo>
                <a:cubicBezTo>
                  <a:pt x="14159" y="0"/>
                  <a:pt x="14176" y="1"/>
                  <a:pt x="14192" y="4"/>
                </a:cubicBezTo>
                <a:cubicBezTo>
                  <a:pt x="14208" y="7"/>
                  <a:pt x="14224" y="12"/>
                  <a:pt x="14239" y="18"/>
                </a:cubicBezTo>
                <a:cubicBezTo>
                  <a:pt x="14254" y="24"/>
                  <a:pt x="14269" y="31"/>
                  <a:pt x="14283" y="40"/>
                </a:cubicBezTo>
                <a:cubicBezTo>
                  <a:pt x="14296" y="48"/>
                  <a:pt x="14309" y="58"/>
                  <a:pt x="14321" y="69"/>
                </a:cubicBezTo>
                <a:cubicBezTo>
                  <a:pt x="14332" y="80"/>
                  <a:pt x="14343" y="92"/>
                  <a:pt x="14352" y="105"/>
                </a:cubicBezTo>
                <a:cubicBezTo>
                  <a:pt x="14361" y="118"/>
                  <a:pt x="14369" y="132"/>
                  <a:pt x="14375" y="147"/>
                </a:cubicBezTo>
                <a:cubicBezTo>
                  <a:pt x="14381" y="161"/>
                  <a:pt x="14386" y="176"/>
                  <a:pt x="14389" y="191"/>
                </a:cubicBezTo>
                <a:cubicBezTo>
                  <a:pt x="14393" y="207"/>
                  <a:pt x="14394" y="222"/>
                  <a:pt x="14394" y="238"/>
                </a:cubicBezTo>
                <a:lnTo>
                  <a:pt x="14394" y="7330"/>
                </a:lnTo>
                <a:cubicBezTo>
                  <a:pt x="14394" y="7346"/>
                  <a:pt x="14393" y="7362"/>
                  <a:pt x="14389" y="7379"/>
                </a:cubicBezTo>
                <a:cubicBezTo>
                  <a:pt x="14386" y="7395"/>
                  <a:pt x="14381" y="7410"/>
                  <a:pt x="14375" y="7426"/>
                </a:cubicBezTo>
                <a:cubicBezTo>
                  <a:pt x="14369" y="7441"/>
                  <a:pt x="14361" y="7455"/>
                  <a:pt x="14352" y="7469"/>
                </a:cubicBezTo>
                <a:cubicBezTo>
                  <a:pt x="14343" y="7483"/>
                  <a:pt x="14332" y="7496"/>
                  <a:pt x="14321" y="7507"/>
                </a:cubicBezTo>
                <a:cubicBezTo>
                  <a:pt x="14309" y="7519"/>
                  <a:pt x="14296" y="7529"/>
                  <a:pt x="14283" y="7539"/>
                </a:cubicBezTo>
                <a:cubicBezTo>
                  <a:pt x="14269" y="7548"/>
                  <a:pt x="14254" y="7555"/>
                  <a:pt x="14239" y="7562"/>
                </a:cubicBezTo>
                <a:cubicBezTo>
                  <a:pt x="14224" y="7568"/>
                  <a:pt x="14208" y="7573"/>
                  <a:pt x="14192" y="7576"/>
                </a:cubicBezTo>
                <a:cubicBezTo>
                  <a:pt x="14176" y="7579"/>
                  <a:pt x="14159" y="7581"/>
                  <a:pt x="14143" y="7581"/>
                </a:cubicBezTo>
                <a:lnTo>
                  <a:pt x="251" y="7581"/>
                </a:lnTo>
                <a:cubicBezTo>
                  <a:pt x="235" y="7581"/>
                  <a:pt x="218" y="7579"/>
                  <a:pt x="202" y="7576"/>
                </a:cubicBezTo>
                <a:cubicBezTo>
                  <a:pt x="186" y="7573"/>
                  <a:pt x="170" y="7568"/>
                  <a:pt x="155" y="7562"/>
                </a:cubicBezTo>
                <a:cubicBezTo>
                  <a:pt x="140" y="7555"/>
                  <a:pt x="125" y="7548"/>
                  <a:pt x="112" y="7539"/>
                </a:cubicBezTo>
                <a:cubicBezTo>
                  <a:pt x="98" y="7529"/>
                  <a:pt x="85" y="7519"/>
                  <a:pt x="74" y="7507"/>
                </a:cubicBezTo>
                <a:cubicBezTo>
                  <a:pt x="62" y="7496"/>
                  <a:pt x="51" y="7483"/>
                  <a:pt x="42" y="7469"/>
                </a:cubicBezTo>
                <a:cubicBezTo>
                  <a:pt x="33" y="7455"/>
                  <a:pt x="25" y="7441"/>
                  <a:pt x="19" y="7426"/>
                </a:cubicBezTo>
                <a:cubicBezTo>
                  <a:pt x="13" y="7410"/>
                  <a:pt x="8" y="7395"/>
                  <a:pt x="5" y="7379"/>
                </a:cubicBezTo>
                <a:cubicBezTo>
                  <a:pt x="2" y="7362"/>
                  <a:pt x="0" y="7346"/>
                  <a:pt x="0" y="7330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672840" y="2276280"/>
            <a:ext cx="5140800" cy="53280"/>
          </a:xfrm>
          <a:custGeom>
            <a:avLst/>
            <a:gdLst/>
            <a:ahLst/>
            <a:rect l="0" t="0" r="r" b="b"/>
            <a:pathLst>
              <a:path w="14280" h="148">
                <a:moveTo>
                  <a:pt x="14251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8" y="80"/>
                  <a:pt x="16" y="71"/>
                  <a:pt x="26" y="63"/>
                </a:cubicBezTo>
                <a:cubicBezTo>
                  <a:pt x="48" y="43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14086" y="0"/>
                </a:lnTo>
                <a:cubicBezTo>
                  <a:pt x="14117" y="0"/>
                  <a:pt x="14148" y="5"/>
                  <a:pt x="14177" y="16"/>
                </a:cubicBezTo>
                <a:cubicBezTo>
                  <a:pt x="14206" y="27"/>
                  <a:pt x="14232" y="43"/>
                  <a:pt x="14254" y="63"/>
                </a:cubicBezTo>
                <a:cubicBezTo>
                  <a:pt x="14264" y="71"/>
                  <a:pt x="14272" y="80"/>
                  <a:pt x="14280" y="90"/>
                </a:cubicBezTo>
                <a:lnTo>
                  <a:pt x="14251" y="148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682200" y="4948200"/>
            <a:ext cx="5122080" cy="43200"/>
          </a:xfrm>
          <a:custGeom>
            <a:avLst/>
            <a:gdLst/>
            <a:ahLst/>
            <a:rect l="0" t="0" r="r" b="b"/>
            <a:pathLst>
              <a:path w="14228" h="120">
                <a:moveTo>
                  <a:pt x="49" y="0"/>
                </a:moveTo>
                <a:lnTo>
                  <a:pt x="14179" y="0"/>
                </a:lnTo>
                <a:lnTo>
                  <a:pt x="14228" y="49"/>
                </a:lnTo>
                <a:cubicBezTo>
                  <a:pt x="14206" y="71"/>
                  <a:pt x="14180" y="88"/>
                  <a:pt x="14151" y="101"/>
                </a:cubicBezTo>
                <a:cubicBezTo>
                  <a:pt x="14122" y="113"/>
                  <a:pt x="14091" y="120"/>
                  <a:pt x="14060" y="120"/>
                </a:cubicBezTo>
                <a:lnTo>
                  <a:pt x="168" y="120"/>
                </a:lnTo>
                <a:cubicBezTo>
                  <a:pt x="137" y="120"/>
                  <a:pt x="106" y="113"/>
                  <a:pt x="77" y="101"/>
                </a:cubicBezTo>
                <a:cubicBezTo>
                  <a:pt x="48" y="88"/>
                  <a:pt x="22" y="71"/>
                  <a:pt x="0" y="49"/>
                </a:cubicBezTo>
                <a:lnTo>
                  <a:pt x="49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5786280" y="2307960"/>
            <a:ext cx="43200" cy="2658600"/>
          </a:xfrm>
          <a:custGeom>
            <a:avLst/>
            <a:gdLst/>
            <a:ahLst/>
            <a:rect l="0" t="0" r="r" b="b"/>
            <a:pathLst>
              <a:path w="120" h="7385">
                <a:moveTo>
                  <a:pt x="0" y="7337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7"/>
                  <a:pt x="102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7216"/>
                </a:lnTo>
                <a:cubicBezTo>
                  <a:pt x="120" y="7247"/>
                  <a:pt x="114" y="7277"/>
                  <a:pt x="102" y="7307"/>
                </a:cubicBezTo>
                <a:cubicBezTo>
                  <a:pt x="90" y="7336"/>
                  <a:pt x="73" y="7362"/>
                  <a:pt x="49" y="7384"/>
                </a:cubicBezTo>
                <a:lnTo>
                  <a:pt x="48" y="7385"/>
                </a:lnTo>
                <a:lnTo>
                  <a:pt x="0" y="7337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657000" y="2307960"/>
            <a:ext cx="43200" cy="2658600"/>
          </a:xfrm>
          <a:custGeom>
            <a:avLst/>
            <a:gdLst/>
            <a:ahLst/>
            <a:rect l="0" t="0" r="r" b="b"/>
            <a:pathLst>
              <a:path w="120" h="7385">
                <a:moveTo>
                  <a:pt x="120" y="148"/>
                </a:moveTo>
                <a:lnTo>
                  <a:pt x="120" y="7337"/>
                </a:lnTo>
                <a:lnTo>
                  <a:pt x="72" y="7385"/>
                </a:lnTo>
                <a:lnTo>
                  <a:pt x="71" y="7384"/>
                </a:lnTo>
                <a:cubicBezTo>
                  <a:pt x="49" y="7362"/>
                  <a:pt x="31" y="7336"/>
                  <a:pt x="18" y="7307"/>
                </a:cubicBezTo>
                <a:cubicBezTo>
                  <a:pt x="6" y="7277"/>
                  <a:pt x="0" y="7247"/>
                  <a:pt x="0" y="7216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6" y="27"/>
                  <a:pt x="35" y="13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828360" y="3924000"/>
            <a:ext cx="4829760" cy="10080"/>
          </a:xfrm>
          <a:custGeom>
            <a:avLst/>
            <a:gdLst/>
            <a:ahLst/>
            <a:rect l="0" t="0" r="r" b="b"/>
            <a:pathLst>
              <a:path w="13416" h="28">
                <a:moveTo>
                  <a:pt x="0" y="0"/>
                </a:moveTo>
                <a:lnTo>
                  <a:pt x="13416" y="0"/>
                </a:lnTo>
                <a:lnTo>
                  <a:pt x="134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3506040" y="5212080"/>
            <a:ext cx="514656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4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Everything downstream turns on this one distinction.</a:t>
            </a:r>
            <a:endParaRPr lang="en-SG" sz="1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828720" y="2460960"/>
            <a:ext cx="364644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500" b="1" u="none" strike="noStrike">
                <a:solidFill>
                  <a:srgbClr val="FF6B1A"/>
                </a:solidFill>
                <a:effectLst/>
                <a:uFillTx/>
                <a:latin typeface="Outfit-Thin_"/>
                <a:ea typeface="Outfit-Thin_"/>
              </a:rPr>
              <a:t>What a posting SAYS</a:t>
            </a:r>
            <a:endParaRPr lang="en-SG" sz="2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28720" y="3063960"/>
            <a:ext cx="2214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Pay · level · years · dates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828720" y="3435480"/>
            <a:ext cx="2577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Fixed the moment it goes up.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28720" y="3963240"/>
            <a:ext cx="1719000" cy="739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13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1.04M</a:t>
            </a:r>
            <a:endParaRPr lang="en-SG" sz="4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6357600" y="2266920"/>
            <a:ext cx="5182200" cy="2729160"/>
          </a:xfrm>
          <a:custGeom>
            <a:avLst/>
            <a:gdLst/>
            <a:ahLst/>
            <a:rect l="0" t="0" r="r" b="b"/>
            <a:pathLst>
              <a:path w="14395" h="7581">
                <a:moveTo>
                  <a:pt x="0" y="7330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20" y="147"/>
                </a:cubicBezTo>
                <a:cubicBezTo>
                  <a:pt x="26" y="132"/>
                  <a:pt x="34" y="118"/>
                  <a:pt x="43" y="105"/>
                </a:cubicBezTo>
                <a:cubicBezTo>
                  <a:pt x="52" y="92"/>
                  <a:pt x="62" y="80"/>
                  <a:pt x="74" y="69"/>
                </a:cubicBezTo>
                <a:cubicBezTo>
                  <a:pt x="86" y="58"/>
                  <a:pt x="98" y="48"/>
                  <a:pt x="112" y="40"/>
                </a:cubicBezTo>
                <a:cubicBezTo>
                  <a:pt x="126" y="31"/>
                  <a:pt x="140" y="24"/>
                  <a:pt x="156" y="18"/>
                </a:cubicBezTo>
                <a:cubicBezTo>
                  <a:pt x="171" y="12"/>
                  <a:pt x="187" y="7"/>
                  <a:pt x="203" y="4"/>
                </a:cubicBezTo>
                <a:cubicBezTo>
                  <a:pt x="219" y="1"/>
                  <a:pt x="235" y="0"/>
                  <a:pt x="252" y="0"/>
                </a:cubicBezTo>
                <a:lnTo>
                  <a:pt x="14143" y="0"/>
                </a:lnTo>
                <a:cubicBezTo>
                  <a:pt x="14160" y="0"/>
                  <a:pt x="14176" y="1"/>
                  <a:pt x="14192" y="4"/>
                </a:cubicBezTo>
                <a:cubicBezTo>
                  <a:pt x="14209" y="7"/>
                  <a:pt x="14224" y="12"/>
                  <a:pt x="14240" y="18"/>
                </a:cubicBezTo>
                <a:cubicBezTo>
                  <a:pt x="14255" y="24"/>
                  <a:pt x="14269" y="31"/>
                  <a:pt x="14283" y="40"/>
                </a:cubicBezTo>
                <a:cubicBezTo>
                  <a:pt x="14297" y="48"/>
                  <a:pt x="14309" y="58"/>
                  <a:pt x="14321" y="69"/>
                </a:cubicBezTo>
                <a:cubicBezTo>
                  <a:pt x="14333" y="80"/>
                  <a:pt x="14343" y="92"/>
                  <a:pt x="14352" y="105"/>
                </a:cubicBezTo>
                <a:cubicBezTo>
                  <a:pt x="14362" y="118"/>
                  <a:pt x="14369" y="132"/>
                  <a:pt x="14376" y="147"/>
                </a:cubicBezTo>
                <a:cubicBezTo>
                  <a:pt x="14382" y="161"/>
                  <a:pt x="14387" y="176"/>
                  <a:pt x="14390" y="191"/>
                </a:cubicBezTo>
                <a:cubicBezTo>
                  <a:pt x="14393" y="207"/>
                  <a:pt x="14395" y="222"/>
                  <a:pt x="14395" y="238"/>
                </a:cubicBezTo>
                <a:lnTo>
                  <a:pt x="14395" y="7330"/>
                </a:lnTo>
                <a:cubicBezTo>
                  <a:pt x="14395" y="7346"/>
                  <a:pt x="14393" y="7362"/>
                  <a:pt x="14390" y="7379"/>
                </a:cubicBezTo>
                <a:cubicBezTo>
                  <a:pt x="14387" y="7395"/>
                  <a:pt x="14382" y="7410"/>
                  <a:pt x="14376" y="7426"/>
                </a:cubicBezTo>
                <a:cubicBezTo>
                  <a:pt x="14369" y="7441"/>
                  <a:pt x="14362" y="7455"/>
                  <a:pt x="14352" y="7469"/>
                </a:cubicBezTo>
                <a:cubicBezTo>
                  <a:pt x="14343" y="7483"/>
                  <a:pt x="14333" y="7496"/>
                  <a:pt x="14321" y="7507"/>
                </a:cubicBezTo>
                <a:cubicBezTo>
                  <a:pt x="14309" y="7519"/>
                  <a:pt x="14297" y="7529"/>
                  <a:pt x="14283" y="7539"/>
                </a:cubicBezTo>
                <a:cubicBezTo>
                  <a:pt x="14269" y="7548"/>
                  <a:pt x="14255" y="7555"/>
                  <a:pt x="14240" y="7562"/>
                </a:cubicBezTo>
                <a:cubicBezTo>
                  <a:pt x="14224" y="7568"/>
                  <a:pt x="14209" y="7573"/>
                  <a:pt x="14192" y="7576"/>
                </a:cubicBezTo>
                <a:cubicBezTo>
                  <a:pt x="14176" y="7579"/>
                  <a:pt x="14160" y="7581"/>
                  <a:pt x="14143" y="7581"/>
                </a:cubicBezTo>
                <a:lnTo>
                  <a:pt x="252" y="7581"/>
                </a:lnTo>
                <a:cubicBezTo>
                  <a:pt x="235" y="7581"/>
                  <a:pt x="219" y="7579"/>
                  <a:pt x="203" y="7576"/>
                </a:cubicBezTo>
                <a:cubicBezTo>
                  <a:pt x="187" y="7573"/>
                  <a:pt x="171" y="7568"/>
                  <a:pt x="156" y="7562"/>
                </a:cubicBezTo>
                <a:cubicBezTo>
                  <a:pt x="140" y="7555"/>
                  <a:pt x="126" y="7548"/>
                  <a:pt x="112" y="7539"/>
                </a:cubicBezTo>
                <a:cubicBezTo>
                  <a:pt x="98" y="7529"/>
                  <a:pt x="86" y="7519"/>
                  <a:pt x="74" y="7507"/>
                </a:cubicBezTo>
                <a:cubicBezTo>
                  <a:pt x="62" y="7496"/>
                  <a:pt x="52" y="7483"/>
                  <a:pt x="43" y="7469"/>
                </a:cubicBezTo>
                <a:cubicBezTo>
                  <a:pt x="34" y="7455"/>
                  <a:pt x="26" y="7441"/>
                  <a:pt x="20" y="7426"/>
                </a:cubicBezTo>
                <a:cubicBezTo>
                  <a:pt x="13" y="7410"/>
                  <a:pt x="8" y="7395"/>
                  <a:pt x="5" y="7379"/>
                </a:cubicBezTo>
                <a:cubicBezTo>
                  <a:pt x="2" y="7362"/>
                  <a:pt x="0" y="7346"/>
                  <a:pt x="0" y="7330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6378480" y="2276280"/>
            <a:ext cx="5140440" cy="53280"/>
          </a:xfrm>
          <a:custGeom>
            <a:avLst/>
            <a:gdLst/>
            <a:ahLst/>
            <a:rect l="0" t="0" r="r" b="b"/>
            <a:pathLst>
              <a:path w="14279" h="148">
                <a:moveTo>
                  <a:pt x="14250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8" y="80"/>
                  <a:pt x="16" y="71"/>
                  <a:pt x="25" y="63"/>
                </a:cubicBezTo>
                <a:cubicBezTo>
                  <a:pt x="48" y="43"/>
                  <a:pt x="73" y="27"/>
                  <a:pt x="103" y="16"/>
                </a:cubicBezTo>
                <a:cubicBezTo>
                  <a:pt x="132" y="5"/>
                  <a:pt x="162" y="0"/>
                  <a:pt x="194" y="0"/>
                </a:cubicBezTo>
                <a:lnTo>
                  <a:pt x="14085" y="0"/>
                </a:lnTo>
                <a:cubicBezTo>
                  <a:pt x="14117" y="0"/>
                  <a:pt x="14147" y="5"/>
                  <a:pt x="14177" y="16"/>
                </a:cubicBezTo>
                <a:cubicBezTo>
                  <a:pt x="14206" y="27"/>
                  <a:pt x="14231" y="43"/>
                  <a:pt x="14254" y="63"/>
                </a:cubicBezTo>
                <a:cubicBezTo>
                  <a:pt x="14263" y="71"/>
                  <a:pt x="14272" y="80"/>
                  <a:pt x="14279" y="90"/>
                </a:cubicBezTo>
                <a:lnTo>
                  <a:pt x="14250" y="148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6387480" y="4948200"/>
            <a:ext cx="5122440" cy="43200"/>
          </a:xfrm>
          <a:custGeom>
            <a:avLst/>
            <a:gdLst/>
            <a:ahLst/>
            <a:rect l="0" t="0" r="r" b="b"/>
            <a:pathLst>
              <a:path w="14229" h="120">
                <a:moveTo>
                  <a:pt x="50" y="0"/>
                </a:moveTo>
                <a:lnTo>
                  <a:pt x="14179" y="0"/>
                </a:lnTo>
                <a:lnTo>
                  <a:pt x="14229" y="49"/>
                </a:lnTo>
                <a:cubicBezTo>
                  <a:pt x="14206" y="71"/>
                  <a:pt x="14181" y="88"/>
                  <a:pt x="14152" y="101"/>
                </a:cubicBezTo>
                <a:cubicBezTo>
                  <a:pt x="14122" y="113"/>
                  <a:pt x="14092" y="120"/>
                  <a:pt x="14060" y="120"/>
                </a:cubicBezTo>
                <a:lnTo>
                  <a:pt x="169" y="120"/>
                </a:lnTo>
                <a:cubicBezTo>
                  <a:pt x="137" y="120"/>
                  <a:pt x="107" y="113"/>
                  <a:pt x="78" y="101"/>
                </a:cubicBezTo>
                <a:cubicBezTo>
                  <a:pt x="48" y="88"/>
                  <a:pt x="23" y="71"/>
                  <a:pt x="0" y="49"/>
                </a:cubicBezTo>
                <a:lnTo>
                  <a:pt x="50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11491560" y="2307960"/>
            <a:ext cx="43560" cy="2658600"/>
          </a:xfrm>
          <a:custGeom>
            <a:avLst/>
            <a:gdLst/>
            <a:ahLst/>
            <a:rect l="0" t="0" r="r" b="b"/>
            <a:pathLst>
              <a:path w="121" h="7385">
                <a:moveTo>
                  <a:pt x="0" y="7337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7"/>
                  <a:pt x="102" y="43"/>
                </a:cubicBezTo>
                <a:cubicBezTo>
                  <a:pt x="114" y="69"/>
                  <a:pt x="121" y="96"/>
                  <a:pt x="121" y="124"/>
                </a:cubicBezTo>
                <a:lnTo>
                  <a:pt x="121" y="7216"/>
                </a:lnTo>
                <a:cubicBezTo>
                  <a:pt x="121" y="7247"/>
                  <a:pt x="114" y="7277"/>
                  <a:pt x="102" y="7307"/>
                </a:cubicBezTo>
                <a:cubicBezTo>
                  <a:pt x="90" y="7336"/>
                  <a:pt x="73" y="7362"/>
                  <a:pt x="51" y="7384"/>
                </a:cubicBezTo>
                <a:cubicBezTo>
                  <a:pt x="50" y="7384"/>
                  <a:pt x="50" y="7385"/>
                  <a:pt x="49" y="7385"/>
                </a:cubicBezTo>
                <a:lnTo>
                  <a:pt x="0" y="7337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6362640" y="2307960"/>
            <a:ext cx="43200" cy="2658600"/>
          </a:xfrm>
          <a:custGeom>
            <a:avLst/>
            <a:gdLst/>
            <a:ahLst/>
            <a:rect l="0" t="0" r="r" b="b"/>
            <a:pathLst>
              <a:path w="120" h="7385">
                <a:moveTo>
                  <a:pt x="120" y="148"/>
                </a:moveTo>
                <a:lnTo>
                  <a:pt x="120" y="7337"/>
                </a:lnTo>
                <a:lnTo>
                  <a:pt x="71" y="7385"/>
                </a:lnTo>
                <a:cubicBezTo>
                  <a:pt x="70" y="7385"/>
                  <a:pt x="70" y="7384"/>
                  <a:pt x="69" y="7384"/>
                </a:cubicBezTo>
                <a:cubicBezTo>
                  <a:pt x="47" y="7362"/>
                  <a:pt x="30" y="7336"/>
                  <a:pt x="18" y="7307"/>
                </a:cubicBezTo>
                <a:cubicBezTo>
                  <a:pt x="6" y="7277"/>
                  <a:pt x="0" y="7247"/>
                  <a:pt x="0" y="7216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5" y="27"/>
                  <a:pt x="34" y="13"/>
                  <a:pt x="45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6534000" y="3924000"/>
            <a:ext cx="4829400" cy="10080"/>
          </a:xfrm>
          <a:custGeom>
            <a:avLst/>
            <a:gdLst/>
            <a:ahLst/>
            <a:rect l="0" t="0" r="r" b="b"/>
            <a:pathLst>
              <a:path w="13415" h="28">
                <a:moveTo>
                  <a:pt x="0" y="0"/>
                </a:moveTo>
                <a:lnTo>
                  <a:pt x="13415" y="0"/>
                </a:lnTo>
                <a:lnTo>
                  <a:pt x="134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828720" y="4593600"/>
            <a:ext cx="170208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18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POSTINGS · 15 MONTHS</a:t>
            </a:r>
            <a:endParaRPr lang="en-SG" sz="11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537600" y="2460960"/>
            <a:ext cx="34524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500" b="1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What a posting GOT</a:t>
            </a:r>
            <a:endParaRPr lang="en-SG" sz="2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537600" y="3063960"/>
            <a:ext cx="25880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Views · applications · reposts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537600" y="3435480"/>
            <a:ext cx="25995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Accumulates after it goes up.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6537600" y="3963240"/>
            <a:ext cx="1311120" cy="739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130" b="1" u="none" strike="noStrike">
                <a:solidFill>
                  <a:srgbClr val="666666"/>
                </a:solidFill>
                <a:effectLst/>
                <a:uFillTx/>
                <a:latin typeface="Outfit-Thin_"/>
                <a:ea typeface="Outfit-Thin_"/>
              </a:rPr>
              <a:t>? ? ?</a:t>
            </a:r>
            <a:endParaRPr lang="en-SG" sz="4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537600" y="4593600"/>
            <a:ext cx="127872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18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SLIDE 6 EXPLAINS</a:t>
            </a:r>
            <a:endParaRPr lang="en-SG" sz="11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181700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3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652320" y="4605120"/>
            <a:ext cx="10887480" cy="562320"/>
          </a:xfrm>
          <a:custGeom>
            <a:avLst/>
            <a:gdLst/>
            <a:ahLst/>
            <a:rect l="0" t="0" r="r" b="b"/>
            <a:pathLst>
              <a:path w="30243" h="1562">
                <a:moveTo>
                  <a:pt x="0" y="1364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30044" y="0"/>
                </a:lnTo>
                <a:cubicBezTo>
                  <a:pt x="30057" y="0"/>
                  <a:pt x="30070" y="1"/>
                  <a:pt x="30083" y="4"/>
                </a:cubicBezTo>
                <a:cubicBezTo>
                  <a:pt x="30096" y="6"/>
                  <a:pt x="30108" y="10"/>
                  <a:pt x="30120" y="15"/>
                </a:cubicBezTo>
                <a:cubicBezTo>
                  <a:pt x="30132" y="20"/>
                  <a:pt x="30144" y="26"/>
                  <a:pt x="30155" y="34"/>
                </a:cubicBezTo>
                <a:cubicBezTo>
                  <a:pt x="30165" y="41"/>
                  <a:pt x="30175" y="49"/>
                  <a:pt x="30185" y="58"/>
                </a:cubicBezTo>
                <a:cubicBezTo>
                  <a:pt x="30194" y="67"/>
                  <a:pt x="30202" y="77"/>
                  <a:pt x="30209" y="88"/>
                </a:cubicBezTo>
                <a:cubicBezTo>
                  <a:pt x="30217" y="99"/>
                  <a:pt x="30223" y="111"/>
                  <a:pt x="30228" y="123"/>
                </a:cubicBezTo>
                <a:cubicBezTo>
                  <a:pt x="30233" y="135"/>
                  <a:pt x="30236" y="147"/>
                  <a:pt x="30239" y="160"/>
                </a:cubicBezTo>
                <a:cubicBezTo>
                  <a:pt x="30242" y="173"/>
                  <a:pt x="30243" y="186"/>
                  <a:pt x="30243" y="199"/>
                </a:cubicBezTo>
                <a:lnTo>
                  <a:pt x="30243" y="1364"/>
                </a:lnTo>
                <a:cubicBezTo>
                  <a:pt x="30243" y="1377"/>
                  <a:pt x="30242" y="1390"/>
                  <a:pt x="30239" y="1402"/>
                </a:cubicBezTo>
                <a:cubicBezTo>
                  <a:pt x="30236" y="1415"/>
                  <a:pt x="30233" y="1428"/>
                  <a:pt x="30228" y="1440"/>
                </a:cubicBezTo>
                <a:cubicBezTo>
                  <a:pt x="30223" y="1452"/>
                  <a:pt x="30217" y="1463"/>
                  <a:pt x="30209" y="1474"/>
                </a:cubicBezTo>
                <a:cubicBezTo>
                  <a:pt x="30202" y="1485"/>
                  <a:pt x="30194" y="1495"/>
                  <a:pt x="30185" y="1504"/>
                </a:cubicBezTo>
                <a:cubicBezTo>
                  <a:pt x="30175" y="1513"/>
                  <a:pt x="30165" y="1521"/>
                  <a:pt x="30155" y="1529"/>
                </a:cubicBezTo>
                <a:cubicBezTo>
                  <a:pt x="30144" y="1536"/>
                  <a:pt x="30132" y="1542"/>
                  <a:pt x="30120" y="1547"/>
                </a:cubicBezTo>
                <a:cubicBezTo>
                  <a:pt x="30108" y="1552"/>
                  <a:pt x="30096" y="1556"/>
                  <a:pt x="30083" y="1558"/>
                </a:cubicBezTo>
                <a:cubicBezTo>
                  <a:pt x="30070" y="1561"/>
                  <a:pt x="30057" y="1562"/>
                  <a:pt x="30044" y="1562"/>
                </a:cubicBezTo>
                <a:lnTo>
                  <a:pt x="198" y="1562"/>
                </a:lnTo>
                <a:cubicBezTo>
                  <a:pt x="185" y="1562"/>
                  <a:pt x="172" y="1561"/>
                  <a:pt x="160" y="1558"/>
                </a:cubicBezTo>
                <a:cubicBezTo>
                  <a:pt x="147" y="1556"/>
                  <a:pt x="134" y="1552"/>
                  <a:pt x="122" y="1547"/>
                </a:cubicBezTo>
                <a:cubicBezTo>
                  <a:pt x="110" y="1542"/>
                  <a:pt x="99" y="1536"/>
                  <a:pt x="88" y="1529"/>
                </a:cubicBezTo>
                <a:cubicBezTo>
                  <a:pt x="77" y="1521"/>
                  <a:pt x="67" y="1513"/>
                  <a:pt x="58" y="1504"/>
                </a:cubicBezTo>
                <a:cubicBezTo>
                  <a:pt x="49" y="1495"/>
                  <a:pt x="41" y="1485"/>
                  <a:pt x="33" y="1474"/>
                </a:cubicBezTo>
                <a:cubicBezTo>
                  <a:pt x="26" y="1463"/>
                  <a:pt x="20" y="1452"/>
                  <a:pt x="15" y="1440"/>
                </a:cubicBezTo>
                <a:cubicBezTo>
                  <a:pt x="10" y="1428"/>
                  <a:pt x="6" y="1415"/>
                  <a:pt x="4" y="1402"/>
                </a:cubicBezTo>
                <a:cubicBezTo>
                  <a:pt x="1" y="1390"/>
                  <a:pt x="0" y="1377"/>
                  <a:pt x="0" y="1364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652320" y="4605120"/>
            <a:ext cx="10887480" cy="562320"/>
          </a:xfrm>
          <a:custGeom>
            <a:avLst/>
            <a:gdLst/>
            <a:ahLst/>
            <a:rect l="0" t="0" r="r" b="b"/>
            <a:pathLst>
              <a:path w="30243" h="1562">
                <a:moveTo>
                  <a:pt x="0" y="1364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30044" y="0"/>
                </a:lnTo>
                <a:cubicBezTo>
                  <a:pt x="30057" y="0"/>
                  <a:pt x="30070" y="1"/>
                  <a:pt x="30083" y="4"/>
                </a:cubicBezTo>
                <a:cubicBezTo>
                  <a:pt x="30096" y="6"/>
                  <a:pt x="30108" y="10"/>
                  <a:pt x="30120" y="15"/>
                </a:cubicBezTo>
                <a:cubicBezTo>
                  <a:pt x="30132" y="20"/>
                  <a:pt x="30144" y="26"/>
                  <a:pt x="30155" y="34"/>
                </a:cubicBezTo>
                <a:cubicBezTo>
                  <a:pt x="30165" y="41"/>
                  <a:pt x="30175" y="49"/>
                  <a:pt x="30185" y="58"/>
                </a:cubicBezTo>
                <a:cubicBezTo>
                  <a:pt x="30194" y="67"/>
                  <a:pt x="30202" y="77"/>
                  <a:pt x="30209" y="88"/>
                </a:cubicBezTo>
                <a:cubicBezTo>
                  <a:pt x="30217" y="99"/>
                  <a:pt x="30223" y="111"/>
                  <a:pt x="30228" y="123"/>
                </a:cubicBezTo>
                <a:cubicBezTo>
                  <a:pt x="30233" y="135"/>
                  <a:pt x="30236" y="147"/>
                  <a:pt x="30239" y="160"/>
                </a:cubicBezTo>
                <a:cubicBezTo>
                  <a:pt x="30242" y="173"/>
                  <a:pt x="30243" y="186"/>
                  <a:pt x="30243" y="199"/>
                </a:cubicBezTo>
                <a:lnTo>
                  <a:pt x="30243" y="1364"/>
                </a:lnTo>
                <a:cubicBezTo>
                  <a:pt x="30243" y="1377"/>
                  <a:pt x="30242" y="1390"/>
                  <a:pt x="30239" y="1402"/>
                </a:cubicBezTo>
                <a:cubicBezTo>
                  <a:pt x="30236" y="1415"/>
                  <a:pt x="30233" y="1428"/>
                  <a:pt x="30228" y="1440"/>
                </a:cubicBezTo>
                <a:cubicBezTo>
                  <a:pt x="30223" y="1452"/>
                  <a:pt x="30217" y="1463"/>
                  <a:pt x="30209" y="1474"/>
                </a:cubicBezTo>
                <a:cubicBezTo>
                  <a:pt x="30202" y="1485"/>
                  <a:pt x="30194" y="1495"/>
                  <a:pt x="30185" y="1504"/>
                </a:cubicBezTo>
                <a:cubicBezTo>
                  <a:pt x="30175" y="1513"/>
                  <a:pt x="30165" y="1521"/>
                  <a:pt x="30155" y="1529"/>
                </a:cubicBezTo>
                <a:cubicBezTo>
                  <a:pt x="30144" y="1536"/>
                  <a:pt x="30132" y="1542"/>
                  <a:pt x="30120" y="1547"/>
                </a:cubicBezTo>
                <a:cubicBezTo>
                  <a:pt x="30108" y="1552"/>
                  <a:pt x="30096" y="1556"/>
                  <a:pt x="30083" y="1558"/>
                </a:cubicBezTo>
                <a:cubicBezTo>
                  <a:pt x="30070" y="1561"/>
                  <a:pt x="30057" y="1562"/>
                  <a:pt x="30044" y="1562"/>
                </a:cubicBezTo>
                <a:lnTo>
                  <a:pt x="198" y="1562"/>
                </a:lnTo>
                <a:cubicBezTo>
                  <a:pt x="185" y="1562"/>
                  <a:pt x="172" y="1561"/>
                  <a:pt x="160" y="1558"/>
                </a:cubicBezTo>
                <a:cubicBezTo>
                  <a:pt x="147" y="1556"/>
                  <a:pt x="134" y="1552"/>
                  <a:pt x="122" y="1547"/>
                </a:cubicBezTo>
                <a:cubicBezTo>
                  <a:pt x="110" y="1542"/>
                  <a:pt x="99" y="1536"/>
                  <a:pt x="88" y="1529"/>
                </a:cubicBezTo>
                <a:cubicBezTo>
                  <a:pt x="77" y="1521"/>
                  <a:pt x="67" y="1513"/>
                  <a:pt x="58" y="1504"/>
                </a:cubicBezTo>
                <a:cubicBezTo>
                  <a:pt x="49" y="1495"/>
                  <a:pt x="41" y="1485"/>
                  <a:pt x="33" y="1474"/>
                </a:cubicBezTo>
                <a:cubicBezTo>
                  <a:pt x="26" y="1463"/>
                  <a:pt x="20" y="1452"/>
                  <a:pt x="15" y="1440"/>
                </a:cubicBezTo>
                <a:cubicBezTo>
                  <a:pt x="10" y="1428"/>
                  <a:pt x="6" y="1415"/>
                  <a:pt x="4" y="1402"/>
                </a:cubicBezTo>
                <a:cubicBezTo>
                  <a:pt x="1" y="1390"/>
                  <a:pt x="0" y="1377"/>
                  <a:pt x="0" y="1364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647640" y="1656000"/>
            <a:ext cx="1357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C L E A N I N G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647640" y="1888200"/>
            <a:ext cx="60580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720" b="0" u="none" strike="noStrike">
                <a:solidFill>
                  <a:srgbClr val="888888"/>
                </a:solidFill>
                <a:effectLst/>
                <a:uFillTx/>
                <a:latin typeface="Raleway"/>
                <a:ea typeface="Raleway"/>
              </a:rPr>
              <a:t>1,048,585 rows in. We removed 0.38%.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652320" y="2628720"/>
            <a:ext cx="2619720" cy="1757880"/>
          </a:xfrm>
          <a:custGeom>
            <a:avLst/>
            <a:gdLst/>
            <a:ahLst/>
            <a:rect l="0" t="0" r="r" b="b"/>
            <a:pathLst>
              <a:path w="7277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2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5" y="134"/>
                  <a:pt x="33" y="120"/>
                  <a:pt x="42" y="107"/>
                </a:cubicBezTo>
                <a:cubicBezTo>
                  <a:pt x="51" y="94"/>
                  <a:pt x="62" y="82"/>
                  <a:pt x="74" y="71"/>
                </a:cubicBezTo>
                <a:cubicBezTo>
                  <a:pt x="85" y="60"/>
                  <a:pt x="98" y="50"/>
                  <a:pt x="112" y="41"/>
                </a:cubicBezTo>
                <a:cubicBezTo>
                  <a:pt x="125" y="32"/>
                  <a:pt x="140" y="25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7026" y="0"/>
                </a:lnTo>
                <a:cubicBezTo>
                  <a:pt x="7042" y="0"/>
                  <a:pt x="7058" y="2"/>
                  <a:pt x="7075" y="5"/>
                </a:cubicBezTo>
                <a:cubicBezTo>
                  <a:pt x="7091" y="8"/>
                  <a:pt x="7107" y="12"/>
                  <a:pt x="7122" y="18"/>
                </a:cubicBezTo>
                <a:cubicBezTo>
                  <a:pt x="7137" y="25"/>
                  <a:pt x="7152" y="32"/>
                  <a:pt x="7165" y="41"/>
                </a:cubicBezTo>
                <a:cubicBezTo>
                  <a:pt x="7179" y="50"/>
                  <a:pt x="7192" y="60"/>
                  <a:pt x="7203" y="71"/>
                </a:cubicBezTo>
                <a:cubicBezTo>
                  <a:pt x="7215" y="82"/>
                  <a:pt x="7225" y="94"/>
                  <a:pt x="7235" y="107"/>
                </a:cubicBezTo>
                <a:cubicBezTo>
                  <a:pt x="7244" y="120"/>
                  <a:pt x="7251" y="134"/>
                  <a:pt x="7258" y="148"/>
                </a:cubicBezTo>
                <a:cubicBezTo>
                  <a:pt x="7264" y="162"/>
                  <a:pt x="7269" y="177"/>
                  <a:pt x="7272" y="193"/>
                </a:cubicBezTo>
                <a:cubicBezTo>
                  <a:pt x="7275" y="208"/>
                  <a:pt x="7277" y="223"/>
                  <a:pt x="7277" y="239"/>
                </a:cubicBezTo>
                <a:lnTo>
                  <a:pt x="7277" y="4631"/>
                </a:lnTo>
                <a:cubicBezTo>
                  <a:pt x="7277" y="4648"/>
                  <a:pt x="7275" y="4664"/>
                  <a:pt x="7272" y="4680"/>
                </a:cubicBezTo>
                <a:cubicBezTo>
                  <a:pt x="7269" y="4696"/>
                  <a:pt x="7264" y="4712"/>
                  <a:pt x="7258" y="4727"/>
                </a:cubicBezTo>
                <a:cubicBezTo>
                  <a:pt x="7251" y="4743"/>
                  <a:pt x="7244" y="4757"/>
                  <a:pt x="7235" y="4771"/>
                </a:cubicBezTo>
                <a:cubicBezTo>
                  <a:pt x="7225" y="4785"/>
                  <a:pt x="7215" y="4797"/>
                  <a:pt x="7203" y="4809"/>
                </a:cubicBezTo>
                <a:cubicBezTo>
                  <a:pt x="7192" y="4821"/>
                  <a:pt x="7179" y="4831"/>
                  <a:pt x="7165" y="4840"/>
                </a:cubicBezTo>
                <a:cubicBezTo>
                  <a:pt x="7152" y="4849"/>
                  <a:pt x="7137" y="4857"/>
                  <a:pt x="7122" y="4863"/>
                </a:cubicBezTo>
                <a:cubicBezTo>
                  <a:pt x="7107" y="4870"/>
                  <a:pt x="7091" y="4875"/>
                  <a:pt x="7075" y="4878"/>
                </a:cubicBezTo>
                <a:cubicBezTo>
                  <a:pt x="7058" y="4881"/>
                  <a:pt x="7042" y="4883"/>
                  <a:pt x="7026" y="4883"/>
                </a:cubicBezTo>
                <a:lnTo>
                  <a:pt x="251" y="4883"/>
                </a:lnTo>
                <a:cubicBezTo>
                  <a:pt x="235" y="4883"/>
                  <a:pt x="218" y="4881"/>
                  <a:pt x="202" y="4878"/>
                </a:cubicBezTo>
                <a:cubicBezTo>
                  <a:pt x="186" y="4875"/>
                  <a:pt x="170" y="4870"/>
                  <a:pt x="155" y="4863"/>
                </a:cubicBezTo>
                <a:cubicBezTo>
                  <a:pt x="140" y="4857"/>
                  <a:pt x="125" y="4849"/>
                  <a:pt x="112" y="4840"/>
                </a:cubicBezTo>
                <a:cubicBezTo>
                  <a:pt x="98" y="4831"/>
                  <a:pt x="85" y="4821"/>
                  <a:pt x="74" y="4809"/>
                </a:cubicBezTo>
                <a:cubicBezTo>
                  <a:pt x="62" y="4797"/>
                  <a:pt x="51" y="4785"/>
                  <a:pt x="42" y="4771"/>
                </a:cubicBezTo>
                <a:cubicBezTo>
                  <a:pt x="33" y="4757"/>
                  <a:pt x="25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2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672840" y="2638080"/>
            <a:ext cx="2578320" cy="53280"/>
          </a:xfrm>
          <a:custGeom>
            <a:avLst/>
            <a:gdLst/>
            <a:ahLst/>
            <a:rect l="0" t="0" r="r" b="b"/>
            <a:pathLst>
              <a:path w="7162" h="148">
                <a:moveTo>
                  <a:pt x="7133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8" y="81"/>
                  <a:pt x="16" y="72"/>
                  <a:pt x="26" y="63"/>
                </a:cubicBezTo>
                <a:cubicBezTo>
                  <a:pt x="48" y="43"/>
                  <a:pt x="74" y="27"/>
                  <a:pt x="103" y="17"/>
                </a:cubicBezTo>
                <a:cubicBezTo>
                  <a:pt x="132" y="6"/>
                  <a:pt x="163" y="0"/>
                  <a:pt x="194" y="0"/>
                </a:cubicBezTo>
                <a:lnTo>
                  <a:pt x="6969" y="0"/>
                </a:lnTo>
                <a:cubicBezTo>
                  <a:pt x="7000" y="0"/>
                  <a:pt x="7031" y="6"/>
                  <a:pt x="7060" y="17"/>
                </a:cubicBezTo>
                <a:cubicBezTo>
                  <a:pt x="7089" y="27"/>
                  <a:pt x="7115" y="43"/>
                  <a:pt x="7137" y="63"/>
                </a:cubicBezTo>
                <a:cubicBezTo>
                  <a:pt x="7146" y="72"/>
                  <a:pt x="7155" y="81"/>
                  <a:pt x="7162" y="90"/>
                </a:cubicBezTo>
                <a:lnTo>
                  <a:pt x="7133" y="148"/>
                </a:lnTo>
                <a:close/>
              </a:path>
            </a:pathLst>
          </a:custGeom>
          <a:solidFill>
            <a:srgbClr val="EF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682200" y="4338360"/>
            <a:ext cx="2559960" cy="43200"/>
          </a:xfrm>
          <a:custGeom>
            <a:avLst/>
            <a:gdLst/>
            <a:ahLst/>
            <a:rect l="0" t="0" r="r" b="b"/>
            <a:pathLst>
              <a:path w="7111" h="120">
                <a:moveTo>
                  <a:pt x="49" y="0"/>
                </a:moveTo>
                <a:lnTo>
                  <a:pt x="7062" y="0"/>
                </a:lnTo>
                <a:lnTo>
                  <a:pt x="7111" y="51"/>
                </a:lnTo>
                <a:cubicBezTo>
                  <a:pt x="7089" y="73"/>
                  <a:pt x="7063" y="90"/>
                  <a:pt x="7034" y="102"/>
                </a:cubicBezTo>
                <a:cubicBezTo>
                  <a:pt x="7005" y="114"/>
                  <a:pt x="6974" y="120"/>
                  <a:pt x="6943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322416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0" y="4639"/>
                </a:moveTo>
                <a:lnTo>
                  <a:pt x="0" y="148"/>
                </a:lnTo>
                <a:lnTo>
                  <a:pt x="75" y="0"/>
                </a:lnTo>
                <a:cubicBezTo>
                  <a:pt x="85" y="13"/>
                  <a:pt x="94" y="28"/>
                  <a:pt x="102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4517"/>
                </a:lnTo>
                <a:cubicBezTo>
                  <a:pt x="120" y="4549"/>
                  <a:pt x="114" y="4579"/>
                  <a:pt x="102" y="4608"/>
                </a:cubicBezTo>
                <a:cubicBezTo>
                  <a:pt x="89" y="4638"/>
                  <a:pt x="72" y="4663"/>
                  <a:pt x="50" y="4686"/>
                </a:cubicBezTo>
                <a:cubicBezTo>
                  <a:pt x="50" y="4686"/>
                  <a:pt x="49" y="4686"/>
                  <a:pt x="49" y="4687"/>
                </a:cubicBezTo>
                <a:lnTo>
                  <a:pt x="0" y="463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65700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120" y="148"/>
                </a:moveTo>
                <a:lnTo>
                  <a:pt x="120" y="4639"/>
                </a:lnTo>
                <a:lnTo>
                  <a:pt x="72" y="4687"/>
                </a:lnTo>
                <a:cubicBezTo>
                  <a:pt x="72" y="4686"/>
                  <a:pt x="71" y="4686"/>
                  <a:pt x="71" y="4686"/>
                </a:cubicBezTo>
                <a:cubicBezTo>
                  <a:pt x="49" y="4663"/>
                  <a:pt x="31" y="4638"/>
                  <a:pt x="18" y="4608"/>
                </a:cubicBezTo>
                <a:cubicBezTo>
                  <a:pt x="6" y="4579"/>
                  <a:pt x="0" y="4549"/>
                  <a:pt x="0" y="4517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6" y="28"/>
                  <a:pt x="35" y="13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2788560" y="4722840"/>
            <a:ext cx="6616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Imputing a salary would break the assumptions the analysis rests on.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828720" y="2810160"/>
            <a:ext cx="12794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ROWS REMOVED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828720" y="2971800"/>
            <a:ext cx="166104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3,998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828720" y="3693600"/>
            <a:ext cx="1744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0.38% — ghost rows +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828720" y="3974760"/>
            <a:ext cx="11311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555555"/>
                </a:solidFill>
                <a:effectLst/>
                <a:uFillTx/>
                <a:latin typeface="Menlo"/>
                <a:ea typeface="Menlo"/>
              </a:rPr>
              <a:t>RANDOM_JOB_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3414600" y="2628720"/>
            <a:ext cx="2610000" cy="1757880"/>
          </a:xfrm>
          <a:custGeom>
            <a:avLst/>
            <a:gdLst/>
            <a:ahLst/>
            <a:rect l="0" t="0" r="r" b="b"/>
            <a:pathLst>
              <a:path w="7250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1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5" y="134"/>
                  <a:pt x="33" y="120"/>
                  <a:pt x="42" y="107"/>
                </a:cubicBezTo>
                <a:cubicBezTo>
                  <a:pt x="51" y="94"/>
                  <a:pt x="62" y="82"/>
                  <a:pt x="73" y="71"/>
                </a:cubicBezTo>
                <a:cubicBezTo>
                  <a:pt x="85" y="60"/>
                  <a:pt x="98" y="50"/>
                  <a:pt x="112" y="41"/>
                </a:cubicBezTo>
                <a:cubicBezTo>
                  <a:pt x="125" y="32"/>
                  <a:pt x="140" y="25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6999" y="0"/>
                </a:lnTo>
                <a:cubicBezTo>
                  <a:pt x="7016" y="0"/>
                  <a:pt x="7032" y="2"/>
                  <a:pt x="7048" y="5"/>
                </a:cubicBezTo>
                <a:cubicBezTo>
                  <a:pt x="7064" y="8"/>
                  <a:pt x="7080" y="12"/>
                  <a:pt x="7095" y="18"/>
                </a:cubicBezTo>
                <a:cubicBezTo>
                  <a:pt x="7110" y="25"/>
                  <a:pt x="7125" y="32"/>
                  <a:pt x="7139" y="41"/>
                </a:cubicBezTo>
                <a:cubicBezTo>
                  <a:pt x="7152" y="50"/>
                  <a:pt x="7165" y="60"/>
                  <a:pt x="7177" y="71"/>
                </a:cubicBezTo>
                <a:cubicBezTo>
                  <a:pt x="7188" y="82"/>
                  <a:pt x="7199" y="94"/>
                  <a:pt x="7208" y="107"/>
                </a:cubicBezTo>
                <a:cubicBezTo>
                  <a:pt x="7217" y="120"/>
                  <a:pt x="7225" y="134"/>
                  <a:pt x="7231" y="148"/>
                </a:cubicBezTo>
                <a:cubicBezTo>
                  <a:pt x="7238" y="162"/>
                  <a:pt x="7242" y="177"/>
                  <a:pt x="7246" y="193"/>
                </a:cubicBezTo>
                <a:cubicBezTo>
                  <a:pt x="7249" y="208"/>
                  <a:pt x="7250" y="223"/>
                  <a:pt x="7250" y="239"/>
                </a:cubicBezTo>
                <a:lnTo>
                  <a:pt x="7250" y="4631"/>
                </a:lnTo>
                <a:cubicBezTo>
                  <a:pt x="7250" y="4648"/>
                  <a:pt x="7249" y="4664"/>
                  <a:pt x="7246" y="4680"/>
                </a:cubicBezTo>
                <a:cubicBezTo>
                  <a:pt x="7242" y="4696"/>
                  <a:pt x="7238" y="4712"/>
                  <a:pt x="7231" y="4727"/>
                </a:cubicBezTo>
                <a:cubicBezTo>
                  <a:pt x="7225" y="4743"/>
                  <a:pt x="7217" y="4757"/>
                  <a:pt x="7208" y="4771"/>
                </a:cubicBezTo>
                <a:cubicBezTo>
                  <a:pt x="7199" y="4785"/>
                  <a:pt x="7188" y="4797"/>
                  <a:pt x="7177" y="4809"/>
                </a:cubicBezTo>
                <a:cubicBezTo>
                  <a:pt x="7165" y="4821"/>
                  <a:pt x="7152" y="4831"/>
                  <a:pt x="7139" y="4840"/>
                </a:cubicBezTo>
                <a:cubicBezTo>
                  <a:pt x="7125" y="4849"/>
                  <a:pt x="7110" y="4857"/>
                  <a:pt x="7095" y="4863"/>
                </a:cubicBezTo>
                <a:cubicBezTo>
                  <a:pt x="7080" y="4870"/>
                  <a:pt x="7064" y="4875"/>
                  <a:pt x="7048" y="4878"/>
                </a:cubicBezTo>
                <a:cubicBezTo>
                  <a:pt x="7032" y="4881"/>
                  <a:pt x="7016" y="4883"/>
                  <a:pt x="6999" y="4883"/>
                </a:cubicBezTo>
                <a:lnTo>
                  <a:pt x="251" y="4883"/>
                </a:lnTo>
                <a:cubicBezTo>
                  <a:pt x="235" y="4883"/>
                  <a:pt x="218" y="4881"/>
                  <a:pt x="202" y="4878"/>
                </a:cubicBezTo>
                <a:cubicBezTo>
                  <a:pt x="186" y="4875"/>
                  <a:pt x="170" y="4870"/>
                  <a:pt x="155" y="4863"/>
                </a:cubicBezTo>
                <a:cubicBezTo>
                  <a:pt x="140" y="4857"/>
                  <a:pt x="125" y="4849"/>
                  <a:pt x="112" y="4840"/>
                </a:cubicBezTo>
                <a:cubicBezTo>
                  <a:pt x="98" y="4831"/>
                  <a:pt x="85" y="4821"/>
                  <a:pt x="73" y="4809"/>
                </a:cubicBezTo>
                <a:cubicBezTo>
                  <a:pt x="62" y="4797"/>
                  <a:pt x="51" y="4785"/>
                  <a:pt x="42" y="4771"/>
                </a:cubicBezTo>
                <a:cubicBezTo>
                  <a:pt x="33" y="4757"/>
                  <a:pt x="25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1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3428640" y="2619360"/>
            <a:ext cx="2581920" cy="51120"/>
          </a:xfrm>
          <a:custGeom>
            <a:avLst/>
            <a:gdLst/>
            <a:ahLst/>
            <a:rect l="0" t="0" r="r" b="b"/>
            <a:pathLst>
              <a:path w="7172" h="142">
                <a:moveTo>
                  <a:pt x="7154" y="142"/>
                </a:moveTo>
                <a:cubicBezTo>
                  <a:pt x="7146" y="133"/>
                  <a:pt x="7138" y="123"/>
                  <a:pt x="7128" y="114"/>
                </a:cubicBezTo>
                <a:cubicBezTo>
                  <a:pt x="7106" y="95"/>
                  <a:pt x="7080" y="79"/>
                  <a:pt x="7051" y="69"/>
                </a:cubicBezTo>
                <a:cubicBezTo>
                  <a:pt x="7022" y="58"/>
                  <a:pt x="6992" y="52"/>
                  <a:pt x="6960" y="52"/>
                </a:cubicBezTo>
                <a:lnTo>
                  <a:pt x="212" y="52"/>
                </a:lnTo>
                <a:cubicBezTo>
                  <a:pt x="181" y="52"/>
                  <a:pt x="150" y="58"/>
                  <a:pt x="121" y="69"/>
                </a:cubicBezTo>
                <a:cubicBezTo>
                  <a:pt x="92" y="79"/>
                  <a:pt x="66" y="95"/>
                  <a:pt x="44" y="114"/>
                </a:cubicBezTo>
                <a:cubicBezTo>
                  <a:pt x="34" y="123"/>
                  <a:pt x="26" y="133"/>
                  <a:pt x="18" y="142"/>
                </a:cubicBezTo>
                <a:lnTo>
                  <a:pt x="0" y="105"/>
                </a:lnTo>
                <a:cubicBezTo>
                  <a:pt x="8" y="95"/>
                  <a:pt x="16" y="86"/>
                  <a:pt x="25" y="77"/>
                </a:cubicBezTo>
                <a:cubicBezTo>
                  <a:pt x="50" y="52"/>
                  <a:pt x="78" y="33"/>
                  <a:pt x="111" y="20"/>
                </a:cubicBezTo>
                <a:cubicBezTo>
                  <a:pt x="143" y="6"/>
                  <a:pt x="177" y="0"/>
                  <a:pt x="212" y="0"/>
                </a:cubicBezTo>
                <a:lnTo>
                  <a:pt x="6960" y="0"/>
                </a:lnTo>
                <a:cubicBezTo>
                  <a:pt x="6995" y="0"/>
                  <a:pt x="7029" y="6"/>
                  <a:pt x="7061" y="20"/>
                </a:cubicBezTo>
                <a:cubicBezTo>
                  <a:pt x="7094" y="33"/>
                  <a:pt x="7122" y="52"/>
                  <a:pt x="7147" y="77"/>
                </a:cubicBezTo>
                <a:cubicBezTo>
                  <a:pt x="7156" y="86"/>
                  <a:pt x="7164" y="95"/>
                  <a:pt x="7172" y="105"/>
                </a:cubicBezTo>
                <a:lnTo>
                  <a:pt x="7154" y="142"/>
                </a:lnTo>
                <a:close/>
              </a:path>
            </a:pathLst>
          </a:custGeom>
          <a:solidFill>
            <a:srgbClr val="22C5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3437640" y="4356360"/>
            <a:ext cx="2563920" cy="34920"/>
          </a:xfrm>
          <a:custGeom>
            <a:avLst/>
            <a:gdLst/>
            <a:ahLst/>
            <a:rect l="0" t="0" r="r" b="b"/>
            <a:pathLst>
              <a:path w="7122" h="97">
                <a:moveTo>
                  <a:pt x="19" y="0"/>
                </a:moveTo>
                <a:cubicBezTo>
                  <a:pt x="41" y="22"/>
                  <a:pt x="67" y="39"/>
                  <a:pt x="96" y="52"/>
                </a:cubicBezTo>
                <a:cubicBezTo>
                  <a:pt x="125" y="64"/>
                  <a:pt x="156" y="70"/>
                  <a:pt x="187" y="70"/>
                </a:cubicBezTo>
                <a:lnTo>
                  <a:pt x="6935" y="70"/>
                </a:lnTo>
                <a:cubicBezTo>
                  <a:pt x="6967" y="70"/>
                  <a:pt x="6997" y="64"/>
                  <a:pt x="7026" y="52"/>
                </a:cubicBezTo>
                <a:cubicBezTo>
                  <a:pt x="7055" y="39"/>
                  <a:pt x="7081" y="22"/>
                  <a:pt x="7103" y="0"/>
                </a:cubicBezTo>
                <a:lnTo>
                  <a:pt x="7122" y="18"/>
                </a:lnTo>
                <a:cubicBezTo>
                  <a:pt x="7097" y="44"/>
                  <a:pt x="7069" y="63"/>
                  <a:pt x="7036" y="77"/>
                </a:cubicBezTo>
                <a:cubicBezTo>
                  <a:pt x="7004" y="90"/>
                  <a:pt x="6970" y="97"/>
                  <a:pt x="6935" y="97"/>
                </a:cubicBezTo>
                <a:lnTo>
                  <a:pt x="187" y="97"/>
                </a:lnTo>
                <a:cubicBezTo>
                  <a:pt x="152" y="97"/>
                  <a:pt x="118" y="90"/>
                  <a:pt x="86" y="77"/>
                </a:cubicBezTo>
                <a:cubicBezTo>
                  <a:pt x="53" y="63"/>
                  <a:pt x="25" y="44"/>
                  <a:pt x="0" y="18"/>
                </a:cubicBezTo>
                <a:lnTo>
                  <a:pt x="1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5994000" y="2656800"/>
            <a:ext cx="35640" cy="1707120"/>
          </a:xfrm>
          <a:custGeom>
            <a:avLst/>
            <a:gdLst/>
            <a:ahLst/>
            <a:rect l="0" t="0" r="r" b="b"/>
            <a:pathLst>
              <a:path w="99" h="4742">
                <a:moveTo>
                  <a:pt x="0" y="4723"/>
                </a:moveTo>
                <a:cubicBezTo>
                  <a:pt x="1" y="4722"/>
                  <a:pt x="1" y="4722"/>
                  <a:pt x="1" y="4722"/>
                </a:cubicBezTo>
                <a:cubicBezTo>
                  <a:pt x="24" y="4699"/>
                  <a:pt x="41" y="4674"/>
                  <a:pt x="53" y="4644"/>
                </a:cubicBezTo>
                <a:cubicBezTo>
                  <a:pt x="65" y="4615"/>
                  <a:pt x="71" y="4585"/>
                  <a:pt x="71" y="4553"/>
                </a:cubicBezTo>
                <a:lnTo>
                  <a:pt x="71" y="160"/>
                </a:lnTo>
                <a:cubicBezTo>
                  <a:pt x="71" y="132"/>
                  <a:pt x="65" y="105"/>
                  <a:pt x="53" y="79"/>
                </a:cubicBezTo>
                <a:cubicBezTo>
                  <a:pt x="46" y="64"/>
                  <a:pt x="37" y="49"/>
                  <a:pt x="26" y="36"/>
                </a:cubicBezTo>
                <a:lnTo>
                  <a:pt x="44" y="0"/>
                </a:lnTo>
                <a:cubicBezTo>
                  <a:pt x="58" y="18"/>
                  <a:pt x="69" y="38"/>
                  <a:pt x="77" y="59"/>
                </a:cubicBezTo>
                <a:cubicBezTo>
                  <a:pt x="92" y="91"/>
                  <a:pt x="99" y="125"/>
                  <a:pt x="99" y="160"/>
                </a:cubicBezTo>
                <a:lnTo>
                  <a:pt x="99" y="4553"/>
                </a:lnTo>
                <a:cubicBezTo>
                  <a:pt x="99" y="4588"/>
                  <a:pt x="92" y="4622"/>
                  <a:pt x="77" y="4654"/>
                </a:cubicBezTo>
                <a:cubicBezTo>
                  <a:pt x="64" y="4687"/>
                  <a:pt x="45" y="4715"/>
                  <a:pt x="20" y="4740"/>
                </a:cubicBezTo>
                <a:cubicBezTo>
                  <a:pt x="20" y="4741"/>
                  <a:pt x="19" y="4741"/>
                  <a:pt x="19" y="4742"/>
                </a:cubicBezTo>
                <a:lnTo>
                  <a:pt x="0" y="4723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3409920" y="2656800"/>
            <a:ext cx="35280" cy="1707120"/>
          </a:xfrm>
          <a:custGeom>
            <a:avLst/>
            <a:gdLst/>
            <a:ahLst/>
            <a:rect l="0" t="0" r="r" b="b"/>
            <a:pathLst>
              <a:path w="98" h="4742">
                <a:moveTo>
                  <a:pt x="71" y="36"/>
                </a:moveTo>
                <a:cubicBezTo>
                  <a:pt x="60" y="49"/>
                  <a:pt x="51" y="64"/>
                  <a:pt x="44" y="79"/>
                </a:cubicBezTo>
                <a:cubicBezTo>
                  <a:pt x="32" y="105"/>
                  <a:pt x="26" y="132"/>
                  <a:pt x="26" y="160"/>
                </a:cubicBezTo>
                <a:lnTo>
                  <a:pt x="26" y="4553"/>
                </a:lnTo>
                <a:cubicBezTo>
                  <a:pt x="26" y="4585"/>
                  <a:pt x="32" y="4615"/>
                  <a:pt x="44" y="4644"/>
                </a:cubicBezTo>
                <a:cubicBezTo>
                  <a:pt x="56" y="4674"/>
                  <a:pt x="73" y="4699"/>
                  <a:pt x="97" y="4722"/>
                </a:cubicBezTo>
                <a:cubicBezTo>
                  <a:pt x="97" y="4722"/>
                  <a:pt x="98" y="4722"/>
                  <a:pt x="98" y="4723"/>
                </a:cubicBezTo>
                <a:lnTo>
                  <a:pt x="78" y="4742"/>
                </a:lnTo>
                <a:cubicBezTo>
                  <a:pt x="78" y="4741"/>
                  <a:pt x="78" y="4741"/>
                  <a:pt x="77" y="4740"/>
                </a:cubicBezTo>
                <a:cubicBezTo>
                  <a:pt x="52" y="4715"/>
                  <a:pt x="33" y="4687"/>
                  <a:pt x="20" y="4654"/>
                </a:cubicBezTo>
                <a:cubicBezTo>
                  <a:pt x="6" y="4622"/>
                  <a:pt x="0" y="4588"/>
                  <a:pt x="0" y="4553"/>
                </a:cubicBezTo>
                <a:lnTo>
                  <a:pt x="0" y="160"/>
                </a:lnTo>
                <a:cubicBezTo>
                  <a:pt x="0" y="125"/>
                  <a:pt x="6" y="91"/>
                  <a:pt x="20" y="59"/>
                </a:cubicBezTo>
                <a:cubicBezTo>
                  <a:pt x="28" y="38"/>
                  <a:pt x="40" y="18"/>
                  <a:pt x="53" y="0"/>
                </a:cubicBezTo>
                <a:lnTo>
                  <a:pt x="71" y="36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962720" y="3950640"/>
            <a:ext cx="4086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tests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3586320" y="2810160"/>
            <a:ext cx="12488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CELLS IMPUTED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3586320" y="2971800"/>
            <a:ext cx="55224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22C55E"/>
                </a:solidFill>
                <a:effectLst/>
                <a:uFillTx/>
                <a:latin typeface="Outfit-Thin_"/>
                <a:ea typeface="Outfit-Thin_"/>
              </a:rPr>
              <a:t>0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6167160" y="2628720"/>
            <a:ext cx="2619720" cy="1757880"/>
          </a:xfrm>
          <a:custGeom>
            <a:avLst/>
            <a:gdLst/>
            <a:ahLst/>
            <a:rect l="0" t="0" r="r" b="b"/>
            <a:pathLst>
              <a:path w="7277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2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6" y="134"/>
                  <a:pt x="33" y="120"/>
                  <a:pt x="43" y="107"/>
                </a:cubicBezTo>
                <a:cubicBezTo>
                  <a:pt x="52" y="94"/>
                  <a:pt x="62" y="82"/>
                  <a:pt x="74" y="71"/>
                </a:cubicBezTo>
                <a:cubicBezTo>
                  <a:pt x="86" y="60"/>
                  <a:pt x="98" y="50"/>
                  <a:pt x="112" y="41"/>
                </a:cubicBezTo>
                <a:cubicBezTo>
                  <a:pt x="126" y="32"/>
                  <a:pt x="140" y="25"/>
                  <a:pt x="155" y="18"/>
                </a:cubicBezTo>
                <a:cubicBezTo>
                  <a:pt x="171" y="12"/>
                  <a:pt x="186" y="8"/>
                  <a:pt x="203" y="5"/>
                </a:cubicBezTo>
                <a:cubicBezTo>
                  <a:pt x="219" y="2"/>
                  <a:pt x="235" y="0"/>
                  <a:pt x="252" y="0"/>
                </a:cubicBezTo>
                <a:lnTo>
                  <a:pt x="7026" y="0"/>
                </a:lnTo>
                <a:cubicBezTo>
                  <a:pt x="7042" y="0"/>
                  <a:pt x="7059" y="2"/>
                  <a:pt x="7075" y="5"/>
                </a:cubicBezTo>
                <a:cubicBezTo>
                  <a:pt x="7091" y="8"/>
                  <a:pt x="7107" y="12"/>
                  <a:pt x="7122" y="18"/>
                </a:cubicBezTo>
                <a:cubicBezTo>
                  <a:pt x="7137" y="25"/>
                  <a:pt x="7152" y="32"/>
                  <a:pt x="7166" y="41"/>
                </a:cubicBezTo>
                <a:cubicBezTo>
                  <a:pt x="7179" y="50"/>
                  <a:pt x="7192" y="60"/>
                  <a:pt x="7204" y="71"/>
                </a:cubicBezTo>
                <a:cubicBezTo>
                  <a:pt x="7215" y="82"/>
                  <a:pt x="7226" y="94"/>
                  <a:pt x="7235" y="107"/>
                </a:cubicBezTo>
                <a:cubicBezTo>
                  <a:pt x="7244" y="120"/>
                  <a:pt x="7252" y="134"/>
                  <a:pt x="7258" y="148"/>
                </a:cubicBezTo>
                <a:cubicBezTo>
                  <a:pt x="7264" y="162"/>
                  <a:pt x="7269" y="177"/>
                  <a:pt x="7272" y="193"/>
                </a:cubicBezTo>
                <a:cubicBezTo>
                  <a:pt x="7276" y="208"/>
                  <a:pt x="7277" y="223"/>
                  <a:pt x="7277" y="239"/>
                </a:cubicBezTo>
                <a:lnTo>
                  <a:pt x="7277" y="4631"/>
                </a:lnTo>
                <a:cubicBezTo>
                  <a:pt x="7277" y="4648"/>
                  <a:pt x="7276" y="4664"/>
                  <a:pt x="7272" y="4680"/>
                </a:cubicBezTo>
                <a:cubicBezTo>
                  <a:pt x="7269" y="4696"/>
                  <a:pt x="7264" y="4712"/>
                  <a:pt x="7258" y="4727"/>
                </a:cubicBezTo>
                <a:cubicBezTo>
                  <a:pt x="7252" y="4743"/>
                  <a:pt x="7244" y="4757"/>
                  <a:pt x="7235" y="4771"/>
                </a:cubicBezTo>
                <a:cubicBezTo>
                  <a:pt x="7226" y="4785"/>
                  <a:pt x="7215" y="4797"/>
                  <a:pt x="7204" y="4809"/>
                </a:cubicBezTo>
                <a:cubicBezTo>
                  <a:pt x="7192" y="4821"/>
                  <a:pt x="7179" y="4831"/>
                  <a:pt x="7166" y="4840"/>
                </a:cubicBezTo>
                <a:cubicBezTo>
                  <a:pt x="7152" y="4849"/>
                  <a:pt x="7137" y="4857"/>
                  <a:pt x="7122" y="4863"/>
                </a:cubicBezTo>
                <a:cubicBezTo>
                  <a:pt x="7107" y="4870"/>
                  <a:pt x="7091" y="4875"/>
                  <a:pt x="7075" y="4878"/>
                </a:cubicBezTo>
                <a:cubicBezTo>
                  <a:pt x="7059" y="4881"/>
                  <a:pt x="7042" y="4883"/>
                  <a:pt x="7026" y="4883"/>
                </a:cubicBezTo>
                <a:lnTo>
                  <a:pt x="252" y="4883"/>
                </a:lnTo>
                <a:cubicBezTo>
                  <a:pt x="235" y="4883"/>
                  <a:pt x="219" y="4881"/>
                  <a:pt x="203" y="4878"/>
                </a:cubicBezTo>
                <a:cubicBezTo>
                  <a:pt x="186" y="4875"/>
                  <a:pt x="171" y="4870"/>
                  <a:pt x="155" y="4863"/>
                </a:cubicBezTo>
                <a:cubicBezTo>
                  <a:pt x="140" y="4857"/>
                  <a:pt x="126" y="4849"/>
                  <a:pt x="112" y="4840"/>
                </a:cubicBezTo>
                <a:cubicBezTo>
                  <a:pt x="98" y="4831"/>
                  <a:pt x="86" y="4821"/>
                  <a:pt x="74" y="4809"/>
                </a:cubicBezTo>
                <a:cubicBezTo>
                  <a:pt x="62" y="4797"/>
                  <a:pt x="52" y="4785"/>
                  <a:pt x="43" y="4771"/>
                </a:cubicBezTo>
                <a:cubicBezTo>
                  <a:pt x="33" y="4757"/>
                  <a:pt x="26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2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6188040" y="2638080"/>
            <a:ext cx="2578320" cy="53280"/>
          </a:xfrm>
          <a:custGeom>
            <a:avLst/>
            <a:gdLst/>
            <a:ahLst/>
            <a:rect l="0" t="0" r="r" b="b"/>
            <a:pathLst>
              <a:path w="7162" h="148">
                <a:moveTo>
                  <a:pt x="7133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7" y="81"/>
                  <a:pt x="16" y="72"/>
                  <a:pt x="25" y="63"/>
                </a:cubicBezTo>
                <a:cubicBezTo>
                  <a:pt x="48" y="43"/>
                  <a:pt x="73" y="27"/>
                  <a:pt x="102" y="17"/>
                </a:cubicBezTo>
                <a:cubicBezTo>
                  <a:pt x="132" y="6"/>
                  <a:pt x="162" y="0"/>
                  <a:pt x="194" y="0"/>
                </a:cubicBezTo>
                <a:lnTo>
                  <a:pt x="6968" y="0"/>
                </a:lnTo>
                <a:cubicBezTo>
                  <a:pt x="7000" y="0"/>
                  <a:pt x="7030" y="6"/>
                  <a:pt x="7059" y="17"/>
                </a:cubicBezTo>
                <a:cubicBezTo>
                  <a:pt x="7088" y="27"/>
                  <a:pt x="7114" y="43"/>
                  <a:pt x="7136" y="63"/>
                </a:cubicBezTo>
                <a:cubicBezTo>
                  <a:pt x="7146" y="72"/>
                  <a:pt x="7154" y="81"/>
                  <a:pt x="7162" y="90"/>
                </a:cubicBezTo>
                <a:lnTo>
                  <a:pt x="7133" y="148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6197040" y="4338360"/>
            <a:ext cx="2559960" cy="43200"/>
          </a:xfrm>
          <a:custGeom>
            <a:avLst/>
            <a:gdLst/>
            <a:ahLst/>
            <a:rect l="0" t="0" r="r" b="b"/>
            <a:pathLst>
              <a:path w="7111" h="120">
                <a:moveTo>
                  <a:pt x="50" y="0"/>
                </a:moveTo>
                <a:lnTo>
                  <a:pt x="7062" y="0"/>
                </a:lnTo>
                <a:lnTo>
                  <a:pt x="7111" y="51"/>
                </a:lnTo>
                <a:cubicBezTo>
                  <a:pt x="7089" y="73"/>
                  <a:pt x="7063" y="90"/>
                  <a:pt x="7034" y="102"/>
                </a:cubicBezTo>
                <a:cubicBezTo>
                  <a:pt x="7005" y="114"/>
                  <a:pt x="6975" y="120"/>
                  <a:pt x="6943" y="120"/>
                </a:cubicBezTo>
                <a:lnTo>
                  <a:pt x="169" y="120"/>
                </a:lnTo>
                <a:cubicBezTo>
                  <a:pt x="137" y="120"/>
                  <a:pt x="107" y="114"/>
                  <a:pt x="77" y="102"/>
                </a:cubicBezTo>
                <a:cubicBezTo>
                  <a:pt x="48" y="90"/>
                  <a:pt x="23" y="73"/>
                  <a:pt x="0" y="51"/>
                </a:cubicBezTo>
                <a:lnTo>
                  <a:pt x="5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873900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0" y="4639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8"/>
                  <a:pt x="102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4517"/>
                </a:lnTo>
                <a:cubicBezTo>
                  <a:pt x="120" y="4549"/>
                  <a:pt x="114" y="4579"/>
                  <a:pt x="102" y="4608"/>
                </a:cubicBezTo>
                <a:cubicBezTo>
                  <a:pt x="90" y="4638"/>
                  <a:pt x="73" y="4663"/>
                  <a:pt x="49" y="4686"/>
                </a:cubicBezTo>
                <a:cubicBezTo>
                  <a:pt x="49" y="4686"/>
                  <a:pt x="48" y="4686"/>
                  <a:pt x="48" y="4687"/>
                </a:cubicBezTo>
                <a:lnTo>
                  <a:pt x="0" y="463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6171840" y="2669760"/>
            <a:ext cx="43560" cy="1687320"/>
          </a:xfrm>
          <a:custGeom>
            <a:avLst/>
            <a:gdLst/>
            <a:ahLst/>
            <a:rect l="0" t="0" r="r" b="b"/>
            <a:pathLst>
              <a:path w="121" h="4687">
                <a:moveTo>
                  <a:pt x="121" y="148"/>
                </a:moveTo>
                <a:lnTo>
                  <a:pt x="121" y="4639"/>
                </a:lnTo>
                <a:lnTo>
                  <a:pt x="73" y="4687"/>
                </a:lnTo>
                <a:cubicBezTo>
                  <a:pt x="72" y="4686"/>
                  <a:pt x="72" y="4686"/>
                  <a:pt x="71" y="4686"/>
                </a:cubicBezTo>
                <a:cubicBezTo>
                  <a:pt x="48" y="4663"/>
                  <a:pt x="31" y="4638"/>
                  <a:pt x="19" y="4608"/>
                </a:cubicBezTo>
                <a:cubicBezTo>
                  <a:pt x="7" y="4579"/>
                  <a:pt x="0" y="4549"/>
                  <a:pt x="0" y="4517"/>
                </a:cubicBezTo>
                <a:lnTo>
                  <a:pt x="0" y="124"/>
                </a:lnTo>
                <a:cubicBezTo>
                  <a:pt x="0" y="96"/>
                  <a:pt x="7" y="69"/>
                  <a:pt x="19" y="43"/>
                </a:cubicBezTo>
                <a:cubicBezTo>
                  <a:pt x="26" y="28"/>
                  <a:pt x="35" y="13"/>
                  <a:pt x="46" y="0"/>
                </a:cubicBezTo>
                <a:lnTo>
                  <a:pt x="121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3586320" y="3693600"/>
            <a:ext cx="20304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Salary is what we measure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343560" y="2810160"/>
            <a:ext cx="15339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SALARY COVERAGE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6343560" y="2971800"/>
            <a:ext cx="184500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99.0%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343560" y="3693600"/>
            <a:ext cx="18316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Quoted alongside every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8929440" y="2628720"/>
            <a:ext cx="2610360" cy="1757880"/>
          </a:xfrm>
          <a:custGeom>
            <a:avLst/>
            <a:gdLst/>
            <a:ahLst/>
            <a:rect l="0" t="0" r="r" b="b"/>
            <a:pathLst>
              <a:path w="7251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2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6" y="134"/>
                  <a:pt x="33" y="120"/>
                  <a:pt x="43" y="107"/>
                </a:cubicBezTo>
                <a:cubicBezTo>
                  <a:pt x="52" y="94"/>
                  <a:pt x="62" y="82"/>
                  <a:pt x="74" y="71"/>
                </a:cubicBezTo>
                <a:cubicBezTo>
                  <a:pt x="85" y="60"/>
                  <a:pt x="98" y="50"/>
                  <a:pt x="112" y="41"/>
                </a:cubicBezTo>
                <a:cubicBezTo>
                  <a:pt x="126" y="32"/>
                  <a:pt x="140" y="25"/>
                  <a:pt x="155" y="18"/>
                </a:cubicBezTo>
                <a:cubicBezTo>
                  <a:pt x="171" y="12"/>
                  <a:pt x="186" y="8"/>
                  <a:pt x="202" y="5"/>
                </a:cubicBezTo>
                <a:cubicBezTo>
                  <a:pt x="219" y="2"/>
                  <a:pt x="235" y="0"/>
                  <a:pt x="252" y="0"/>
                </a:cubicBezTo>
                <a:lnTo>
                  <a:pt x="6999" y="0"/>
                </a:lnTo>
                <a:cubicBezTo>
                  <a:pt x="7016" y="0"/>
                  <a:pt x="7032" y="2"/>
                  <a:pt x="7048" y="5"/>
                </a:cubicBezTo>
                <a:cubicBezTo>
                  <a:pt x="7065" y="8"/>
                  <a:pt x="7080" y="12"/>
                  <a:pt x="7096" y="18"/>
                </a:cubicBezTo>
                <a:cubicBezTo>
                  <a:pt x="7111" y="25"/>
                  <a:pt x="7125" y="32"/>
                  <a:pt x="7139" y="41"/>
                </a:cubicBezTo>
                <a:cubicBezTo>
                  <a:pt x="7153" y="50"/>
                  <a:pt x="7165" y="60"/>
                  <a:pt x="7177" y="71"/>
                </a:cubicBezTo>
                <a:cubicBezTo>
                  <a:pt x="7189" y="82"/>
                  <a:pt x="7199" y="94"/>
                  <a:pt x="7208" y="107"/>
                </a:cubicBezTo>
                <a:cubicBezTo>
                  <a:pt x="7218" y="120"/>
                  <a:pt x="7225" y="134"/>
                  <a:pt x="7232" y="148"/>
                </a:cubicBezTo>
                <a:cubicBezTo>
                  <a:pt x="7238" y="162"/>
                  <a:pt x="7243" y="177"/>
                  <a:pt x="7246" y="193"/>
                </a:cubicBezTo>
                <a:cubicBezTo>
                  <a:pt x="7249" y="208"/>
                  <a:pt x="7251" y="223"/>
                  <a:pt x="7251" y="239"/>
                </a:cubicBezTo>
                <a:lnTo>
                  <a:pt x="7251" y="4631"/>
                </a:lnTo>
                <a:cubicBezTo>
                  <a:pt x="7251" y="4648"/>
                  <a:pt x="7249" y="4664"/>
                  <a:pt x="7246" y="4680"/>
                </a:cubicBezTo>
                <a:cubicBezTo>
                  <a:pt x="7243" y="4696"/>
                  <a:pt x="7238" y="4712"/>
                  <a:pt x="7232" y="4727"/>
                </a:cubicBezTo>
                <a:cubicBezTo>
                  <a:pt x="7225" y="4743"/>
                  <a:pt x="7218" y="4757"/>
                  <a:pt x="7208" y="4771"/>
                </a:cubicBezTo>
                <a:cubicBezTo>
                  <a:pt x="7199" y="4785"/>
                  <a:pt x="7189" y="4797"/>
                  <a:pt x="7177" y="4809"/>
                </a:cubicBezTo>
                <a:cubicBezTo>
                  <a:pt x="7165" y="4821"/>
                  <a:pt x="7153" y="4831"/>
                  <a:pt x="7139" y="4840"/>
                </a:cubicBezTo>
                <a:cubicBezTo>
                  <a:pt x="7125" y="4849"/>
                  <a:pt x="7111" y="4857"/>
                  <a:pt x="7096" y="4863"/>
                </a:cubicBezTo>
                <a:cubicBezTo>
                  <a:pt x="7080" y="4870"/>
                  <a:pt x="7065" y="4875"/>
                  <a:pt x="7048" y="4878"/>
                </a:cubicBezTo>
                <a:cubicBezTo>
                  <a:pt x="7032" y="4881"/>
                  <a:pt x="7016" y="4883"/>
                  <a:pt x="6999" y="4883"/>
                </a:cubicBezTo>
                <a:lnTo>
                  <a:pt x="252" y="4883"/>
                </a:lnTo>
                <a:cubicBezTo>
                  <a:pt x="235" y="4883"/>
                  <a:pt x="219" y="4881"/>
                  <a:pt x="202" y="4878"/>
                </a:cubicBezTo>
                <a:cubicBezTo>
                  <a:pt x="186" y="4875"/>
                  <a:pt x="171" y="4870"/>
                  <a:pt x="155" y="4863"/>
                </a:cubicBezTo>
                <a:cubicBezTo>
                  <a:pt x="140" y="4857"/>
                  <a:pt x="126" y="4849"/>
                  <a:pt x="112" y="4840"/>
                </a:cubicBezTo>
                <a:cubicBezTo>
                  <a:pt x="98" y="4831"/>
                  <a:pt x="85" y="4821"/>
                  <a:pt x="74" y="4809"/>
                </a:cubicBezTo>
                <a:cubicBezTo>
                  <a:pt x="62" y="4797"/>
                  <a:pt x="52" y="4785"/>
                  <a:pt x="43" y="4771"/>
                </a:cubicBezTo>
                <a:cubicBezTo>
                  <a:pt x="33" y="4757"/>
                  <a:pt x="26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2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8950320" y="2638080"/>
            <a:ext cx="2568600" cy="53280"/>
          </a:xfrm>
          <a:custGeom>
            <a:avLst/>
            <a:gdLst/>
            <a:ahLst/>
            <a:rect l="0" t="0" r="r" b="b"/>
            <a:pathLst>
              <a:path w="7135" h="148">
                <a:moveTo>
                  <a:pt x="7106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7" y="81"/>
                  <a:pt x="16" y="72"/>
                  <a:pt x="25" y="63"/>
                </a:cubicBezTo>
                <a:cubicBezTo>
                  <a:pt x="47" y="43"/>
                  <a:pt x="73" y="27"/>
                  <a:pt x="102" y="17"/>
                </a:cubicBezTo>
                <a:cubicBezTo>
                  <a:pt x="133" y="6"/>
                  <a:pt x="163" y="0"/>
                  <a:pt x="195" y="0"/>
                </a:cubicBezTo>
                <a:lnTo>
                  <a:pt x="6941" y="0"/>
                </a:lnTo>
                <a:cubicBezTo>
                  <a:pt x="6973" y="0"/>
                  <a:pt x="7003" y="6"/>
                  <a:pt x="7033" y="17"/>
                </a:cubicBezTo>
                <a:cubicBezTo>
                  <a:pt x="7062" y="27"/>
                  <a:pt x="7087" y="43"/>
                  <a:pt x="7110" y="63"/>
                </a:cubicBezTo>
                <a:cubicBezTo>
                  <a:pt x="7119" y="72"/>
                  <a:pt x="7128" y="81"/>
                  <a:pt x="7135" y="90"/>
                </a:cubicBezTo>
                <a:lnTo>
                  <a:pt x="7106" y="148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8959320" y="4338360"/>
            <a:ext cx="2550600" cy="43200"/>
          </a:xfrm>
          <a:custGeom>
            <a:avLst/>
            <a:gdLst/>
            <a:ahLst/>
            <a:rect l="0" t="0" r="r" b="b"/>
            <a:pathLst>
              <a:path w="7085" h="120">
                <a:moveTo>
                  <a:pt x="49" y="0"/>
                </a:moveTo>
                <a:lnTo>
                  <a:pt x="7035" y="0"/>
                </a:lnTo>
                <a:lnTo>
                  <a:pt x="7085" y="51"/>
                </a:lnTo>
                <a:cubicBezTo>
                  <a:pt x="7062" y="73"/>
                  <a:pt x="7037" y="90"/>
                  <a:pt x="7008" y="102"/>
                </a:cubicBezTo>
                <a:cubicBezTo>
                  <a:pt x="6977" y="114"/>
                  <a:pt x="6947" y="120"/>
                  <a:pt x="6915" y="120"/>
                </a:cubicBezTo>
                <a:lnTo>
                  <a:pt x="169" y="120"/>
                </a:lnTo>
                <a:cubicBezTo>
                  <a:pt x="137" y="120"/>
                  <a:pt x="107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11491560" y="2669760"/>
            <a:ext cx="43560" cy="1687320"/>
          </a:xfrm>
          <a:custGeom>
            <a:avLst/>
            <a:gdLst/>
            <a:ahLst/>
            <a:rect l="0" t="0" r="r" b="b"/>
            <a:pathLst>
              <a:path w="121" h="4687">
                <a:moveTo>
                  <a:pt x="0" y="4639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8"/>
                  <a:pt x="102" y="43"/>
                </a:cubicBezTo>
                <a:cubicBezTo>
                  <a:pt x="114" y="69"/>
                  <a:pt x="121" y="96"/>
                  <a:pt x="121" y="124"/>
                </a:cubicBezTo>
                <a:lnTo>
                  <a:pt x="121" y="4517"/>
                </a:lnTo>
                <a:cubicBezTo>
                  <a:pt x="121" y="4549"/>
                  <a:pt x="114" y="4579"/>
                  <a:pt x="102" y="4608"/>
                </a:cubicBezTo>
                <a:cubicBezTo>
                  <a:pt x="90" y="4638"/>
                  <a:pt x="73" y="4663"/>
                  <a:pt x="51" y="4686"/>
                </a:cubicBezTo>
                <a:cubicBezTo>
                  <a:pt x="50" y="4686"/>
                  <a:pt x="50" y="4686"/>
                  <a:pt x="49" y="4687"/>
                </a:cubicBezTo>
                <a:lnTo>
                  <a:pt x="0" y="463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893412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120" y="148"/>
                </a:moveTo>
                <a:lnTo>
                  <a:pt x="120" y="4639"/>
                </a:lnTo>
                <a:lnTo>
                  <a:pt x="71" y="4687"/>
                </a:lnTo>
                <a:cubicBezTo>
                  <a:pt x="71" y="4686"/>
                  <a:pt x="71" y="4686"/>
                  <a:pt x="70" y="4686"/>
                </a:cubicBezTo>
                <a:cubicBezTo>
                  <a:pt x="48" y="4663"/>
                  <a:pt x="31" y="4638"/>
                  <a:pt x="19" y="4608"/>
                </a:cubicBezTo>
                <a:cubicBezTo>
                  <a:pt x="6" y="4579"/>
                  <a:pt x="0" y="4549"/>
                  <a:pt x="0" y="4517"/>
                </a:cubicBezTo>
                <a:lnTo>
                  <a:pt x="0" y="124"/>
                </a:lnTo>
                <a:cubicBezTo>
                  <a:pt x="0" y="96"/>
                  <a:pt x="6" y="69"/>
                  <a:pt x="19" y="43"/>
                </a:cubicBezTo>
                <a:cubicBezTo>
                  <a:pt x="26" y="28"/>
                  <a:pt x="35" y="13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343560" y="3950640"/>
            <a:ext cx="4370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figure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9101160" y="2810160"/>
            <a:ext cx="6325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REPORT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9101160" y="2971800"/>
            <a:ext cx="135324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auto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9101160" y="3693600"/>
            <a:ext cx="2087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Generated from the live run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180728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4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47640" y="1484280"/>
            <a:ext cx="1569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D E C I S I O N   1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47640" y="1726560"/>
            <a:ext cx="67125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720" b="0" u="none" strike="noStrike">
                <a:solidFill>
                  <a:srgbClr val="888888"/>
                </a:solidFill>
                <a:effectLst/>
                <a:uFillTx/>
                <a:latin typeface="Raleway"/>
                <a:ea typeface="Raleway"/>
              </a:rPr>
              <a:t>Bad salaries get a reason code, not a repair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2672640" y="4700880"/>
            <a:ext cx="13935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660" b="0" u="none" strike="noStrike">
                <a:solidFill>
                  <a:srgbClr val="FF6B1A"/>
                </a:solidFill>
                <a:effectLst/>
                <a:uFillTx/>
                <a:latin typeface="Menlo"/>
                <a:ea typeface="Menlo"/>
              </a:rPr>
              <a:t>salary_flag</a:t>
            </a:r>
            <a:endParaRPr lang="en-SG" sz="16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4158360" y="4692960"/>
            <a:ext cx="21096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660" b="0" u="none" strike="noStrike">
                <a:solidFill>
                  <a:srgbClr val="555555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SG" sz="16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4463640" y="4700880"/>
            <a:ext cx="50655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660" b="0" u="none" strike="noStrike">
                <a:solidFill>
                  <a:srgbClr val="999999"/>
                </a:solidFill>
                <a:effectLst/>
                <a:uFillTx/>
                <a:latin typeface="Menlo"/>
                <a:ea typeface="Menlo"/>
              </a:rPr>
              <a:t>undisclosed · outlier · low_stipend · ok</a:t>
            </a:r>
            <a:endParaRPr lang="en-SG" sz="16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652320" y="2457360"/>
            <a:ext cx="5362920" cy="2014920"/>
          </a:xfrm>
          <a:custGeom>
            <a:avLst/>
            <a:gdLst/>
            <a:ahLst/>
            <a:rect l="0" t="0" r="r" b="b"/>
            <a:pathLst>
              <a:path w="14897" h="5597">
                <a:moveTo>
                  <a:pt x="0" y="5345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3" y="119"/>
                  <a:pt x="42" y="106"/>
                </a:cubicBezTo>
                <a:cubicBezTo>
                  <a:pt x="51" y="93"/>
                  <a:pt x="62" y="81"/>
                  <a:pt x="74" y="69"/>
                </a:cubicBezTo>
                <a:cubicBezTo>
                  <a:pt x="85" y="58"/>
                  <a:pt x="98" y="49"/>
                  <a:pt x="112" y="40"/>
                </a:cubicBezTo>
                <a:cubicBezTo>
                  <a:pt x="125" y="31"/>
                  <a:pt x="140" y="24"/>
                  <a:pt x="155" y="18"/>
                </a:cubicBezTo>
                <a:cubicBezTo>
                  <a:pt x="170" y="12"/>
                  <a:pt x="186" y="7"/>
                  <a:pt x="202" y="4"/>
                </a:cubicBezTo>
                <a:cubicBezTo>
                  <a:pt x="218" y="1"/>
                  <a:pt x="235" y="0"/>
                  <a:pt x="251" y="0"/>
                </a:cubicBezTo>
                <a:lnTo>
                  <a:pt x="14646" y="0"/>
                </a:lnTo>
                <a:cubicBezTo>
                  <a:pt x="14662" y="0"/>
                  <a:pt x="14678" y="1"/>
                  <a:pt x="14695" y="4"/>
                </a:cubicBezTo>
                <a:cubicBezTo>
                  <a:pt x="14711" y="7"/>
                  <a:pt x="14727" y="12"/>
                  <a:pt x="14742" y="18"/>
                </a:cubicBezTo>
                <a:cubicBezTo>
                  <a:pt x="14757" y="24"/>
                  <a:pt x="14772" y="31"/>
                  <a:pt x="14785" y="40"/>
                </a:cubicBezTo>
                <a:cubicBezTo>
                  <a:pt x="14799" y="49"/>
                  <a:pt x="14812" y="58"/>
                  <a:pt x="14823" y="69"/>
                </a:cubicBezTo>
                <a:cubicBezTo>
                  <a:pt x="14835" y="81"/>
                  <a:pt x="14845" y="93"/>
                  <a:pt x="14855" y="106"/>
                </a:cubicBezTo>
                <a:cubicBezTo>
                  <a:pt x="14864" y="119"/>
                  <a:pt x="14871" y="132"/>
                  <a:pt x="14878" y="147"/>
                </a:cubicBezTo>
                <a:cubicBezTo>
                  <a:pt x="14884" y="161"/>
                  <a:pt x="14889" y="176"/>
                  <a:pt x="14892" y="191"/>
                </a:cubicBezTo>
                <a:cubicBezTo>
                  <a:pt x="14895" y="207"/>
                  <a:pt x="14897" y="222"/>
                  <a:pt x="14897" y="238"/>
                </a:cubicBezTo>
                <a:lnTo>
                  <a:pt x="14897" y="5345"/>
                </a:lnTo>
                <a:cubicBezTo>
                  <a:pt x="14897" y="5362"/>
                  <a:pt x="14895" y="5378"/>
                  <a:pt x="14892" y="5394"/>
                </a:cubicBezTo>
                <a:cubicBezTo>
                  <a:pt x="14889" y="5411"/>
                  <a:pt x="14884" y="5426"/>
                  <a:pt x="14878" y="5442"/>
                </a:cubicBezTo>
                <a:cubicBezTo>
                  <a:pt x="14871" y="5457"/>
                  <a:pt x="14864" y="5471"/>
                  <a:pt x="14855" y="5485"/>
                </a:cubicBezTo>
                <a:cubicBezTo>
                  <a:pt x="14845" y="5499"/>
                  <a:pt x="14835" y="5511"/>
                  <a:pt x="14823" y="5523"/>
                </a:cubicBezTo>
                <a:cubicBezTo>
                  <a:pt x="14812" y="5535"/>
                  <a:pt x="14799" y="5545"/>
                  <a:pt x="14785" y="5554"/>
                </a:cubicBezTo>
                <a:cubicBezTo>
                  <a:pt x="14772" y="5563"/>
                  <a:pt x="14757" y="5571"/>
                  <a:pt x="14742" y="5578"/>
                </a:cubicBezTo>
                <a:cubicBezTo>
                  <a:pt x="14727" y="5584"/>
                  <a:pt x="14711" y="5589"/>
                  <a:pt x="14695" y="5592"/>
                </a:cubicBezTo>
                <a:cubicBezTo>
                  <a:pt x="14678" y="5595"/>
                  <a:pt x="14662" y="5597"/>
                  <a:pt x="14646" y="5597"/>
                </a:cubicBezTo>
                <a:lnTo>
                  <a:pt x="251" y="5597"/>
                </a:lnTo>
                <a:cubicBezTo>
                  <a:pt x="235" y="5597"/>
                  <a:pt x="218" y="5595"/>
                  <a:pt x="202" y="5592"/>
                </a:cubicBezTo>
                <a:cubicBezTo>
                  <a:pt x="186" y="5589"/>
                  <a:pt x="170" y="5584"/>
                  <a:pt x="155" y="5578"/>
                </a:cubicBezTo>
                <a:cubicBezTo>
                  <a:pt x="140" y="5571"/>
                  <a:pt x="125" y="5563"/>
                  <a:pt x="112" y="5554"/>
                </a:cubicBezTo>
                <a:cubicBezTo>
                  <a:pt x="98" y="5545"/>
                  <a:pt x="85" y="5535"/>
                  <a:pt x="74" y="5523"/>
                </a:cubicBezTo>
                <a:cubicBezTo>
                  <a:pt x="62" y="5511"/>
                  <a:pt x="51" y="5499"/>
                  <a:pt x="42" y="5485"/>
                </a:cubicBezTo>
                <a:cubicBezTo>
                  <a:pt x="33" y="5471"/>
                  <a:pt x="25" y="5457"/>
                  <a:pt x="19" y="5442"/>
                </a:cubicBezTo>
                <a:cubicBezTo>
                  <a:pt x="13" y="5426"/>
                  <a:pt x="8" y="5411"/>
                  <a:pt x="5" y="5394"/>
                </a:cubicBezTo>
                <a:cubicBezTo>
                  <a:pt x="2" y="5378"/>
                  <a:pt x="0" y="5362"/>
                  <a:pt x="0" y="5345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672840" y="2466720"/>
            <a:ext cx="5321520" cy="53280"/>
          </a:xfrm>
          <a:custGeom>
            <a:avLst/>
            <a:gdLst/>
            <a:ahLst/>
            <a:rect l="0" t="0" r="r" b="b"/>
            <a:pathLst>
              <a:path w="14782" h="148">
                <a:moveTo>
                  <a:pt x="14753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8" y="79"/>
                  <a:pt x="16" y="71"/>
                  <a:pt x="26" y="62"/>
                </a:cubicBezTo>
                <a:cubicBezTo>
                  <a:pt x="48" y="42"/>
                  <a:pt x="74" y="27"/>
                  <a:pt x="103" y="16"/>
                </a:cubicBezTo>
                <a:cubicBezTo>
                  <a:pt x="132" y="6"/>
                  <a:pt x="163" y="0"/>
                  <a:pt x="194" y="0"/>
                </a:cubicBezTo>
                <a:lnTo>
                  <a:pt x="14589" y="0"/>
                </a:lnTo>
                <a:cubicBezTo>
                  <a:pt x="14620" y="0"/>
                  <a:pt x="14651" y="6"/>
                  <a:pt x="14680" y="16"/>
                </a:cubicBezTo>
                <a:cubicBezTo>
                  <a:pt x="14709" y="27"/>
                  <a:pt x="14735" y="42"/>
                  <a:pt x="14757" y="62"/>
                </a:cubicBezTo>
                <a:cubicBezTo>
                  <a:pt x="14766" y="71"/>
                  <a:pt x="14775" y="79"/>
                  <a:pt x="14782" y="90"/>
                </a:cubicBezTo>
                <a:lnTo>
                  <a:pt x="14753" y="148"/>
                </a:lnTo>
                <a:close/>
              </a:path>
            </a:pathLst>
          </a:custGeom>
          <a:solidFill>
            <a:srgbClr val="EF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682200" y="4424040"/>
            <a:ext cx="5303160" cy="43200"/>
          </a:xfrm>
          <a:custGeom>
            <a:avLst/>
            <a:gdLst/>
            <a:ahLst/>
            <a:rect l="0" t="0" r="r" b="b"/>
            <a:pathLst>
              <a:path w="14731" h="120">
                <a:moveTo>
                  <a:pt x="49" y="0"/>
                </a:moveTo>
                <a:lnTo>
                  <a:pt x="14682" y="0"/>
                </a:lnTo>
                <a:lnTo>
                  <a:pt x="14731" y="51"/>
                </a:lnTo>
                <a:cubicBezTo>
                  <a:pt x="14709" y="73"/>
                  <a:pt x="14683" y="90"/>
                  <a:pt x="14654" y="102"/>
                </a:cubicBezTo>
                <a:cubicBezTo>
                  <a:pt x="14625" y="114"/>
                  <a:pt x="14594" y="120"/>
                  <a:pt x="14563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2A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5967360" y="2498400"/>
            <a:ext cx="43200" cy="1944360"/>
          </a:xfrm>
          <a:custGeom>
            <a:avLst/>
            <a:gdLst/>
            <a:ahLst/>
            <a:rect l="0" t="0" r="r" b="b"/>
            <a:pathLst>
              <a:path w="120" h="5401">
                <a:moveTo>
                  <a:pt x="0" y="5353"/>
                </a:moveTo>
                <a:lnTo>
                  <a:pt x="0" y="148"/>
                </a:lnTo>
                <a:lnTo>
                  <a:pt x="75" y="0"/>
                </a:lnTo>
                <a:cubicBezTo>
                  <a:pt x="85" y="13"/>
                  <a:pt x="94" y="27"/>
                  <a:pt x="102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5231"/>
                </a:lnTo>
                <a:cubicBezTo>
                  <a:pt x="120" y="5263"/>
                  <a:pt x="114" y="5293"/>
                  <a:pt x="102" y="5322"/>
                </a:cubicBezTo>
                <a:cubicBezTo>
                  <a:pt x="89" y="5352"/>
                  <a:pt x="72" y="5377"/>
                  <a:pt x="50" y="5400"/>
                </a:cubicBezTo>
                <a:lnTo>
                  <a:pt x="49" y="5401"/>
                </a:lnTo>
                <a:lnTo>
                  <a:pt x="0" y="5353"/>
                </a:lnTo>
                <a:close/>
              </a:path>
            </a:pathLst>
          </a:custGeom>
          <a:solidFill>
            <a:srgbClr val="2A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657000" y="2498400"/>
            <a:ext cx="43200" cy="1944360"/>
          </a:xfrm>
          <a:custGeom>
            <a:avLst/>
            <a:gdLst/>
            <a:ahLst/>
            <a:rect l="0" t="0" r="r" b="b"/>
            <a:pathLst>
              <a:path w="120" h="5401">
                <a:moveTo>
                  <a:pt x="120" y="148"/>
                </a:moveTo>
                <a:lnTo>
                  <a:pt x="120" y="5353"/>
                </a:lnTo>
                <a:lnTo>
                  <a:pt x="72" y="5401"/>
                </a:lnTo>
                <a:lnTo>
                  <a:pt x="71" y="5400"/>
                </a:lnTo>
                <a:cubicBezTo>
                  <a:pt x="49" y="5377"/>
                  <a:pt x="31" y="5352"/>
                  <a:pt x="18" y="5322"/>
                </a:cubicBezTo>
                <a:cubicBezTo>
                  <a:pt x="6" y="5293"/>
                  <a:pt x="0" y="5263"/>
                  <a:pt x="0" y="5231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6" y="27"/>
                  <a:pt x="35" y="13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2A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828360" y="3895560"/>
            <a:ext cx="5010480" cy="9720"/>
          </a:xfrm>
          <a:custGeom>
            <a:avLst/>
            <a:gdLst/>
            <a:ahLst/>
            <a:rect l="0" t="0" r="r" b="b"/>
            <a:pathLst>
              <a:path w="13918" h="27">
                <a:moveTo>
                  <a:pt x="0" y="0"/>
                </a:moveTo>
                <a:lnTo>
                  <a:pt x="13918" y="0"/>
                </a:lnTo>
                <a:lnTo>
                  <a:pt x="139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839520" y="2744640"/>
            <a:ext cx="111600" cy="111600"/>
          </a:xfrm>
          <a:custGeom>
            <a:avLst/>
            <a:gdLst/>
            <a:ahLst/>
            <a:rect l="0" t="0" r="r" b="b"/>
            <a:pathLst>
              <a:path w="310" h="310">
                <a:moveTo>
                  <a:pt x="310" y="154"/>
                </a:moveTo>
                <a:cubicBezTo>
                  <a:pt x="310" y="164"/>
                  <a:pt x="309" y="174"/>
                  <a:pt x="307" y="184"/>
                </a:cubicBezTo>
                <a:cubicBezTo>
                  <a:pt x="305" y="194"/>
                  <a:pt x="302" y="204"/>
                  <a:pt x="298" y="213"/>
                </a:cubicBezTo>
                <a:cubicBezTo>
                  <a:pt x="294" y="223"/>
                  <a:pt x="290" y="233"/>
                  <a:pt x="283" y="241"/>
                </a:cubicBezTo>
                <a:cubicBezTo>
                  <a:pt x="277" y="249"/>
                  <a:pt x="271" y="257"/>
                  <a:pt x="264" y="264"/>
                </a:cubicBezTo>
                <a:cubicBezTo>
                  <a:pt x="257" y="272"/>
                  <a:pt x="249" y="278"/>
                  <a:pt x="240" y="284"/>
                </a:cubicBezTo>
                <a:cubicBezTo>
                  <a:pt x="232" y="289"/>
                  <a:pt x="223" y="294"/>
                  <a:pt x="214" y="298"/>
                </a:cubicBezTo>
                <a:cubicBezTo>
                  <a:pt x="204" y="302"/>
                  <a:pt x="195" y="305"/>
                  <a:pt x="185" y="307"/>
                </a:cubicBezTo>
                <a:cubicBezTo>
                  <a:pt x="175" y="309"/>
                  <a:pt x="165" y="310"/>
                  <a:pt x="155" y="310"/>
                </a:cubicBezTo>
                <a:cubicBezTo>
                  <a:pt x="144" y="310"/>
                  <a:pt x="134" y="309"/>
                  <a:pt x="124" y="307"/>
                </a:cubicBezTo>
                <a:cubicBezTo>
                  <a:pt x="115" y="305"/>
                  <a:pt x="105" y="302"/>
                  <a:pt x="96" y="298"/>
                </a:cubicBezTo>
                <a:cubicBezTo>
                  <a:pt x="86" y="294"/>
                  <a:pt x="77" y="289"/>
                  <a:pt x="69" y="284"/>
                </a:cubicBezTo>
                <a:cubicBezTo>
                  <a:pt x="60" y="278"/>
                  <a:pt x="53" y="272"/>
                  <a:pt x="45" y="264"/>
                </a:cubicBezTo>
                <a:cubicBezTo>
                  <a:pt x="38" y="257"/>
                  <a:pt x="32" y="249"/>
                  <a:pt x="26" y="241"/>
                </a:cubicBezTo>
                <a:cubicBezTo>
                  <a:pt x="21" y="233"/>
                  <a:pt x="16" y="223"/>
                  <a:pt x="12" y="213"/>
                </a:cubicBezTo>
                <a:cubicBezTo>
                  <a:pt x="8" y="204"/>
                  <a:pt x="5" y="194"/>
                  <a:pt x="3" y="184"/>
                </a:cubicBezTo>
                <a:cubicBezTo>
                  <a:pt x="1" y="174"/>
                  <a:pt x="0" y="164"/>
                  <a:pt x="0" y="154"/>
                </a:cubicBezTo>
                <a:cubicBezTo>
                  <a:pt x="0" y="144"/>
                  <a:pt x="1" y="134"/>
                  <a:pt x="3" y="124"/>
                </a:cubicBezTo>
                <a:cubicBezTo>
                  <a:pt x="5" y="114"/>
                  <a:pt x="8" y="105"/>
                  <a:pt x="12" y="95"/>
                </a:cubicBezTo>
                <a:cubicBezTo>
                  <a:pt x="16" y="86"/>
                  <a:pt x="21" y="77"/>
                  <a:pt x="26" y="69"/>
                </a:cubicBezTo>
                <a:cubicBezTo>
                  <a:pt x="32" y="60"/>
                  <a:pt x="38" y="52"/>
                  <a:pt x="45" y="45"/>
                </a:cubicBezTo>
                <a:cubicBezTo>
                  <a:pt x="53" y="38"/>
                  <a:pt x="60" y="32"/>
                  <a:pt x="69" y="26"/>
                </a:cubicBezTo>
                <a:cubicBezTo>
                  <a:pt x="77" y="20"/>
                  <a:pt x="86" y="16"/>
                  <a:pt x="96" y="12"/>
                </a:cubicBezTo>
                <a:cubicBezTo>
                  <a:pt x="105" y="8"/>
                  <a:pt x="115" y="5"/>
                  <a:pt x="124" y="3"/>
                </a:cubicBezTo>
                <a:cubicBezTo>
                  <a:pt x="134" y="1"/>
                  <a:pt x="144" y="0"/>
                  <a:pt x="155" y="0"/>
                </a:cubicBezTo>
                <a:cubicBezTo>
                  <a:pt x="165" y="0"/>
                  <a:pt x="175" y="1"/>
                  <a:pt x="185" y="3"/>
                </a:cubicBezTo>
                <a:cubicBezTo>
                  <a:pt x="195" y="5"/>
                  <a:pt x="204" y="8"/>
                  <a:pt x="214" y="12"/>
                </a:cubicBezTo>
                <a:cubicBezTo>
                  <a:pt x="223" y="16"/>
                  <a:pt x="232" y="20"/>
                  <a:pt x="240" y="26"/>
                </a:cubicBezTo>
                <a:cubicBezTo>
                  <a:pt x="249" y="32"/>
                  <a:pt x="257" y="38"/>
                  <a:pt x="264" y="45"/>
                </a:cubicBezTo>
                <a:cubicBezTo>
                  <a:pt x="271" y="52"/>
                  <a:pt x="277" y="60"/>
                  <a:pt x="283" y="69"/>
                </a:cubicBezTo>
                <a:cubicBezTo>
                  <a:pt x="290" y="77"/>
                  <a:pt x="294" y="86"/>
                  <a:pt x="298" y="95"/>
                </a:cubicBezTo>
                <a:cubicBezTo>
                  <a:pt x="302" y="105"/>
                  <a:pt x="305" y="114"/>
                  <a:pt x="307" y="124"/>
                </a:cubicBezTo>
                <a:cubicBezTo>
                  <a:pt x="309" y="134"/>
                  <a:pt x="310" y="144"/>
                  <a:pt x="310" y="154"/>
                </a:cubicBezTo>
                <a:close/>
              </a:path>
            </a:pathLst>
          </a:custGeom>
          <a:noFill/>
          <a:ln w="8280">
            <a:solidFill>
              <a:srgbClr val="EF4444"/>
            </a:solidFill>
            <a:miter/>
          </a:ln>
        </p:spPr>
        <p:txBody>
          <a:bodyPr lIns="3960" tIns="3960" rIns="3960" bIns="396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 flipH="1">
            <a:off x="878400" y="2783520"/>
            <a:ext cx="33840" cy="33840"/>
          </a:xfrm>
          <a:prstGeom prst="line">
            <a:avLst/>
          </a:prstGeom>
          <a:ln w="8280">
            <a:solidFill>
              <a:srgbClr val="EF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878400" y="2783520"/>
            <a:ext cx="33840" cy="33840"/>
          </a:xfrm>
          <a:prstGeom prst="line">
            <a:avLst/>
          </a:prstGeom>
          <a:ln w="8280">
            <a:solidFill>
              <a:srgbClr val="EF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1765080" y="5060880"/>
            <a:ext cx="867096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Same treatment at both ends. Only the number differs — and only when there's nothing real to keep.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1038240" y="2640240"/>
            <a:ext cx="848160" cy="31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40" b="1" u="none" strike="noStrike">
                <a:solidFill>
                  <a:srgbClr val="EF4444"/>
                </a:solidFill>
                <a:effectLst/>
                <a:uFillTx/>
                <a:latin typeface="Outfit-Thin_"/>
                <a:ea typeface="Outfit-Thin_"/>
              </a:rPr>
              <a:t>$1 – $1</a:t>
            </a:r>
            <a:endParaRPr lang="en-SG" sz="1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828720" y="3098520"/>
            <a:ext cx="471168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FFFFFF"/>
                </a:solidFill>
                <a:effectLst/>
                <a:uFillTx/>
                <a:latin typeface="RalewayRoman"/>
                <a:ea typeface="RalewayRoman"/>
              </a:rPr>
              <a:t>1,804 postings.</a:t>
            </a:r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A required-field placeholder — no real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828720" y="3441600"/>
            <a:ext cx="322776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number to preserve at any resolution.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6176880" y="2457360"/>
            <a:ext cx="5362920" cy="2014920"/>
          </a:xfrm>
          <a:custGeom>
            <a:avLst/>
            <a:gdLst/>
            <a:ahLst/>
            <a:rect l="0" t="0" r="r" b="b"/>
            <a:pathLst>
              <a:path w="14897" h="5597">
                <a:moveTo>
                  <a:pt x="0" y="5345"/>
                </a:moveTo>
                <a:lnTo>
                  <a:pt x="0" y="238"/>
                </a:lnTo>
                <a:cubicBezTo>
                  <a:pt x="0" y="222"/>
                  <a:pt x="1" y="207"/>
                  <a:pt x="5" y="191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3" y="119"/>
                  <a:pt x="42" y="106"/>
                </a:cubicBezTo>
                <a:cubicBezTo>
                  <a:pt x="51" y="93"/>
                  <a:pt x="62" y="81"/>
                  <a:pt x="73" y="69"/>
                </a:cubicBezTo>
                <a:cubicBezTo>
                  <a:pt x="85" y="58"/>
                  <a:pt x="98" y="49"/>
                  <a:pt x="111" y="40"/>
                </a:cubicBezTo>
                <a:cubicBezTo>
                  <a:pt x="125" y="31"/>
                  <a:pt x="140" y="24"/>
                  <a:pt x="155" y="18"/>
                </a:cubicBezTo>
                <a:cubicBezTo>
                  <a:pt x="170" y="12"/>
                  <a:pt x="186" y="7"/>
                  <a:pt x="202" y="4"/>
                </a:cubicBezTo>
                <a:cubicBezTo>
                  <a:pt x="218" y="1"/>
                  <a:pt x="235" y="0"/>
                  <a:pt x="251" y="0"/>
                </a:cubicBezTo>
                <a:lnTo>
                  <a:pt x="14645" y="0"/>
                </a:lnTo>
                <a:cubicBezTo>
                  <a:pt x="14662" y="0"/>
                  <a:pt x="14678" y="1"/>
                  <a:pt x="14694" y="4"/>
                </a:cubicBezTo>
                <a:cubicBezTo>
                  <a:pt x="14711" y="7"/>
                  <a:pt x="14726" y="12"/>
                  <a:pt x="14742" y="18"/>
                </a:cubicBezTo>
                <a:cubicBezTo>
                  <a:pt x="14757" y="24"/>
                  <a:pt x="14771" y="31"/>
                  <a:pt x="14785" y="40"/>
                </a:cubicBezTo>
                <a:cubicBezTo>
                  <a:pt x="14799" y="49"/>
                  <a:pt x="14811" y="58"/>
                  <a:pt x="14823" y="69"/>
                </a:cubicBezTo>
                <a:cubicBezTo>
                  <a:pt x="14835" y="81"/>
                  <a:pt x="14845" y="93"/>
                  <a:pt x="14854" y="106"/>
                </a:cubicBezTo>
                <a:cubicBezTo>
                  <a:pt x="14864" y="119"/>
                  <a:pt x="14871" y="132"/>
                  <a:pt x="14878" y="147"/>
                </a:cubicBezTo>
                <a:cubicBezTo>
                  <a:pt x="14884" y="161"/>
                  <a:pt x="14889" y="176"/>
                  <a:pt x="14892" y="191"/>
                </a:cubicBezTo>
                <a:cubicBezTo>
                  <a:pt x="14895" y="207"/>
                  <a:pt x="14897" y="222"/>
                  <a:pt x="14897" y="238"/>
                </a:cubicBezTo>
                <a:lnTo>
                  <a:pt x="14897" y="5345"/>
                </a:lnTo>
                <a:cubicBezTo>
                  <a:pt x="14897" y="5362"/>
                  <a:pt x="14895" y="5378"/>
                  <a:pt x="14892" y="5394"/>
                </a:cubicBezTo>
                <a:cubicBezTo>
                  <a:pt x="14889" y="5411"/>
                  <a:pt x="14884" y="5426"/>
                  <a:pt x="14878" y="5442"/>
                </a:cubicBezTo>
                <a:cubicBezTo>
                  <a:pt x="14871" y="5457"/>
                  <a:pt x="14864" y="5471"/>
                  <a:pt x="14854" y="5485"/>
                </a:cubicBezTo>
                <a:cubicBezTo>
                  <a:pt x="14845" y="5499"/>
                  <a:pt x="14835" y="5511"/>
                  <a:pt x="14823" y="5523"/>
                </a:cubicBezTo>
                <a:cubicBezTo>
                  <a:pt x="14811" y="5535"/>
                  <a:pt x="14799" y="5545"/>
                  <a:pt x="14785" y="5554"/>
                </a:cubicBezTo>
                <a:cubicBezTo>
                  <a:pt x="14771" y="5563"/>
                  <a:pt x="14757" y="5571"/>
                  <a:pt x="14742" y="5578"/>
                </a:cubicBezTo>
                <a:cubicBezTo>
                  <a:pt x="14726" y="5584"/>
                  <a:pt x="14711" y="5589"/>
                  <a:pt x="14694" y="5592"/>
                </a:cubicBezTo>
                <a:cubicBezTo>
                  <a:pt x="14678" y="5595"/>
                  <a:pt x="14662" y="5597"/>
                  <a:pt x="14645" y="5597"/>
                </a:cubicBezTo>
                <a:lnTo>
                  <a:pt x="251" y="5597"/>
                </a:lnTo>
                <a:cubicBezTo>
                  <a:pt x="235" y="5597"/>
                  <a:pt x="218" y="5595"/>
                  <a:pt x="202" y="5592"/>
                </a:cubicBezTo>
                <a:cubicBezTo>
                  <a:pt x="186" y="5589"/>
                  <a:pt x="170" y="5584"/>
                  <a:pt x="155" y="5578"/>
                </a:cubicBezTo>
                <a:cubicBezTo>
                  <a:pt x="140" y="5571"/>
                  <a:pt x="125" y="5563"/>
                  <a:pt x="111" y="5554"/>
                </a:cubicBezTo>
                <a:cubicBezTo>
                  <a:pt x="98" y="5545"/>
                  <a:pt x="85" y="5535"/>
                  <a:pt x="73" y="5523"/>
                </a:cubicBezTo>
                <a:cubicBezTo>
                  <a:pt x="62" y="5511"/>
                  <a:pt x="51" y="5499"/>
                  <a:pt x="42" y="5485"/>
                </a:cubicBezTo>
                <a:cubicBezTo>
                  <a:pt x="33" y="5471"/>
                  <a:pt x="25" y="5457"/>
                  <a:pt x="19" y="5442"/>
                </a:cubicBezTo>
                <a:cubicBezTo>
                  <a:pt x="13" y="5426"/>
                  <a:pt x="8" y="5411"/>
                  <a:pt x="5" y="5394"/>
                </a:cubicBezTo>
                <a:cubicBezTo>
                  <a:pt x="1" y="5378"/>
                  <a:pt x="0" y="5362"/>
                  <a:pt x="0" y="5345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6197400" y="2466720"/>
            <a:ext cx="5321520" cy="53280"/>
          </a:xfrm>
          <a:custGeom>
            <a:avLst/>
            <a:gdLst/>
            <a:ahLst/>
            <a:rect l="0" t="0" r="r" b="b"/>
            <a:pathLst>
              <a:path w="14782" h="148">
                <a:moveTo>
                  <a:pt x="14753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8" y="79"/>
                  <a:pt x="16" y="71"/>
                  <a:pt x="26" y="62"/>
                </a:cubicBezTo>
                <a:cubicBezTo>
                  <a:pt x="48" y="42"/>
                  <a:pt x="74" y="27"/>
                  <a:pt x="103" y="16"/>
                </a:cubicBezTo>
                <a:cubicBezTo>
                  <a:pt x="132" y="6"/>
                  <a:pt x="163" y="0"/>
                  <a:pt x="194" y="0"/>
                </a:cubicBezTo>
                <a:lnTo>
                  <a:pt x="14588" y="0"/>
                </a:lnTo>
                <a:cubicBezTo>
                  <a:pt x="14620" y="0"/>
                  <a:pt x="14650" y="6"/>
                  <a:pt x="14680" y="16"/>
                </a:cubicBezTo>
                <a:cubicBezTo>
                  <a:pt x="14709" y="27"/>
                  <a:pt x="14734" y="42"/>
                  <a:pt x="14757" y="62"/>
                </a:cubicBezTo>
                <a:cubicBezTo>
                  <a:pt x="14766" y="71"/>
                  <a:pt x="14775" y="79"/>
                  <a:pt x="14782" y="90"/>
                </a:cubicBezTo>
                <a:lnTo>
                  <a:pt x="14753" y="148"/>
                </a:lnTo>
                <a:close/>
              </a:path>
            </a:pathLst>
          </a:custGeom>
          <a:solidFill>
            <a:srgbClr val="F5A62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6206760" y="4424040"/>
            <a:ext cx="5303160" cy="43200"/>
          </a:xfrm>
          <a:custGeom>
            <a:avLst/>
            <a:gdLst/>
            <a:ahLst/>
            <a:rect l="0" t="0" r="r" b="b"/>
            <a:pathLst>
              <a:path w="14731" h="120">
                <a:moveTo>
                  <a:pt x="49" y="0"/>
                </a:moveTo>
                <a:lnTo>
                  <a:pt x="14681" y="0"/>
                </a:lnTo>
                <a:lnTo>
                  <a:pt x="14731" y="51"/>
                </a:lnTo>
                <a:cubicBezTo>
                  <a:pt x="14708" y="73"/>
                  <a:pt x="14683" y="90"/>
                  <a:pt x="14654" y="102"/>
                </a:cubicBezTo>
                <a:cubicBezTo>
                  <a:pt x="14624" y="114"/>
                  <a:pt x="14594" y="120"/>
                  <a:pt x="14562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2A2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11491560" y="2498400"/>
            <a:ext cx="43560" cy="1944360"/>
          </a:xfrm>
          <a:custGeom>
            <a:avLst/>
            <a:gdLst/>
            <a:ahLst/>
            <a:rect l="0" t="0" r="r" b="b"/>
            <a:pathLst>
              <a:path w="121" h="5401">
                <a:moveTo>
                  <a:pt x="0" y="5353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7"/>
                  <a:pt x="102" y="43"/>
                </a:cubicBezTo>
                <a:cubicBezTo>
                  <a:pt x="114" y="69"/>
                  <a:pt x="121" y="96"/>
                  <a:pt x="121" y="124"/>
                </a:cubicBezTo>
                <a:lnTo>
                  <a:pt x="121" y="5231"/>
                </a:lnTo>
                <a:cubicBezTo>
                  <a:pt x="121" y="5263"/>
                  <a:pt x="114" y="5293"/>
                  <a:pt x="102" y="5322"/>
                </a:cubicBezTo>
                <a:cubicBezTo>
                  <a:pt x="90" y="5352"/>
                  <a:pt x="73" y="5377"/>
                  <a:pt x="51" y="5400"/>
                </a:cubicBezTo>
                <a:cubicBezTo>
                  <a:pt x="50" y="5400"/>
                  <a:pt x="50" y="5401"/>
                  <a:pt x="49" y="5401"/>
                </a:cubicBezTo>
                <a:lnTo>
                  <a:pt x="0" y="5353"/>
                </a:lnTo>
                <a:close/>
              </a:path>
            </a:pathLst>
          </a:custGeom>
          <a:solidFill>
            <a:srgbClr val="2A2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6181560" y="2498400"/>
            <a:ext cx="43200" cy="1944360"/>
          </a:xfrm>
          <a:custGeom>
            <a:avLst/>
            <a:gdLst/>
            <a:ahLst/>
            <a:rect l="0" t="0" r="r" b="b"/>
            <a:pathLst>
              <a:path w="120" h="5401">
                <a:moveTo>
                  <a:pt x="120" y="148"/>
                </a:moveTo>
                <a:lnTo>
                  <a:pt x="120" y="5353"/>
                </a:lnTo>
                <a:lnTo>
                  <a:pt x="72" y="5401"/>
                </a:lnTo>
                <a:lnTo>
                  <a:pt x="71" y="5400"/>
                </a:lnTo>
                <a:cubicBezTo>
                  <a:pt x="48" y="5377"/>
                  <a:pt x="31" y="5352"/>
                  <a:pt x="18" y="5322"/>
                </a:cubicBezTo>
                <a:cubicBezTo>
                  <a:pt x="6" y="5293"/>
                  <a:pt x="0" y="5263"/>
                  <a:pt x="0" y="5231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6" y="27"/>
                  <a:pt x="35" y="13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2A2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6352920" y="3895560"/>
            <a:ext cx="5010480" cy="9720"/>
          </a:xfrm>
          <a:custGeom>
            <a:avLst/>
            <a:gdLst/>
            <a:ahLst/>
            <a:rect l="0" t="0" r="r" b="b"/>
            <a:pathLst>
              <a:path w="13918" h="27">
                <a:moveTo>
                  <a:pt x="0" y="0"/>
                </a:moveTo>
                <a:lnTo>
                  <a:pt x="13918" y="0"/>
                </a:lnTo>
                <a:lnTo>
                  <a:pt x="139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6361560" y="2749680"/>
            <a:ext cx="116640" cy="100800"/>
          </a:xfrm>
          <a:custGeom>
            <a:avLst/>
            <a:gdLst/>
            <a:ahLst/>
            <a:rect l="0" t="0" r="r" b="b"/>
            <a:pathLst>
              <a:path w="324" h="280">
                <a:moveTo>
                  <a:pt x="135" y="15"/>
                </a:moveTo>
                <a:lnTo>
                  <a:pt x="4" y="234"/>
                </a:lnTo>
                <a:cubicBezTo>
                  <a:pt x="2" y="239"/>
                  <a:pt x="0" y="244"/>
                  <a:pt x="0" y="249"/>
                </a:cubicBezTo>
                <a:cubicBezTo>
                  <a:pt x="0" y="255"/>
                  <a:pt x="1" y="260"/>
                  <a:pt x="4" y="265"/>
                </a:cubicBezTo>
                <a:cubicBezTo>
                  <a:pt x="7" y="269"/>
                  <a:pt x="11" y="273"/>
                  <a:pt x="15" y="276"/>
                </a:cubicBezTo>
                <a:cubicBezTo>
                  <a:pt x="20" y="279"/>
                  <a:pt x="25" y="280"/>
                  <a:pt x="31" y="280"/>
                </a:cubicBezTo>
                <a:lnTo>
                  <a:pt x="293" y="280"/>
                </a:lnTo>
                <a:cubicBezTo>
                  <a:pt x="299" y="280"/>
                  <a:pt x="304" y="279"/>
                  <a:pt x="308" y="276"/>
                </a:cubicBezTo>
                <a:cubicBezTo>
                  <a:pt x="313" y="273"/>
                  <a:pt x="317" y="269"/>
                  <a:pt x="320" y="265"/>
                </a:cubicBezTo>
                <a:cubicBezTo>
                  <a:pt x="322" y="260"/>
                  <a:pt x="324" y="255"/>
                  <a:pt x="324" y="249"/>
                </a:cubicBezTo>
                <a:cubicBezTo>
                  <a:pt x="324" y="244"/>
                  <a:pt x="322" y="239"/>
                  <a:pt x="320" y="234"/>
                </a:cubicBezTo>
                <a:lnTo>
                  <a:pt x="188" y="15"/>
                </a:lnTo>
                <a:cubicBezTo>
                  <a:pt x="185" y="10"/>
                  <a:pt x="181" y="6"/>
                  <a:pt x="177" y="4"/>
                </a:cubicBezTo>
                <a:cubicBezTo>
                  <a:pt x="172" y="1"/>
                  <a:pt x="167" y="0"/>
                  <a:pt x="161" y="0"/>
                </a:cubicBezTo>
                <a:cubicBezTo>
                  <a:pt x="156" y="0"/>
                  <a:pt x="151" y="1"/>
                  <a:pt x="146" y="4"/>
                </a:cubicBezTo>
                <a:cubicBezTo>
                  <a:pt x="142" y="6"/>
                  <a:pt x="138" y="10"/>
                  <a:pt x="135" y="15"/>
                </a:cubicBezTo>
                <a:close/>
              </a:path>
            </a:pathLst>
          </a:custGeom>
          <a:noFill/>
          <a:ln w="8280">
            <a:solidFill>
              <a:srgbClr val="F5A623"/>
            </a:solidFill>
            <a:miter/>
          </a:ln>
        </p:spPr>
        <p:txBody>
          <a:bodyPr lIns="3960" tIns="3960" rIns="3960" bIns="396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6419520" y="2783520"/>
            <a:ext cx="0" cy="22320"/>
          </a:xfrm>
          <a:prstGeom prst="line">
            <a:avLst/>
          </a:prstGeom>
          <a:ln w="8280">
            <a:solidFill>
              <a:srgbClr val="F5A62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828720" y="4024800"/>
            <a:ext cx="28159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30" b="1" u="none" strike="noStrike">
                <a:solidFill>
                  <a:srgbClr val="EF4444"/>
                </a:solidFill>
                <a:effectLst/>
                <a:uFillTx/>
                <a:latin typeface="Outfit-Thin_"/>
                <a:ea typeface="Outfit-Thin_"/>
              </a:rPr>
              <a:t>NULLED</a:t>
            </a:r>
            <a:r>
              <a:rPr lang="en-SG" sz="143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 · </a:t>
            </a:r>
            <a:r>
              <a:rPr lang="en-SG" sz="143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9,577 rows · under 1%</a:t>
            </a:r>
            <a:endParaRPr lang="en-SG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562800" y="2640240"/>
            <a:ext cx="2076120" cy="31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40" b="1" u="none" strike="noStrike">
                <a:solidFill>
                  <a:srgbClr val="F5A623"/>
                </a:solidFill>
                <a:effectLst/>
                <a:uFillTx/>
                <a:latin typeface="Outfit-Thin_"/>
                <a:ea typeface="Outfit-Thin_"/>
              </a:rPr>
              <a:t>$150,000 / month</a:t>
            </a:r>
            <a:endParaRPr lang="en-SG" sz="1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6353280" y="3098520"/>
            <a:ext cx="465804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FFFFFF"/>
                </a:solidFill>
                <a:effectLst/>
                <a:uFillTx/>
                <a:latin typeface="RalewayRoman"/>
                <a:ea typeface="RalewayRoman"/>
              </a:rPr>
              <a:t>269 postings.</a:t>
            </a:r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Real C-suite role, or a missing decimal?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6353280" y="3441600"/>
            <a:ext cx="336780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Depends on the question being asked.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6353280" y="4024800"/>
            <a:ext cx="361836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30" b="1" u="none" strike="noStrike">
                <a:solidFill>
                  <a:srgbClr val="F5A623"/>
                </a:solidFill>
                <a:effectLst/>
                <a:uFillTx/>
                <a:latin typeface="Outfit-Thin_"/>
                <a:ea typeface="Outfit-Thin_"/>
              </a:rPr>
              <a:t>FLAGGED, KEPT</a:t>
            </a:r>
            <a:r>
              <a:rPr lang="en-SG" sz="143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 · </a:t>
            </a:r>
            <a:r>
              <a:rPr lang="en-SG" sz="143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analysis filters in 1 line</a:t>
            </a:r>
            <a:endParaRPr lang="en-SG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181664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5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47640" y="1131840"/>
            <a:ext cx="15699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D E C I S I O N   2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47640" y="1374120"/>
            <a:ext cx="65286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720" b="0" u="none" strike="noStrike">
                <a:solidFill>
                  <a:srgbClr val="888888"/>
                </a:solidFill>
                <a:effectLst/>
                <a:uFillTx/>
                <a:latin typeface="Raleway"/>
                <a:ea typeface="Raleway"/>
              </a:rPr>
              <a:t>Four conversions that aren't housekeeping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026960" y="3070440"/>
            <a:ext cx="333000" cy="39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610" b="0" u="none" strike="noStrike">
                <a:solidFill>
                  <a:srgbClr val="FF6B1A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SG" sz="26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652320" y="4605120"/>
            <a:ext cx="5372280" cy="1086120"/>
          </a:xfrm>
          <a:custGeom>
            <a:avLst/>
            <a:gdLst/>
            <a:ahLst/>
            <a:rect l="0" t="0" r="r" b="b"/>
            <a:pathLst>
              <a:path w="14923" h="3017">
                <a:moveTo>
                  <a:pt x="0" y="281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14725" y="0"/>
                </a:lnTo>
                <a:cubicBezTo>
                  <a:pt x="14738" y="0"/>
                  <a:pt x="14751" y="1"/>
                  <a:pt x="14764" y="4"/>
                </a:cubicBezTo>
                <a:cubicBezTo>
                  <a:pt x="14776" y="6"/>
                  <a:pt x="14789" y="10"/>
                  <a:pt x="14801" y="15"/>
                </a:cubicBezTo>
                <a:cubicBezTo>
                  <a:pt x="14813" y="20"/>
                  <a:pt x="14824" y="26"/>
                  <a:pt x="14835" y="34"/>
                </a:cubicBezTo>
                <a:cubicBezTo>
                  <a:pt x="14846" y="41"/>
                  <a:pt x="14856" y="49"/>
                  <a:pt x="14865" y="58"/>
                </a:cubicBezTo>
                <a:cubicBezTo>
                  <a:pt x="14874" y="67"/>
                  <a:pt x="14883" y="77"/>
                  <a:pt x="14890" y="88"/>
                </a:cubicBezTo>
                <a:cubicBezTo>
                  <a:pt x="14897" y="99"/>
                  <a:pt x="14903" y="111"/>
                  <a:pt x="14908" y="123"/>
                </a:cubicBezTo>
                <a:cubicBezTo>
                  <a:pt x="14913" y="135"/>
                  <a:pt x="14917" y="147"/>
                  <a:pt x="14920" y="160"/>
                </a:cubicBezTo>
                <a:cubicBezTo>
                  <a:pt x="14922" y="173"/>
                  <a:pt x="14923" y="186"/>
                  <a:pt x="14923" y="199"/>
                </a:cubicBezTo>
                <a:lnTo>
                  <a:pt x="14923" y="2819"/>
                </a:lnTo>
                <a:cubicBezTo>
                  <a:pt x="14923" y="2832"/>
                  <a:pt x="14922" y="2845"/>
                  <a:pt x="14920" y="2858"/>
                </a:cubicBezTo>
                <a:cubicBezTo>
                  <a:pt x="14917" y="2870"/>
                  <a:pt x="14913" y="2883"/>
                  <a:pt x="14908" y="2895"/>
                </a:cubicBezTo>
                <a:cubicBezTo>
                  <a:pt x="14903" y="2907"/>
                  <a:pt x="14897" y="2918"/>
                  <a:pt x="14890" y="2929"/>
                </a:cubicBezTo>
                <a:cubicBezTo>
                  <a:pt x="14883" y="2940"/>
                  <a:pt x="14874" y="2950"/>
                  <a:pt x="14865" y="2959"/>
                </a:cubicBezTo>
                <a:cubicBezTo>
                  <a:pt x="14856" y="2968"/>
                  <a:pt x="14846" y="2977"/>
                  <a:pt x="14835" y="2984"/>
                </a:cubicBezTo>
                <a:cubicBezTo>
                  <a:pt x="14824" y="2991"/>
                  <a:pt x="14813" y="2997"/>
                  <a:pt x="14801" y="3002"/>
                </a:cubicBezTo>
                <a:cubicBezTo>
                  <a:pt x="14789" y="3007"/>
                  <a:pt x="14776" y="3011"/>
                  <a:pt x="14764" y="3014"/>
                </a:cubicBezTo>
                <a:cubicBezTo>
                  <a:pt x="14751" y="3016"/>
                  <a:pt x="14738" y="3017"/>
                  <a:pt x="14725" y="3017"/>
                </a:cubicBezTo>
                <a:lnTo>
                  <a:pt x="198" y="3017"/>
                </a:lnTo>
                <a:cubicBezTo>
                  <a:pt x="185" y="3017"/>
                  <a:pt x="172" y="3016"/>
                  <a:pt x="160" y="3014"/>
                </a:cubicBezTo>
                <a:cubicBezTo>
                  <a:pt x="147" y="3011"/>
                  <a:pt x="134" y="3007"/>
                  <a:pt x="122" y="3002"/>
                </a:cubicBezTo>
                <a:cubicBezTo>
                  <a:pt x="110" y="2997"/>
                  <a:pt x="99" y="2991"/>
                  <a:pt x="88" y="2984"/>
                </a:cubicBezTo>
                <a:cubicBezTo>
                  <a:pt x="77" y="2977"/>
                  <a:pt x="67" y="2968"/>
                  <a:pt x="58" y="2959"/>
                </a:cubicBezTo>
                <a:cubicBezTo>
                  <a:pt x="49" y="2950"/>
                  <a:pt x="41" y="2940"/>
                  <a:pt x="33" y="2929"/>
                </a:cubicBezTo>
                <a:cubicBezTo>
                  <a:pt x="26" y="2918"/>
                  <a:pt x="20" y="2907"/>
                  <a:pt x="15" y="2895"/>
                </a:cubicBezTo>
                <a:cubicBezTo>
                  <a:pt x="10" y="2883"/>
                  <a:pt x="6" y="2870"/>
                  <a:pt x="4" y="2858"/>
                </a:cubicBezTo>
                <a:cubicBezTo>
                  <a:pt x="1" y="2845"/>
                  <a:pt x="0" y="2832"/>
                  <a:pt x="0" y="2819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652320" y="4605120"/>
            <a:ext cx="5372280" cy="1086120"/>
          </a:xfrm>
          <a:custGeom>
            <a:avLst/>
            <a:gdLst/>
            <a:ahLst/>
            <a:rect l="0" t="0" r="r" b="b"/>
            <a:pathLst>
              <a:path w="14923" h="3017">
                <a:moveTo>
                  <a:pt x="0" y="281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14725" y="0"/>
                </a:lnTo>
                <a:cubicBezTo>
                  <a:pt x="14738" y="0"/>
                  <a:pt x="14751" y="1"/>
                  <a:pt x="14764" y="4"/>
                </a:cubicBezTo>
                <a:cubicBezTo>
                  <a:pt x="14776" y="6"/>
                  <a:pt x="14789" y="10"/>
                  <a:pt x="14801" y="15"/>
                </a:cubicBezTo>
                <a:cubicBezTo>
                  <a:pt x="14813" y="20"/>
                  <a:pt x="14824" y="26"/>
                  <a:pt x="14835" y="34"/>
                </a:cubicBezTo>
                <a:cubicBezTo>
                  <a:pt x="14846" y="41"/>
                  <a:pt x="14856" y="49"/>
                  <a:pt x="14865" y="58"/>
                </a:cubicBezTo>
                <a:cubicBezTo>
                  <a:pt x="14874" y="67"/>
                  <a:pt x="14883" y="77"/>
                  <a:pt x="14890" y="88"/>
                </a:cubicBezTo>
                <a:cubicBezTo>
                  <a:pt x="14897" y="99"/>
                  <a:pt x="14903" y="111"/>
                  <a:pt x="14908" y="123"/>
                </a:cubicBezTo>
                <a:cubicBezTo>
                  <a:pt x="14913" y="135"/>
                  <a:pt x="14917" y="147"/>
                  <a:pt x="14920" y="160"/>
                </a:cubicBezTo>
                <a:cubicBezTo>
                  <a:pt x="14922" y="173"/>
                  <a:pt x="14923" y="186"/>
                  <a:pt x="14923" y="199"/>
                </a:cubicBezTo>
                <a:lnTo>
                  <a:pt x="14923" y="2819"/>
                </a:lnTo>
                <a:cubicBezTo>
                  <a:pt x="14923" y="2832"/>
                  <a:pt x="14922" y="2845"/>
                  <a:pt x="14920" y="2858"/>
                </a:cubicBezTo>
                <a:cubicBezTo>
                  <a:pt x="14917" y="2870"/>
                  <a:pt x="14913" y="2883"/>
                  <a:pt x="14908" y="2895"/>
                </a:cubicBezTo>
                <a:cubicBezTo>
                  <a:pt x="14903" y="2907"/>
                  <a:pt x="14897" y="2918"/>
                  <a:pt x="14890" y="2929"/>
                </a:cubicBezTo>
                <a:cubicBezTo>
                  <a:pt x="14883" y="2940"/>
                  <a:pt x="14874" y="2950"/>
                  <a:pt x="14865" y="2959"/>
                </a:cubicBezTo>
                <a:cubicBezTo>
                  <a:pt x="14856" y="2968"/>
                  <a:pt x="14846" y="2977"/>
                  <a:pt x="14835" y="2984"/>
                </a:cubicBezTo>
                <a:cubicBezTo>
                  <a:pt x="14824" y="2991"/>
                  <a:pt x="14813" y="2997"/>
                  <a:pt x="14801" y="3002"/>
                </a:cubicBezTo>
                <a:cubicBezTo>
                  <a:pt x="14789" y="3007"/>
                  <a:pt x="14776" y="3011"/>
                  <a:pt x="14764" y="3014"/>
                </a:cubicBezTo>
                <a:cubicBezTo>
                  <a:pt x="14751" y="3016"/>
                  <a:pt x="14738" y="3017"/>
                  <a:pt x="14725" y="3017"/>
                </a:cubicBezTo>
                <a:lnTo>
                  <a:pt x="198" y="3017"/>
                </a:lnTo>
                <a:cubicBezTo>
                  <a:pt x="185" y="3017"/>
                  <a:pt x="172" y="3016"/>
                  <a:pt x="160" y="3014"/>
                </a:cubicBezTo>
                <a:cubicBezTo>
                  <a:pt x="147" y="3011"/>
                  <a:pt x="134" y="3007"/>
                  <a:pt x="122" y="3002"/>
                </a:cubicBezTo>
                <a:cubicBezTo>
                  <a:pt x="110" y="2997"/>
                  <a:pt x="99" y="2991"/>
                  <a:pt x="88" y="2984"/>
                </a:cubicBezTo>
                <a:cubicBezTo>
                  <a:pt x="77" y="2977"/>
                  <a:pt x="67" y="2968"/>
                  <a:pt x="58" y="2959"/>
                </a:cubicBezTo>
                <a:cubicBezTo>
                  <a:pt x="49" y="2950"/>
                  <a:pt x="41" y="2940"/>
                  <a:pt x="33" y="2929"/>
                </a:cubicBezTo>
                <a:cubicBezTo>
                  <a:pt x="26" y="2918"/>
                  <a:pt x="20" y="2907"/>
                  <a:pt x="15" y="2895"/>
                </a:cubicBezTo>
                <a:cubicBezTo>
                  <a:pt x="10" y="2883"/>
                  <a:pt x="6" y="2870"/>
                  <a:pt x="4" y="2858"/>
                </a:cubicBezTo>
                <a:cubicBezTo>
                  <a:pt x="1" y="2845"/>
                  <a:pt x="0" y="2832"/>
                  <a:pt x="0" y="28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7833240" y="3070440"/>
            <a:ext cx="333000" cy="39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610" b="0" u="none" strike="noStrike">
                <a:solidFill>
                  <a:srgbClr val="FF6B1A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SG" sz="26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809640" y="4723560"/>
            <a:ext cx="478224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Categories</a:t>
            </a:r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— a JSON array. 43 of them, 37% of postings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809640" y="5009400"/>
            <a:ext cx="457452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carry more than one. Keeping only the first would have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6162480" y="4600440"/>
            <a:ext cx="5382000" cy="1095840"/>
          </a:xfrm>
          <a:custGeom>
            <a:avLst/>
            <a:gdLst/>
            <a:ahLst/>
            <a:rect l="0" t="0" r="r" b="b"/>
            <a:pathLst>
              <a:path w="14950" h="3044">
                <a:moveTo>
                  <a:pt x="16" y="131"/>
                </a:moveTo>
                <a:cubicBezTo>
                  <a:pt x="27" y="105"/>
                  <a:pt x="42" y="82"/>
                  <a:pt x="62" y="62"/>
                </a:cubicBezTo>
                <a:cubicBezTo>
                  <a:pt x="82" y="42"/>
                  <a:pt x="105" y="27"/>
                  <a:pt x="131" y="16"/>
                </a:cubicBezTo>
                <a:cubicBezTo>
                  <a:pt x="157" y="5"/>
                  <a:pt x="184" y="0"/>
                  <a:pt x="212" y="0"/>
                </a:cubicBezTo>
                <a:lnTo>
                  <a:pt x="14738" y="0"/>
                </a:lnTo>
                <a:cubicBezTo>
                  <a:pt x="14766" y="0"/>
                  <a:pt x="14793" y="5"/>
                  <a:pt x="14819" y="16"/>
                </a:cubicBezTo>
                <a:cubicBezTo>
                  <a:pt x="14845" y="27"/>
                  <a:pt x="14868" y="42"/>
                  <a:pt x="14888" y="62"/>
                </a:cubicBezTo>
                <a:cubicBezTo>
                  <a:pt x="14908" y="82"/>
                  <a:pt x="14923" y="105"/>
                  <a:pt x="14934" y="131"/>
                </a:cubicBezTo>
                <a:cubicBezTo>
                  <a:pt x="14945" y="156"/>
                  <a:pt x="14950" y="183"/>
                  <a:pt x="14950" y="212"/>
                </a:cubicBezTo>
                <a:lnTo>
                  <a:pt x="14950" y="2832"/>
                </a:lnTo>
                <a:cubicBezTo>
                  <a:pt x="14950" y="2860"/>
                  <a:pt x="14945" y="2887"/>
                  <a:pt x="14934" y="2913"/>
                </a:cubicBezTo>
                <a:cubicBezTo>
                  <a:pt x="14923" y="2939"/>
                  <a:pt x="14908" y="2962"/>
                  <a:pt x="14888" y="2982"/>
                </a:cubicBezTo>
                <a:cubicBezTo>
                  <a:pt x="14868" y="3001"/>
                  <a:pt x="14845" y="3017"/>
                  <a:pt x="14819" y="3027"/>
                </a:cubicBezTo>
                <a:cubicBezTo>
                  <a:pt x="14793" y="3038"/>
                  <a:pt x="14766" y="3044"/>
                  <a:pt x="14738" y="3044"/>
                </a:cubicBezTo>
                <a:lnTo>
                  <a:pt x="212" y="3044"/>
                </a:lnTo>
                <a:cubicBezTo>
                  <a:pt x="184" y="3044"/>
                  <a:pt x="157" y="3038"/>
                  <a:pt x="131" y="3027"/>
                </a:cubicBezTo>
                <a:cubicBezTo>
                  <a:pt x="105" y="3017"/>
                  <a:pt x="82" y="3001"/>
                  <a:pt x="62" y="2982"/>
                </a:cubicBezTo>
                <a:cubicBezTo>
                  <a:pt x="42" y="2962"/>
                  <a:pt x="27" y="2939"/>
                  <a:pt x="16" y="2913"/>
                </a:cubicBezTo>
                <a:cubicBezTo>
                  <a:pt x="5" y="2887"/>
                  <a:pt x="0" y="2860"/>
                  <a:pt x="0" y="2832"/>
                </a:cubicBezTo>
                <a:lnTo>
                  <a:pt x="0" y="212"/>
                </a:lnTo>
                <a:cubicBezTo>
                  <a:pt x="0" y="183"/>
                  <a:pt x="5" y="156"/>
                  <a:pt x="16" y="131"/>
                </a:cubicBezTo>
                <a:close/>
              </a:path>
            </a:pathLst>
          </a:custGeom>
          <a:solidFill>
            <a:srgbClr val="120A0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6162480" y="4600440"/>
            <a:ext cx="5382000" cy="1095840"/>
          </a:xfrm>
          <a:custGeom>
            <a:avLst/>
            <a:gdLst/>
            <a:ahLst/>
            <a:rect l="0" t="0" r="r" b="b"/>
            <a:pathLst>
              <a:path w="14950" h="3044">
                <a:moveTo>
                  <a:pt x="0" y="2832"/>
                </a:moveTo>
                <a:lnTo>
                  <a:pt x="0" y="212"/>
                </a:lnTo>
                <a:cubicBezTo>
                  <a:pt x="0" y="183"/>
                  <a:pt x="5" y="156"/>
                  <a:pt x="16" y="131"/>
                </a:cubicBezTo>
                <a:cubicBezTo>
                  <a:pt x="27" y="105"/>
                  <a:pt x="42" y="82"/>
                  <a:pt x="62" y="62"/>
                </a:cubicBezTo>
                <a:cubicBezTo>
                  <a:pt x="82" y="42"/>
                  <a:pt x="105" y="27"/>
                  <a:pt x="131" y="16"/>
                </a:cubicBezTo>
                <a:cubicBezTo>
                  <a:pt x="157" y="5"/>
                  <a:pt x="184" y="0"/>
                  <a:pt x="212" y="0"/>
                </a:cubicBezTo>
                <a:lnTo>
                  <a:pt x="14738" y="0"/>
                </a:lnTo>
                <a:cubicBezTo>
                  <a:pt x="14766" y="0"/>
                  <a:pt x="14793" y="5"/>
                  <a:pt x="14819" y="16"/>
                </a:cubicBezTo>
                <a:cubicBezTo>
                  <a:pt x="14845" y="27"/>
                  <a:pt x="14868" y="42"/>
                  <a:pt x="14888" y="62"/>
                </a:cubicBezTo>
                <a:cubicBezTo>
                  <a:pt x="14908" y="82"/>
                  <a:pt x="14923" y="105"/>
                  <a:pt x="14934" y="131"/>
                </a:cubicBezTo>
                <a:cubicBezTo>
                  <a:pt x="14945" y="156"/>
                  <a:pt x="14950" y="183"/>
                  <a:pt x="14950" y="212"/>
                </a:cubicBezTo>
                <a:lnTo>
                  <a:pt x="14950" y="2832"/>
                </a:lnTo>
                <a:cubicBezTo>
                  <a:pt x="14950" y="2860"/>
                  <a:pt x="14945" y="2887"/>
                  <a:pt x="14934" y="2913"/>
                </a:cubicBezTo>
                <a:cubicBezTo>
                  <a:pt x="14923" y="2939"/>
                  <a:pt x="14908" y="2962"/>
                  <a:pt x="14888" y="2982"/>
                </a:cubicBezTo>
                <a:cubicBezTo>
                  <a:pt x="14868" y="3001"/>
                  <a:pt x="14845" y="3017"/>
                  <a:pt x="14819" y="3027"/>
                </a:cubicBezTo>
                <a:cubicBezTo>
                  <a:pt x="14793" y="3038"/>
                  <a:pt x="14766" y="3044"/>
                  <a:pt x="14738" y="3044"/>
                </a:cubicBezTo>
                <a:lnTo>
                  <a:pt x="212" y="3044"/>
                </a:lnTo>
                <a:cubicBezTo>
                  <a:pt x="184" y="3044"/>
                  <a:pt x="157" y="3038"/>
                  <a:pt x="131" y="3027"/>
                </a:cubicBezTo>
                <a:cubicBezTo>
                  <a:pt x="105" y="3017"/>
                  <a:pt x="82" y="3001"/>
                  <a:pt x="62" y="2982"/>
                </a:cubicBezTo>
                <a:cubicBezTo>
                  <a:pt x="42" y="2962"/>
                  <a:pt x="27" y="2939"/>
                  <a:pt x="16" y="2913"/>
                </a:cubicBezTo>
                <a:cubicBezTo>
                  <a:pt x="5" y="2887"/>
                  <a:pt x="0" y="2860"/>
                  <a:pt x="0" y="2832"/>
                </a:cubicBezTo>
                <a:moveTo>
                  <a:pt x="26" y="212"/>
                </a:moveTo>
                <a:lnTo>
                  <a:pt x="26" y="2832"/>
                </a:lnTo>
                <a:cubicBezTo>
                  <a:pt x="26" y="2844"/>
                  <a:pt x="28" y="2856"/>
                  <a:pt x="30" y="2868"/>
                </a:cubicBezTo>
                <a:cubicBezTo>
                  <a:pt x="32" y="2880"/>
                  <a:pt x="36" y="2892"/>
                  <a:pt x="41" y="2903"/>
                </a:cubicBezTo>
                <a:cubicBezTo>
                  <a:pt x="45" y="2914"/>
                  <a:pt x="51" y="2925"/>
                  <a:pt x="58" y="2935"/>
                </a:cubicBezTo>
                <a:cubicBezTo>
                  <a:pt x="64" y="2945"/>
                  <a:pt x="72" y="2954"/>
                  <a:pt x="81" y="2963"/>
                </a:cubicBezTo>
                <a:cubicBezTo>
                  <a:pt x="89" y="2971"/>
                  <a:pt x="99" y="2979"/>
                  <a:pt x="109" y="2986"/>
                </a:cubicBezTo>
                <a:cubicBezTo>
                  <a:pt x="119" y="2993"/>
                  <a:pt x="130" y="2998"/>
                  <a:pt x="141" y="3003"/>
                </a:cubicBezTo>
                <a:cubicBezTo>
                  <a:pt x="152" y="3008"/>
                  <a:pt x="164" y="3011"/>
                  <a:pt x="176" y="3014"/>
                </a:cubicBezTo>
                <a:cubicBezTo>
                  <a:pt x="188" y="3016"/>
                  <a:pt x="200" y="3017"/>
                  <a:pt x="212" y="3017"/>
                </a:cubicBezTo>
                <a:lnTo>
                  <a:pt x="14738" y="3017"/>
                </a:lnTo>
                <a:cubicBezTo>
                  <a:pt x="14750" y="3017"/>
                  <a:pt x="14763" y="3016"/>
                  <a:pt x="14774" y="3014"/>
                </a:cubicBezTo>
                <a:cubicBezTo>
                  <a:pt x="14786" y="3011"/>
                  <a:pt x="14798" y="3008"/>
                  <a:pt x="14809" y="3003"/>
                </a:cubicBezTo>
                <a:cubicBezTo>
                  <a:pt x="14820" y="2998"/>
                  <a:pt x="14831" y="2993"/>
                  <a:pt x="14841" y="2986"/>
                </a:cubicBezTo>
                <a:cubicBezTo>
                  <a:pt x="14851" y="2979"/>
                  <a:pt x="14861" y="2971"/>
                  <a:pt x="14869" y="2963"/>
                </a:cubicBezTo>
                <a:cubicBezTo>
                  <a:pt x="14878" y="2954"/>
                  <a:pt x="14886" y="2945"/>
                  <a:pt x="14892" y="2935"/>
                </a:cubicBezTo>
                <a:cubicBezTo>
                  <a:pt x="14899" y="2925"/>
                  <a:pt x="14905" y="2914"/>
                  <a:pt x="14909" y="2903"/>
                </a:cubicBezTo>
                <a:cubicBezTo>
                  <a:pt x="14914" y="2892"/>
                  <a:pt x="14918" y="2880"/>
                  <a:pt x="14920" y="2868"/>
                </a:cubicBezTo>
                <a:cubicBezTo>
                  <a:pt x="14922" y="2856"/>
                  <a:pt x="14924" y="2844"/>
                  <a:pt x="14924" y="2832"/>
                </a:cubicBezTo>
                <a:lnTo>
                  <a:pt x="14924" y="212"/>
                </a:lnTo>
                <a:cubicBezTo>
                  <a:pt x="14924" y="199"/>
                  <a:pt x="14922" y="187"/>
                  <a:pt x="14920" y="175"/>
                </a:cubicBezTo>
                <a:cubicBezTo>
                  <a:pt x="14918" y="163"/>
                  <a:pt x="14914" y="152"/>
                  <a:pt x="14909" y="141"/>
                </a:cubicBezTo>
                <a:cubicBezTo>
                  <a:pt x="14905" y="129"/>
                  <a:pt x="14899" y="119"/>
                  <a:pt x="14892" y="109"/>
                </a:cubicBezTo>
                <a:cubicBezTo>
                  <a:pt x="14886" y="99"/>
                  <a:pt x="14878" y="89"/>
                  <a:pt x="14869" y="81"/>
                </a:cubicBezTo>
                <a:cubicBezTo>
                  <a:pt x="14861" y="72"/>
                  <a:pt x="14851" y="64"/>
                  <a:pt x="14841" y="58"/>
                </a:cubicBezTo>
                <a:cubicBezTo>
                  <a:pt x="14831" y="51"/>
                  <a:pt x="14820" y="45"/>
                  <a:pt x="14809" y="40"/>
                </a:cubicBezTo>
                <a:cubicBezTo>
                  <a:pt x="14798" y="36"/>
                  <a:pt x="14786" y="32"/>
                  <a:pt x="14774" y="30"/>
                </a:cubicBezTo>
                <a:cubicBezTo>
                  <a:pt x="14763" y="28"/>
                  <a:pt x="14750" y="26"/>
                  <a:pt x="14738" y="26"/>
                </a:cubicBezTo>
                <a:lnTo>
                  <a:pt x="212" y="26"/>
                </a:lnTo>
                <a:cubicBezTo>
                  <a:pt x="200" y="26"/>
                  <a:pt x="188" y="28"/>
                  <a:pt x="176" y="30"/>
                </a:cubicBezTo>
                <a:cubicBezTo>
                  <a:pt x="164" y="32"/>
                  <a:pt x="152" y="36"/>
                  <a:pt x="141" y="40"/>
                </a:cubicBezTo>
                <a:cubicBezTo>
                  <a:pt x="130" y="45"/>
                  <a:pt x="119" y="51"/>
                  <a:pt x="109" y="58"/>
                </a:cubicBezTo>
                <a:cubicBezTo>
                  <a:pt x="99" y="64"/>
                  <a:pt x="89" y="72"/>
                  <a:pt x="81" y="81"/>
                </a:cubicBezTo>
                <a:cubicBezTo>
                  <a:pt x="72" y="89"/>
                  <a:pt x="64" y="99"/>
                  <a:pt x="58" y="109"/>
                </a:cubicBezTo>
                <a:cubicBezTo>
                  <a:pt x="51" y="119"/>
                  <a:pt x="45" y="129"/>
                  <a:pt x="41" y="141"/>
                </a:cubicBezTo>
                <a:cubicBezTo>
                  <a:pt x="36" y="152"/>
                  <a:pt x="32" y="163"/>
                  <a:pt x="30" y="175"/>
                </a:cubicBezTo>
                <a:cubicBezTo>
                  <a:pt x="28" y="187"/>
                  <a:pt x="26" y="199"/>
                  <a:pt x="26" y="212"/>
                </a:cubicBezTo>
                <a:close/>
              </a:path>
            </a:pathLst>
          </a:custGeom>
          <a:solidFill>
            <a:srgbClr val="FF6B1A">
              <a:alpha val="13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809640" y="5285880"/>
            <a:ext cx="275112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discarded </a:t>
            </a:r>
            <a:r>
              <a:rPr lang="en-SG" sz="148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723,000 </a:t>
            </a:r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assignments.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6324480" y="4723560"/>
            <a:ext cx="463680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DDDDDD"/>
                </a:solidFill>
                <a:effectLst/>
                <a:uFillTx/>
                <a:latin typeface="RalewayRoman"/>
                <a:ea typeface="RalewayRoman"/>
              </a:rPr>
              <a:t>The chain matters: case-folding titles is what makes the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6324480" y="5009400"/>
            <a:ext cx="501156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DDDDDD"/>
                </a:solidFill>
                <a:effectLst/>
                <a:uFillTx/>
                <a:latin typeface="RalewayRoman"/>
                <a:ea typeface="RalewayRoman"/>
              </a:rPr>
              <a:t>duplicate key work — and duplicates inflate how </a:t>
            </a:r>
            <a:r>
              <a:rPr lang="en-SG" sz="148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crowded </a:t>
            </a:r>
            <a:r>
              <a:rPr lang="en-SG" sz="1480" b="0" u="none" strike="noStrike">
                <a:solidFill>
                  <a:srgbClr val="DDDDDD"/>
                </a:solidFill>
                <a:effectLst/>
                <a:uFillTx/>
                <a:latin typeface="RalewayRoman"/>
                <a:ea typeface="RalewayRoman"/>
              </a:rPr>
              <a:t>a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652320" y="2100240"/>
            <a:ext cx="3277080" cy="2343240"/>
          </a:xfrm>
          <a:custGeom>
            <a:avLst/>
            <a:gdLst/>
            <a:ahLst/>
            <a:rect l="0" t="0" r="r" b="b"/>
            <a:pathLst>
              <a:path w="9103" h="6509">
                <a:moveTo>
                  <a:pt x="0" y="6258"/>
                </a:moveTo>
                <a:lnTo>
                  <a:pt x="0" y="251"/>
                </a:lnTo>
                <a:cubicBezTo>
                  <a:pt x="0" y="234"/>
                  <a:pt x="2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39"/>
                  <a:pt x="33" y="125"/>
                  <a:pt x="42" y="111"/>
                </a:cubicBezTo>
                <a:cubicBezTo>
                  <a:pt x="51" y="98"/>
                  <a:pt x="62" y="85"/>
                  <a:pt x="74" y="73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2"/>
                  <a:pt x="186" y="8"/>
                  <a:pt x="202" y="4"/>
                </a:cubicBezTo>
                <a:cubicBezTo>
                  <a:pt x="218" y="1"/>
                  <a:pt x="235" y="0"/>
                  <a:pt x="251" y="0"/>
                </a:cubicBezTo>
                <a:lnTo>
                  <a:pt x="8851" y="0"/>
                </a:lnTo>
                <a:cubicBezTo>
                  <a:pt x="8868" y="0"/>
                  <a:pt x="8884" y="1"/>
                  <a:pt x="8900" y="4"/>
                </a:cubicBezTo>
                <a:cubicBezTo>
                  <a:pt x="8916" y="8"/>
                  <a:pt x="8932" y="12"/>
                  <a:pt x="8947" y="19"/>
                </a:cubicBezTo>
                <a:cubicBezTo>
                  <a:pt x="8963" y="25"/>
                  <a:pt x="8977" y="33"/>
                  <a:pt x="8991" y="42"/>
                </a:cubicBezTo>
                <a:cubicBezTo>
                  <a:pt x="9005" y="51"/>
                  <a:pt x="9017" y="62"/>
                  <a:pt x="9029" y="73"/>
                </a:cubicBezTo>
                <a:cubicBezTo>
                  <a:pt x="9041" y="85"/>
                  <a:pt x="9051" y="98"/>
                  <a:pt x="9060" y="111"/>
                </a:cubicBezTo>
                <a:cubicBezTo>
                  <a:pt x="9069" y="125"/>
                  <a:pt x="9077" y="139"/>
                  <a:pt x="9083" y="155"/>
                </a:cubicBezTo>
                <a:cubicBezTo>
                  <a:pt x="9090" y="170"/>
                  <a:pt x="9095" y="186"/>
                  <a:pt x="9098" y="202"/>
                </a:cubicBezTo>
                <a:cubicBezTo>
                  <a:pt x="9101" y="218"/>
                  <a:pt x="9103" y="234"/>
                  <a:pt x="9103" y="251"/>
                </a:cubicBezTo>
                <a:lnTo>
                  <a:pt x="9103" y="6258"/>
                </a:lnTo>
                <a:cubicBezTo>
                  <a:pt x="9103" y="6274"/>
                  <a:pt x="9101" y="6291"/>
                  <a:pt x="9098" y="6307"/>
                </a:cubicBezTo>
                <a:cubicBezTo>
                  <a:pt x="9095" y="6323"/>
                  <a:pt x="9090" y="6339"/>
                  <a:pt x="9083" y="6354"/>
                </a:cubicBezTo>
                <a:cubicBezTo>
                  <a:pt x="9077" y="6369"/>
                  <a:pt x="9069" y="6384"/>
                  <a:pt x="9060" y="6398"/>
                </a:cubicBezTo>
                <a:cubicBezTo>
                  <a:pt x="9051" y="6411"/>
                  <a:pt x="9041" y="6424"/>
                  <a:pt x="9029" y="6436"/>
                </a:cubicBezTo>
                <a:cubicBezTo>
                  <a:pt x="9017" y="6447"/>
                  <a:pt x="9005" y="6458"/>
                  <a:pt x="8991" y="6467"/>
                </a:cubicBezTo>
                <a:cubicBezTo>
                  <a:pt x="8977" y="6476"/>
                  <a:pt x="8963" y="6484"/>
                  <a:pt x="8947" y="6490"/>
                </a:cubicBezTo>
                <a:cubicBezTo>
                  <a:pt x="8932" y="6496"/>
                  <a:pt x="8916" y="6501"/>
                  <a:pt x="8900" y="6504"/>
                </a:cubicBezTo>
                <a:cubicBezTo>
                  <a:pt x="8884" y="6508"/>
                  <a:pt x="8868" y="6509"/>
                  <a:pt x="8851" y="6509"/>
                </a:cubicBezTo>
                <a:lnTo>
                  <a:pt x="251" y="6509"/>
                </a:lnTo>
                <a:cubicBezTo>
                  <a:pt x="235" y="6509"/>
                  <a:pt x="218" y="6508"/>
                  <a:pt x="202" y="6504"/>
                </a:cubicBezTo>
                <a:cubicBezTo>
                  <a:pt x="186" y="6501"/>
                  <a:pt x="170" y="6496"/>
                  <a:pt x="155" y="6490"/>
                </a:cubicBezTo>
                <a:cubicBezTo>
                  <a:pt x="140" y="6484"/>
                  <a:pt x="125" y="6476"/>
                  <a:pt x="112" y="6467"/>
                </a:cubicBezTo>
                <a:cubicBezTo>
                  <a:pt x="98" y="6458"/>
                  <a:pt x="85" y="6447"/>
                  <a:pt x="74" y="6436"/>
                </a:cubicBezTo>
                <a:cubicBezTo>
                  <a:pt x="62" y="6424"/>
                  <a:pt x="51" y="6411"/>
                  <a:pt x="42" y="6398"/>
                </a:cubicBezTo>
                <a:cubicBezTo>
                  <a:pt x="33" y="6384"/>
                  <a:pt x="25" y="6369"/>
                  <a:pt x="19" y="6354"/>
                </a:cubicBezTo>
                <a:cubicBezTo>
                  <a:pt x="13" y="6339"/>
                  <a:pt x="8" y="6323"/>
                  <a:pt x="5" y="6307"/>
                </a:cubicBezTo>
                <a:cubicBezTo>
                  <a:pt x="2" y="6291"/>
                  <a:pt x="0" y="6274"/>
                  <a:pt x="0" y="6258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652320" y="2100240"/>
            <a:ext cx="3277080" cy="2343240"/>
          </a:xfrm>
          <a:custGeom>
            <a:avLst/>
            <a:gdLst/>
            <a:ahLst/>
            <a:rect l="0" t="0" r="r" b="b"/>
            <a:pathLst>
              <a:path w="9103" h="6509">
                <a:moveTo>
                  <a:pt x="0" y="6258"/>
                </a:moveTo>
                <a:lnTo>
                  <a:pt x="0" y="251"/>
                </a:lnTo>
                <a:cubicBezTo>
                  <a:pt x="0" y="234"/>
                  <a:pt x="2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39"/>
                  <a:pt x="33" y="125"/>
                  <a:pt x="42" y="111"/>
                </a:cubicBezTo>
                <a:cubicBezTo>
                  <a:pt x="51" y="98"/>
                  <a:pt x="62" y="85"/>
                  <a:pt x="74" y="73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2"/>
                  <a:pt x="186" y="8"/>
                  <a:pt x="202" y="4"/>
                </a:cubicBezTo>
                <a:cubicBezTo>
                  <a:pt x="218" y="1"/>
                  <a:pt x="235" y="0"/>
                  <a:pt x="251" y="0"/>
                </a:cubicBezTo>
                <a:lnTo>
                  <a:pt x="8851" y="0"/>
                </a:lnTo>
                <a:cubicBezTo>
                  <a:pt x="8868" y="0"/>
                  <a:pt x="8884" y="1"/>
                  <a:pt x="8900" y="4"/>
                </a:cubicBezTo>
                <a:cubicBezTo>
                  <a:pt x="8916" y="8"/>
                  <a:pt x="8932" y="12"/>
                  <a:pt x="8947" y="19"/>
                </a:cubicBezTo>
                <a:cubicBezTo>
                  <a:pt x="8963" y="25"/>
                  <a:pt x="8977" y="33"/>
                  <a:pt x="8991" y="42"/>
                </a:cubicBezTo>
                <a:cubicBezTo>
                  <a:pt x="9005" y="51"/>
                  <a:pt x="9017" y="62"/>
                  <a:pt x="9029" y="73"/>
                </a:cubicBezTo>
                <a:cubicBezTo>
                  <a:pt x="9041" y="85"/>
                  <a:pt x="9051" y="98"/>
                  <a:pt x="9060" y="111"/>
                </a:cubicBezTo>
                <a:cubicBezTo>
                  <a:pt x="9069" y="125"/>
                  <a:pt x="9077" y="139"/>
                  <a:pt x="9083" y="155"/>
                </a:cubicBezTo>
                <a:cubicBezTo>
                  <a:pt x="9090" y="170"/>
                  <a:pt x="9095" y="186"/>
                  <a:pt x="9098" y="202"/>
                </a:cubicBezTo>
                <a:cubicBezTo>
                  <a:pt x="9101" y="218"/>
                  <a:pt x="9103" y="234"/>
                  <a:pt x="9103" y="251"/>
                </a:cubicBezTo>
                <a:lnTo>
                  <a:pt x="9103" y="6258"/>
                </a:lnTo>
                <a:cubicBezTo>
                  <a:pt x="9103" y="6274"/>
                  <a:pt x="9101" y="6291"/>
                  <a:pt x="9098" y="6307"/>
                </a:cubicBezTo>
                <a:cubicBezTo>
                  <a:pt x="9095" y="6323"/>
                  <a:pt x="9090" y="6339"/>
                  <a:pt x="9083" y="6354"/>
                </a:cubicBezTo>
                <a:cubicBezTo>
                  <a:pt x="9077" y="6369"/>
                  <a:pt x="9069" y="6384"/>
                  <a:pt x="9060" y="6398"/>
                </a:cubicBezTo>
                <a:cubicBezTo>
                  <a:pt x="9051" y="6411"/>
                  <a:pt x="9041" y="6424"/>
                  <a:pt x="9029" y="6436"/>
                </a:cubicBezTo>
                <a:cubicBezTo>
                  <a:pt x="9017" y="6447"/>
                  <a:pt x="9005" y="6458"/>
                  <a:pt x="8991" y="6467"/>
                </a:cubicBezTo>
                <a:cubicBezTo>
                  <a:pt x="8977" y="6476"/>
                  <a:pt x="8963" y="6484"/>
                  <a:pt x="8947" y="6490"/>
                </a:cubicBezTo>
                <a:cubicBezTo>
                  <a:pt x="8932" y="6496"/>
                  <a:pt x="8916" y="6501"/>
                  <a:pt x="8900" y="6504"/>
                </a:cubicBezTo>
                <a:cubicBezTo>
                  <a:pt x="8884" y="6508"/>
                  <a:pt x="8868" y="6509"/>
                  <a:pt x="8851" y="6509"/>
                </a:cubicBezTo>
                <a:lnTo>
                  <a:pt x="251" y="6509"/>
                </a:lnTo>
                <a:cubicBezTo>
                  <a:pt x="235" y="6509"/>
                  <a:pt x="218" y="6508"/>
                  <a:pt x="202" y="6504"/>
                </a:cubicBezTo>
                <a:cubicBezTo>
                  <a:pt x="186" y="6501"/>
                  <a:pt x="170" y="6496"/>
                  <a:pt x="155" y="6490"/>
                </a:cubicBezTo>
                <a:cubicBezTo>
                  <a:pt x="140" y="6484"/>
                  <a:pt x="125" y="6476"/>
                  <a:pt x="112" y="6467"/>
                </a:cubicBezTo>
                <a:cubicBezTo>
                  <a:pt x="98" y="6458"/>
                  <a:pt x="85" y="6447"/>
                  <a:pt x="74" y="6436"/>
                </a:cubicBezTo>
                <a:cubicBezTo>
                  <a:pt x="62" y="6424"/>
                  <a:pt x="51" y="6411"/>
                  <a:pt x="42" y="6398"/>
                </a:cubicBezTo>
                <a:cubicBezTo>
                  <a:pt x="33" y="6384"/>
                  <a:pt x="25" y="6369"/>
                  <a:pt x="19" y="6354"/>
                </a:cubicBezTo>
                <a:cubicBezTo>
                  <a:pt x="13" y="6339"/>
                  <a:pt x="8" y="6323"/>
                  <a:pt x="5" y="6307"/>
                </a:cubicBezTo>
                <a:cubicBezTo>
                  <a:pt x="2" y="6291"/>
                  <a:pt x="0" y="6274"/>
                  <a:pt x="0" y="6258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6324480" y="5285880"/>
            <a:ext cx="106344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DDDDDD"/>
                </a:solidFill>
                <a:effectLst/>
                <a:uFillTx/>
                <a:latin typeface="RalewayRoman"/>
                <a:ea typeface="RalewayRoman"/>
              </a:rPr>
              <a:t>sector looks.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8720" y="2276640"/>
            <a:ext cx="5169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FF6B1A"/>
                </a:solidFill>
                <a:effectLst/>
                <a:uFillTx/>
                <a:latin typeface="Outfit-Thin_Semi"/>
                <a:ea typeface="Outfit-Thin_Semi"/>
              </a:rPr>
              <a:t>DATES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828720" y="2584080"/>
            <a:ext cx="272232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Text parsed to dates, </a:t>
            </a:r>
            <a:r>
              <a:rPr lang="en-SG" sz="152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formatted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828720" y="2917440"/>
            <a:ext cx="223812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back and compared</a:t>
            </a:r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. One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828720" y="3260520"/>
            <a:ext cx="244260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mismatch and we refuse the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828720" y="3603240"/>
            <a:ext cx="100116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conversion.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4462200" y="2100240"/>
            <a:ext cx="3267360" cy="2343240"/>
          </a:xfrm>
          <a:custGeom>
            <a:avLst/>
            <a:gdLst/>
            <a:ahLst/>
            <a:rect l="0" t="0" r="r" b="b"/>
            <a:pathLst>
              <a:path w="9076" h="6509">
                <a:moveTo>
                  <a:pt x="0" y="6258"/>
                </a:moveTo>
                <a:lnTo>
                  <a:pt x="0" y="251"/>
                </a:lnTo>
                <a:cubicBezTo>
                  <a:pt x="0" y="234"/>
                  <a:pt x="2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6" y="139"/>
                  <a:pt x="33" y="125"/>
                  <a:pt x="43" y="111"/>
                </a:cubicBezTo>
                <a:cubicBezTo>
                  <a:pt x="52" y="98"/>
                  <a:pt x="62" y="85"/>
                  <a:pt x="74" y="73"/>
                </a:cubicBezTo>
                <a:cubicBezTo>
                  <a:pt x="86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2"/>
                  <a:pt x="186" y="8"/>
                  <a:pt x="203" y="4"/>
                </a:cubicBezTo>
                <a:cubicBezTo>
                  <a:pt x="219" y="1"/>
                  <a:pt x="235" y="0"/>
                  <a:pt x="252" y="0"/>
                </a:cubicBezTo>
                <a:lnTo>
                  <a:pt x="8825" y="0"/>
                </a:lnTo>
                <a:cubicBezTo>
                  <a:pt x="8842" y="0"/>
                  <a:pt x="8858" y="1"/>
                  <a:pt x="8874" y="4"/>
                </a:cubicBezTo>
                <a:cubicBezTo>
                  <a:pt x="8890" y="8"/>
                  <a:pt x="8906" y="12"/>
                  <a:pt x="8921" y="19"/>
                </a:cubicBezTo>
                <a:cubicBezTo>
                  <a:pt x="8937" y="25"/>
                  <a:pt x="8951" y="33"/>
                  <a:pt x="8965" y="42"/>
                </a:cubicBezTo>
                <a:cubicBezTo>
                  <a:pt x="8978" y="51"/>
                  <a:pt x="8991" y="62"/>
                  <a:pt x="9003" y="73"/>
                </a:cubicBezTo>
                <a:cubicBezTo>
                  <a:pt x="9014" y="85"/>
                  <a:pt x="9025" y="98"/>
                  <a:pt x="9034" y="111"/>
                </a:cubicBezTo>
                <a:cubicBezTo>
                  <a:pt x="9043" y="125"/>
                  <a:pt x="9051" y="139"/>
                  <a:pt x="9057" y="155"/>
                </a:cubicBezTo>
                <a:cubicBezTo>
                  <a:pt x="9064" y="170"/>
                  <a:pt x="9068" y="186"/>
                  <a:pt x="9072" y="202"/>
                </a:cubicBezTo>
                <a:cubicBezTo>
                  <a:pt x="9075" y="218"/>
                  <a:pt x="9076" y="234"/>
                  <a:pt x="9076" y="251"/>
                </a:cubicBezTo>
                <a:lnTo>
                  <a:pt x="9076" y="6258"/>
                </a:lnTo>
                <a:cubicBezTo>
                  <a:pt x="9076" y="6274"/>
                  <a:pt x="9075" y="6291"/>
                  <a:pt x="9072" y="6307"/>
                </a:cubicBezTo>
                <a:cubicBezTo>
                  <a:pt x="9068" y="6323"/>
                  <a:pt x="9064" y="6339"/>
                  <a:pt x="9057" y="6354"/>
                </a:cubicBezTo>
                <a:cubicBezTo>
                  <a:pt x="9051" y="6369"/>
                  <a:pt x="9043" y="6384"/>
                  <a:pt x="9034" y="6398"/>
                </a:cubicBezTo>
                <a:cubicBezTo>
                  <a:pt x="9025" y="6411"/>
                  <a:pt x="9014" y="6424"/>
                  <a:pt x="9003" y="6436"/>
                </a:cubicBezTo>
                <a:cubicBezTo>
                  <a:pt x="8991" y="6447"/>
                  <a:pt x="8978" y="6458"/>
                  <a:pt x="8965" y="6467"/>
                </a:cubicBezTo>
                <a:cubicBezTo>
                  <a:pt x="8951" y="6476"/>
                  <a:pt x="8937" y="6484"/>
                  <a:pt x="8921" y="6490"/>
                </a:cubicBezTo>
                <a:cubicBezTo>
                  <a:pt x="8906" y="6496"/>
                  <a:pt x="8890" y="6501"/>
                  <a:pt x="8874" y="6504"/>
                </a:cubicBezTo>
                <a:cubicBezTo>
                  <a:pt x="8858" y="6508"/>
                  <a:pt x="8842" y="6509"/>
                  <a:pt x="8825" y="6509"/>
                </a:cubicBezTo>
                <a:lnTo>
                  <a:pt x="252" y="6509"/>
                </a:lnTo>
                <a:cubicBezTo>
                  <a:pt x="235" y="6509"/>
                  <a:pt x="219" y="6508"/>
                  <a:pt x="203" y="6504"/>
                </a:cubicBezTo>
                <a:cubicBezTo>
                  <a:pt x="186" y="6501"/>
                  <a:pt x="171" y="6496"/>
                  <a:pt x="155" y="6490"/>
                </a:cubicBezTo>
                <a:cubicBezTo>
                  <a:pt x="140" y="6484"/>
                  <a:pt x="126" y="6476"/>
                  <a:pt x="112" y="6467"/>
                </a:cubicBezTo>
                <a:cubicBezTo>
                  <a:pt x="98" y="6458"/>
                  <a:pt x="86" y="6447"/>
                  <a:pt x="74" y="6436"/>
                </a:cubicBezTo>
                <a:cubicBezTo>
                  <a:pt x="62" y="6424"/>
                  <a:pt x="52" y="6411"/>
                  <a:pt x="43" y="6398"/>
                </a:cubicBezTo>
                <a:cubicBezTo>
                  <a:pt x="33" y="6384"/>
                  <a:pt x="26" y="6369"/>
                  <a:pt x="19" y="6354"/>
                </a:cubicBezTo>
                <a:cubicBezTo>
                  <a:pt x="13" y="6339"/>
                  <a:pt x="8" y="6323"/>
                  <a:pt x="5" y="6307"/>
                </a:cubicBezTo>
                <a:cubicBezTo>
                  <a:pt x="2" y="6291"/>
                  <a:pt x="0" y="6274"/>
                  <a:pt x="0" y="6258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4462200" y="2100240"/>
            <a:ext cx="3267360" cy="2343240"/>
          </a:xfrm>
          <a:custGeom>
            <a:avLst/>
            <a:gdLst/>
            <a:ahLst/>
            <a:rect l="0" t="0" r="r" b="b"/>
            <a:pathLst>
              <a:path w="9076" h="6509">
                <a:moveTo>
                  <a:pt x="0" y="6258"/>
                </a:moveTo>
                <a:lnTo>
                  <a:pt x="0" y="251"/>
                </a:lnTo>
                <a:cubicBezTo>
                  <a:pt x="0" y="234"/>
                  <a:pt x="2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6" y="139"/>
                  <a:pt x="33" y="125"/>
                  <a:pt x="43" y="111"/>
                </a:cubicBezTo>
                <a:cubicBezTo>
                  <a:pt x="52" y="98"/>
                  <a:pt x="62" y="85"/>
                  <a:pt x="74" y="73"/>
                </a:cubicBezTo>
                <a:cubicBezTo>
                  <a:pt x="86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2"/>
                  <a:pt x="186" y="8"/>
                  <a:pt x="203" y="4"/>
                </a:cubicBezTo>
                <a:cubicBezTo>
                  <a:pt x="219" y="1"/>
                  <a:pt x="235" y="0"/>
                  <a:pt x="252" y="0"/>
                </a:cubicBezTo>
                <a:lnTo>
                  <a:pt x="8825" y="0"/>
                </a:lnTo>
                <a:cubicBezTo>
                  <a:pt x="8842" y="0"/>
                  <a:pt x="8858" y="1"/>
                  <a:pt x="8874" y="4"/>
                </a:cubicBezTo>
                <a:cubicBezTo>
                  <a:pt x="8890" y="8"/>
                  <a:pt x="8906" y="12"/>
                  <a:pt x="8921" y="19"/>
                </a:cubicBezTo>
                <a:cubicBezTo>
                  <a:pt x="8937" y="25"/>
                  <a:pt x="8951" y="33"/>
                  <a:pt x="8965" y="42"/>
                </a:cubicBezTo>
                <a:cubicBezTo>
                  <a:pt x="8978" y="51"/>
                  <a:pt x="8991" y="62"/>
                  <a:pt x="9003" y="73"/>
                </a:cubicBezTo>
                <a:cubicBezTo>
                  <a:pt x="9014" y="85"/>
                  <a:pt x="9025" y="98"/>
                  <a:pt x="9034" y="111"/>
                </a:cubicBezTo>
                <a:cubicBezTo>
                  <a:pt x="9043" y="125"/>
                  <a:pt x="9051" y="139"/>
                  <a:pt x="9057" y="155"/>
                </a:cubicBezTo>
                <a:cubicBezTo>
                  <a:pt x="9064" y="170"/>
                  <a:pt x="9068" y="186"/>
                  <a:pt x="9072" y="202"/>
                </a:cubicBezTo>
                <a:cubicBezTo>
                  <a:pt x="9075" y="218"/>
                  <a:pt x="9076" y="234"/>
                  <a:pt x="9076" y="251"/>
                </a:cubicBezTo>
                <a:lnTo>
                  <a:pt x="9076" y="6258"/>
                </a:lnTo>
                <a:cubicBezTo>
                  <a:pt x="9076" y="6274"/>
                  <a:pt x="9075" y="6291"/>
                  <a:pt x="9072" y="6307"/>
                </a:cubicBezTo>
                <a:cubicBezTo>
                  <a:pt x="9068" y="6323"/>
                  <a:pt x="9064" y="6339"/>
                  <a:pt x="9057" y="6354"/>
                </a:cubicBezTo>
                <a:cubicBezTo>
                  <a:pt x="9051" y="6369"/>
                  <a:pt x="9043" y="6384"/>
                  <a:pt x="9034" y="6398"/>
                </a:cubicBezTo>
                <a:cubicBezTo>
                  <a:pt x="9025" y="6411"/>
                  <a:pt x="9014" y="6424"/>
                  <a:pt x="9003" y="6436"/>
                </a:cubicBezTo>
                <a:cubicBezTo>
                  <a:pt x="8991" y="6447"/>
                  <a:pt x="8978" y="6458"/>
                  <a:pt x="8965" y="6467"/>
                </a:cubicBezTo>
                <a:cubicBezTo>
                  <a:pt x="8951" y="6476"/>
                  <a:pt x="8937" y="6484"/>
                  <a:pt x="8921" y="6490"/>
                </a:cubicBezTo>
                <a:cubicBezTo>
                  <a:pt x="8906" y="6496"/>
                  <a:pt x="8890" y="6501"/>
                  <a:pt x="8874" y="6504"/>
                </a:cubicBezTo>
                <a:cubicBezTo>
                  <a:pt x="8858" y="6508"/>
                  <a:pt x="8842" y="6509"/>
                  <a:pt x="8825" y="6509"/>
                </a:cubicBezTo>
                <a:lnTo>
                  <a:pt x="252" y="6509"/>
                </a:lnTo>
                <a:cubicBezTo>
                  <a:pt x="235" y="6509"/>
                  <a:pt x="219" y="6508"/>
                  <a:pt x="203" y="6504"/>
                </a:cubicBezTo>
                <a:cubicBezTo>
                  <a:pt x="186" y="6501"/>
                  <a:pt x="171" y="6496"/>
                  <a:pt x="155" y="6490"/>
                </a:cubicBezTo>
                <a:cubicBezTo>
                  <a:pt x="140" y="6484"/>
                  <a:pt x="126" y="6476"/>
                  <a:pt x="112" y="6467"/>
                </a:cubicBezTo>
                <a:cubicBezTo>
                  <a:pt x="98" y="6458"/>
                  <a:pt x="86" y="6447"/>
                  <a:pt x="74" y="6436"/>
                </a:cubicBezTo>
                <a:cubicBezTo>
                  <a:pt x="62" y="6424"/>
                  <a:pt x="52" y="6411"/>
                  <a:pt x="43" y="6398"/>
                </a:cubicBezTo>
                <a:cubicBezTo>
                  <a:pt x="33" y="6384"/>
                  <a:pt x="26" y="6369"/>
                  <a:pt x="19" y="6354"/>
                </a:cubicBezTo>
                <a:cubicBezTo>
                  <a:pt x="13" y="6339"/>
                  <a:pt x="8" y="6323"/>
                  <a:pt x="5" y="6307"/>
                </a:cubicBezTo>
                <a:cubicBezTo>
                  <a:pt x="2" y="6291"/>
                  <a:pt x="0" y="6274"/>
                  <a:pt x="0" y="6258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828720" y="4007880"/>
            <a:ext cx="2438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A wrong date is a wrong cohort.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4634640" y="2276640"/>
            <a:ext cx="4089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FF6B1A"/>
                </a:solidFill>
                <a:effectLst/>
                <a:uFillTx/>
                <a:latin typeface="Outfit-Thin_Semi"/>
                <a:ea typeface="Outfit-Thin_Semi"/>
              </a:rPr>
              <a:t>TEXT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634640" y="2584080"/>
            <a:ext cx="207612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Titles carried </a:t>
            </a:r>
            <a:r>
              <a:rPr lang="en-SG" sz="152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zero-width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4634640" y="2917440"/>
            <a:ext cx="223812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characters</a:t>
            </a:r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. Invisible, and 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6819480" y="2944800"/>
            <a:ext cx="2336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Menlo"/>
                <a:ea typeface="Menlo"/>
              </a:rPr>
              <a:t>\s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634640" y="3260520"/>
            <a:ext cx="176508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doesn't match them.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4634640" y="3674520"/>
            <a:ext cx="27612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184 rows · one title silently becomes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8262720" y="2100240"/>
            <a:ext cx="3277080" cy="2343240"/>
          </a:xfrm>
          <a:custGeom>
            <a:avLst/>
            <a:gdLst/>
            <a:ahLst/>
            <a:rect l="0" t="0" r="r" b="b"/>
            <a:pathLst>
              <a:path w="9103" h="6509">
                <a:moveTo>
                  <a:pt x="0" y="6258"/>
                </a:moveTo>
                <a:lnTo>
                  <a:pt x="0" y="251"/>
                </a:lnTo>
                <a:cubicBezTo>
                  <a:pt x="0" y="234"/>
                  <a:pt x="2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6" y="139"/>
                  <a:pt x="33" y="125"/>
                  <a:pt x="42" y="111"/>
                </a:cubicBezTo>
                <a:cubicBezTo>
                  <a:pt x="52" y="98"/>
                  <a:pt x="62" y="85"/>
                  <a:pt x="74" y="73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2"/>
                  <a:pt x="186" y="8"/>
                  <a:pt x="202" y="4"/>
                </a:cubicBezTo>
                <a:cubicBezTo>
                  <a:pt x="219" y="1"/>
                  <a:pt x="235" y="0"/>
                  <a:pt x="251" y="0"/>
                </a:cubicBezTo>
                <a:lnTo>
                  <a:pt x="8850" y="0"/>
                </a:lnTo>
                <a:cubicBezTo>
                  <a:pt x="8867" y="0"/>
                  <a:pt x="8883" y="1"/>
                  <a:pt x="8899" y="4"/>
                </a:cubicBezTo>
                <a:cubicBezTo>
                  <a:pt x="8917" y="8"/>
                  <a:pt x="8932" y="12"/>
                  <a:pt x="8948" y="19"/>
                </a:cubicBezTo>
                <a:cubicBezTo>
                  <a:pt x="8963" y="25"/>
                  <a:pt x="8977" y="33"/>
                  <a:pt x="8991" y="42"/>
                </a:cubicBezTo>
                <a:cubicBezTo>
                  <a:pt x="9005" y="51"/>
                  <a:pt x="9017" y="62"/>
                  <a:pt x="9029" y="73"/>
                </a:cubicBezTo>
                <a:cubicBezTo>
                  <a:pt x="9041" y="85"/>
                  <a:pt x="9051" y="98"/>
                  <a:pt x="9060" y="111"/>
                </a:cubicBezTo>
                <a:cubicBezTo>
                  <a:pt x="9070" y="125"/>
                  <a:pt x="9077" y="139"/>
                  <a:pt x="9084" y="155"/>
                </a:cubicBezTo>
                <a:cubicBezTo>
                  <a:pt x="9090" y="170"/>
                  <a:pt x="9095" y="186"/>
                  <a:pt x="9098" y="202"/>
                </a:cubicBezTo>
                <a:cubicBezTo>
                  <a:pt x="9101" y="218"/>
                  <a:pt x="9103" y="234"/>
                  <a:pt x="9103" y="251"/>
                </a:cubicBezTo>
                <a:lnTo>
                  <a:pt x="9103" y="6258"/>
                </a:lnTo>
                <a:cubicBezTo>
                  <a:pt x="9103" y="6274"/>
                  <a:pt x="9101" y="6291"/>
                  <a:pt x="9098" y="6307"/>
                </a:cubicBezTo>
                <a:cubicBezTo>
                  <a:pt x="9095" y="6323"/>
                  <a:pt x="9090" y="6339"/>
                  <a:pt x="9084" y="6354"/>
                </a:cubicBezTo>
                <a:cubicBezTo>
                  <a:pt x="9077" y="6369"/>
                  <a:pt x="9070" y="6384"/>
                  <a:pt x="9060" y="6398"/>
                </a:cubicBezTo>
                <a:cubicBezTo>
                  <a:pt x="9051" y="6411"/>
                  <a:pt x="9041" y="6424"/>
                  <a:pt x="9029" y="6436"/>
                </a:cubicBezTo>
                <a:cubicBezTo>
                  <a:pt x="9017" y="6447"/>
                  <a:pt x="9005" y="6458"/>
                  <a:pt x="8991" y="6467"/>
                </a:cubicBezTo>
                <a:cubicBezTo>
                  <a:pt x="8977" y="6476"/>
                  <a:pt x="8963" y="6484"/>
                  <a:pt x="8948" y="6490"/>
                </a:cubicBezTo>
                <a:cubicBezTo>
                  <a:pt x="8932" y="6496"/>
                  <a:pt x="8917" y="6501"/>
                  <a:pt x="8899" y="6504"/>
                </a:cubicBezTo>
                <a:cubicBezTo>
                  <a:pt x="8883" y="6508"/>
                  <a:pt x="8867" y="6509"/>
                  <a:pt x="8850" y="6509"/>
                </a:cubicBezTo>
                <a:lnTo>
                  <a:pt x="251" y="6509"/>
                </a:lnTo>
                <a:cubicBezTo>
                  <a:pt x="235" y="6509"/>
                  <a:pt x="219" y="6508"/>
                  <a:pt x="202" y="6504"/>
                </a:cubicBezTo>
                <a:cubicBezTo>
                  <a:pt x="186" y="6501"/>
                  <a:pt x="171" y="6496"/>
                  <a:pt x="155" y="6490"/>
                </a:cubicBezTo>
                <a:cubicBezTo>
                  <a:pt x="140" y="6484"/>
                  <a:pt x="126" y="6476"/>
                  <a:pt x="112" y="6467"/>
                </a:cubicBezTo>
                <a:cubicBezTo>
                  <a:pt x="98" y="6458"/>
                  <a:pt x="85" y="6447"/>
                  <a:pt x="74" y="6436"/>
                </a:cubicBezTo>
                <a:cubicBezTo>
                  <a:pt x="62" y="6424"/>
                  <a:pt x="52" y="6411"/>
                  <a:pt x="42" y="6398"/>
                </a:cubicBezTo>
                <a:cubicBezTo>
                  <a:pt x="33" y="6384"/>
                  <a:pt x="26" y="6369"/>
                  <a:pt x="19" y="6354"/>
                </a:cubicBezTo>
                <a:cubicBezTo>
                  <a:pt x="13" y="6339"/>
                  <a:pt x="8" y="6323"/>
                  <a:pt x="5" y="6307"/>
                </a:cubicBezTo>
                <a:cubicBezTo>
                  <a:pt x="2" y="6291"/>
                  <a:pt x="0" y="6274"/>
                  <a:pt x="0" y="6258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8262720" y="2100240"/>
            <a:ext cx="3277080" cy="2343240"/>
          </a:xfrm>
          <a:custGeom>
            <a:avLst/>
            <a:gdLst/>
            <a:ahLst/>
            <a:rect l="0" t="0" r="r" b="b"/>
            <a:pathLst>
              <a:path w="9103" h="6509">
                <a:moveTo>
                  <a:pt x="0" y="6258"/>
                </a:moveTo>
                <a:lnTo>
                  <a:pt x="0" y="251"/>
                </a:lnTo>
                <a:cubicBezTo>
                  <a:pt x="0" y="234"/>
                  <a:pt x="2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6" y="139"/>
                  <a:pt x="33" y="125"/>
                  <a:pt x="42" y="111"/>
                </a:cubicBezTo>
                <a:cubicBezTo>
                  <a:pt x="52" y="98"/>
                  <a:pt x="62" y="85"/>
                  <a:pt x="74" y="73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2"/>
                  <a:pt x="186" y="8"/>
                  <a:pt x="202" y="4"/>
                </a:cubicBezTo>
                <a:cubicBezTo>
                  <a:pt x="219" y="1"/>
                  <a:pt x="235" y="0"/>
                  <a:pt x="251" y="0"/>
                </a:cubicBezTo>
                <a:lnTo>
                  <a:pt x="8850" y="0"/>
                </a:lnTo>
                <a:cubicBezTo>
                  <a:pt x="8867" y="0"/>
                  <a:pt x="8883" y="1"/>
                  <a:pt x="8899" y="4"/>
                </a:cubicBezTo>
                <a:cubicBezTo>
                  <a:pt x="8917" y="8"/>
                  <a:pt x="8932" y="12"/>
                  <a:pt x="8948" y="19"/>
                </a:cubicBezTo>
                <a:cubicBezTo>
                  <a:pt x="8963" y="25"/>
                  <a:pt x="8977" y="33"/>
                  <a:pt x="8991" y="42"/>
                </a:cubicBezTo>
                <a:cubicBezTo>
                  <a:pt x="9005" y="51"/>
                  <a:pt x="9017" y="62"/>
                  <a:pt x="9029" y="73"/>
                </a:cubicBezTo>
                <a:cubicBezTo>
                  <a:pt x="9041" y="85"/>
                  <a:pt x="9051" y="98"/>
                  <a:pt x="9060" y="111"/>
                </a:cubicBezTo>
                <a:cubicBezTo>
                  <a:pt x="9070" y="125"/>
                  <a:pt x="9077" y="139"/>
                  <a:pt x="9084" y="155"/>
                </a:cubicBezTo>
                <a:cubicBezTo>
                  <a:pt x="9090" y="170"/>
                  <a:pt x="9095" y="186"/>
                  <a:pt x="9098" y="202"/>
                </a:cubicBezTo>
                <a:cubicBezTo>
                  <a:pt x="9101" y="218"/>
                  <a:pt x="9103" y="234"/>
                  <a:pt x="9103" y="251"/>
                </a:cubicBezTo>
                <a:lnTo>
                  <a:pt x="9103" y="6258"/>
                </a:lnTo>
                <a:cubicBezTo>
                  <a:pt x="9103" y="6274"/>
                  <a:pt x="9101" y="6291"/>
                  <a:pt x="9098" y="6307"/>
                </a:cubicBezTo>
                <a:cubicBezTo>
                  <a:pt x="9095" y="6323"/>
                  <a:pt x="9090" y="6339"/>
                  <a:pt x="9084" y="6354"/>
                </a:cubicBezTo>
                <a:cubicBezTo>
                  <a:pt x="9077" y="6369"/>
                  <a:pt x="9070" y="6384"/>
                  <a:pt x="9060" y="6398"/>
                </a:cubicBezTo>
                <a:cubicBezTo>
                  <a:pt x="9051" y="6411"/>
                  <a:pt x="9041" y="6424"/>
                  <a:pt x="9029" y="6436"/>
                </a:cubicBezTo>
                <a:cubicBezTo>
                  <a:pt x="9017" y="6447"/>
                  <a:pt x="9005" y="6458"/>
                  <a:pt x="8991" y="6467"/>
                </a:cubicBezTo>
                <a:cubicBezTo>
                  <a:pt x="8977" y="6476"/>
                  <a:pt x="8963" y="6484"/>
                  <a:pt x="8948" y="6490"/>
                </a:cubicBezTo>
                <a:cubicBezTo>
                  <a:pt x="8932" y="6496"/>
                  <a:pt x="8917" y="6501"/>
                  <a:pt x="8899" y="6504"/>
                </a:cubicBezTo>
                <a:cubicBezTo>
                  <a:pt x="8883" y="6508"/>
                  <a:pt x="8867" y="6509"/>
                  <a:pt x="8850" y="6509"/>
                </a:cubicBezTo>
                <a:lnTo>
                  <a:pt x="251" y="6509"/>
                </a:lnTo>
                <a:cubicBezTo>
                  <a:pt x="235" y="6509"/>
                  <a:pt x="219" y="6508"/>
                  <a:pt x="202" y="6504"/>
                </a:cubicBezTo>
                <a:cubicBezTo>
                  <a:pt x="186" y="6501"/>
                  <a:pt x="171" y="6496"/>
                  <a:pt x="155" y="6490"/>
                </a:cubicBezTo>
                <a:cubicBezTo>
                  <a:pt x="140" y="6484"/>
                  <a:pt x="126" y="6476"/>
                  <a:pt x="112" y="6467"/>
                </a:cubicBezTo>
                <a:cubicBezTo>
                  <a:pt x="98" y="6458"/>
                  <a:pt x="85" y="6447"/>
                  <a:pt x="74" y="6436"/>
                </a:cubicBezTo>
                <a:cubicBezTo>
                  <a:pt x="62" y="6424"/>
                  <a:pt x="52" y="6411"/>
                  <a:pt x="42" y="6398"/>
                </a:cubicBezTo>
                <a:cubicBezTo>
                  <a:pt x="33" y="6384"/>
                  <a:pt x="26" y="6369"/>
                  <a:pt x="19" y="6354"/>
                </a:cubicBezTo>
                <a:cubicBezTo>
                  <a:pt x="13" y="6339"/>
                  <a:pt x="8" y="6323"/>
                  <a:pt x="5" y="6307"/>
                </a:cubicBezTo>
                <a:cubicBezTo>
                  <a:pt x="2" y="6291"/>
                  <a:pt x="0" y="6274"/>
                  <a:pt x="0" y="6258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4634640" y="3922200"/>
            <a:ext cx="313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two.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8440920" y="2276640"/>
            <a:ext cx="9871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FF6B1A"/>
                </a:solidFill>
                <a:effectLst/>
                <a:uFillTx/>
                <a:latin typeface="Outfit-Thin_Semi"/>
                <a:ea typeface="Outfit-Thin_Semi"/>
              </a:rPr>
              <a:t>DUPLICATES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8440920" y="2584080"/>
            <a:ext cx="236772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16,990 of 21,344 </a:t>
            </a:r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same-day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8440920" y="2917440"/>
            <a:ext cx="105480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groups had 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9535320" y="2917440"/>
            <a:ext cx="1842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7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different view counts</a:t>
            </a:r>
            <a:endParaRPr lang="en-SG" sz="15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11275920" y="2917440"/>
            <a:ext cx="19296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.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8440920" y="3331800"/>
            <a:ext cx="9680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Real listings 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9391320" y="3349080"/>
            <a:ext cx="17136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555555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562680" y="3331800"/>
            <a:ext cx="12621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 flag, don't drop.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1181268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6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647640" y="1227240"/>
            <a:ext cx="7827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D E C I S I O N   3   ·   T H E   F I N D I N G   T H A T   S H A P E D   T H E   P R O D U C T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1298880" y="2285640"/>
            <a:ext cx="10245240" cy="0"/>
          </a:xfrm>
          <a:prstGeom prst="line">
            <a:avLst/>
          </a:prstGeom>
          <a:ln w="10440">
            <a:solidFill>
              <a:srgbClr val="11111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1298880" y="2761920"/>
            <a:ext cx="10245240" cy="0"/>
          </a:xfrm>
          <a:prstGeom prst="line">
            <a:avLst/>
          </a:prstGeom>
          <a:ln w="10440">
            <a:solidFill>
              <a:srgbClr val="11111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1298880" y="3238200"/>
            <a:ext cx="10245240" cy="0"/>
          </a:xfrm>
          <a:prstGeom prst="line">
            <a:avLst/>
          </a:prstGeom>
          <a:ln w="10440">
            <a:solidFill>
              <a:srgbClr val="11111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1298880" y="3714480"/>
            <a:ext cx="10245240" cy="0"/>
          </a:xfrm>
          <a:prstGeom prst="line">
            <a:avLst/>
          </a:prstGeom>
          <a:ln w="10440">
            <a:solidFill>
              <a:srgbClr val="11111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1298880" y="4190760"/>
            <a:ext cx="10245240" cy="0"/>
          </a:xfrm>
          <a:prstGeom prst="line">
            <a:avLst/>
          </a:prstGeom>
          <a:ln w="10440">
            <a:solidFill>
              <a:srgbClr val="22222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647640" y="1469160"/>
            <a:ext cx="86155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720" b="0" u="none" strike="noStrike">
                <a:solidFill>
                  <a:srgbClr val="888888"/>
                </a:solidFill>
                <a:effectLst/>
                <a:uFillTx/>
                <a:latin typeface="Raleway"/>
                <a:ea typeface="Raleway"/>
              </a:rPr>
              <a:t>Median views collapse — and older postings have fewer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1000080" y="2211840"/>
            <a:ext cx="21924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820" b="0" u="none" strike="noStrike">
                <a:solidFill>
                  <a:srgbClr val="333333"/>
                </a:solidFill>
                <a:effectLst/>
                <a:uFillTx/>
                <a:latin typeface="Outfit-Thin_"/>
                <a:ea typeface="Outfit-Thin_"/>
              </a:rPr>
              <a:t>100</a:t>
            </a:r>
            <a:endParaRPr lang="en-SG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077120" y="2688120"/>
            <a:ext cx="14652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820" b="0" u="none" strike="noStrike">
                <a:solidFill>
                  <a:srgbClr val="333333"/>
                </a:solidFill>
                <a:effectLst/>
                <a:uFillTx/>
                <a:latin typeface="Outfit-Thin_"/>
                <a:ea typeface="Outfit-Thin_"/>
              </a:rPr>
              <a:t>75</a:t>
            </a:r>
            <a:endParaRPr lang="en-SG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1060200" y="3164400"/>
            <a:ext cx="14652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820" b="0" u="none" strike="noStrike">
                <a:solidFill>
                  <a:srgbClr val="333333"/>
                </a:solidFill>
                <a:effectLst/>
                <a:uFillTx/>
                <a:latin typeface="Outfit-Thin_"/>
                <a:ea typeface="Outfit-Thin_"/>
              </a:rPr>
              <a:t>50</a:t>
            </a:r>
            <a:endParaRPr lang="en-SG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074960" y="3640680"/>
            <a:ext cx="14652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820" b="0" u="none" strike="noStrike">
                <a:solidFill>
                  <a:srgbClr val="333333"/>
                </a:solidFill>
                <a:effectLst/>
                <a:uFillTx/>
                <a:latin typeface="Outfit-Thin_"/>
                <a:ea typeface="Outfit-Thin_"/>
              </a:rPr>
              <a:t>25</a:t>
            </a:r>
            <a:endParaRPr lang="en-SG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4259880" y="2285640"/>
            <a:ext cx="7284600" cy="1905480"/>
          </a:xfrm>
          <a:custGeom>
            <a:avLst/>
            <a:gdLst/>
            <a:ahLst/>
            <a:rect l="0" t="0" r="r" b="b"/>
            <a:pathLst>
              <a:path w="20235" h="5293">
                <a:moveTo>
                  <a:pt x="0" y="0"/>
                </a:moveTo>
                <a:lnTo>
                  <a:pt x="20235" y="0"/>
                </a:lnTo>
                <a:lnTo>
                  <a:pt x="20235" y="5293"/>
                </a:lnTo>
                <a:lnTo>
                  <a:pt x="0" y="5293"/>
                </a:lnTo>
                <a:lnTo>
                  <a:pt x="0" y="0"/>
                </a:lnTo>
                <a:close/>
              </a:path>
            </a:pathLst>
          </a:custGeom>
          <a:solidFill>
            <a:srgbClr val="15090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4251240" y="2285640"/>
            <a:ext cx="18000" cy="1905480"/>
          </a:xfrm>
          <a:custGeom>
            <a:avLst/>
            <a:gdLst/>
            <a:ahLst/>
            <a:rect l="0" t="0" r="r" b="b"/>
            <a:pathLst>
              <a:path w="50" h="5293">
                <a:moveTo>
                  <a:pt x="50" y="0"/>
                </a:moveTo>
                <a:lnTo>
                  <a:pt x="50" y="133"/>
                </a:lnTo>
                <a:lnTo>
                  <a:pt x="0" y="133"/>
                </a:lnTo>
                <a:lnTo>
                  <a:pt x="0" y="0"/>
                </a:lnTo>
                <a:lnTo>
                  <a:pt x="50" y="0"/>
                </a:lnTo>
                <a:moveTo>
                  <a:pt x="50" y="239"/>
                </a:moveTo>
                <a:lnTo>
                  <a:pt x="50" y="371"/>
                </a:lnTo>
                <a:lnTo>
                  <a:pt x="0" y="371"/>
                </a:lnTo>
                <a:lnTo>
                  <a:pt x="0" y="239"/>
                </a:lnTo>
                <a:lnTo>
                  <a:pt x="50" y="239"/>
                </a:lnTo>
                <a:moveTo>
                  <a:pt x="50" y="477"/>
                </a:moveTo>
                <a:lnTo>
                  <a:pt x="50" y="609"/>
                </a:lnTo>
                <a:lnTo>
                  <a:pt x="0" y="609"/>
                </a:lnTo>
                <a:lnTo>
                  <a:pt x="0" y="477"/>
                </a:lnTo>
                <a:lnTo>
                  <a:pt x="50" y="477"/>
                </a:lnTo>
                <a:moveTo>
                  <a:pt x="50" y="715"/>
                </a:moveTo>
                <a:lnTo>
                  <a:pt x="50" y="847"/>
                </a:lnTo>
                <a:lnTo>
                  <a:pt x="0" y="847"/>
                </a:lnTo>
                <a:lnTo>
                  <a:pt x="0" y="715"/>
                </a:lnTo>
                <a:lnTo>
                  <a:pt x="50" y="715"/>
                </a:lnTo>
                <a:moveTo>
                  <a:pt x="50" y="953"/>
                </a:moveTo>
                <a:lnTo>
                  <a:pt x="50" y="1085"/>
                </a:lnTo>
                <a:lnTo>
                  <a:pt x="0" y="1085"/>
                </a:lnTo>
                <a:lnTo>
                  <a:pt x="0" y="953"/>
                </a:lnTo>
                <a:lnTo>
                  <a:pt x="50" y="953"/>
                </a:lnTo>
                <a:moveTo>
                  <a:pt x="50" y="1191"/>
                </a:moveTo>
                <a:lnTo>
                  <a:pt x="50" y="1323"/>
                </a:lnTo>
                <a:lnTo>
                  <a:pt x="0" y="1323"/>
                </a:lnTo>
                <a:lnTo>
                  <a:pt x="0" y="1191"/>
                </a:lnTo>
                <a:lnTo>
                  <a:pt x="50" y="1191"/>
                </a:lnTo>
                <a:moveTo>
                  <a:pt x="50" y="1429"/>
                </a:moveTo>
                <a:lnTo>
                  <a:pt x="50" y="1562"/>
                </a:lnTo>
                <a:lnTo>
                  <a:pt x="0" y="1562"/>
                </a:lnTo>
                <a:lnTo>
                  <a:pt x="0" y="1429"/>
                </a:lnTo>
                <a:lnTo>
                  <a:pt x="50" y="1429"/>
                </a:lnTo>
                <a:moveTo>
                  <a:pt x="50" y="1668"/>
                </a:moveTo>
                <a:lnTo>
                  <a:pt x="50" y="1801"/>
                </a:lnTo>
                <a:lnTo>
                  <a:pt x="0" y="1801"/>
                </a:lnTo>
                <a:lnTo>
                  <a:pt x="0" y="1668"/>
                </a:lnTo>
                <a:lnTo>
                  <a:pt x="50" y="1668"/>
                </a:lnTo>
                <a:moveTo>
                  <a:pt x="50" y="1906"/>
                </a:moveTo>
                <a:lnTo>
                  <a:pt x="50" y="2039"/>
                </a:lnTo>
                <a:lnTo>
                  <a:pt x="0" y="2039"/>
                </a:lnTo>
                <a:lnTo>
                  <a:pt x="0" y="1906"/>
                </a:lnTo>
                <a:lnTo>
                  <a:pt x="50" y="1906"/>
                </a:lnTo>
                <a:moveTo>
                  <a:pt x="50" y="2145"/>
                </a:moveTo>
                <a:lnTo>
                  <a:pt x="50" y="2277"/>
                </a:lnTo>
                <a:lnTo>
                  <a:pt x="0" y="2277"/>
                </a:lnTo>
                <a:lnTo>
                  <a:pt x="0" y="2145"/>
                </a:lnTo>
                <a:lnTo>
                  <a:pt x="50" y="2145"/>
                </a:lnTo>
                <a:moveTo>
                  <a:pt x="50" y="2383"/>
                </a:moveTo>
                <a:lnTo>
                  <a:pt x="50" y="2515"/>
                </a:lnTo>
                <a:lnTo>
                  <a:pt x="0" y="2515"/>
                </a:lnTo>
                <a:lnTo>
                  <a:pt x="0" y="2383"/>
                </a:lnTo>
                <a:lnTo>
                  <a:pt x="50" y="2383"/>
                </a:lnTo>
                <a:moveTo>
                  <a:pt x="50" y="2621"/>
                </a:moveTo>
                <a:lnTo>
                  <a:pt x="50" y="2753"/>
                </a:lnTo>
                <a:lnTo>
                  <a:pt x="0" y="2753"/>
                </a:lnTo>
                <a:lnTo>
                  <a:pt x="0" y="2621"/>
                </a:lnTo>
                <a:lnTo>
                  <a:pt x="50" y="2621"/>
                </a:lnTo>
                <a:moveTo>
                  <a:pt x="50" y="2859"/>
                </a:moveTo>
                <a:lnTo>
                  <a:pt x="50" y="2991"/>
                </a:lnTo>
                <a:lnTo>
                  <a:pt x="0" y="2991"/>
                </a:lnTo>
                <a:lnTo>
                  <a:pt x="0" y="2859"/>
                </a:lnTo>
                <a:lnTo>
                  <a:pt x="50" y="2859"/>
                </a:lnTo>
                <a:moveTo>
                  <a:pt x="50" y="3097"/>
                </a:moveTo>
                <a:lnTo>
                  <a:pt x="50" y="3229"/>
                </a:lnTo>
                <a:lnTo>
                  <a:pt x="0" y="3229"/>
                </a:lnTo>
                <a:lnTo>
                  <a:pt x="0" y="3097"/>
                </a:lnTo>
                <a:lnTo>
                  <a:pt x="50" y="3097"/>
                </a:lnTo>
                <a:moveTo>
                  <a:pt x="50" y="3335"/>
                </a:moveTo>
                <a:lnTo>
                  <a:pt x="50" y="3468"/>
                </a:lnTo>
                <a:lnTo>
                  <a:pt x="0" y="3468"/>
                </a:lnTo>
                <a:lnTo>
                  <a:pt x="0" y="3335"/>
                </a:lnTo>
                <a:lnTo>
                  <a:pt x="50" y="3335"/>
                </a:lnTo>
                <a:moveTo>
                  <a:pt x="50" y="3573"/>
                </a:moveTo>
                <a:lnTo>
                  <a:pt x="50" y="3706"/>
                </a:lnTo>
                <a:lnTo>
                  <a:pt x="0" y="3706"/>
                </a:lnTo>
                <a:lnTo>
                  <a:pt x="0" y="3573"/>
                </a:lnTo>
                <a:lnTo>
                  <a:pt x="50" y="3573"/>
                </a:lnTo>
                <a:moveTo>
                  <a:pt x="50" y="3811"/>
                </a:moveTo>
                <a:lnTo>
                  <a:pt x="50" y="3944"/>
                </a:lnTo>
                <a:lnTo>
                  <a:pt x="0" y="3944"/>
                </a:lnTo>
                <a:lnTo>
                  <a:pt x="0" y="3811"/>
                </a:lnTo>
                <a:lnTo>
                  <a:pt x="50" y="3811"/>
                </a:lnTo>
                <a:moveTo>
                  <a:pt x="50" y="4050"/>
                </a:moveTo>
                <a:lnTo>
                  <a:pt x="50" y="4182"/>
                </a:lnTo>
                <a:lnTo>
                  <a:pt x="0" y="4182"/>
                </a:lnTo>
                <a:lnTo>
                  <a:pt x="0" y="4050"/>
                </a:lnTo>
                <a:lnTo>
                  <a:pt x="50" y="4050"/>
                </a:lnTo>
                <a:moveTo>
                  <a:pt x="50" y="4288"/>
                </a:moveTo>
                <a:lnTo>
                  <a:pt x="50" y="4420"/>
                </a:lnTo>
                <a:lnTo>
                  <a:pt x="0" y="4420"/>
                </a:lnTo>
                <a:lnTo>
                  <a:pt x="0" y="4288"/>
                </a:lnTo>
                <a:lnTo>
                  <a:pt x="50" y="4288"/>
                </a:lnTo>
                <a:moveTo>
                  <a:pt x="50" y="4526"/>
                </a:moveTo>
                <a:lnTo>
                  <a:pt x="50" y="4658"/>
                </a:lnTo>
                <a:lnTo>
                  <a:pt x="0" y="4658"/>
                </a:lnTo>
                <a:lnTo>
                  <a:pt x="0" y="4526"/>
                </a:lnTo>
                <a:lnTo>
                  <a:pt x="50" y="4526"/>
                </a:lnTo>
                <a:moveTo>
                  <a:pt x="50" y="4764"/>
                </a:moveTo>
                <a:lnTo>
                  <a:pt x="50" y="4896"/>
                </a:lnTo>
                <a:lnTo>
                  <a:pt x="0" y="4896"/>
                </a:lnTo>
                <a:lnTo>
                  <a:pt x="0" y="4764"/>
                </a:lnTo>
                <a:lnTo>
                  <a:pt x="50" y="4764"/>
                </a:lnTo>
                <a:moveTo>
                  <a:pt x="50" y="5002"/>
                </a:moveTo>
                <a:lnTo>
                  <a:pt x="50" y="5134"/>
                </a:lnTo>
                <a:lnTo>
                  <a:pt x="0" y="5134"/>
                </a:lnTo>
                <a:lnTo>
                  <a:pt x="0" y="5002"/>
                </a:lnTo>
                <a:lnTo>
                  <a:pt x="50" y="5002"/>
                </a:lnTo>
                <a:moveTo>
                  <a:pt x="50" y="5240"/>
                </a:moveTo>
                <a:lnTo>
                  <a:pt x="50" y="5293"/>
                </a:lnTo>
                <a:lnTo>
                  <a:pt x="0" y="5293"/>
                </a:lnTo>
                <a:lnTo>
                  <a:pt x="0" y="5240"/>
                </a:lnTo>
                <a:lnTo>
                  <a:pt x="50" y="5240"/>
                </a:lnTo>
                <a:close/>
              </a:path>
            </a:pathLst>
          </a:custGeom>
          <a:solidFill>
            <a:srgbClr val="C23B3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1130400" y="4116960"/>
            <a:ext cx="12996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820" b="0" u="none" strike="noStrike">
                <a:solidFill>
                  <a:srgbClr val="333333"/>
                </a:solidFill>
                <a:effectLst/>
                <a:uFillTx/>
                <a:latin typeface="Outfit-Thin_"/>
                <a:ea typeface="Outfit-Thin_"/>
              </a:rPr>
              <a:t>0</a:t>
            </a:r>
            <a:endParaRPr lang="en-SG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1891080" y="2761920"/>
            <a:ext cx="9475560" cy="1429200"/>
          </a:xfrm>
          <a:custGeom>
            <a:avLst/>
            <a:gdLst/>
            <a:ahLst/>
            <a:rect l="0" t="0" r="r" b="b"/>
            <a:pathLst>
              <a:path w="26321" h="3970">
                <a:moveTo>
                  <a:pt x="0" y="688"/>
                </a:moveTo>
                <a:lnTo>
                  <a:pt x="1876" y="265"/>
                </a:lnTo>
                <a:lnTo>
                  <a:pt x="3751" y="0"/>
                </a:lnTo>
                <a:lnTo>
                  <a:pt x="5626" y="1270"/>
                </a:lnTo>
                <a:lnTo>
                  <a:pt x="7534" y="3864"/>
                </a:lnTo>
                <a:lnTo>
                  <a:pt x="9411" y="3864"/>
                </a:lnTo>
                <a:lnTo>
                  <a:pt x="11286" y="3864"/>
                </a:lnTo>
                <a:lnTo>
                  <a:pt x="13161" y="3811"/>
                </a:lnTo>
                <a:lnTo>
                  <a:pt x="15037" y="3864"/>
                </a:lnTo>
                <a:lnTo>
                  <a:pt x="16912" y="3864"/>
                </a:lnTo>
                <a:lnTo>
                  <a:pt x="18787" y="3864"/>
                </a:lnTo>
                <a:lnTo>
                  <a:pt x="20696" y="3811"/>
                </a:lnTo>
                <a:lnTo>
                  <a:pt x="22571" y="3758"/>
                </a:lnTo>
                <a:lnTo>
                  <a:pt x="24446" y="3653"/>
                </a:lnTo>
                <a:lnTo>
                  <a:pt x="26321" y="3758"/>
                </a:lnTo>
                <a:lnTo>
                  <a:pt x="26321" y="3970"/>
                </a:lnTo>
                <a:lnTo>
                  <a:pt x="0" y="3970"/>
                </a:lnTo>
                <a:lnTo>
                  <a:pt x="0" y="688"/>
                </a:lnTo>
                <a:close/>
              </a:path>
            </a:pathLst>
          </a:custGeom>
          <a:solidFill>
            <a:srgbClr val="1D11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1891080" y="2761920"/>
            <a:ext cx="9475560" cy="1391040"/>
          </a:xfrm>
          <a:custGeom>
            <a:avLst/>
            <a:gdLst/>
            <a:ahLst/>
            <a:rect l="0" t="0" r="r" b="b"/>
            <a:pathLst>
              <a:path fill="none" w="26321" h="3864">
                <a:moveTo>
                  <a:pt x="0" y="688"/>
                </a:moveTo>
                <a:lnTo>
                  <a:pt x="1876" y="265"/>
                </a:lnTo>
                <a:lnTo>
                  <a:pt x="3751" y="0"/>
                </a:lnTo>
                <a:lnTo>
                  <a:pt x="5626" y="1270"/>
                </a:lnTo>
                <a:lnTo>
                  <a:pt x="7534" y="3864"/>
                </a:lnTo>
                <a:lnTo>
                  <a:pt x="9411" y="3864"/>
                </a:lnTo>
                <a:lnTo>
                  <a:pt x="11286" y="3864"/>
                </a:lnTo>
                <a:lnTo>
                  <a:pt x="13161" y="3811"/>
                </a:lnTo>
                <a:lnTo>
                  <a:pt x="15037" y="3864"/>
                </a:lnTo>
                <a:lnTo>
                  <a:pt x="16912" y="3864"/>
                </a:lnTo>
                <a:lnTo>
                  <a:pt x="18787" y="3864"/>
                </a:lnTo>
                <a:lnTo>
                  <a:pt x="20696" y="3811"/>
                </a:lnTo>
                <a:lnTo>
                  <a:pt x="22571" y="3758"/>
                </a:lnTo>
                <a:lnTo>
                  <a:pt x="24446" y="3653"/>
                </a:lnTo>
                <a:lnTo>
                  <a:pt x="26321" y="3758"/>
                </a:lnTo>
              </a:path>
            </a:pathLst>
          </a:custGeom>
          <a:ln w="26640">
            <a:solidFill>
              <a:srgbClr val="FF6B1A"/>
            </a:solidFill>
            <a:round/>
          </a:ln>
        </p:spPr>
        <p:txBody>
          <a:bodyPr lIns="13320" tIns="13320" rIns="13320" bIns="1332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3857400" y="3171600"/>
            <a:ext cx="118800" cy="95760"/>
          </a:xfrm>
          <a:custGeom>
            <a:avLst/>
            <a:gdLst/>
            <a:ahLst/>
            <a:rect l="0" t="0" r="r" b="b"/>
            <a:pathLst>
              <a:path w="330" h="266">
                <a:moveTo>
                  <a:pt x="330" y="133"/>
                </a:moveTo>
                <a:cubicBezTo>
                  <a:pt x="330" y="142"/>
                  <a:pt x="329" y="151"/>
                  <a:pt x="327" y="159"/>
                </a:cubicBezTo>
                <a:cubicBezTo>
                  <a:pt x="324" y="168"/>
                  <a:pt x="321" y="176"/>
                  <a:pt x="317" y="184"/>
                </a:cubicBezTo>
                <a:cubicBezTo>
                  <a:pt x="313" y="192"/>
                  <a:pt x="308" y="200"/>
                  <a:pt x="301" y="207"/>
                </a:cubicBezTo>
                <a:cubicBezTo>
                  <a:pt x="295" y="214"/>
                  <a:pt x="288" y="221"/>
                  <a:pt x="280" y="227"/>
                </a:cubicBezTo>
                <a:cubicBezTo>
                  <a:pt x="273" y="233"/>
                  <a:pt x="265" y="239"/>
                  <a:pt x="256" y="243"/>
                </a:cubicBezTo>
                <a:cubicBezTo>
                  <a:pt x="247" y="248"/>
                  <a:pt x="237" y="252"/>
                  <a:pt x="227" y="256"/>
                </a:cubicBezTo>
                <a:cubicBezTo>
                  <a:pt x="217" y="259"/>
                  <a:pt x="207" y="261"/>
                  <a:pt x="196" y="263"/>
                </a:cubicBezTo>
                <a:cubicBezTo>
                  <a:pt x="186" y="265"/>
                  <a:pt x="175" y="266"/>
                  <a:pt x="164" y="266"/>
                </a:cubicBezTo>
                <a:cubicBezTo>
                  <a:pt x="153" y="266"/>
                  <a:pt x="143" y="265"/>
                  <a:pt x="132" y="263"/>
                </a:cubicBezTo>
                <a:cubicBezTo>
                  <a:pt x="121" y="261"/>
                  <a:pt x="111" y="259"/>
                  <a:pt x="101" y="256"/>
                </a:cubicBezTo>
                <a:cubicBezTo>
                  <a:pt x="91" y="252"/>
                  <a:pt x="82" y="248"/>
                  <a:pt x="73" y="243"/>
                </a:cubicBezTo>
                <a:cubicBezTo>
                  <a:pt x="64" y="239"/>
                  <a:pt x="55" y="233"/>
                  <a:pt x="48" y="227"/>
                </a:cubicBezTo>
                <a:cubicBezTo>
                  <a:pt x="40" y="221"/>
                  <a:pt x="33" y="214"/>
                  <a:pt x="27" y="207"/>
                </a:cubicBezTo>
                <a:cubicBezTo>
                  <a:pt x="21" y="200"/>
                  <a:pt x="16" y="192"/>
                  <a:pt x="12" y="184"/>
                </a:cubicBezTo>
                <a:cubicBezTo>
                  <a:pt x="8" y="176"/>
                  <a:pt x="5" y="168"/>
                  <a:pt x="3" y="159"/>
                </a:cubicBezTo>
                <a:cubicBezTo>
                  <a:pt x="1" y="151"/>
                  <a:pt x="0" y="142"/>
                  <a:pt x="0" y="133"/>
                </a:cubicBezTo>
                <a:cubicBezTo>
                  <a:pt x="0" y="125"/>
                  <a:pt x="1" y="116"/>
                  <a:pt x="3" y="108"/>
                </a:cubicBezTo>
                <a:cubicBezTo>
                  <a:pt x="5" y="99"/>
                  <a:pt x="8" y="91"/>
                  <a:pt x="12" y="83"/>
                </a:cubicBezTo>
                <a:cubicBezTo>
                  <a:pt x="16" y="75"/>
                  <a:pt x="21" y="67"/>
                  <a:pt x="27" y="60"/>
                </a:cubicBezTo>
                <a:cubicBezTo>
                  <a:pt x="33" y="53"/>
                  <a:pt x="40" y="46"/>
                  <a:pt x="48" y="40"/>
                </a:cubicBezTo>
                <a:cubicBezTo>
                  <a:pt x="55" y="33"/>
                  <a:pt x="64" y="27"/>
                  <a:pt x="73" y="22"/>
                </a:cubicBezTo>
                <a:cubicBezTo>
                  <a:pt x="82" y="18"/>
                  <a:pt x="91" y="14"/>
                  <a:pt x="101" y="10"/>
                </a:cubicBezTo>
                <a:cubicBezTo>
                  <a:pt x="111" y="7"/>
                  <a:pt x="121" y="4"/>
                  <a:pt x="132" y="3"/>
                </a:cubicBezTo>
                <a:cubicBezTo>
                  <a:pt x="143" y="1"/>
                  <a:pt x="153" y="0"/>
                  <a:pt x="164" y="0"/>
                </a:cubicBezTo>
                <a:cubicBezTo>
                  <a:pt x="175" y="0"/>
                  <a:pt x="186" y="1"/>
                  <a:pt x="196" y="3"/>
                </a:cubicBezTo>
                <a:cubicBezTo>
                  <a:pt x="207" y="4"/>
                  <a:pt x="217" y="7"/>
                  <a:pt x="227" y="10"/>
                </a:cubicBezTo>
                <a:cubicBezTo>
                  <a:pt x="237" y="14"/>
                  <a:pt x="247" y="18"/>
                  <a:pt x="256" y="22"/>
                </a:cubicBezTo>
                <a:cubicBezTo>
                  <a:pt x="265" y="27"/>
                  <a:pt x="273" y="33"/>
                  <a:pt x="280" y="40"/>
                </a:cubicBezTo>
                <a:cubicBezTo>
                  <a:pt x="288" y="46"/>
                  <a:pt x="295" y="53"/>
                  <a:pt x="301" y="60"/>
                </a:cubicBezTo>
                <a:cubicBezTo>
                  <a:pt x="308" y="67"/>
                  <a:pt x="313" y="75"/>
                  <a:pt x="317" y="83"/>
                </a:cubicBezTo>
                <a:cubicBezTo>
                  <a:pt x="321" y="91"/>
                  <a:pt x="324" y="99"/>
                  <a:pt x="327" y="108"/>
                </a:cubicBezTo>
                <a:cubicBezTo>
                  <a:pt x="329" y="116"/>
                  <a:pt x="330" y="125"/>
                  <a:pt x="330" y="133"/>
                </a:cubicBez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3857400" y="3171600"/>
            <a:ext cx="118800" cy="95760"/>
          </a:xfrm>
          <a:custGeom>
            <a:avLst/>
            <a:gdLst/>
            <a:ahLst/>
            <a:rect l="0" t="0" r="r" b="b"/>
            <a:pathLst>
              <a:path w="330" h="266">
                <a:moveTo>
                  <a:pt x="330" y="133"/>
                </a:moveTo>
                <a:cubicBezTo>
                  <a:pt x="330" y="142"/>
                  <a:pt x="329" y="151"/>
                  <a:pt x="327" y="159"/>
                </a:cubicBezTo>
                <a:cubicBezTo>
                  <a:pt x="324" y="168"/>
                  <a:pt x="321" y="176"/>
                  <a:pt x="317" y="184"/>
                </a:cubicBezTo>
                <a:cubicBezTo>
                  <a:pt x="313" y="192"/>
                  <a:pt x="308" y="200"/>
                  <a:pt x="301" y="207"/>
                </a:cubicBezTo>
                <a:cubicBezTo>
                  <a:pt x="295" y="214"/>
                  <a:pt x="288" y="221"/>
                  <a:pt x="280" y="227"/>
                </a:cubicBezTo>
                <a:cubicBezTo>
                  <a:pt x="273" y="233"/>
                  <a:pt x="265" y="239"/>
                  <a:pt x="256" y="243"/>
                </a:cubicBezTo>
                <a:cubicBezTo>
                  <a:pt x="247" y="248"/>
                  <a:pt x="237" y="252"/>
                  <a:pt x="227" y="256"/>
                </a:cubicBezTo>
                <a:cubicBezTo>
                  <a:pt x="217" y="259"/>
                  <a:pt x="207" y="261"/>
                  <a:pt x="196" y="263"/>
                </a:cubicBezTo>
                <a:cubicBezTo>
                  <a:pt x="186" y="265"/>
                  <a:pt x="175" y="266"/>
                  <a:pt x="164" y="266"/>
                </a:cubicBezTo>
                <a:cubicBezTo>
                  <a:pt x="153" y="266"/>
                  <a:pt x="143" y="265"/>
                  <a:pt x="132" y="263"/>
                </a:cubicBezTo>
                <a:cubicBezTo>
                  <a:pt x="121" y="261"/>
                  <a:pt x="111" y="259"/>
                  <a:pt x="101" y="256"/>
                </a:cubicBezTo>
                <a:cubicBezTo>
                  <a:pt x="91" y="252"/>
                  <a:pt x="82" y="248"/>
                  <a:pt x="73" y="243"/>
                </a:cubicBezTo>
                <a:cubicBezTo>
                  <a:pt x="64" y="239"/>
                  <a:pt x="55" y="233"/>
                  <a:pt x="48" y="227"/>
                </a:cubicBezTo>
                <a:cubicBezTo>
                  <a:pt x="40" y="221"/>
                  <a:pt x="33" y="214"/>
                  <a:pt x="27" y="207"/>
                </a:cubicBezTo>
                <a:cubicBezTo>
                  <a:pt x="21" y="200"/>
                  <a:pt x="16" y="192"/>
                  <a:pt x="12" y="184"/>
                </a:cubicBezTo>
                <a:cubicBezTo>
                  <a:pt x="8" y="176"/>
                  <a:pt x="5" y="168"/>
                  <a:pt x="3" y="159"/>
                </a:cubicBezTo>
                <a:cubicBezTo>
                  <a:pt x="1" y="151"/>
                  <a:pt x="0" y="142"/>
                  <a:pt x="0" y="133"/>
                </a:cubicBezTo>
                <a:cubicBezTo>
                  <a:pt x="0" y="125"/>
                  <a:pt x="1" y="116"/>
                  <a:pt x="3" y="108"/>
                </a:cubicBezTo>
                <a:cubicBezTo>
                  <a:pt x="5" y="99"/>
                  <a:pt x="8" y="91"/>
                  <a:pt x="12" y="83"/>
                </a:cubicBezTo>
                <a:cubicBezTo>
                  <a:pt x="16" y="75"/>
                  <a:pt x="21" y="67"/>
                  <a:pt x="27" y="60"/>
                </a:cubicBezTo>
                <a:cubicBezTo>
                  <a:pt x="33" y="53"/>
                  <a:pt x="40" y="46"/>
                  <a:pt x="48" y="40"/>
                </a:cubicBezTo>
                <a:cubicBezTo>
                  <a:pt x="55" y="33"/>
                  <a:pt x="64" y="27"/>
                  <a:pt x="73" y="22"/>
                </a:cubicBezTo>
                <a:cubicBezTo>
                  <a:pt x="82" y="18"/>
                  <a:pt x="91" y="14"/>
                  <a:pt x="101" y="10"/>
                </a:cubicBezTo>
                <a:cubicBezTo>
                  <a:pt x="111" y="7"/>
                  <a:pt x="121" y="4"/>
                  <a:pt x="132" y="3"/>
                </a:cubicBezTo>
                <a:cubicBezTo>
                  <a:pt x="143" y="1"/>
                  <a:pt x="153" y="0"/>
                  <a:pt x="164" y="0"/>
                </a:cubicBezTo>
                <a:cubicBezTo>
                  <a:pt x="175" y="0"/>
                  <a:pt x="186" y="1"/>
                  <a:pt x="196" y="3"/>
                </a:cubicBezTo>
                <a:cubicBezTo>
                  <a:pt x="207" y="4"/>
                  <a:pt x="217" y="7"/>
                  <a:pt x="227" y="10"/>
                </a:cubicBezTo>
                <a:cubicBezTo>
                  <a:pt x="237" y="14"/>
                  <a:pt x="247" y="18"/>
                  <a:pt x="256" y="22"/>
                </a:cubicBezTo>
                <a:cubicBezTo>
                  <a:pt x="265" y="27"/>
                  <a:pt x="273" y="33"/>
                  <a:pt x="280" y="40"/>
                </a:cubicBezTo>
                <a:cubicBezTo>
                  <a:pt x="288" y="46"/>
                  <a:pt x="295" y="53"/>
                  <a:pt x="301" y="60"/>
                </a:cubicBezTo>
                <a:cubicBezTo>
                  <a:pt x="308" y="67"/>
                  <a:pt x="313" y="75"/>
                  <a:pt x="317" y="83"/>
                </a:cubicBezTo>
                <a:cubicBezTo>
                  <a:pt x="321" y="91"/>
                  <a:pt x="324" y="99"/>
                  <a:pt x="327" y="108"/>
                </a:cubicBezTo>
                <a:cubicBezTo>
                  <a:pt x="329" y="116"/>
                  <a:pt x="330" y="125"/>
                  <a:pt x="330" y="133"/>
                </a:cubicBezTo>
                <a:close/>
              </a:path>
            </a:pathLst>
          </a:custGeom>
          <a:noFill/>
          <a:ln w="21240">
            <a:solidFill>
              <a:srgbClr val="000000"/>
            </a:solidFill>
            <a:miter/>
          </a:ln>
        </p:spPr>
        <p:txBody>
          <a:bodyPr lIns="10440" tIns="10440" rIns="10440" bIns="1044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4354920" y="2326320"/>
            <a:ext cx="1107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820" b="1" u="none" strike="noStrike">
                <a:solidFill>
                  <a:srgbClr val="EF4444"/>
                </a:solidFill>
                <a:effectLst/>
                <a:uFillTx/>
                <a:latin typeface="Outfit-Thin_"/>
                <a:ea typeface="Outfit-Thin_"/>
              </a:rPr>
              <a:t>crawl boundary</a:t>
            </a:r>
            <a:endParaRPr lang="en-SG" sz="8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4544280" y="4105080"/>
            <a:ext cx="118800" cy="95760"/>
          </a:xfrm>
          <a:custGeom>
            <a:avLst/>
            <a:gdLst/>
            <a:ahLst/>
            <a:rect l="0" t="0" r="r" b="b"/>
            <a:pathLst>
              <a:path w="330" h="266">
                <a:moveTo>
                  <a:pt x="330" y="133"/>
                </a:moveTo>
                <a:cubicBezTo>
                  <a:pt x="330" y="142"/>
                  <a:pt x="329" y="151"/>
                  <a:pt x="327" y="159"/>
                </a:cubicBezTo>
                <a:cubicBezTo>
                  <a:pt x="325" y="168"/>
                  <a:pt x="321" y="176"/>
                  <a:pt x="317" y="184"/>
                </a:cubicBezTo>
                <a:cubicBezTo>
                  <a:pt x="313" y="192"/>
                  <a:pt x="308" y="200"/>
                  <a:pt x="302" y="207"/>
                </a:cubicBezTo>
                <a:cubicBezTo>
                  <a:pt x="296" y="214"/>
                  <a:pt x="289" y="221"/>
                  <a:pt x="282" y="227"/>
                </a:cubicBezTo>
                <a:cubicBezTo>
                  <a:pt x="274" y="233"/>
                  <a:pt x="266" y="239"/>
                  <a:pt x="257" y="243"/>
                </a:cubicBezTo>
                <a:cubicBezTo>
                  <a:pt x="248" y="248"/>
                  <a:pt x="238" y="252"/>
                  <a:pt x="228" y="256"/>
                </a:cubicBezTo>
                <a:cubicBezTo>
                  <a:pt x="218" y="259"/>
                  <a:pt x="208" y="261"/>
                  <a:pt x="197" y="263"/>
                </a:cubicBezTo>
                <a:cubicBezTo>
                  <a:pt x="187" y="265"/>
                  <a:pt x="176" y="266"/>
                  <a:pt x="165" y="266"/>
                </a:cubicBezTo>
                <a:cubicBezTo>
                  <a:pt x="155" y="266"/>
                  <a:pt x="144" y="265"/>
                  <a:pt x="133" y="263"/>
                </a:cubicBezTo>
                <a:cubicBezTo>
                  <a:pt x="123" y="261"/>
                  <a:pt x="112" y="259"/>
                  <a:pt x="102" y="256"/>
                </a:cubicBezTo>
                <a:cubicBezTo>
                  <a:pt x="92" y="252"/>
                  <a:pt x="83" y="248"/>
                  <a:pt x="74" y="243"/>
                </a:cubicBezTo>
                <a:cubicBezTo>
                  <a:pt x="65" y="239"/>
                  <a:pt x="57" y="233"/>
                  <a:pt x="49" y="227"/>
                </a:cubicBezTo>
                <a:cubicBezTo>
                  <a:pt x="40" y="221"/>
                  <a:pt x="34" y="214"/>
                  <a:pt x="28" y="207"/>
                </a:cubicBezTo>
                <a:cubicBezTo>
                  <a:pt x="22" y="200"/>
                  <a:pt x="17" y="192"/>
                  <a:pt x="12" y="184"/>
                </a:cubicBezTo>
                <a:cubicBezTo>
                  <a:pt x="8" y="176"/>
                  <a:pt x="5" y="168"/>
                  <a:pt x="3" y="159"/>
                </a:cubicBezTo>
                <a:cubicBezTo>
                  <a:pt x="1" y="151"/>
                  <a:pt x="0" y="142"/>
                  <a:pt x="0" y="133"/>
                </a:cubicBezTo>
                <a:cubicBezTo>
                  <a:pt x="0" y="125"/>
                  <a:pt x="1" y="116"/>
                  <a:pt x="3" y="108"/>
                </a:cubicBezTo>
                <a:cubicBezTo>
                  <a:pt x="5" y="99"/>
                  <a:pt x="8" y="91"/>
                  <a:pt x="12" y="83"/>
                </a:cubicBezTo>
                <a:cubicBezTo>
                  <a:pt x="17" y="74"/>
                  <a:pt x="22" y="66"/>
                  <a:pt x="28" y="59"/>
                </a:cubicBezTo>
                <a:cubicBezTo>
                  <a:pt x="34" y="52"/>
                  <a:pt x="40" y="45"/>
                  <a:pt x="49" y="39"/>
                </a:cubicBezTo>
                <a:cubicBezTo>
                  <a:pt x="57" y="33"/>
                  <a:pt x="65" y="27"/>
                  <a:pt x="74" y="22"/>
                </a:cubicBezTo>
                <a:cubicBezTo>
                  <a:pt x="83" y="18"/>
                  <a:pt x="92" y="13"/>
                  <a:pt x="102" y="10"/>
                </a:cubicBezTo>
                <a:cubicBezTo>
                  <a:pt x="112" y="7"/>
                  <a:pt x="123" y="4"/>
                  <a:pt x="133" y="3"/>
                </a:cubicBezTo>
                <a:cubicBezTo>
                  <a:pt x="144" y="1"/>
                  <a:pt x="155" y="0"/>
                  <a:pt x="165" y="0"/>
                </a:cubicBezTo>
                <a:cubicBezTo>
                  <a:pt x="176" y="0"/>
                  <a:pt x="187" y="1"/>
                  <a:pt x="197" y="3"/>
                </a:cubicBezTo>
                <a:cubicBezTo>
                  <a:pt x="208" y="4"/>
                  <a:pt x="218" y="7"/>
                  <a:pt x="228" y="10"/>
                </a:cubicBezTo>
                <a:cubicBezTo>
                  <a:pt x="238" y="13"/>
                  <a:pt x="248" y="18"/>
                  <a:pt x="257" y="22"/>
                </a:cubicBezTo>
                <a:cubicBezTo>
                  <a:pt x="266" y="27"/>
                  <a:pt x="274" y="33"/>
                  <a:pt x="282" y="39"/>
                </a:cubicBezTo>
                <a:cubicBezTo>
                  <a:pt x="289" y="45"/>
                  <a:pt x="296" y="52"/>
                  <a:pt x="302" y="59"/>
                </a:cubicBezTo>
                <a:cubicBezTo>
                  <a:pt x="308" y="66"/>
                  <a:pt x="313" y="74"/>
                  <a:pt x="317" y="83"/>
                </a:cubicBezTo>
                <a:cubicBezTo>
                  <a:pt x="321" y="91"/>
                  <a:pt x="325" y="99"/>
                  <a:pt x="327" y="108"/>
                </a:cubicBezTo>
                <a:cubicBezTo>
                  <a:pt x="329" y="116"/>
                  <a:pt x="330" y="125"/>
                  <a:pt x="330" y="133"/>
                </a:cubicBezTo>
                <a:close/>
              </a:path>
            </a:pathLst>
          </a:custGeom>
          <a:solidFill>
            <a:srgbClr val="EF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4544280" y="4105080"/>
            <a:ext cx="118800" cy="95760"/>
          </a:xfrm>
          <a:custGeom>
            <a:avLst/>
            <a:gdLst/>
            <a:ahLst/>
            <a:rect l="0" t="0" r="r" b="b"/>
            <a:pathLst>
              <a:path w="330" h="266">
                <a:moveTo>
                  <a:pt x="330" y="133"/>
                </a:moveTo>
                <a:cubicBezTo>
                  <a:pt x="330" y="142"/>
                  <a:pt x="329" y="151"/>
                  <a:pt x="327" y="159"/>
                </a:cubicBezTo>
                <a:cubicBezTo>
                  <a:pt x="325" y="168"/>
                  <a:pt x="321" y="176"/>
                  <a:pt x="317" y="184"/>
                </a:cubicBezTo>
                <a:cubicBezTo>
                  <a:pt x="313" y="192"/>
                  <a:pt x="308" y="200"/>
                  <a:pt x="302" y="207"/>
                </a:cubicBezTo>
                <a:cubicBezTo>
                  <a:pt x="296" y="214"/>
                  <a:pt x="289" y="221"/>
                  <a:pt x="282" y="227"/>
                </a:cubicBezTo>
                <a:cubicBezTo>
                  <a:pt x="274" y="233"/>
                  <a:pt x="266" y="239"/>
                  <a:pt x="257" y="243"/>
                </a:cubicBezTo>
                <a:cubicBezTo>
                  <a:pt x="248" y="248"/>
                  <a:pt x="238" y="252"/>
                  <a:pt x="228" y="256"/>
                </a:cubicBezTo>
                <a:cubicBezTo>
                  <a:pt x="218" y="259"/>
                  <a:pt x="208" y="261"/>
                  <a:pt x="197" y="263"/>
                </a:cubicBezTo>
                <a:cubicBezTo>
                  <a:pt x="187" y="265"/>
                  <a:pt x="176" y="266"/>
                  <a:pt x="165" y="266"/>
                </a:cubicBezTo>
                <a:cubicBezTo>
                  <a:pt x="155" y="266"/>
                  <a:pt x="144" y="265"/>
                  <a:pt x="133" y="263"/>
                </a:cubicBezTo>
                <a:cubicBezTo>
                  <a:pt x="123" y="261"/>
                  <a:pt x="112" y="259"/>
                  <a:pt x="102" y="256"/>
                </a:cubicBezTo>
                <a:cubicBezTo>
                  <a:pt x="92" y="252"/>
                  <a:pt x="83" y="248"/>
                  <a:pt x="74" y="243"/>
                </a:cubicBezTo>
                <a:cubicBezTo>
                  <a:pt x="65" y="239"/>
                  <a:pt x="57" y="233"/>
                  <a:pt x="49" y="227"/>
                </a:cubicBezTo>
                <a:cubicBezTo>
                  <a:pt x="40" y="221"/>
                  <a:pt x="34" y="214"/>
                  <a:pt x="28" y="207"/>
                </a:cubicBezTo>
                <a:cubicBezTo>
                  <a:pt x="22" y="200"/>
                  <a:pt x="17" y="192"/>
                  <a:pt x="12" y="184"/>
                </a:cubicBezTo>
                <a:cubicBezTo>
                  <a:pt x="8" y="176"/>
                  <a:pt x="5" y="168"/>
                  <a:pt x="3" y="159"/>
                </a:cubicBezTo>
                <a:cubicBezTo>
                  <a:pt x="1" y="151"/>
                  <a:pt x="0" y="142"/>
                  <a:pt x="0" y="133"/>
                </a:cubicBezTo>
                <a:cubicBezTo>
                  <a:pt x="0" y="125"/>
                  <a:pt x="1" y="116"/>
                  <a:pt x="3" y="108"/>
                </a:cubicBezTo>
                <a:cubicBezTo>
                  <a:pt x="5" y="99"/>
                  <a:pt x="8" y="91"/>
                  <a:pt x="12" y="83"/>
                </a:cubicBezTo>
                <a:cubicBezTo>
                  <a:pt x="17" y="74"/>
                  <a:pt x="22" y="66"/>
                  <a:pt x="28" y="59"/>
                </a:cubicBezTo>
                <a:cubicBezTo>
                  <a:pt x="34" y="52"/>
                  <a:pt x="40" y="45"/>
                  <a:pt x="49" y="39"/>
                </a:cubicBezTo>
                <a:cubicBezTo>
                  <a:pt x="57" y="33"/>
                  <a:pt x="65" y="27"/>
                  <a:pt x="74" y="22"/>
                </a:cubicBezTo>
                <a:cubicBezTo>
                  <a:pt x="83" y="18"/>
                  <a:pt x="92" y="13"/>
                  <a:pt x="102" y="10"/>
                </a:cubicBezTo>
                <a:cubicBezTo>
                  <a:pt x="112" y="7"/>
                  <a:pt x="123" y="4"/>
                  <a:pt x="133" y="3"/>
                </a:cubicBezTo>
                <a:cubicBezTo>
                  <a:pt x="144" y="1"/>
                  <a:pt x="155" y="0"/>
                  <a:pt x="165" y="0"/>
                </a:cubicBezTo>
                <a:cubicBezTo>
                  <a:pt x="176" y="0"/>
                  <a:pt x="187" y="1"/>
                  <a:pt x="197" y="3"/>
                </a:cubicBezTo>
                <a:cubicBezTo>
                  <a:pt x="208" y="4"/>
                  <a:pt x="218" y="7"/>
                  <a:pt x="228" y="10"/>
                </a:cubicBezTo>
                <a:cubicBezTo>
                  <a:pt x="238" y="13"/>
                  <a:pt x="248" y="18"/>
                  <a:pt x="257" y="22"/>
                </a:cubicBezTo>
                <a:cubicBezTo>
                  <a:pt x="266" y="27"/>
                  <a:pt x="274" y="33"/>
                  <a:pt x="282" y="39"/>
                </a:cubicBezTo>
                <a:cubicBezTo>
                  <a:pt x="289" y="45"/>
                  <a:pt x="296" y="52"/>
                  <a:pt x="302" y="59"/>
                </a:cubicBezTo>
                <a:cubicBezTo>
                  <a:pt x="308" y="66"/>
                  <a:pt x="313" y="74"/>
                  <a:pt x="317" y="83"/>
                </a:cubicBezTo>
                <a:cubicBezTo>
                  <a:pt x="321" y="91"/>
                  <a:pt x="325" y="99"/>
                  <a:pt x="327" y="108"/>
                </a:cubicBezTo>
                <a:cubicBezTo>
                  <a:pt x="329" y="116"/>
                  <a:pt x="330" y="125"/>
                  <a:pt x="330" y="133"/>
                </a:cubicBezTo>
                <a:close/>
              </a:path>
            </a:pathLst>
          </a:custGeom>
          <a:noFill/>
          <a:ln w="21240">
            <a:solidFill>
              <a:srgbClr val="000000"/>
            </a:solidFill>
            <a:miter/>
          </a:ln>
        </p:spPr>
        <p:txBody>
          <a:bodyPr lIns="10440" tIns="10440" rIns="10440" bIns="1044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4082400" y="2934720"/>
            <a:ext cx="20412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980" b="1" u="none" strike="noStrike">
                <a:solidFill>
                  <a:srgbClr val="FF6B1A"/>
                </a:solidFill>
                <a:effectLst/>
                <a:uFillTx/>
                <a:latin typeface="Outfit-Thin_"/>
                <a:ea typeface="Outfit-Thin_"/>
              </a:rPr>
              <a:t>51</a:t>
            </a:r>
            <a:endParaRPr lang="en-SG" sz="9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4769280" y="3943080"/>
            <a:ext cx="1771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130" b="1" u="none" strike="noStrike">
                <a:solidFill>
                  <a:srgbClr val="EF4444"/>
                </a:solidFill>
                <a:effectLst/>
                <a:uFillTx/>
                <a:latin typeface="Outfit-Thin_"/>
                <a:ea typeface="Outfit-Thin_"/>
              </a:rPr>
              <a:t>2</a:t>
            </a:r>
            <a:endParaRPr lang="en-SG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706040" y="4317840"/>
            <a:ext cx="370800" cy="12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750" b="0" u="none" strike="noStrike">
                <a:solidFill>
                  <a:srgbClr val="444444"/>
                </a:solidFill>
                <a:effectLst/>
                <a:uFillTx/>
                <a:latin typeface="Outfit-Thin_"/>
                <a:ea typeface="Outfit-Thin_"/>
              </a:rPr>
              <a:t>Mar 23</a:t>
            </a:r>
            <a:endParaRPr lang="en-SG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3824280" y="4317840"/>
            <a:ext cx="192240" cy="12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750" b="0" u="none" strike="noStrike">
                <a:solidFill>
                  <a:srgbClr val="444444"/>
                </a:solidFill>
                <a:effectLst/>
                <a:uFillTx/>
                <a:latin typeface="Outfit-Thin_"/>
                <a:ea typeface="Outfit-Thin_"/>
              </a:rPr>
              <a:t>Jun</a:t>
            </a:r>
            <a:endParaRPr lang="en-SG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30600" y="4317840"/>
            <a:ext cx="152640" cy="12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750" b="0" u="none" strike="noStrike">
                <a:solidFill>
                  <a:srgbClr val="444444"/>
                </a:solidFill>
                <a:effectLst/>
                <a:uFillTx/>
                <a:latin typeface="Outfit-Thin_"/>
                <a:ea typeface="Outfit-Thin_"/>
              </a:rPr>
              <a:t>Jul</a:t>
            </a:r>
            <a:endParaRPr lang="en-SG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7874640" y="4317840"/>
            <a:ext cx="212040" cy="12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750" b="0" u="none" strike="noStrike">
                <a:solidFill>
                  <a:srgbClr val="444444"/>
                </a:solidFill>
                <a:effectLst/>
                <a:uFillTx/>
                <a:latin typeface="Outfit-Thin_"/>
                <a:ea typeface="Outfit-Thin_"/>
              </a:rPr>
              <a:t>Dec</a:t>
            </a:r>
            <a:endParaRPr lang="en-SG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1172240" y="4317840"/>
            <a:ext cx="390600" cy="12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750" b="0" u="none" strike="noStrike">
                <a:solidFill>
                  <a:srgbClr val="444444"/>
                </a:solidFill>
                <a:effectLst/>
                <a:uFillTx/>
                <a:latin typeface="Outfit-Thin_"/>
                <a:ea typeface="Outfit-Thin_"/>
              </a:rPr>
              <a:t>May 24</a:t>
            </a:r>
            <a:endParaRPr lang="en-SG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647640" y="4752360"/>
            <a:ext cx="498132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A Jul 2023 posting has had </a:t>
            </a:r>
            <a:r>
              <a:rPr lang="en-SG" sz="148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ten extra months </a:t>
            </a:r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to accumulate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647640" y="5028480"/>
            <a:ext cx="531396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views — and has fewer. No "the data is old" story produces that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647640" y="5314320"/>
            <a:ext cx="76104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ordering.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6162840" y="4752360"/>
            <a:ext cx="517860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Two collection regimes. After the crawl, counters are frozen at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6162840" y="5028480"/>
            <a:ext cx="442800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day zero: those postings aren't low-response, they're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6162840" y="5314320"/>
            <a:ext cx="110520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unmeasured</a:t>
            </a:r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.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181916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7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647640" y="1360440"/>
            <a:ext cx="1726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T H E   C O H O R T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723600" y="2457360"/>
            <a:ext cx="34560" cy="247680"/>
          </a:xfrm>
          <a:custGeom>
            <a:avLst/>
            <a:gdLst/>
            <a:ahLst/>
            <a:rect l="0" t="0" r="r" b="b"/>
            <a:pathLst>
              <a:path w="96" h="688">
                <a:moveTo>
                  <a:pt x="31" y="31"/>
                </a:moveTo>
                <a:cubicBezTo>
                  <a:pt x="50" y="13"/>
                  <a:pt x="72" y="2"/>
                  <a:pt x="96" y="0"/>
                </a:cubicBezTo>
                <a:lnTo>
                  <a:pt x="96" y="688"/>
                </a:lnTo>
                <a:cubicBezTo>
                  <a:pt x="72" y="686"/>
                  <a:pt x="50" y="676"/>
                  <a:pt x="31" y="658"/>
                </a:cubicBezTo>
                <a:cubicBezTo>
                  <a:pt x="11" y="637"/>
                  <a:pt x="0" y="612"/>
                  <a:pt x="0" y="583"/>
                </a:cubicBezTo>
                <a:lnTo>
                  <a:pt x="0" y="106"/>
                </a:lnTo>
                <a:cubicBezTo>
                  <a:pt x="0" y="76"/>
                  <a:pt x="11" y="51"/>
                  <a:pt x="31" y="31"/>
                </a:cubicBez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757800" y="2457360"/>
            <a:ext cx="34920" cy="248040"/>
          </a:xfrm>
          <a:custGeom>
            <a:avLst/>
            <a:gdLst/>
            <a:ahLst/>
            <a:rect l="0" t="0" r="r" b="b"/>
            <a:pathLst>
              <a:path w="97" h="689">
                <a:moveTo>
                  <a:pt x="11" y="0"/>
                </a:moveTo>
                <a:lnTo>
                  <a:pt x="97" y="0"/>
                </a:lnTo>
                <a:lnTo>
                  <a:pt x="97" y="689"/>
                </a:lnTo>
                <a:lnTo>
                  <a:pt x="11" y="689"/>
                </a:lnTo>
                <a:cubicBezTo>
                  <a:pt x="8" y="689"/>
                  <a:pt x="4" y="689"/>
                  <a:pt x="0" y="688"/>
                </a:cubicBezTo>
                <a:lnTo>
                  <a:pt x="0" y="0"/>
                </a:lnTo>
                <a:cubicBezTo>
                  <a:pt x="4" y="0"/>
                  <a:pt x="8" y="0"/>
                  <a:pt x="11" y="0"/>
                </a:cubicBezTo>
                <a:close/>
              </a:path>
            </a:pathLst>
          </a:custGeom>
          <a:solidFill>
            <a:srgbClr val="FE6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79236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D6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82656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C6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86076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B69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89496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B69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92916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A69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96336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9681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99756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8681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103176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7681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106596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7671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110016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6671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113436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5671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1168560" y="2457360"/>
            <a:ext cx="34920" cy="248040"/>
          </a:xfrm>
          <a:custGeom>
            <a:avLst/>
            <a:gdLst/>
            <a:ahLst/>
            <a:rect l="0" t="0" r="r" b="b"/>
            <a:pathLst>
              <a:path w="97" h="689">
                <a:moveTo>
                  <a:pt x="97" y="0"/>
                </a:moveTo>
                <a:lnTo>
                  <a:pt x="97" y="689"/>
                </a:lnTo>
                <a:lnTo>
                  <a:pt x="0" y="689"/>
                </a:lnTo>
                <a:lnTo>
                  <a:pt x="0" y="0"/>
                </a:lnTo>
                <a:lnTo>
                  <a:pt x="97" y="0"/>
                </a:lnTo>
                <a:close/>
              </a:path>
            </a:pathLst>
          </a:custGeom>
          <a:solidFill>
            <a:srgbClr val="F4661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120312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3661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123732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3661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127152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2651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130572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1651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133992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F0651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137412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F641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140832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F641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144252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E641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147672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D631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151092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C631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154512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B631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1579320" y="2457360"/>
            <a:ext cx="34920" cy="248040"/>
          </a:xfrm>
          <a:custGeom>
            <a:avLst/>
            <a:gdLst/>
            <a:ahLst/>
            <a:rect l="0" t="0" r="r" b="b"/>
            <a:pathLst>
              <a:path w="97" h="689">
                <a:moveTo>
                  <a:pt x="97" y="0"/>
                </a:moveTo>
                <a:lnTo>
                  <a:pt x="97" y="689"/>
                </a:lnTo>
                <a:lnTo>
                  <a:pt x="0" y="689"/>
                </a:lnTo>
                <a:lnTo>
                  <a:pt x="0" y="0"/>
                </a:lnTo>
                <a:lnTo>
                  <a:pt x="97" y="0"/>
                </a:lnTo>
                <a:close/>
              </a:path>
            </a:pathLst>
          </a:custGeom>
          <a:solidFill>
            <a:srgbClr val="EB621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161388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A621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164808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9621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168228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8611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171648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7611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175068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7611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178488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6601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181908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560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185328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45F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188748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45F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192168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35F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195588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25E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1990080" y="2457360"/>
            <a:ext cx="34920" cy="248040"/>
          </a:xfrm>
          <a:custGeom>
            <a:avLst/>
            <a:gdLst/>
            <a:ahLst/>
            <a:rect l="0" t="0" r="r" b="b"/>
            <a:pathLst>
              <a:path w="97" h="689">
                <a:moveTo>
                  <a:pt x="97" y="0"/>
                </a:moveTo>
                <a:lnTo>
                  <a:pt x="97" y="689"/>
                </a:lnTo>
                <a:lnTo>
                  <a:pt x="0" y="689"/>
                </a:lnTo>
                <a:lnTo>
                  <a:pt x="0" y="0"/>
                </a:lnTo>
                <a:lnTo>
                  <a:pt x="97" y="0"/>
                </a:lnTo>
                <a:close/>
              </a:path>
            </a:pathLst>
          </a:custGeom>
          <a:solidFill>
            <a:srgbClr val="E15E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202464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05E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205884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E05D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209304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F5D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212724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E5D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216144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D5C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219564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C5C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222984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C5C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226404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B5B1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229824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A5B1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233244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95B1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236664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85A1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2400840" y="2457360"/>
            <a:ext cx="34920" cy="248040"/>
          </a:xfrm>
          <a:custGeom>
            <a:avLst/>
            <a:gdLst/>
            <a:ahLst/>
            <a:rect l="0" t="0" r="r" b="b"/>
            <a:pathLst>
              <a:path w="97" h="689">
                <a:moveTo>
                  <a:pt x="97" y="0"/>
                </a:moveTo>
                <a:lnTo>
                  <a:pt x="97" y="689"/>
                </a:lnTo>
                <a:lnTo>
                  <a:pt x="0" y="689"/>
                </a:lnTo>
                <a:lnTo>
                  <a:pt x="0" y="0"/>
                </a:lnTo>
                <a:lnTo>
                  <a:pt x="97" y="0"/>
                </a:lnTo>
                <a:close/>
              </a:path>
            </a:pathLst>
          </a:custGeom>
          <a:solidFill>
            <a:srgbClr val="D85A1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243540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75A1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246960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6591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250380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5591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253800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4591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257220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4581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260640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3581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264060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2581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267480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1571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270900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0571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274320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D0571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277740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96" y="0"/>
                </a:moveTo>
                <a:lnTo>
                  <a:pt x="96" y="689"/>
                </a:lnTo>
                <a:lnTo>
                  <a:pt x="0" y="689"/>
                </a:lnTo>
                <a:lnTo>
                  <a:pt x="0" y="0"/>
                </a:lnTo>
                <a:lnTo>
                  <a:pt x="96" y="0"/>
                </a:lnTo>
                <a:close/>
              </a:path>
            </a:pathLst>
          </a:custGeom>
          <a:solidFill>
            <a:srgbClr val="CF561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2811600" y="2457360"/>
            <a:ext cx="34920" cy="248040"/>
          </a:xfrm>
          <a:custGeom>
            <a:avLst/>
            <a:gdLst/>
            <a:ahLst/>
            <a:rect l="0" t="0" r="r" b="b"/>
            <a:pathLst>
              <a:path w="97" h="689">
                <a:moveTo>
                  <a:pt x="97" y="0"/>
                </a:moveTo>
                <a:lnTo>
                  <a:pt x="97" y="689"/>
                </a:lnTo>
                <a:lnTo>
                  <a:pt x="0" y="689"/>
                </a:lnTo>
                <a:lnTo>
                  <a:pt x="0" y="0"/>
                </a:lnTo>
                <a:lnTo>
                  <a:pt x="97" y="0"/>
                </a:lnTo>
                <a:close/>
              </a:path>
            </a:pathLst>
          </a:custGeom>
          <a:solidFill>
            <a:srgbClr val="CE561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2846160" y="2457360"/>
            <a:ext cx="34560" cy="248040"/>
          </a:xfrm>
          <a:custGeom>
            <a:avLst/>
            <a:gdLst/>
            <a:ahLst/>
            <a:rect l="0" t="0" r="r" b="b"/>
            <a:pathLst>
              <a:path w="96" h="689">
                <a:moveTo>
                  <a:pt x="85" y="0"/>
                </a:moveTo>
                <a:cubicBezTo>
                  <a:pt x="89" y="0"/>
                  <a:pt x="92" y="0"/>
                  <a:pt x="96" y="0"/>
                </a:cubicBezTo>
                <a:lnTo>
                  <a:pt x="96" y="688"/>
                </a:lnTo>
                <a:cubicBezTo>
                  <a:pt x="92" y="689"/>
                  <a:pt x="89" y="689"/>
                  <a:pt x="85" y="689"/>
                </a:cubicBezTo>
                <a:lnTo>
                  <a:pt x="0" y="689"/>
                </a:lnTo>
                <a:lnTo>
                  <a:pt x="0" y="0"/>
                </a:lnTo>
                <a:lnTo>
                  <a:pt x="85" y="0"/>
                </a:lnTo>
                <a:close/>
              </a:path>
            </a:pathLst>
          </a:custGeom>
          <a:solidFill>
            <a:srgbClr val="CD561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2880360" y="2457360"/>
            <a:ext cx="34560" cy="247680"/>
          </a:xfrm>
          <a:custGeom>
            <a:avLst/>
            <a:gdLst/>
            <a:ahLst/>
            <a:rect l="0" t="0" r="r" b="b"/>
            <a:pathLst>
              <a:path w="96" h="688">
                <a:moveTo>
                  <a:pt x="65" y="31"/>
                </a:moveTo>
                <a:cubicBezTo>
                  <a:pt x="85" y="51"/>
                  <a:pt x="96" y="76"/>
                  <a:pt x="96" y="106"/>
                </a:cubicBezTo>
                <a:lnTo>
                  <a:pt x="96" y="583"/>
                </a:lnTo>
                <a:cubicBezTo>
                  <a:pt x="96" y="612"/>
                  <a:pt x="85" y="637"/>
                  <a:pt x="65" y="658"/>
                </a:cubicBezTo>
                <a:cubicBezTo>
                  <a:pt x="47" y="676"/>
                  <a:pt x="24" y="686"/>
                  <a:pt x="0" y="688"/>
                </a:cubicBezTo>
                <a:lnTo>
                  <a:pt x="0" y="0"/>
                </a:lnTo>
                <a:cubicBezTo>
                  <a:pt x="24" y="2"/>
                  <a:pt x="47" y="13"/>
                  <a:pt x="65" y="31"/>
                </a:cubicBezTo>
                <a:close/>
              </a:path>
            </a:pathLst>
          </a:custGeom>
          <a:solidFill>
            <a:srgbClr val="CC551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647640" y="1602720"/>
            <a:ext cx="69436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720" b="0" u="none" strike="noStrike">
                <a:solidFill>
                  <a:srgbClr val="888888"/>
                </a:solidFill>
                <a:effectLst/>
                <a:uFillTx/>
                <a:latin typeface="Raleway"/>
                <a:ea typeface="Raleway"/>
              </a:rPr>
              <a:t>Earning the right to use the engagement data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3048120" y="2261880"/>
            <a:ext cx="15454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28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1,044,587</a:t>
            </a:r>
            <a:endParaRPr lang="en-SG" sz="2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723600" y="3114720"/>
            <a:ext cx="33480" cy="247320"/>
          </a:xfrm>
          <a:custGeom>
            <a:avLst/>
            <a:gdLst/>
            <a:ahLst/>
            <a:rect l="0" t="0" r="r" b="b"/>
            <a:pathLst>
              <a:path w="93" h="687">
                <a:moveTo>
                  <a:pt x="31" y="30"/>
                </a:moveTo>
                <a:cubicBezTo>
                  <a:pt x="50" y="13"/>
                  <a:pt x="70" y="3"/>
                  <a:pt x="93" y="0"/>
                </a:cubicBezTo>
                <a:lnTo>
                  <a:pt x="93" y="687"/>
                </a:lnTo>
                <a:cubicBezTo>
                  <a:pt x="70" y="685"/>
                  <a:pt x="50" y="675"/>
                  <a:pt x="31" y="657"/>
                </a:cubicBezTo>
                <a:cubicBezTo>
                  <a:pt x="11" y="637"/>
                  <a:pt x="0" y="612"/>
                  <a:pt x="0" y="581"/>
                </a:cubicBezTo>
                <a:lnTo>
                  <a:pt x="0" y="105"/>
                </a:lnTo>
                <a:cubicBezTo>
                  <a:pt x="0" y="76"/>
                  <a:pt x="11" y="51"/>
                  <a:pt x="31" y="30"/>
                </a:cubicBezTo>
                <a:close/>
              </a:path>
            </a:pathLst>
          </a:custGeom>
          <a:solidFill>
            <a:srgbClr val="CC551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75672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14" y="0"/>
                </a:moveTo>
                <a:lnTo>
                  <a:pt x="93" y="0"/>
                </a:lnTo>
                <a:lnTo>
                  <a:pt x="93" y="689"/>
                </a:lnTo>
                <a:lnTo>
                  <a:pt x="14" y="689"/>
                </a:lnTo>
                <a:cubicBezTo>
                  <a:pt x="9" y="689"/>
                  <a:pt x="5" y="689"/>
                  <a:pt x="0" y="688"/>
                </a:cubicBezTo>
                <a:lnTo>
                  <a:pt x="0" y="1"/>
                </a:lnTo>
                <a:cubicBezTo>
                  <a:pt x="5" y="1"/>
                  <a:pt x="9" y="0"/>
                  <a:pt x="14" y="0"/>
                </a:cubicBezTo>
                <a:close/>
              </a:path>
            </a:pathLst>
          </a:custGeom>
          <a:solidFill>
            <a:srgbClr val="CB541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78984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CA541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822960" y="3114360"/>
            <a:ext cx="33120" cy="248040"/>
          </a:xfrm>
          <a:custGeom>
            <a:avLst/>
            <a:gdLst/>
            <a:ahLst/>
            <a:rect l="0" t="0" r="r" b="b"/>
            <a:pathLst>
              <a:path w="92" h="689">
                <a:moveTo>
                  <a:pt x="92" y="0"/>
                </a:moveTo>
                <a:lnTo>
                  <a:pt x="92" y="689"/>
                </a:lnTo>
                <a:lnTo>
                  <a:pt x="0" y="689"/>
                </a:lnTo>
                <a:lnTo>
                  <a:pt x="0" y="0"/>
                </a:lnTo>
                <a:lnTo>
                  <a:pt x="92" y="0"/>
                </a:lnTo>
                <a:close/>
              </a:path>
            </a:pathLst>
          </a:custGeom>
          <a:solidFill>
            <a:srgbClr val="C9541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85572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C8531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88884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C8531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92196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C753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95508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C652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988200" y="3114360"/>
            <a:ext cx="33120" cy="248040"/>
          </a:xfrm>
          <a:custGeom>
            <a:avLst/>
            <a:gdLst/>
            <a:ahLst/>
            <a:rect l="0" t="0" r="r" b="b"/>
            <a:pathLst>
              <a:path w="92" h="689">
                <a:moveTo>
                  <a:pt x="92" y="0"/>
                </a:moveTo>
                <a:lnTo>
                  <a:pt x="92" y="689"/>
                </a:lnTo>
                <a:lnTo>
                  <a:pt x="0" y="689"/>
                </a:lnTo>
                <a:lnTo>
                  <a:pt x="0" y="0"/>
                </a:lnTo>
                <a:lnTo>
                  <a:pt x="92" y="0"/>
                </a:lnTo>
                <a:close/>
              </a:path>
            </a:pathLst>
          </a:custGeom>
          <a:solidFill>
            <a:srgbClr val="C552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102096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C452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105408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C451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108720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C351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1120320" y="3114360"/>
            <a:ext cx="33120" cy="248040"/>
          </a:xfrm>
          <a:custGeom>
            <a:avLst/>
            <a:gdLst/>
            <a:ahLst/>
            <a:rect l="0" t="0" r="r" b="b"/>
            <a:pathLst>
              <a:path w="92" h="689">
                <a:moveTo>
                  <a:pt x="92" y="0"/>
                </a:moveTo>
                <a:lnTo>
                  <a:pt x="92" y="689"/>
                </a:lnTo>
                <a:lnTo>
                  <a:pt x="0" y="689"/>
                </a:lnTo>
                <a:lnTo>
                  <a:pt x="0" y="0"/>
                </a:lnTo>
                <a:lnTo>
                  <a:pt x="92" y="0"/>
                </a:lnTo>
                <a:close/>
              </a:path>
            </a:pathLst>
          </a:custGeom>
          <a:solidFill>
            <a:srgbClr val="C251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115308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C150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118620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C050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121932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C050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125244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BF4F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1285560" y="3114360"/>
            <a:ext cx="33120" cy="248040"/>
          </a:xfrm>
          <a:custGeom>
            <a:avLst/>
            <a:gdLst/>
            <a:ahLst/>
            <a:rect l="0" t="0" r="r" b="b"/>
            <a:pathLst>
              <a:path w="92" h="689">
                <a:moveTo>
                  <a:pt x="92" y="0"/>
                </a:moveTo>
                <a:lnTo>
                  <a:pt x="92" y="689"/>
                </a:lnTo>
                <a:lnTo>
                  <a:pt x="0" y="689"/>
                </a:lnTo>
                <a:lnTo>
                  <a:pt x="0" y="0"/>
                </a:lnTo>
                <a:lnTo>
                  <a:pt x="92" y="0"/>
                </a:lnTo>
                <a:close/>
              </a:path>
            </a:pathLst>
          </a:custGeom>
          <a:solidFill>
            <a:srgbClr val="BE4F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131832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BD4F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135144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BC4E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138456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BC4E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1417680" y="3114360"/>
            <a:ext cx="33120" cy="248040"/>
          </a:xfrm>
          <a:custGeom>
            <a:avLst/>
            <a:gdLst/>
            <a:ahLst/>
            <a:rect l="0" t="0" r="r" b="b"/>
            <a:pathLst>
              <a:path w="92" h="689">
                <a:moveTo>
                  <a:pt x="92" y="0"/>
                </a:moveTo>
                <a:lnTo>
                  <a:pt x="92" y="689"/>
                </a:lnTo>
                <a:lnTo>
                  <a:pt x="0" y="689"/>
                </a:lnTo>
                <a:lnTo>
                  <a:pt x="0" y="0"/>
                </a:lnTo>
                <a:lnTo>
                  <a:pt x="92" y="0"/>
                </a:lnTo>
                <a:close/>
              </a:path>
            </a:pathLst>
          </a:custGeom>
          <a:solidFill>
            <a:srgbClr val="BB4E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145044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BA4D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148356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B94D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151668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B84D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154980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B84C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1582920" y="3114360"/>
            <a:ext cx="33120" cy="248040"/>
          </a:xfrm>
          <a:custGeom>
            <a:avLst/>
            <a:gdLst/>
            <a:ahLst/>
            <a:rect l="0" t="0" r="r" b="b"/>
            <a:pathLst>
              <a:path w="92" h="689">
                <a:moveTo>
                  <a:pt x="92" y="0"/>
                </a:moveTo>
                <a:lnTo>
                  <a:pt x="92" y="689"/>
                </a:lnTo>
                <a:lnTo>
                  <a:pt x="0" y="689"/>
                </a:lnTo>
                <a:lnTo>
                  <a:pt x="0" y="0"/>
                </a:lnTo>
                <a:lnTo>
                  <a:pt x="92" y="0"/>
                </a:lnTo>
                <a:close/>
              </a:path>
            </a:pathLst>
          </a:custGeom>
          <a:solidFill>
            <a:srgbClr val="B74C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161568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B64C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164880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B54B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168192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B44B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1715040" y="3114360"/>
            <a:ext cx="33120" cy="248040"/>
          </a:xfrm>
          <a:custGeom>
            <a:avLst/>
            <a:gdLst/>
            <a:ahLst/>
            <a:rect l="0" t="0" r="r" b="b"/>
            <a:pathLst>
              <a:path w="92" h="689">
                <a:moveTo>
                  <a:pt x="92" y="0"/>
                </a:moveTo>
                <a:lnTo>
                  <a:pt x="92" y="689"/>
                </a:lnTo>
                <a:lnTo>
                  <a:pt x="0" y="689"/>
                </a:lnTo>
                <a:lnTo>
                  <a:pt x="0" y="0"/>
                </a:lnTo>
                <a:lnTo>
                  <a:pt x="92" y="0"/>
                </a:lnTo>
                <a:close/>
              </a:path>
            </a:pathLst>
          </a:custGeom>
          <a:solidFill>
            <a:srgbClr val="B44B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174780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B34A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178092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B24A1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181404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B1491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184716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B1491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1880280" y="3114360"/>
            <a:ext cx="33120" cy="248040"/>
          </a:xfrm>
          <a:custGeom>
            <a:avLst/>
            <a:gdLst/>
            <a:ahLst/>
            <a:rect l="0" t="0" r="r" b="b"/>
            <a:pathLst>
              <a:path w="92" h="689">
                <a:moveTo>
                  <a:pt x="92" y="0"/>
                </a:moveTo>
                <a:lnTo>
                  <a:pt x="92" y="689"/>
                </a:lnTo>
                <a:lnTo>
                  <a:pt x="0" y="689"/>
                </a:lnTo>
                <a:lnTo>
                  <a:pt x="0" y="0"/>
                </a:lnTo>
                <a:lnTo>
                  <a:pt x="92" y="0"/>
                </a:lnTo>
                <a:close/>
              </a:path>
            </a:pathLst>
          </a:custGeom>
          <a:solidFill>
            <a:srgbClr val="B0491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191304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AF481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194616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AE481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197928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AD481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2012400" y="3114360"/>
            <a:ext cx="33120" cy="248040"/>
          </a:xfrm>
          <a:custGeom>
            <a:avLst/>
            <a:gdLst/>
            <a:ahLst/>
            <a:rect l="0" t="0" r="r" b="b"/>
            <a:pathLst>
              <a:path w="92" h="689">
                <a:moveTo>
                  <a:pt x="92" y="0"/>
                </a:moveTo>
                <a:lnTo>
                  <a:pt x="92" y="689"/>
                </a:lnTo>
                <a:lnTo>
                  <a:pt x="0" y="689"/>
                </a:lnTo>
                <a:lnTo>
                  <a:pt x="0" y="0"/>
                </a:lnTo>
                <a:lnTo>
                  <a:pt x="92" y="0"/>
                </a:lnTo>
                <a:close/>
              </a:path>
            </a:pathLst>
          </a:custGeom>
          <a:solidFill>
            <a:srgbClr val="AD471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204516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AC471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207828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AB471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211140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AA461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214452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A9461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2177640" y="3114360"/>
            <a:ext cx="33120" cy="248040"/>
          </a:xfrm>
          <a:custGeom>
            <a:avLst/>
            <a:gdLst/>
            <a:ahLst/>
            <a:rect l="0" t="0" r="r" b="b"/>
            <a:pathLst>
              <a:path w="92" h="689">
                <a:moveTo>
                  <a:pt x="92" y="0"/>
                </a:moveTo>
                <a:lnTo>
                  <a:pt x="92" y="689"/>
                </a:lnTo>
                <a:lnTo>
                  <a:pt x="0" y="689"/>
                </a:lnTo>
                <a:lnTo>
                  <a:pt x="0" y="0"/>
                </a:lnTo>
                <a:lnTo>
                  <a:pt x="92" y="0"/>
                </a:lnTo>
                <a:close/>
              </a:path>
            </a:pathLst>
          </a:custGeom>
          <a:solidFill>
            <a:srgbClr val="A9461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221040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A845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224352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A745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2276640" y="3114360"/>
            <a:ext cx="33840" cy="248040"/>
          </a:xfrm>
          <a:custGeom>
            <a:avLst/>
            <a:gdLst/>
            <a:ahLst/>
            <a:rect l="0" t="0" r="r" b="b"/>
            <a:pathLst>
              <a:path w="94" h="689">
                <a:moveTo>
                  <a:pt x="94" y="0"/>
                </a:moveTo>
                <a:lnTo>
                  <a:pt x="94" y="689"/>
                </a:lnTo>
                <a:lnTo>
                  <a:pt x="0" y="689"/>
                </a:lnTo>
                <a:lnTo>
                  <a:pt x="0" y="0"/>
                </a:lnTo>
                <a:lnTo>
                  <a:pt x="94" y="0"/>
                </a:lnTo>
                <a:close/>
              </a:path>
            </a:pathLst>
          </a:custGeom>
          <a:solidFill>
            <a:srgbClr val="A645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2309760" y="3114360"/>
            <a:ext cx="33120" cy="248040"/>
          </a:xfrm>
          <a:custGeom>
            <a:avLst/>
            <a:gdLst/>
            <a:ahLst/>
            <a:rect l="0" t="0" r="r" b="b"/>
            <a:pathLst>
              <a:path w="92" h="689">
                <a:moveTo>
                  <a:pt x="92" y="0"/>
                </a:moveTo>
                <a:lnTo>
                  <a:pt x="92" y="689"/>
                </a:lnTo>
                <a:lnTo>
                  <a:pt x="0" y="689"/>
                </a:lnTo>
                <a:lnTo>
                  <a:pt x="0" y="0"/>
                </a:lnTo>
                <a:lnTo>
                  <a:pt x="92" y="0"/>
                </a:lnTo>
                <a:close/>
              </a:path>
            </a:pathLst>
          </a:custGeom>
          <a:solidFill>
            <a:srgbClr val="A544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234252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A544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237564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A444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240876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A343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244188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A243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2475000" y="3114360"/>
            <a:ext cx="33120" cy="248040"/>
          </a:xfrm>
          <a:custGeom>
            <a:avLst/>
            <a:gdLst/>
            <a:ahLst/>
            <a:rect l="0" t="0" r="r" b="b"/>
            <a:pathLst>
              <a:path w="92" h="689">
                <a:moveTo>
                  <a:pt x="92" y="0"/>
                </a:moveTo>
                <a:lnTo>
                  <a:pt x="92" y="689"/>
                </a:lnTo>
                <a:lnTo>
                  <a:pt x="0" y="689"/>
                </a:lnTo>
                <a:lnTo>
                  <a:pt x="0" y="0"/>
                </a:lnTo>
                <a:lnTo>
                  <a:pt x="92" y="0"/>
                </a:lnTo>
                <a:close/>
              </a:path>
            </a:pathLst>
          </a:custGeom>
          <a:solidFill>
            <a:srgbClr val="A143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250776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A142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254088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A042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257400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9F42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2607120" y="3114360"/>
            <a:ext cx="33120" cy="248040"/>
          </a:xfrm>
          <a:custGeom>
            <a:avLst/>
            <a:gdLst/>
            <a:ahLst/>
            <a:rect l="0" t="0" r="r" b="b"/>
            <a:pathLst>
              <a:path w="92" h="689">
                <a:moveTo>
                  <a:pt x="92" y="0"/>
                </a:moveTo>
                <a:lnTo>
                  <a:pt x="92" y="689"/>
                </a:lnTo>
                <a:lnTo>
                  <a:pt x="0" y="689"/>
                </a:lnTo>
                <a:lnTo>
                  <a:pt x="0" y="0"/>
                </a:lnTo>
                <a:lnTo>
                  <a:pt x="92" y="0"/>
                </a:lnTo>
                <a:close/>
              </a:path>
            </a:pathLst>
          </a:custGeom>
          <a:solidFill>
            <a:srgbClr val="9E411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263988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9D411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267300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9D411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270612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9C401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2739240" y="3114360"/>
            <a:ext cx="33480" cy="248040"/>
          </a:xfrm>
          <a:custGeom>
            <a:avLst/>
            <a:gdLst/>
            <a:ahLst/>
            <a:rect l="0" t="0" r="r" b="b"/>
            <a:pathLst>
              <a:path w="93" h="689">
                <a:moveTo>
                  <a:pt x="93" y="0"/>
                </a:moveTo>
                <a:lnTo>
                  <a:pt x="93" y="689"/>
                </a:lnTo>
                <a:lnTo>
                  <a:pt x="0" y="689"/>
                </a:lnTo>
                <a:lnTo>
                  <a:pt x="0" y="0"/>
                </a:lnTo>
                <a:lnTo>
                  <a:pt x="93" y="0"/>
                </a:lnTo>
                <a:close/>
              </a:path>
            </a:pathLst>
          </a:custGeom>
          <a:solidFill>
            <a:srgbClr val="9B401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2772360" y="3114360"/>
            <a:ext cx="33120" cy="248040"/>
          </a:xfrm>
          <a:custGeom>
            <a:avLst/>
            <a:gdLst/>
            <a:ahLst/>
            <a:rect l="0" t="0" r="r" b="b"/>
            <a:pathLst>
              <a:path w="92" h="689">
                <a:moveTo>
                  <a:pt x="77" y="0"/>
                </a:moveTo>
                <a:cubicBezTo>
                  <a:pt x="83" y="0"/>
                  <a:pt x="88" y="1"/>
                  <a:pt x="92" y="1"/>
                </a:cubicBezTo>
                <a:lnTo>
                  <a:pt x="92" y="688"/>
                </a:lnTo>
                <a:cubicBezTo>
                  <a:pt x="88" y="689"/>
                  <a:pt x="83" y="689"/>
                  <a:pt x="77" y="689"/>
                </a:cubicBezTo>
                <a:lnTo>
                  <a:pt x="0" y="689"/>
                </a:lnTo>
                <a:lnTo>
                  <a:pt x="0" y="0"/>
                </a:lnTo>
                <a:lnTo>
                  <a:pt x="77" y="0"/>
                </a:lnTo>
                <a:close/>
              </a:path>
            </a:pathLst>
          </a:custGeom>
          <a:solidFill>
            <a:srgbClr val="9A401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2805120" y="3114720"/>
            <a:ext cx="33480" cy="247320"/>
          </a:xfrm>
          <a:custGeom>
            <a:avLst/>
            <a:gdLst/>
            <a:ahLst/>
            <a:rect l="0" t="0" r="r" b="b"/>
            <a:pathLst>
              <a:path w="93" h="687">
                <a:moveTo>
                  <a:pt x="61" y="30"/>
                </a:moveTo>
                <a:cubicBezTo>
                  <a:pt x="83" y="51"/>
                  <a:pt x="93" y="76"/>
                  <a:pt x="93" y="105"/>
                </a:cubicBezTo>
                <a:lnTo>
                  <a:pt x="93" y="581"/>
                </a:lnTo>
                <a:cubicBezTo>
                  <a:pt x="93" y="612"/>
                  <a:pt x="83" y="637"/>
                  <a:pt x="61" y="657"/>
                </a:cubicBezTo>
                <a:cubicBezTo>
                  <a:pt x="44" y="675"/>
                  <a:pt x="24" y="685"/>
                  <a:pt x="0" y="687"/>
                </a:cubicBezTo>
                <a:lnTo>
                  <a:pt x="0" y="0"/>
                </a:lnTo>
                <a:cubicBezTo>
                  <a:pt x="24" y="3"/>
                  <a:pt x="44" y="13"/>
                  <a:pt x="61" y="30"/>
                </a:cubicBezTo>
                <a:close/>
              </a:path>
            </a:pathLst>
          </a:custGeom>
          <a:solidFill>
            <a:srgbClr val="993F1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3048120" y="2606400"/>
            <a:ext cx="152928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2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CLEANED POSTINGS</a:t>
            </a:r>
            <a:endParaRPr lang="en-SG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2971800" y="2918880"/>
            <a:ext cx="15454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28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1,009,709</a:t>
            </a:r>
            <a:endParaRPr lang="en-SG" sz="2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723600" y="3771720"/>
            <a:ext cx="248040" cy="248040"/>
          </a:xfrm>
          <a:custGeom>
            <a:avLst/>
            <a:gdLst/>
            <a:ahLst/>
            <a:rect l="0" t="0" r="r" b="b"/>
            <a:pathLst>
              <a:path w="689" h="689">
                <a:moveTo>
                  <a:pt x="0" y="583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583" y="0"/>
                </a:lnTo>
                <a:cubicBezTo>
                  <a:pt x="597" y="0"/>
                  <a:pt x="611" y="3"/>
                  <a:pt x="624" y="8"/>
                </a:cubicBezTo>
                <a:cubicBezTo>
                  <a:pt x="637" y="13"/>
                  <a:pt x="648" y="21"/>
                  <a:pt x="658" y="31"/>
                </a:cubicBezTo>
                <a:cubicBezTo>
                  <a:pt x="668" y="41"/>
                  <a:pt x="676" y="52"/>
                  <a:pt x="681" y="65"/>
                </a:cubicBezTo>
                <a:cubicBezTo>
                  <a:pt x="687" y="78"/>
                  <a:pt x="689" y="92"/>
                  <a:pt x="689" y="106"/>
                </a:cubicBezTo>
                <a:lnTo>
                  <a:pt x="689" y="583"/>
                </a:lnTo>
                <a:cubicBezTo>
                  <a:pt x="689" y="597"/>
                  <a:pt x="687" y="611"/>
                  <a:pt x="681" y="624"/>
                </a:cubicBezTo>
                <a:cubicBezTo>
                  <a:pt x="676" y="637"/>
                  <a:pt x="668" y="648"/>
                  <a:pt x="658" y="658"/>
                </a:cubicBezTo>
                <a:cubicBezTo>
                  <a:pt x="648" y="668"/>
                  <a:pt x="637" y="675"/>
                  <a:pt x="624" y="681"/>
                </a:cubicBezTo>
                <a:cubicBezTo>
                  <a:pt x="611" y="686"/>
                  <a:pt x="597" y="689"/>
                  <a:pt x="583" y="689"/>
                </a:cubicBezTo>
                <a:lnTo>
                  <a:pt x="106" y="689"/>
                </a:lnTo>
                <a:cubicBezTo>
                  <a:pt x="92" y="689"/>
                  <a:pt x="79" y="686"/>
                  <a:pt x="66" y="681"/>
                </a:cubicBezTo>
                <a:cubicBezTo>
                  <a:pt x="53" y="675"/>
                  <a:pt x="41" y="668"/>
                  <a:pt x="31" y="658"/>
                </a:cubicBezTo>
                <a:cubicBezTo>
                  <a:pt x="21" y="648"/>
                  <a:pt x="14" y="637"/>
                  <a:pt x="8" y="624"/>
                </a:cubicBezTo>
                <a:cubicBezTo>
                  <a:pt x="3" y="611"/>
                  <a:pt x="0" y="597"/>
                  <a:pt x="0" y="583"/>
                </a:cubicBez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2971800" y="3263760"/>
            <a:ext cx="1166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2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DEDUPLICATED</a:t>
            </a:r>
            <a:endParaRPr lang="en-SG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1104840" y="3576240"/>
            <a:ext cx="125604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280" b="1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118,749</a:t>
            </a:r>
            <a:endParaRPr lang="en-SG" sz="2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723600" y="4429080"/>
            <a:ext cx="200520" cy="248040"/>
          </a:xfrm>
          <a:custGeom>
            <a:avLst/>
            <a:gdLst/>
            <a:ahLst/>
            <a:rect l="0" t="0" r="r" b="b"/>
            <a:pathLst>
              <a:path w="557" h="689">
                <a:moveTo>
                  <a:pt x="0" y="583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450" y="0"/>
                </a:lnTo>
                <a:cubicBezTo>
                  <a:pt x="464" y="0"/>
                  <a:pt x="478" y="2"/>
                  <a:pt x="492" y="8"/>
                </a:cubicBezTo>
                <a:cubicBezTo>
                  <a:pt x="505" y="13"/>
                  <a:pt x="516" y="21"/>
                  <a:pt x="526" y="31"/>
                </a:cubicBezTo>
                <a:cubicBezTo>
                  <a:pt x="536" y="41"/>
                  <a:pt x="544" y="52"/>
                  <a:pt x="549" y="65"/>
                </a:cubicBezTo>
                <a:cubicBezTo>
                  <a:pt x="554" y="78"/>
                  <a:pt x="557" y="91"/>
                  <a:pt x="557" y="105"/>
                </a:cubicBezTo>
                <a:lnTo>
                  <a:pt x="557" y="583"/>
                </a:lnTo>
                <a:cubicBezTo>
                  <a:pt x="557" y="597"/>
                  <a:pt x="554" y="610"/>
                  <a:pt x="549" y="623"/>
                </a:cubicBezTo>
                <a:cubicBezTo>
                  <a:pt x="544" y="636"/>
                  <a:pt x="536" y="648"/>
                  <a:pt x="526" y="658"/>
                </a:cubicBezTo>
                <a:cubicBezTo>
                  <a:pt x="516" y="667"/>
                  <a:pt x="505" y="675"/>
                  <a:pt x="492" y="680"/>
                </a:cubicBezTo>
                <a:cubicBezTo>
                  <a:pt x="478" y="686"/>
                  <a:pt x="464" y="689"/>
                  <a:pt x="450" y="689"/>
                </a:cubicBezTo>
                <a:lnTo>
                  <a:pt x="106" y="689"/>
                </a:lnTo>
                <a:cubicBezTo>
                  <a:pt x="92" y="689"/>
                  <a:pt x="79" y="686"/>
                  <a:pt x="66" y="680"/>
                </a:cubicBezTo>
                <a:cubicBezTo>
                  <a:pt x="53" y="675"/>
                  <a:pt x="41" y="667"/>
                  <a:pt x="31" y="658"/>
                </a:cubicBezTo>
                <a:cubicBezTo>
                  <a:pt x="21" y="648"/>
                  <a:pt x="14" y="636"/>
                  <a:pt x="8" y="623"/>
                </a:cubicBezTo>
                <a:cubicBezTo>
                  <a:pt x="3" y="610"/>
                  <a:pt x="0" y="597"/>
                  <a:pt x="0" y="583"/>
                </a:cubicBez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1104840" y="3920760"/>
            <a:ext cx="170208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2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COUNTERS COMPLETE</a:t>
            </a:r>
            <a:endParaRPr lang="en-SG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1057320" y="4223880"/>
            <a:ext cx="106272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280" b="1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96,028</a:t>
            </a:r>
            <a:endParaRPr lang="en-SG" sz="2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723600" y="5086080"/>
            <a:ext cx="162360" cy="248040"/>
          </a:xfrm>
          <a:custGeom>
            <a:avLst/>
            <a:gdLst/>
            <a:ahLst/>
            <a:rect l="0" t="0" r="r" b="b"/>
            <a:pathLst>
              <a:path w="451" h="689">
                <a:moveTo>
                  <a:pt x="0" y="582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5" y="53"/>
                  <a:pt x="22" y="41"/>
                  <a:pt x="32" y="31"/>
                </a:cubicBezTo>
                <a:cubicBezTo>
                  <a:pt x="42" y="21"/>
                  <a:pt x="54" y="14"/>
                  <a:pt x="67" y="8"/>
                </a:cubicBezTo>
                <a:cubicBezTo>
                  <a:pt x="80" y="3"/>
                  <a:pt x="93" y="0"/>
                  <a:pt x="107" y="0"/>
                </a:cubicBezTo>
                <a:lnTo>
                  <a:pt x="345" y="0"/>
                </a:lnTo>
                <a:cubicBezTo>
                  <a:pt x="359" y="0"/>
                  <a:pt x="373" y="3"/>
                  <a:pt x="386" y="8"/>
                </a:cubicBezTo>
                <a:cubicBezTo>
                  <a:pt x="399" y="14"/>
                  <a:pt x="410" y="21"/>
                  <a:pt x="420" y="31"/>
                </a:cubicBezTo>
                <a:cubicBezTo>
                  <a:pt x="430" y="41"/>
                  <a:pt x="438" y="53"/>
                  <a:pt x="443" y="66"/>
                </a:cubicBezTo>
                <a:cubicBezTo>
                  <a:pt x="448" y="79"/>
                  <a:pt x="451" y="92"/>
                  <a:pt x="451" y="106"/>
                </a:cubicBezTo>
                <a:lnTo>
                  <a:pt x="451" y="582"/>
                </a:lnTo>
                <a:cubicBezTo>
                  <a:pt x="451" y="596"/>
                  <a:pt x="448" y="610"/>
                  <a:pt x="443" y="623"/>
                </a:cubicBezTo>
                <a:cubicBezTo>
                  <a:pt x="438" y="636"/>
                  <a:pt x="430" y="648"/>
                  <a:pt x="420" y="658"/>
                </a:cubicBezTo>
                <a:cubicBezTo>
                  <a:pt x="410" y="668"/>
                  <a:pt x="399" y="676"/>
                  <a:pt x="386" y="681"/>
                </a:cubicBezTo>
                <a:cubicBezTo>
                  <a:pt x="373" y="686"/>
                  <a:pt x="359" y="689"/>
                  <a:pt x="345" y="689"/>
                </a:cubicBezTo>
                <a:lnTo>
                  <a:pt x="107" y="689"/>
                </a:lnTo>
                <a:cubicBezTo>
                  <a:pt x="93" y="689"/>
                  <a:pt x="80" y="686"/>
                  <a:pt x="67" y="681"/>
                </a:cubicBezTo>
                <a:cubicBezTo>
                  <a:pt x="54" y="676"/>
                  <a:pt x="42" y="668"/>
                  <a:pt x="32" y="658"/>
                </a:cubicBezTo>
                <a:cubicBezTo>
                  <a:pt x="22" y="648"/>
                  <a:pt x="15" y="636"/>
                  <a:pt x="8" y="623"/>
                </a:cubicBezTo>
                <a:cubicBezTo>
                  <a:pt x="3" y="610"/>
                  <a:pt x="0" y="596"/>
                  <a:pt x="0" y="582"/>
                </a:cubicBezTo>
                <a:close/>
              </a:path>
            </a:pathLst>
          </a:custGeom>
          <a:solidFill>
            <a:srgbClr val="22C5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1057320" y="4578120"/>
            <a:ext cx="17197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2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30-DAY LISTINGS ONLY</a:t>
            </a:r>
            <a:endParaRPr lang="en-SG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1019160" y="4881240"/>
            <a:ext cx="106272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280" b="1" u="none" strike="noStrike">
                <a:solidFill>
                  <a:srgbClr val="22C55E"/>
                </a:solidFill>
                <a:effectLst/>
                <a:uFillTx/>
                <a:latin typeface="Outfit-Thin_"/>
                <a:ea typeface="Outfit-Thin_"/>
              </a:rPr>
              <a:t>78,942</a:t>
            </a:r>
            <a:endParaRPr lang="en-SG" sz="2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6457680" y="2323800"/>
            <a:ext cx="10080" cy="3143880"/>
          </a:xfrm>
          <a:custGeom>
            <a:avLst/>
            <a:gdLst/>
            <a:ahLst/>
            <a:rect l="0" t="0" r="r" b="b"/>
            <a:pathLst>
              <a:path w="28" h="8733">
                <a:moveTo>
                  <a:pt x="0" y="0"/>
                </a:moveTo>
                <a:lnTo>
                  <a:pt x="28" y="0"/>
                </a:lnTo>
                <a:lnTo>
                  <a:pt x="28" y="8733"/>
                </a:lnTo>
                <a:lnTo>
                  <a:pt x="0" y="8733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1019160" y="5235480"/>
            <a:ext cx="14173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2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FIRST CYCLE ONLY</a:t>
            </a:r>
            <a:endParaRPr lang="en-SG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6711120" y="2318760"/>
            <a:ext cx="1118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1" u="none" strike="noStrike">
                <a:solidFill>
                  <a:srgbClr val="FF6B1A"/>
                </a:solidFill>
                <a:effectLst/>
                <a:uFillTx/>
                <a:latin typeface="Outfit-Thin_Semi"/>
                <a:ea typeface="Outfit-Thin_Semi"/>
              </a:rPr>
              <a:t>TWO LAYERS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6711120" y="2721240"/>
            <a:ext cx="29847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Layer 1</a:t>
            </a:r>
            <a:r>
              <a:rPr lang="en-SG" sz="156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— what the market offers.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6711120" y="3092400"/>
            <a:ext cx="37879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All 1.04M rows. Posting-time columns only.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6711120" y="3587760"/>
            <a:ext cx="28195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Layer 2</a:t>
            </a:r>
            <a:r>
              <a:rPr lang="en-SG" sz="156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— what response it got.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6711120" y="3959280"/>
            <a:ext cx="25005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78,942 rows, Mar–Jun 2023.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1181484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8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647640" y="1532160"/>
            <a:ext cx="2077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A R C H I T E C T U R E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652320" y="2576160"/>
            <a:ext cx="1829160" cy="1305360"/>
          </a:xfrm>
          <a:custGeom>
            <a:avLst/>
            <a:gdLst/>
            <a:ahLst/>
            <a:rect l="0" t="0" r="r" b="b"/>
            <a:pathLst>
              <a:path w="5081" h="3626">
                <a:moveTo>
                  <a:pt x="0" y="3375"/>
                </a:moveTo>
                <a:lnTo>
                  <a:pt x="0" y="252"/>
                </a:lnTo>
                <a:cubicBezTo>
                  <a:pt x="0" y="235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4" y="74"/>
                </a:cubicBezTo>
                <a:cubicBezTo>
                  <a:pt x="85" y="62"/>
                  <a:pt x="98" y="52"/>
                  <a:pt x="112" y="43"/>
                </a:cubicBezTo>
                <a:cubicBezTo>
                  <a:pt x="125" y="34"/>
                  <a:pt x="140" y="26"/>
                  <a:pt x="155" y="20"/>
                </a:cubicBezTo>
                <a:cubicBezTo>
                  <a:pt x="170" y="13"/>
                  <a:pt x="186" y="9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4830" y="0"/>
                </a:lnTo>
                <a:cubicBezTo>
                  <a:pt x="4846" y="0"/>
                  <a:pt x="4862" y="2"/>
                  <a:pt x="4879" y="5"/>
                </a:cubicBezTo>
                <a:cubicBezTo>
                  <a:pt x="4895" y="9"/>
                  <a:pt x="4910" y="13"/>
                  <a:pt x="4926" y="20"/>
                </a:cubicBezTo>
                <a:cubicBezTo>
                  <a:pt x="4941" y="26"/>
                  <a:pt x="4955" y="34"/>
                  <a:pt x="4969" y="43"/>
                </a:cubicBezTo>
                <a:cubicBezTo>
                  <a:pt x="4983" y="52"/>
                  <a:pt x="4996" y="62"/>
                  <a:pt x="5007" y="74"/>
                </a:cubicBezTo>
                <a:cubicBezTo>
                  <a:pt x="5019" y="86"/>
                  <a:pt x="5029" y="98"/>
                  <a:pt x="5039" y="112"/>
                </a:cubicBezTo>
                <a:cubicBezTo>
                  <a:pt x="5048" y="126"/>
                  <a:pt x="5055" y="140"/>
                  <a:pt x="5062" y="156"/>
                </a:cubicBezTo>
                <a:cubicBezTo>
                  <a:pt x="5068" y="171"/>
                  <a:pt x="5073" y="187"/>
                  <a:pt x="5076" y="203"/>
                </a:cubicBezTo>
                <a:cubicBezTo>
                  <a:pt x="5079" y="219"/>
                  <a:pt x="5081" y="235"/>
                  <a:pt x="5081" y="252"/>
                </a:cubicBezTo>
                <a:lnTo>
                  <a:pt x="5081" y="3375"/>
                </a:lnTo>
                <a:cubicBezTo>
                  <a:pt x="5081" y="3391"/>
                  <a:pt x="5079" y="3408"/>
                  <a:pt x="5076" y="3424"/>
                </a:cubicBezTo>
                <a:cubicBezTo>
                  <a:pt x="5073" y="3440"/>
                  <a:pt x="5068" y="3456"/>
                  <a:pt x="5062" y="3471"/>
                </a:cubicBezTo>
                <a:cubicBezTo>
                  <a:pt x="5055" y="3486"/>
                  <a:pt x="5048" y="3501"/>
                  <a:pt x="5039" y="3515"/>
                </a:cubicBezTo>
                <a:cubicBezTo>
                  <a:pt x="5029" y="3528"/>
                  <a:pt x="5019" y="3541"/>
                  <a:pt x="5007" y="3553"/>
                </a:cubicBezTo>
                <a:cubicBezTo>
                  <a:pt x="4996" y="3564"/>
                  <a:pt x="4983" y="3575"/>
                  <a:pt x="4969" y="3584"/>
                </a:cubicBezTo>
                <a:cubicBezTo>
                  <a:pt x="4955" y="3593"/>
                  <a:pt x="4941" y="3601"/>
                  <a:pt x="4926" y="3607"/>
                </a:cubicBezTo>
                <a:cubicBezTo>
                  <a:pt x="4910" y="3613"/>
                  <a:pt x="4895" y="3618"/>
                  <a:pt x="4879" y="3621"/>
                </a:cubicBezTo>
                <a:cubicBezTo>
                  <a:pt x="4862" y="3625"/>
                  <a:pt x="4846" y="3626"/>
                  <a:pt x="4830" y="3626"/>
                </a:cubicBezTo>
                <a:lnTo>
                  <a:pt x="251" y="3626"/>
                </a:lnTo>
                <a:cubicBezTo>
                  <a:pt x="235" y="3626"/>
                  <a:pt x="218" y="3625"/>
                  <a:pt x="202" y="3621"/>
                </a:cubicBezTo>
                <a:cubicBezTo>
                  <a:pt x="186" y="3618"/>
                  <a:pt x="170" y="3613"/>
                  <a:pt x="155" y="3607"/>
                </a:cubicBezTo>
                <a:cubicBezTo>
                  <a:pt x="140" y="3601"/>
                  <a:pt x="125" y="3593"/>
                  <a:pt x="112" y="3584"/>
                </a:cubicBezTo>
                <a:cubicBezTo>
                  <a:pt x="98" y="3575"/>
                  <a:pt x="85" y="3564"/>
                  <a:pt x="74" y="3553"/>
                </a:cubicBezTo>
                <a:cubicBezTo>
                  <a:pt x="62" y="3541"/>
                  <a:pt x="51" y="3528"/>
                  <a:pt x="42" y="3515"/>
                </a:cubicBezTo>
                <a:cubicBezTo>
                  <a:pt x="33" y="3501"/>
                  <a:pt x="25" y="3486"/>
                  <a:pt x="19" y="3471"/>
                </a:cubicBezTo>
                <a:cubicBezTo>
                  <a:pt x="13" y="3456"/>
                  <a:pt x="8" y="3440"/>
                  <a:pt x="5" y="3424"/>
                </a:cubicBezTo>
                <a:cubicBezTo>
                  <a:pt x="2" y="3408"/>
                  <a:pt x="0" y="3391"/>
                  <a:pt x="0" y="3375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652320" y="2576160"/>
            <a:ext cx="1829160" cy="1305360"/>
          </a:xfrm>
          <a:custGeom>
            <a:avLst/>
            <a:gdLst/>
            <a:ahLst/>
            <a:rect l="0" t="0" r="r" b="b"/>
            <a:pathLst>
              <a:path w="5081" h="3626">
                <a:moveTo>
                  <a:pt x="0" y="3375"/>
                </a:moveTo>
                <a:lnTo>
                  <a:pt x="0" y="252"/>
                </a:lnTo>
                <a:cubicBezTo>
                  <a:pt x="0" y="235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4" y="74"/>
                </a:cubicBezTo>
                <a:cubicBezTo>
                  <a:pt x="85" y="62"/>
                  <a:pt x="98" y="52"/>
                  <a:pt x="112" y="43"/>
                </a:cubicBezTo>
                <a:cubicBezTo>
                  <a:pt x="125" y="34"/>
                  <a:pt x="140" y="26"/>
                  <a:pt x="155" y="20"/>
                </a:cubicBezTo>
                <a:cubicBezTo>
                  <a:pt x="170" y="13"/>
                  <a:pt x="186" y="9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4830" y="0"/>
                </a:lnTo>
                <a:cubicBezTo>
                  <a:pt x="4846" y="0"/>
                  <a:pt x="4862" y="2"/>
                  <a:pt x="4879" y="5"/>
                </a:cubicBezTo>
                <a:cubicBezTo>
                  <a:pt x="4895" y="9"/>
                  <a:pt x="4910" y="13"/>
                  <a:pt x="4926" y="20"/>
                </a:cubicBezTo>
                <a:cubicBezTo>
                  <a:pt x="4941" y="26"/>
                  <a:pt x="4955" y="34"/>
                  <a:pt x="4969" y="43"/>
                </a:cubicBezTo>
                <a:cubicBezTo>
                  <a:pt x="4983" y="52"/>
                  <a:pt x="4996" y="62"/>
                  <a:pt x="5007" y="74"/>
                </a:cubicBezTo>
                <a:cubicBezTo>
                  <a:pt x="5019" y="86"/>
                  <a:pt x="5029" y="98"/>
                  <a:pt x="5039" y="112"/>
                </a:cubicBezTo>
                <a:cubicBezTo>
                  <a:pt x="5048" y="126"/>
                  <a:pt x="5055" y="140"/>
                  <a:pt x="5062" y="156"/>
                </a:cubicBezTo>
                <a:cubicBezTo>
                  <a:pt x="5068" y="171"/>
                  <a:pt x="5073" y="187"/>
                  <a:pt x="5076" y="203"/>
                </a:cubicBezTo>
                <a:cubicBezTo>
                  <a:pt x="5079" y="219"/>
                  <a:pt x="5081" y="235"/>
                  <a:pt x="5081" y="252"/>
                </a:cubicBezTo>
                <a:lnTo>
                  <a:pt x="5081" y="3375"/>
                </a:lnTo>
                <a:cubicBezTo>
                  <a:pt x="5081" y="3391"/>
                  <a:pt x="5079" y="3408"/>
                  <a:pt x="5076" y="3424"/>
                </a:cubicBezTo>
                <a:cubicBezTo>
                  <a:pt x="5073" y="3440"/>
                  <a:pt x="5068" y="3456"/>
                  <a:pt x="5062" y="3471"/>
                </a:cubicBezTo>
                <a:cubicBezTo>
                  <a:pt x="5055" y="3486"/>
                  <a:pt x="5048" y="3501"/>
                  <a:pt x="5039" y="3515"/>
                </a:cubicBezTo>
                <a:cubicBezTo>
                  <a:pt x="5029" y="3528"/>
                  <a:pt x="5019" y="3541"/>
                  <a:pt x="5007" y="3553"/>
                </a:cubicBezTo>
                <a:cubicBezTo>
                  <a:pt x="4996" y="3564"/>
                  <a:pt x="4983" y="3575"/>
                  <a:pt x="4969" y="3584"/>
                </a:cubicBezTo>
                <a:cubicBezTo>
                  <a:pt x="4955" y="3593"/>
                  <a:pt x="4941" y="3601"/>
                  <a:pt x="4926" y="3607"/>
                </a:cubicBezTo>
                <a:cubicBezTo>
                  <a:pt x="4910" y="3613"/>
                  <a:pt x="4895" y="3618"/>
                  <a:pt x="4879" y="3621"/>
                </a:cubicBezTo>
                <a:cubicBezTo>
                  <a:pt x="4862" y="3625"/>
                  <a:pt x="4846" y="3626"/>
                  <a:pt x="4830" y="3626"/>
                </a:cubicBezTo>
                <a:lnTo>
                  <a:pt x="251" y="3626"/>
                </a:lnTo>
                <a:cubicBezTo>
                  <a:pt x="235" y="3626"/>
                  <a:pt x="218" y="3625"/>
                  <a:pt x="202" y="3621"/>
                </a:cubicBezTo>
                <a:cubicBezTo>
                  <a:pt x="186" y="3618"/>
                  <a:pt x="170" y="3613"/>
                  <a:pt x="155" y="3607"/>
                </a:cubicBezTo>
                <a:cubicBezTo>
                  <a:pt x="140" y="3601"/>
                  <a:pt x="125" y="3593"/>
                  <a:pt x="112" y="3584"/>
                </a:cubicBezTo>
                <a:cubicBezTo>
                  <a:pt x="98" y="3575"/>
                  <a:pt x="85" y="3564"/>
                  <a:pt x="74" y="3553"/>
                </a:cubicBezTo>
                <a:cubicBezTo>
                  <a:pt x="62" y="3541"/>
                  <a:pt x="51" y="3528"/>
                  <a:pt x="42" y="3515"/>
                </a:cubicBezTo>
                <a:cubicBezTo>
                  <a:pt x="33" y="3501"/>
                  <a:pt x="25" y="3486"/>
                  <a:pt x="19" y="3471"/>
                </a:cubicBezTo>
                <a:cubicBezTo>
                  <a:pt x="13" y="3456"/>
                  <a:pt x="8" y="3440"/>
                  <a:pt x="5" y="3424"/>
                </a:cubicBezTo>
                <a:cubicBezTo>
                  <a:pt x="2" y="3408"/>
                  <a:pt x="0" y="3391"/>
                  <a:pt x="0" y="337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1485720" y="2838240"/>
            <a:ext cx="152640" cy="190800"/>
          </a:xfrm>
          <a:custGeom>
            <a:avLst/>
            <a:gdLst/>
            <a:ahLst/>
            <a:rect l="0" t="0" r="r" b="b"/>
            <a:pathLst>
              <a:path w="424" h="530">
                <a:moveTo>
                  <a:pt x="265" y="0"/>
                </a:moveTo>
                <a:lnTo>
                  <a:pt x="53" y="0"/>
                </a:lnTo>
                <a:cubicBezTo>
                  <a:pt x="46" y="0"/>
                  <a:pt x="39" y="1"/>
                  <a:pt x="33" y="4"/>
                </a:cubicBezTo>
                <a:cubicBezTo>
                  <a:pt x="26" y="7"/>
                  <a:pt x="20" y="11"/>
                  <a:pt x="15" y="16"/>
                </a:cubicBezTo>
                <a:cubicBezTo>
                  <a:pt x="11" y="21"/>
                  <a:pt x="7" y="26"/>
                  <a:pt x="4" y="33"/>
                </a:cubicBezTo>
                <a:cubicBezTo>
                  <a:pt x="1" y="39"/>
                  <a:pt x="0" y="46"/>
                  <a:pt x="0" y="53"/>
                </a:cubicBezTo>
                <a:lnTo>
                  <a:pt x="0" y="477"/>
                </a:lnTo>
                <a:cubicBezTo>
                  <a:pt x="0" y="484"/>
                  <a:pt x="1" y="491"/>
                  <a:pt x="4" y="498"/>
                </a:cubicBezTo>
                <a:cubicBezTo>
                  <a:pt x="7" y="504"/>
                  <a:pt x="11" y="510"/>
                  <a:pt x="15" y="515"/>
                </a:cubicBezTo>
                <a:cubicBezTo>
                  <a:pt x="20" y="520"/>
                  <a:pt x="26" y="524"/>
                  <a:pt x="33" y="526"/>
                </a:cubicBezTo>
                <a:cubicBezTo>
                  <a:pt x="39" y="529"/>
                  <a:pt x="46" y="530"/>
                  <a:pt x="53" y="530"/>
                </a:cubicBezTo>
                <a:lnTo>
                  <a:pt x="371" y="530"/>
                </a:lnTo>
                <a:cubicBezTo>
                  <a:pt x="378" y="530"/>
                  <a:pt x="385" y="529"/>
                  <a:pt x="392" y="526"/>
                </a:cubicBezTo>
                <a:cubicBezTo>
                  <a:pt x="398" y="524"/>
                  <a:pt x="404" y="520"/>
                  <a:pt x="409" y="515"/>
                </a:cubicBezTo>
                <a:cubicBezTo>
                  <a:pt x="414" y="510"/>
                  <a:pt x="418" y="504"/>
                  <a:pt x="420" y="498"/>
                </a:cubicBezTo>
                <a:cubicBezTo>
                  <a:pt x="423" y="491"/>
                  <a:pt x="424" y="484"/>
                  <a:pt x="424" y="477"/>
                </a:cubicBezTo>
                <a:lnTo>
                  <a:pt x="424" y="159"/>
                </a:lnTo>
                <a:lnTo>
                  <a:pt x="265" y="0"/>
                </a:lnTo>
                <a:close/>
              </a:path>
            </a:pathLst>
          </a:custGeom>
          <a:noFill/>
          <a:ln w="13320">
            <a:solidFill>
              <a:srgbClr val="555555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1581120" y="2838240"/>
            <a:ext cx="57240" cy="57600"/>
          </a:xfrm>
          <a:custGeom>
            <a:avLst/>
            <a:gdLst/>
            <a:ahLst/>
            <a:rect l="0" t="0" r="r" b="b"/>
            <a:pathLst>
              <a:path fill="none" w="159" h="160">
                <a:moveTo>
                  <a:pt x="0" y="0"/>
                </a:moveTo>
                <a:lnTo>
                  <a:pt x="0" y="160"/>
                </a:lnTo>
                <a:lnTo>
                  <a:pt x="159" y="160"/>
                </a:lnTo>
              </a:path>
            </a:pathLst>
          </a:custGeom>
          <a:ln w="13320">
            <a:solidFill>
              <a:srgbClr val="555555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647640" y="1774080"/>
            <a:ext cx="29808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720" b="0" u="none" strike="noStrike">
                <a:solidFill>
                  <a:srgbClr val="888888"/>
                </a:solidFill>
                <a:effectLst/>
                <a:uFillTx/>
                <a:latin typeface="Raleway"/>
                <a:ea typeface="Raleway"/>
              </a:rPr>
              <a:t>From CSV to board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1012680" y="3254040"/>
            <a:ext cx="12960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20" b="1" u="none" strike="noStrike">
                <a:solidFill>
                  <a:srgbClr val="CCCCCC"/>
                </a:solidFill>
                <a:effectLst/>
                <a:uFillTx/>
                <a:latin typeface="Outfit-Thin_"/>
                <a:ea typeface="Outfit-Thin_"/>
              </a:rPr>
              <a:t>SGJobData.csv</a:t>
            </a:r>
            <a:endParaRPr lang="en-SG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1186920" y="3476160"/>
            <a:ext cx="78840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1.05M rows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2919240" y="2576160"/>
            <a:ext cx="1829160" cy="1305360"/>
          </a:xfrm>
          <a:custGeom>
            <a:avLst/>
            <a:gdLst/>
            <a:ahLst/>
            <a:rect l="0" t="0" r="r" b="b"/>
            <a:pathLst>
              <a:path w="5081" h="3626">
                <a:moveTo>
                  <a:pt x="0" y="3375"/>
                </a:moveTo>
                <a:lnTo>
                  <a:pt x="0" y="252"/>
                </a:lnTo>
                <a:cubicBezTo>
                  <a:pt x="0" y="235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2" y="98"/>
                  <a:pt x="62" y="86"/>
                  <a:pt x="74" y="74"/>
                </a:cubicBezTo>
                <a:cubicBezTo>
                  <a:pt x="85" y="62"/>
                  <a:pt x="98" y="52"/>
                  <a:pt x="112" y="43"/>
                </a:cubicBezTo>
                <a:cubicBezTo>
                  <a:pt x="125" y="34"/>
                  <a:pt x="140" y="26"/>
                  <a:pt x="155" y="20"/>
                </a:cubicBezTo>
                <a:cubicBezTo>
                  <a:pt x="170" y="13"/>
                  <a:pt x="186" y="9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4830" y="0"/>
                </a:lnTo>
                <a:cubicBezTo>
                  <a:pt x="4846" y="0"/>
                  <a:pt x="4862" y="2"/>
                  <a:pt x="4879" y="5"/>
                </a:cubicBezTo>
                <a:cubicBezTo>
                  <a:pt x="4895" y="9"/>
                  <a:pt x="4911" y="13"/>
                  <a:pt x="4926" y="20"/>
                </a:cubicBezTo>
                <a:cubicBezTo>
                  <a:pt x="4941" y="26"/>
                  <a:pt x="4956" y="34"/>
                  <a:pt x="4969" y="43"/>
                </a:cubicBezTo>
                <a:cubicBezTo>
                  <a:pt x="4983" y="52"/>
                  <a:pt x="4996" y="62"/>
                  <a:pt x="5007" y="74"/>
                </a:cubicBezTo>
                <a:cubicBezTo>
                  <a:pt x="5019" y="86"/>
                  <a:pt x="5029" y="98"/>
                  <a:pt x="5039" y="112"/>
                </a:cubicBezTo>
                <a:cubicBezTo>
                  <a:pt x="5048" y="126"/>
                  <a:pt x="5056" y="140"/>
                  <a:pt x="5062" y="156"/>
                </a:cubicBezTo>
                <a:cubicBezTo>
                  <a:pt x="5068" y="171"/>
                  <a:pt x="5073" y="187"/>
                  <a:pt x="5076" y="203"/>
                </a:cubicBezTo>
                <a:cubicBezTo>
                  <a:pt x="5079" y="219"/>
                  <a:pt x="5081" y="235"/>
                  <a:pt x="5081" y="252"/>
                </a:cubicBezTo>
                <a:lnTo>
                  <a:pt x="5081" y="3375"/>
                </a:lnTo>
                <a:cubicBezTo>
                  <a:pt x="5081" y="3391"/>
                  <a:pt x="5079" y="3408"/>
                  <a:pt x="5076" y="3424"/>
                </a:cubicBezTo>
                <a:cubicBezTo>
                  <a:pt x="5073" y="3440"/>
                  <a:pt x="5068" y="3456"/>
                  <a:pt x="5062" y="3471"/>
                </a:cubicBezTo>
                <a:cubicBezTo>
                  <a:pt x="5056" y="3486"/>
                  <a:pt x="5048" y="3501"/>
                  <a:pt x="5039" y="3515"/>
                </a:cubicBezTo>
                <a:cubicBezTo>
                  <a:pt x="5029" y="3528"/>
                  <a:pt x="5019" y="3541"/>
                  <a:pt x="5007" y="3553"/>
                </a:cubicBezTo>
                <a:cubicBezTo>
                  <a:pt x="4996" y="3564"/>
                  <a:pt x="4983" y="3575"/>
                  <a:pt x="4969" y="3584"/>
                </a:cubicBezTo>
                <a:cubicBezTo>
                  <a:pt x="4956" y="3593"/>
                  <a:pt x="4941" y="3601"/>
                  <a:pt x="4926" y="3607"/>
                </a:cubicBezTo>
                <a:cubicBezTo>
                  <a:pt x="4911" y="3613"/>
                  <a:pt x="4895" y="3618"/>
                  <a:pt x="4879" y="3621"/>
                </a:cubicBezTo>
                <a:cubicBezTo>
                  <a:pt x="4862" y="3625"/>
                  <a:pt x="4846" y="3626"/>
                  <a:pt x="4830" y="3626"/>
                </a:cubicBezTo>
                <a:lnTo>
                  <a:pt x="251" y="3626"/>
                </a:lnTo>
                <a:cubicBezTo>
                  <a:pt x="235" y="3626"/>
                  <a:pt x="218" y="3625"/>
                  <a:pt x="202" y="3621"/>
                </a:cubicBezTo>
                <a:cubicBezTo>
                  <a:pt x="186" y="3618"/>
                  <a:pt x="170" y="3613"/>
                  <a:pt x="155" y="3607"/>
                </a:cubicBezTo>
                <a:cubicBezTo>
                  <a:pt x="140" y="3601"/>
                  <a:pt x="125" y="3593"/>
                  <a:pt x="112" y="3584"/>
                </a:cubicBezTo>
                <a:cubicBezTo>
                  <a:pt x="98" y="3575"/>
                  <a:pt x="85" y="3564"/>
                  <a:pt x="74" y="3553"/>
                </a:cubicBezTo>
                <a:cubicBezTo>
                  <a:pt x="62" y="3541"/>
                  <a:pt x="52" y="3528"/>
                  <a:pt x="42" y="3515"/>
                </a:cubicBezTo>
                <a:cubicBezTo>
                  <a:pt x="33" y="3501"/>
                  <a:pt x="25" y="3486"/>
                  <a:pt x="19" y="3471"/>
                </a:cubicBezTo>
                <a:cubicBezTo>
                  <a:pt x="13" y="3456"/>
                  <a:pt x="8" y="3440"/>
                  <a:pt x="5" y="3424"/>
                </a:cubicBezTo>
                <a:cubicBezTo>
                  <a:pt x="2" y="3408"/>
                  <a:pt x="0" y="3391"/>
                  <a:pt x="0" y="3375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2919240" y="2576160"/>
            <a:ext cx="1829160" cy="1305360"/>
          </a:xfrm>
          <a:custGeom>
            <a:avLst/>
            <a:gdLst/>
            <a:ahLst/>
            <a:rect l="0" t="0" r="r" b="b"/>
            <a:pathLst>
              <a:path w="5081" h="3626">
                <a:moveTo>
                  <a:pt x="0" y="3375"/>
                </a:moveTo>
                <a:lnTo>
                  <a:pt x="0" y="252"/>
                </a:lnTo>
                <a:cubicBezTo>
                  <a:pt x="0" y="235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2" y="98"/>
                  <a:pt x="62" y="86"/>
                  <a:pt x="74" y="74"/>
                </a:cubicBezTo>
                <a:cubicBezTo>
                  <a:pt x="85" y="62"/>
                  <a:pt x="98" y="52"/>
                  <a:pt x="112" y="43"/>
                </a:cubicBezTo>
                <a:cubicBezTo>
                  <a:pt x="125" y="34"/>
                  <a:pt x="140" y="26"/>
                  <a:pt x="155" y="20"/>
                </a:cubicBezTo>
                <a:cubicBezTo>
                  <a:pt x="170" y="13"/>
                  <a:pt x="186" y="9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4830" y="0"/>
                </a:lnTo>
                <a:cubicBezTo>
                  <a:pt x="4846" y="0"/>
                  <a:pt x="4862" y="2"/>
                  <a:pt x="4879" y="5"/>
                </a:cubicBezTo>
                <a:cubicBezTo>
                  <a:pt x="4895" y="9"/>
                  <a:pt x="4911" y="13"/>
                  <a:pt x="4926" y="20"/>
                </a:cubicBezTo>
                <a:cubicBezTo>
                  <a:pt x="4941" y="26"/>
                  <a:pt x="4956" y="34"/>
                  <a:pt x="4969" y="43"/>
                </a:cubicBezTo>
                <a:cubicBezTo>
                  <a:pt x="4983" y="52"/>
                  <a:pt x="4996" y="62"/>
                  <a:pt x="5007" y="74"/>
                </a:cubicBezTo>
                <a:cubicBezTo>
                  <a:pt x="5019" y="86"/>
                  <a:pt x="5029" y="98"/>
                  <a:pt x="5039" y="112"/>
                </a:cubicBezTo>
                <a:cubicBezTo>
                  <a:pt x="5048" y="126"/>
                  <a:pt x="5056" y="140"/>
                  <a:pt x="5062" y="156"/>
                </a:cubicBezTo>
                <a:cubicBezTo>
                  <a:pt x="5068" y="171"/>
                  <a:pt x="5073" y="187"/>
                  <a:pt x="5076" y="203"/>
                </a:cubicBezTo>
                <a:cubicBezTo>
                  <a:pt x="5079" y="219"/>
                  <a:pt x="5081" y="235"/>
                  <a:pt x="5081" y="252"/>
                </a:cubicBezTo>
                <a:lnTo>
                  <a:pt x="5081" y="3375"/>
                </a:lnTo>
                <a:cubicBezTo>
                  <a:pt x="5081" y="3391"/>
                  <a:pt x="5079" y="3408"/>
                  <a:pt x="5076" y="3424"/>
                </a:cubicBezTo>
                <a:cubicBezTo>
                  <a:pt x="5073" y="3440"/>
                  <a:pt x="5068" y="3456"/>
                  <a:pt x="5062" y="3471"/>
                </a:cubicBezTo>
                <a:cubicBezTo>
                  <a:pt x="5056" y="3486"/>
                  <a:pt x="5048" y="3501"/>
                  <a:pt x="5039" y="3515"/>
                </a:cubicBezTo>
                <a:cubicBezTo>
                  <a:pt x="5029" y="3528"/>
                  <a:pt x="5019" y="3541"/>
                  <a:pt x="5007" y="3553"/>
                </a:cubicBezTo>
                <a:cubicBezTo>
                  <a:pt x="4996" y="3564"/>
                  <a:pt x="4983" y="3575"/>
                  <a:pt x="4969" y="3584"/>
                </a:cubicBezTo>
                <a:cubicBezTo>
                  <a:pt x="4956" y="3593"/>
                  <a:pt x="4941" y="3601"/>
                  <a:pt x="4926" y="3607"/>
                </a:cubicBezTo>
                <a:cubicBezTo>
                  <a:pt x="4911" y="3613"/>
                  <a:pt x="4895" y="3618"/>
                  <a:pt x="4879" y="3621"/>
                </a:cubicBezTo>
                <a:cubicBezTo>
                  <a:pt x="4862" y="3625"/>
                  <a:pt x="4846" y="3626"/>
                  <a:pt x="4830" y="3626"/>
                </a:cubicBezTo>
                <a:lnTo>
                  <a:pt x="251" y="3626"/>
                </a:lnTo>
                <a:cubicBezTo>
                  <a:pt x="235" y="3626"/>
                  <a:pt x="218" y="3625"/>
                  <a:pt x="202" y="3621"/>
                </a:cubicBezTo>
                <a:cubicBezTo>
                  <a:pt x="186" y="3618"/>
                  <a:pt x="170" y="3613"/>
                  <a:pt x="155" y="3607"/>
                </a:cubicBezTo>
                <a:cubicBezTo>
                  <a:pt x="140" y="3601"/>
                  <a:pt x="125" y="3593"/>
                  <a:pt x="112" y="3584"/>
                </a:cubicBezTo>
                <a:cubicBezTo>
                  <a:pt x="98" y="3575"/>
                  <a:pt x="85" y="3564"/>
                  <a:pt x="74" y="3553"/>
                </a:cubicBezTo>
                <a:cubicBezTo>
                  <a:pt x="62" y="3541"/>
                  <a:pt x="52" y="3528"/>
                  <a:pt x="42" y="3515"/>
                </a:cubicBezTo>
                <a:cubicBezTo>
                  <a:pt x="33" y="3501"/>
                  <a:pt x="25" y="3486"/>
                  <a:pt x="19" y="3471"/>
                </a:cubicBezTo>
                <a:cubicBezTo>
                  <a:pt x="13" y="3456"/>
                  <a:pt x="8" y="3440"/>
                  <a:pt x="5" y="3424"/>
                </a:cubicBezTo>
                <a:cubicBezTo>
                  <a:pt x="2" y="3408"/>
                  <a:pt x="0" y="3391"/>
                  <a:pt x="0" y="337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3743280" y="2876400"/>
            <a:ext cx="171720" cy="114480"/>
          </a:xfrm>
          <a:custGeom>
            <a:avLst/>
            <a:gdLst/>
            <a:ahLst/>
            <a:rect l="0" t="0" r="r" b="b"/>
            <a:pathLst>
              <a:path fill="none" w="477" h="318">
                <a:moveTo>
                  <a:pt x="0" y="0"/>
                </a:moveTo>
                <a:lnTo>
                  <a:pt x="477" y="0"/>
                </a:lnTo>
                <a:moveTo>
                  <a:pt x="105" y="160"/>
                </a:moveTo>
                <a:lnTo>
                  <a:pt x="371" y="160"/>
                </a:lnTo>
                <a:moveTo>
                  <a:pt x="185" y="318"/>
                </a:moveTo>
                <a:lnTo>
                  <a:pt x="291" y="318"/>
                </a:lnTo>
              </a:path>
            </a:pathLst>
          </a:custGeom>
          <a:ln w="13320">
            <a:solidFill>
              <a:srgbClr val="FF6B1A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2560320" y="3057120"/>
            <a:ext cx="276480" cy="32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170" b="0" u="none" strike="noStrike">
                <a:solidFill>
                  <a:srgbClr val="FF6B1A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SG" sz="21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3639600" y="3254040"/>
            <a:ext cx="46728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20" b="1" u="none" strike="noStrike">
                <a:solidFill>
                  <a:srgbClr val="CCCCCC"/>
                </a:solidFill>
                <a:effectLst/>
                <a:uFillTx/>
                <a:latin typeface="Outfit-Thin_"/>
                <a:ea typeface="Outfit-Thin_"/>
              </a:rPr>
              <a:t>clean</a:t>
            </a:r>
            <a:endParaRPr lang="en-SG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3217680" y="3476160"/>
            <a:ext cx="125424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flag · null · convert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5186160" y="2576160"/>
            <a:ext cx="1819800" cy="1305360"/>
          </a:xfrm>
          <a:custGeom>
            <a:avLst/>
            <a:gdLst/>
            <a:ahLst/>
            <a:rect l="0" t="0" r="r" b="b"/>
            <a:pathLst>
              <a:path w="5055" h="3626">
                <a:moveTo>
                  <a:pt x="0" y="3375"/>
                </a:moveTo>
                <a:lnTo>
                  <a:pt x="0" y="252"/>
                </a:lnTo>
                <a:cubicBezTo>
                  <a:pt x="0" y="235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0"/>
                  <a:pt x="33" y="126"/>
                  <a:pt x="42" y="112"/>
                </a:cubicBezTo>
                <a:cubicBezTo>
                  <a:pt x="52" y="98"/>
                  <a:pt x="62" y="86"/>
                  <a:pt x="74" y="74"/>
                </a:cubicBezTo>
                <a:cubicBezTo>
                  <a:pt x="85" y="62"/>
                  <a:pt x="98" y="52"/>
                  <a:pt x="112" y="43"/>
                </a:cubicBezTo>
                <a:cubicBezTo>
                  <a:pt x="125" y="34"/>
                  <a:pt x="140" y="26"/>
                  <a:pt x="155" y="20"/>
                </a:cubicBezTo>
                <a:cubicBezTo>
                  <a:pt x="170" y="13"/>
                  <a:pt x="186" y="9"/>
                  <a:pt x="202" y="5"/>
                </a:cubicBezTo>
                <a:cubicBezTo>
                  <a:pt x="219" y="2"/>
                  <a:pt x="235" y="0"/>
                  <a:pt x="251" y="0"/>
                </a:cubicBezTo>
                <a:lnTo>
                  <a:pt x="4803" y="0"/>
                </a:lnTo>
                <a:cubicBezTo>
                  <a:pt x="4820" y="0"/>
                  <a:pt x="4836" y="2"/>
                  <a:pt x="4852" y="5"/>
                </a:cubicBezTo>
                <a:cubicBezTo>
                  <a:pt x="4868" y="9"/>
                  <a:pt x="4884" y="13"/>
                  <a:pt x="4899" y="20"/>
                </a:cubicBezTo>
                <a:cubicBezTo>
                  <a:pt x="4915" y="26"/>
                  <a:pt x="4929" y="34"/>
                  <a:pt x="4943" y="43"/>
                </a:cubicBezTo>
                <a:cubicBezTo>
                  <a:pt x="4957" y="52"/>
                  <a:pt x="4969" y="62"/>
                  <a:pt x="4981" y="74"/>
                </a:cubicBezTo>
                <a:cubicBezTo>
                  <a:pt x="4993" y="86"/>
                  <a:pt x="5003" y="98"/>
                  <a:pt x="5012" y="112"/>
                </a:cubicBezTo>
                <a:cubicBezTo>
                  <a:pt x="5021" y="126"/>
                  <a:pt x="5029" y="140"/>
                  <a:pt x="5035" y="156"/>
                </a:cubicBezTo>
                <a:cubicBezTo>
                  <a:pt x="5042" y="171"/>
                  <a:pt x="5047" y="187"/>
                  <a:pt x="5050" y="203"/>
                </a:cubicBezTo>
                <a:cubicBezTo>
                  <a:pt x="5053" y="219"/>
                  <a:pt x="5055" y="235"/>
                  <a:pt x="5055" y="252"/>
                </a:cubicBezTo>
                <a:lnTo>
                  <a:pt x="5055" y="3375"/>
                </a:lnTo>
                <a:cubicBezTo>
                  <a:pt x="5055" y="3391"/>
                  <a:pt x="5053" y="3408"/>
                  <a:pt x="5050" y="3424"/>
                </a:cubicBezTo>
                <a:cubicBezTo>
                  <a:pt x="5047" y="3440"/>
                  <a:pt x="5042" y="3456"/>
                  <a:pt x="5035" y="3471"/>
                </a:cubicBezTo>
                <a:cubicBezTo>
                  <a:pt x="5029" y="3486"/>
                  <a:pt x="5021" y="3501"/>
                  <a:pt x="5012" y="3515"/>
                </a:cubicBezTo>
                <a:cubicBezTo>
                  <a:pt x="5003" y="3528"/>
                  <a:pt x="4993" y="3541"/>
                  <a:pt x="4981" y="3553"/>
                </a:cubicBezTo>
                <a:cubicBezTo>
                  <a:pt x="4969" y="3564"/>
                  <a:pt x="4957" y="3575"/>
                  <a:pt x="4943" y="3584"/>
                </a:cubicBezTo>
                <a:cubicBezTo>
                  <a:pt x="4929" y="3593"/>
                  <a:pt x="4915" y="3601"/>
                  <a:pt x="4899" y="3607"/>
                </a:cubicBezTo>
                <a:cubicBezTo>
                  <a:pt x="4884" y="3613"/>
                  <a:pt x="4868" y="3618"/>
                  <a:pt x="4852" y="3621"/>
                </a:cubicBezTo>
                <a:cubicBezTo>
                  <a:pt x="4836" y="3625"/>
                  <a:pt x="4820" y="3626"/>
                  <a:pt x="4803" y="3626"/>
                </a:cubicBezTo>
                <a:lnTo>
                  <a:pt x="251" y="3626"/>
                </a:lnTo>
                <a:cubicBezTo>
                  <a:pt x="235" y="3626"/>
                  <a:pt x="219" y="3625"/>
                  <a:pt x="202" y="3621"/>
                </a:cubicBezTo>
                <a:cubicBezTo>
                  <a:pt x="186" y="3618"/>
                  <a:pt x="170" y="3613"/>
                  <a:pt x="155" y="3607"/>
                </a:cubicBezTo>
                <a:cubicBezTo>
                  <a:pt x="140" y="3601"/>
                  <a:pt x="125" y="3593"/>
                  <a:pt x="112" y="3584"/>
                </a:cubicBezTo>
                <a:cubicBezTo>
                  <a:pt x="98" y="3575"/>
                  <a:pt x="85" y="3564"/>
                  <a:pt x="74" y="3553"/>
                </a:cubicBezTo>
                <a:cubicBezTo>
                  <a:pt x="62" y="3541"/>
                  <a:pt x="52" y="3528"/>
                  <a:pt x="42" y="3515"/>
                </a:cubicBezTo>
                <a:cubicBezTo>
                  <a:pt x="33" y="3501"/>
                  <a:pt x="26" y="3486"/>
                  <a:pt x="19" y="3471"/>
                </a:cubicBezTo>
                <a:cubicBezTo>
                  <a:pt x="13" y="3456"/>
                  <a:pt x="8" y="3440"/>
                  <a:pt x="5" y="3424"/>
                </a:cubicBezTo>
                <a:cubicBezTo>
                  <a:pt x="2" y="3408"/>
                  <a:pt x="0" y="3391"/>
                  <a:pt x="0" y="3375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5186160" y="2576160"/>
            <a:ext cx="1819800" cy="1305360"/>
          </a:xfrm>
          <a:custGeom>
            <a:avLst/>
            <a:gdLst/>
            <a:ahLst/>
            <a:rect l="0" t="0" r="r" b="b"/>
            <a:pathLst>
              <a:path w="5055" h="3626">
                <a:moveTo>
                  <a:pt x="0" y="3375"/>
                </a:moveTo>
                <a:lnTo>
                  <a:pt x="0" y="252"/>
                </a:lnTo>
                <a:cubicBezTo>
                  <a:pt x="0" y="235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0"/>
                  <a:pt x="33" y="126"/>
                  <a:pt x="42" y="112"/>
                </a:cubicBezTo>
                <a:cubicBezTo>
                  <a:pt x="52" y="98"/>
                  <a:pt x="62" y="86"/>
                  <a:pt x="74" y="74"/>
                </a:cubicBezTo>
                <a:cubicBezTo>
                  <a:pt x="85" y="62"/>
                  <a:pt x="98" y="52"/>
                  <a:pt x="112" y="43"/>
                </a:cubicBezTo>
                <a:cubicBezTo>
                  <a:pt x="125" y="34"/>
                  <a:pt x="140" y="26"/>
                  <a:pt x="155" y="20"/>
                </a:cubicBezTo>
                <a:cubicBezTo>
                  <a:pt x="170" y="13"/>
                  <a:pt x="186" y="9"/>
                  <a:pt x="202" y="5"/>
                </a:cubicBezTo>
                <a:cubicBezTo>
                  <a:pt x="219" y="2"/>
                  <a:pt x="235" y="0"/>
                  <a:pt x="251" y="0"/>
                </a:cubicBezTo>
                <a:lnTo>
                  <a:pt x="4803" y="0"/>
                </a:lnTo>
                <a:cubicBezTo>
                  <a:pt x="4820" y="0"/>
                  <a:pt x="4836" y="2"/>
                  <a:pt x="4852" y="5"/>
                </a:cubicBezTo>
                <a:cubicBezTo>
                  <a:pt x="4868" y="9"/>
                  <a:pt x="4884" y="13"/>
                  <a:pt x="4899" y="20"/>
                </a:cubicBezTo>
                <a:cubicBezTo>
                  <a:pt x="4915" y="26"/>
                  <a:pt x="4929" y="34"/>
                  <a:pt x="4943" y="43"/>
                </a:cubicBezTo>
                <a:cubicBezTo>
                  <a:pt x="4957" y="52"/>
                  <a:pt x="4969" y="62"/>
                  <a:pt x="4981" y="74"/>
                </a:cubicBezTo>
                <a:cubicBezTo>
                  <a:pt x="4993" y="86"/>
                  <a:pt x="5003" y="98"/>
                  <a:pt x="5012" y="112"/>
                </a:cubicBezTo>
                <a:cubicBezTo>
                  <a:pt x="5021" y="126"/>
                  <a:pt x="5029" y="140"/>
                  <a:pt x="5035" y="156"/>
                </a:cubicBezTo>
                <a:cubicBezTo>
                  <a:pt x="5042" y="171"/>
                  <a:pt x="5047" y="187"/>
                  <a:pt x="5050" y="203"/>
                </a:cubicBezTo>
                <a:cubicBezTo>
                  <a:pt x="5053" y="219"/>
                  <a:pt x="5055" y="235"/>
                  <a:pt x="5055" y="252"/>
                </a:cubicBezTo>
                <a:lnTo>
                  <a:pt x="5055" y="3375"/>
                </a:lnTo>
                <a:cubicBezTo>
                  <a:pt x="5055" y="3391"/>
                  <a:pt x="5053" y="3408"/>
                  <a:pt x="5050" y="3424"/>
                </a:cubicBezTo>
                <a:cubicBezTo>
                  <a:pt x="5047" y="3440"/>
                  <a:pt x="5042" y="3456"/>
                  <a:pt x="5035" y="3471"/>
                </a:cubicBezTo>
                <a:cubicBezTo>
                  <a:pt x="5029" y="3486"/>
                  <a:pt x="5021" y="3501"/>
                  <a:pt x="5012" y="3515"/>
                </a:cubicBezTo>
                <a:cubicBezTo>
                  <a:pt x="5003" y="3528"/>
                  <a:pt x="4993" y="3541"/>
                  <a:pt x="4981" y="3553"/>
                </a:cubicBezTo>
                <a:cubicBezTo>
                  <a:pt x="4969" y="3564"/>
                  <a:pt x="4957" y="3575"/>
                  <a:pt x="4943" y="3584"/>
                </a:cubicBezTo>
                <a:cubicBezTo>
                  <a:pt x="4929" y="3593"/>
                  <a:pt x="4915" y="3601"/>
                  <a:pt x="4899" y="3607"/>
                </a:cubicBezTo>
                <a:cubicBezTo>
                  <a:pt x="4884" y="3613"/>
                  <a:pt x="4868" y="3618"/>
                  <a:pt x="4852" y="3621"/>
                </a:cubicBezTo>
                <a:cubicBezTo>
                  <a:pt x="4836" y="3625"/>
                  <a:pt x="4820" y="3626"/>
                  <a:pt x="4803" y="3626"/>
                </a:cubicBezTo>
                <a:lnTo>
                  <a:pt x="251" y="3626"/>
                </a:lnTo>
                <a:cubicBezTo>
                  <a:pt x="235" y="3626"/>
                  <a:pt x="219" y="3625"/>
                  <a:pt x="202" y="3621"/>
                </a:cubicBezTo>
                <a:cubicBezTo>
                  <a:pt x="186" y="3618"/>
                  <a:pt x="170" y="3613"/>
                  <a:pt x="155" y="3607"/>
                </a:cubicBezTo>
                <a:cubicBezTo>
                  <a:pt x="140" y="3601"/>
                  <a:pt x="125" y="3593"/>
                  <a:pt x="112" y="3584"/>
                </a:cubicBezTo>
                <a:cubicBezTo>
                  <a:pt x="98" y="3575"/>
                  <a:pt x="85" y="3564"/>
                  <a:pt x="74" y="3553"/>
                </a:cubicBezTo>
                <a:cubicBezTo>
                  <a:pt x="62" y="3541"/>
                  <a:pt x="52" y="3528"/>
                  <a:pt x="42" y="3515"/>
                </a:cubicBezTo>
                <a:cubicBezTo>
                  <a:pt x="33" y="3501"/>
                  <a:pt x="26" y="3486"/>
                  <a:pt x="19" y="3471"/>
                </a:cubicBezTo>
                <a:cubicBezTo>
                  <a:pt x="13" y="3456"/>
                  <a:pt x="8" y="3440"/>
                  <a:pt x="5" y="3424"/>
                </a:cubicBezTo>
                <a:cubicBezTo>
                  <a:pt x="2" y="3408"/>
                  <a:pt x="0" y="3391"/>
                  <a:pt x="0" y="337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6010200" y="2838240"/>
            <a:ext cx="171720" cy="190800"/>
          </a:xfrm>
          <a:custGeom>
            <a:avLst/>
            <a:gdLst/>
            <a:ahLst/>
            <a:rect l="0" t="0" r="r" b="b"/>
            <a:pathLst>
              <a:path w="477" h="530">
                <a:moveTo>
                  <a:pt x="265" y="0"/>
                </a:moveTo>
                <a:lnTo>
                  <a:pt x="0" y="319"/>
                </a:lnTo>
                <a:lnTo>
                  <a:pt x="239" y="319"/>
                </a:lnTo>
                <a:lnTo>
                  <a:pt x="212" y="530"/>
                </a:lnTo>
                <a:lnTo>
                  <a:pt x="477" y="212"/>
                </a:lnTo>
                <a:lnTo>
                  <a:pt x="239" y="212"/>
                </a:lnTo>
                <a:lnTo>
                  <a:pt x="265" y="0"/>
                </a:lnTo>
                <a:close/>
              </a:path>
            </a:pathLst>
          </a:custGeom>
          <a:noFill/>
          <a:ln w="13320">
            <a:solidFill>
              <a:srgbClr val="FF6B1A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4825440" y="3057120"/>
            <a:ext cx="276480" cy="32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170" b="0" u="none" strike="noStrike">
                <a:solidFill>
                  <a:srgbClr val="FF6B1A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SG" sz="21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5873760" y="3254040"/>
            <a:ext cx="53604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20" b="1" u="none" strike="noStrike">
                <a:solidFill>
                  <a:srgbClr val="CCCCCC"/>
                </a:solidFill>
                <a:effectLst/>
                <a:uFillTx/>
                <a:latin typeface="Outfit-Thin_"/>
                <a:ea typeface="Outfit-Thin_"/>
              </a:rPr>
              <a:t>enrich</a:t>
            </a:r>
            <a:endParaRPr lang="en-SG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5586840" y="3476160"/>
            <a:ext cx="101700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derive features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7443720" y="2576160"/>
            <a:ext cx="1829160" cy="1305360"/>
          </a:xfrm>
          <a:custGeom>
            <a:avLst/>
            <a:gdLst/>
            <a:ahLst/>
            <a:rect l="0" t="0" r="r" b="b"/>
            <a:pathLst>
              <a:path w="5081" h="3626">
                <a:moveTo>
                  <a:pt x="0" y="3375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40" y="26"/>
                  <a:pt x="155" y="20"/>
                </a:cubicBezTo>
                <a:cubicBezTo>
                  <a:pt x="170" y="13"/>
                  <a:pt x="186" y="9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4829" y="0"/>
                </a:lnTo>
                <a:cubicBezTo>
                  <a:pt x="4846" y="0"/>
                  <a:pt x="4862" y="2"/>
                  <a:pt x="4878" y="5"/>
                </a:cubicBezTo>
                <a:cubicBezTo>
                  <a:pt x="4895" y="9"/>
                  <a:pt x="4910" y="13"/>
                  <a:pt x="4926" y="20"/>
                </a:cubicBezTo>
                <a:cubicBezTo>
                  <a:pt x="4941" y="26"/>
                  <a:pt x="4955" y="34"/>
                  <a:pt x="4969" y="43"/>
                </a:cubicBezTo>
                <a:cubicBezTo>
                  <a:pt x="4983" y="52"/>
                  <a:pt x="4995" y="62"/>
                  <a:pt x="5007" y="74"/>
                </a:cubicBezTo>
                <a:cubicBezTo>
                  <a:pt x="5019" y="86"/>
                  <a:pt x="5029" y="98"/>
                  <a:pt x="5038" y="112"/>
                </a:cubicBezTo>
                <a:cubicBezTo>
                  <a:pt x="5047" y="126"/>
                  <a:pt x="5055" y="140"/>
                  <a:pt x="5062" y="156"/>
                </a:cubicBezTo>
                <a:cubicBezTo>
                  <a:pt x="5068" y="171"/>
                  <a:pt x="5073" y="187"/>
                  <a:pt x="5076" y="203"/>
                </a:cubicBezTo>
                <a:cubicBezTo>
                  <a:pt x="5079" y="219"/>
                  <a:pt x="5081" y="235"/>
                  <a:pt x="5081" y="252"/>
                </a:cubicBezTo>
                <a:lnTo>
                  <a:pt x="5081" y="3375"/>
                </a:lnTo>
                <a:cubicBezTo>
                  <a:pt x="5081" y="3391"/>
                  <a:pt x="5079" y="3408"/>
                  <a:pt x="5076" y="3424"/>
                </a:cubicBezTo>
                <a:cubicBezTo>
                  <a:pt x="5073" y="3440"/>
                  <a:pt x="5068" y="3456"/>
                  <a:pt x="5062" y="3471"/>
                </a:cubicBezTo>
                <a:cubicBezTo>
                  <a:pt x="5055" y="3486"/>
                  <a:pt x="5047" y="3501"/>
                  <a:pt x="5038" y="3515"/>
                </a:cubicBezTo>
                <a:cubicBezTo>
                  <a:pt x="5029" y="3528"/>
                  <a:pt x="5019" y="3541"/>
                  <a:pt x="5007" y="3553"/>
                </a:cubicBezTo>
                <a:cubicBezTo>
                  <a:pt x="4995" y="3564"/>
                  <a:pt x="4983" y="3575"/>
                  <a:pt x="4969" y="3584"/>
                </a:cubicBezTo>
                <a:cubicBezTo>
                  <a:pt x="4955" y="3593"/>
                  <a:pt x="4941" y="3601"/>
                  <a:pt x="4926" y="3607"/>
                </a:cubicBezTo>
                <a:cubicBezTo>
                  <a:pt x="4910" y="3613"/>
                  <a:pt x="4895" y="3618"/>
                  <a:pt x="4878" y="3621"/>
                </a:cubicBezTo>
                <a:cubicBezTo>
                  <a:pt x="4862" y="3625"/>
                  <a:pt x="4846" y="3626"/>
                  <a:pt x="4829" y="3626"/>
                </a:cubicBezTo>
                <a:lnTo>
                  <a:pt x="251" y="3626"/>
                </a:lnTo>
                <a:cubicBezTo>
                  <a:pt x="235" y="3626"/>
                  <a:pt x="218" y="3625"/>
                  <a:pt x="202" y="3621"/>
                </a:cubicBezTo>
                <a:cubicBezTo>
                  <a:pt x="186" y="3618"/>
                  <a:pt x="170" y="3613"/>
                  <a:pt x="155" y="3607"/>
                </a:cubicBezTo>
                <a:cubicBezTo>
                  <a:pt x="140" y="3601"/>
                  <a:pt x="125" y="3593"/>
                  <a:pt x="111" y="3584"/>
                </a:cubicBezTo>
                <a:cubicBezTo>
                  <a:pt x="98" y="3575"/>
                  <a:pt x="85" y="3564"/>
                  <a:pt x="73" y="3553"/>
                </a:cubicBezTo>
                <a:cubicBezTo>
                  <a:pt x="62" y="3541"/>
                  <a:pt x="51" y="3528"/>
                  <a:pt x="42" y="3515"/>
                </a:cubicBezTo>
                <a:cubicBezTo>
                  <a:pt x="33" y="3501"/>
                  <a:pt x="25" y="3486"/>
                  <a:pt x="19" y="3471"/>
                </a:cubicBezTo>
                <a:cubicBezTo>
                  <a:pt x="13" y="3456"/>
                  <a:pt x="8" y="3440"/>
                  <a:pt x="5" y="3424"/>
                </a:cubicBezTo>
                <a:cubicBezTo>
                  <a:pt x="1" y="3408"/>
                  <a:pt x="0" y="3391"/>
                  <a:pt x="0" y="3375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7443720" y="2576160"/>
            <a:ext cx="1829160" cy="1305360"/>
          </a:xfrm>
          <a:custGeom>
            <a:avLst/>
            <a:gdLst/>
            <a:ahLst/>
            <a:rect l="0" t="0" r="r" b="b"/>
            <a:pathLst>
              <a:path w="5081" h="3626">
                <a:moveTo>
                  <a:pt x="0" y="3375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40" y="26"/>
                  <a:pt x="155" y="20"/>
                </a:cubicBezTo>
                <a:cubicBezTo>
                  <a:pt x="170" y="13"/>
                  <a:pt x="186" y="9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4829" y="0"/>
                </a:lnTo>
                <a:cubicBezTo>
                  <a:pt x="4846" y="0"/>
                  <a:pt x="4862" y="2"/>
                  <a:pt x="4878" y="5"/>
                </a:cubicBezTo>
                <a:cubicBezTo>
                  <a:pt x="4895" y="9"/>
                  <a:pt x="4910" y="13"/>
                  <a:pt x="4926" y="20"/>
                </a:cubicBezTo>
                <a:cubicBezTo>
                  <a:pt x="4941" y="26"/>
                  <a:pt x="4955" y="34"/>
                  <a:pt x="4969" y="43"/>
                </a:cubicBezTo>
                <a:cubicBezTo>
                  <a:pt x="4983" y="52"/>
                  <a:pt x="4995" y="62"/>
                  <a:pt x="5007" y="74"/>
                </a:cubicBezTo>
                <a:cubicBezTo>
                  <a:pt x="5019" y="86"/>
                  <a:pt x="5029" y="98"/>
                  <a:pt x="5038" y="112"/>
                </a:cubicBezTo>
                <a:cubicBezTo>
                  <a:pt x="5047" y="126"/>
                  <a:pt x="5055" y="140"/>
                  <a:pt x="5062" y="156"/>
                </a:cubicBezTo>
                <a:cubicBezTo>
                  <a:pt x="5068" y="171"/>
                  <a:pt x="5073" y="187"/>
                  <a:pt x="5076" y="203"/>
                </a:cubicBezTo>
                <a:cubicBezTo>
                  <a:pt x="5079" y="219"/>
                  <a:pt x="5081" y="235"/>
                  <a:pt x="5081" y="252"/>
                </a:cubicBezTo>
                <a:lnTo>
                  <a:pt x="5081" y="3375"/>
                </a:lnTo>
                <a:cubicBezTo>
                  <a:pt x="5081" y="3391"/>
                  <a:pt x="5079" y="3408"/>
                  <a:pt x="5076" y="3424"/>
                </a:cubicBezTo>
                <a:cubicBezTo>
                  <a:pt x="5073" y="3440"/>
                  <a:pt x="5068" y="3456"/>
                  <a:pt x="5062" y="3471"/>
                </a:cubicBezTo>
                <a:cubicBezTo>
                  <a:pt x="5055" y="3486"/>
                  <a:pt x="5047" y="3501"/>
                  <a:pt x="5038" y="3515"/>
                </a:cubicBezTo>
                <a:cubicBezTo>
                  <a:pt x="5029" y="3528"/>
                  <a:pt x="5019" y="3541"/>
                  <a:pt x="5007" y="3553"/>
                </a:cubicBezTo>
                <a:cubicBezTo>
                  <a:pt x="4995" y="3564"/>
                  <a:pt x="4983" y="3575"/>
                  <a:pt x="4969" y="3584"/>
                </a:cubicBezTo>
                <a:cubicBezTo>
                  <a:pt x="4955" y="3593"/>
                  <a:pt x="4941" y="3601"/>
                  <a:pt x="4926" y="3607"/>
                </a:cubicBezTo>
                <a:cubicBezTo>
                  <a:pt x="4910" y="3613"/>
                  <a:pt x="4895" y="3618"/>
                  <a:pt x="4878" y="3621"/>
                </a:cubicBezTo>
                <a:cubicBezTo>
                  <a:pt x="4862" y="3625"/>
                  <a:pt x="4846" y="3626"/>
                  <a:pt x="4829" y="3626"/>
                </a:cubicBezTo>
                <a:lnTo>
                  <a:pt x="251" y="3626"/>
                </a:lnTo>
                <a:cubicBezTo>
                  <a:pt x="235" y="3626"/>
                  <a:pt x="218" y="3625"/>
                  <a:pt x="202" y="3621"/>
                </a:cubicBezTo>
                <a:cubicBezTo>
                  <a:pt x="186" y="3618"/>
                  <a:pt x="170" y="3613"/>
                  <a:pt x="155" y="3607"/>
                </a:cubicBezTo>
                <a:cubicBezTo>
                  <a:pt x="140" y="3601"/>
                  <a:pt x="125" y="3593"/>
                  <a:pt x="111" y="3584"/>
                </a:cubicBezTo>
                <a:cubicBezTo>
                  <a:pt x="98" y="3575"/>
                  <a:pt x="85" y="3564"/>
                  <a:pt x="73" y="3553"/>
                </a:cubicBezTo>
                <a:cubicBezTo>
                  <a:pt x="62" y="3541"/>
                  <a:pt x="51" y="3528"/>
                  <a:pt x="42" y="3515"/>
                </a:cubicBezTo>
                <a:cubicBezTo>
                  <a:pt x="33" y="3501"/>
                  <a:pt x="25" y="3486"/>
                  <a:pt x="19" y="3471"/>
                </a:cubicBezTo>
                <a:cubicBezTo>
                  <a:pt x="13" y="3456"/>
                  <a:pt x="8" y="3440"/>
                  <a:pt x="5" y="3424"/>
                </a:cubicBezTo>
                <a:cubicBezTo>
                  <a:pt x="1" y="3408"/>
                  <a:pt x="0" y="3391"/>
                  <a:pt x="0" y="3375"/>
                </a:cubicBezTo>
                <a:close/>
              </a:path>
            </a:pathLst>
          </a:custGeom>
          <a:noFill/>
          <a:ln w="9360">
            <a:solidFill>
              <a:srgbClr val="5A301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8277120" y="2838240"/>
            <a:ext cx="171720" cy="57600"/>
          </a:xfrm>
          <a:custGeom>
            <a:avLst/>
            <a:gdLst/>
            <a:ahLst/>
            <a:rect l="0" t="0" r="r" b="b"/>
            <a:pathLst>
              <a:path w="477" h="160">
                <a:moveTo>
                  <a:pt x="477" y="79"/>
                </a:moveTo>
                <a:cubicBezTo>
                  <a:pt x="477" y="85"/>
                  <a:pt x="476" y="90"/>
                  <a:pt x="472" y="96"/>
                </a:cubicBezTo>
                <a:cubicBezTo>
                  <a:pt x="469" y="101"/>
                  <a:pt x="465" y="106"/>
                  <a:pt x="459" y="111"/>
                </a:cubicBezTo>
                <a:cubicBezTo>
                  <a:pt x="453" y="116"/>
                  <a:pt x="446" y="120"/>
                  <a:pt x="437" y="125"/>
                </a:cubicBezTo>
                <a:cubicBezTo>
                  <a:pt x="428" y="129"/>
                  <a:pt x="418" y="133"/>
                  <a:pt x="407" y="137"/>
                </a:cubicBezTo>
                <a:cubicBezTo>
                  <a:pt x="396" y="140"/>
                  <a:pt x="384" y="144"/>
                  <a:pt x="371" y="146"/>
                </a:cubicBezTo>
                <a:cubicBezTo>
                  <a:pt x="358" y="149"/>
                  <a:pt x="344" y="152"/>
                  <a:pt x="330" y="154"/>
                </a:cubicBezTo>
                <a:cubicBezTo>
                  <a:pt x="316" y="156"/>
                  <a:pt x="301" y="157"/>
                  <a:pt x="285" y="158"/>
                </a:cubicBezTo>
                <a:cubicBezTo>
                  <a:pt x="270" y="159"/>
                  <a:pt x="255" y="160"/>
                  <a:pt x="239" y="160"/>
                </a:cubicBezTo>
                <a:cubicBezTo>
                  <a:pt x="223" y="160"/>
                  <a:pt x="208" y="159"/>
                  <a:pt x="192" y="158"/>
                </a:cubicBezTo>
                <a:cubicBezTo>
                  <a:pt x="177" y="157"/>
                  <a:pt x="162" y="156"/>
                  <a:pt x="148" y="154"/>
                </a:cubicBezTo>
                <a:cubicBezTo>
                  <a:pt x="133" y="152"/>
                  <a:pt x="120" y="149"/>
                  <a:pt x="107" y="146"/>
                </a:cubicBezTo>
                <a:cubicBezTo>
                  <a:pt x="93" y="144"/>
                  <a:pt x="81" y="140"/>
                  <a:pt x="70" y="137"/>
                </a:cubicBezTo>
                <a:cubicBezTo>
                  <a:pt x="58" y="133"/>
                  <a:pt x="49" y="129"/>
                  <a:pt x="40" y="125"/>
                </a:cubicBezTo>
                <a:cubicBezTo>
                  <a:pt x="31" y="120"/>
                  <a:pt x="24" y="116"/>
                  <a:pt x="18" y="111"/>
                </a:cubicBezTo>
                <a:cubicBezTo>
                  <a:pt x="12" y="106"/>
                  <a:pt x="7" y="101"/>
                  <a:pt x="4" y="96"/>
                </a:cubicBezTo>
                <a:cubicBezTo>
                  <a:pt x="1" y="90"/>
                  <a:pt x="0" y="85"/>
                  <a:pt x="0" y="79"/>
                </a:cubicBezTo>
                <a:cubicBezTo>
                  <a:pt x="0" y="74"/>
                  <a:pt x="1" y="69"/>
                  <a:pt x="4" y="64"/>
                </a:cubicBezTo>
                <a:cubicBezTo>
                  <a:pt x="7" y="59"/>
                  <a:pt x="12" y="54"/>
                  <a:pt x="18" y="49"/>
                </a:cubicBezTo>
                <a:cubicBezTo>
                  <a:pt x="24" y="44"/>
                  <a:pt x="31" y="40"/>
                  <a:pt x="40" y="35"/>
                </a:cubicBezTo>
                <a:cubicBezTo>
                  <a:pt x="49" y="31"/>
                  <a:pt x="58" y="27"/>
                  <a:pt x="70" y="23"/>
                </a:cubicBezTo>
                <a:cubicBezTo>
                  <a:pt x="81" y="20"/>
                  <a:pt x="93" y="16"/>
                  <a:pt x="107" y="13"/>
                </a:cubicBezTo>
                <a:cubicBezTo>
                  <a:pt x="120" y="11"/>
                  <a:pt x="133" y="8"/>
                  <a:pt x="148" y="6"/>
                </a:cubicBezTo>
                <a:cubicBezTo>
                  <a:pt x="162" y="4"/>
                  <a:pt x="177" y="3"/>
                  <a:pt x="192" y="2"/>
                </a:cubicBezTo>
                <a:cubicBezTo>
                  <a:pt x="208" y="1"/>
                  <a:pt x="223" y="0"/>
                  <a:pt x="239" y="0"/>
                </a:cubicBezTo>
                <a:cubicBezTo>
                  <a:pt x="255" y="0"/>
                  <a:pt x="270" y="1"/>
                  <a:pt x="285" y="2"/>
                </a:cubicBezTo>
                <a:cubicBezTo>
                  <a:pt x="301" y="3"/>
                  <a:pt x="316" y="4"/>
                  <a:pt x="330" y="6"/>
                </a:cubicBezTo>
                <a:cubicBezTo>
                  <a:pt x="344" y="8"/>
                  <a:pt x="358" y="11"/>
                  <a:pt x="371" y="13"/>
                </a:cubicBezTo>
                <a:cubicBezTo>
                  <a:pt x="384" y="16"/>
                  <a:pt x="396" y="20"/>
                  <a:pt x="407" y="23"/>
                </a:cubicBezTo>
                <a:cubicBezTo>
                  <a:pt x="418" y="27"/>
                  <a:pt x="428" y="31"/>
                  <a:pt x="437" y="35"/>
                </a:cubicBezTo>
                <a:cubicBezTo>
                  <a:pt x="446" y="40"/>
                  <a:pt x="453" y="44"/>
                  <a:pt x="459" y="49"/>
                </a:cubicBezTo>
                <a:cubicBezTo>
                  <a:pt x="465" y="54"/>
                  <a:pt x="469" y="59"/>
                  <a:pt x="472" y="64"/>
                </a:cubicBezTo>
                <a:cubicBezTo>
                  <a:pt x="476" y="69"/>
                  <a:pt x="477" y="74"/>
                  <a:pt x="477" y="79"/>
                </a:cubicBezTo>
                <a:close/>
              </a:path>
            </a:pathLst>
          </a:custGeom>
          <a:noFill/>
          <a:ln w="13320">
            <a:solidFill>
              <a:srgbClr val="FF6B1A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8277120" y="2933640"/>
            <a:ext cx="171720" cy="28800"/>
          </a:xfrm>
          <a:custGeom>
            <a:avLst/>
            <a:gdLst/>
            <a:ahLst/>
            <a:rect l="0" t="0" r="r" b="b"/>
            <a:pathLst>
              <a:path fill="none" w="477" h="80">
                <a:moveTo>
                  <a:pt x="477" y="0"/>
                </a:moveTo>
                <a:cubicBezTo>
                  <a:pt x="477" y="45"/>
                  <a:pt x="371" y="80"/>
                  <a:pt x="239" y="80"/>
                </a:cubicBezTo>
                <a:cubicBezTo>
                  <a:pt x="107" y="80"/>
                  <a:pt x="0" y="45"/>
                  <a:pt x="0" y="0"/>
                </a:cubicBezTo>
              </a:path>
            </a:pathLst>
          </a:custGeom>
          <a:ln w="13320">
            <a:solidFill>
              <a:srgbClr val="FF6B1A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8277120" y="2866680"/>
            <a:ext cx="171720" cy="162360"/>
          </a:xfrm>
          <a:custGeom>
            <a:avLst/>
            <a:gdLst/>
            <a:ahLst/>
            <a:rect l="0" t="0" r="r" b="b"/>
            <a:pathLst>
              <a:path fill="none" w="477" h="451">
                <a:moveTo>
                  <a:pt x="0" y="0"/>
                </a:moveTo>
                <a:lnTo>
                  <a:pt x="0" y="372"/>
                </a:lnTo>
                <a:cubicBezTo>
                  <a:pt x="0" y="416"/>
                  <a:pt x="107" y="451"/>
                  <a:pt x="239" y="451"/>
                </a:cubicBezTo>
                <a:cubicBezTo>
                  <a:pt x="371" y="451"/>
                  <a:pt x="477" y="416"/>
                  <a:pt x="477" y="372"/>
                </a:cubicBezTo>
                <a:lnTo>
                  <a:pt x="477" y="0"/>
                </a:lnTo>
              </a:path>
            </a:pathLst>
          </a:custGeom>
          <a:ln w="13320">
            <a:solidFill>
              <a:srgbClr val="FF6B1A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7090560" y="3057120"/>
            <a:ext cx="276480" cy="32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170" b="0" u="none" strike="noStrike">
                <a:solidFill>
                  <a:srgbClr val="FF6B1A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SG" sz="21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8072640" y="3254040"/>
            <a:ext cx="67464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20" b="1" u="none" strike="noStrike">
                <a:solidFill>
                  <a:srgbClr val="FF6B1A"/>
                </a:solidFill>
                <a:effectLst/>
                <a:uFillTx/>
                <a:latin typeface="Outfit-Thin_"/>
                <a:ea typeface="Outfit-Thin_"/>
              </a:rPr>
              <a:t>DuckDB</a:t>
            </a:r>
            <a:endParaRPr lang="en-SG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7718760" y="3476160"/>
            <a:ext cx="127980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columnar analytics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9710640" y="2576160"/>
            <a:ext cx="1829160" cy="1305360"/>
          </a:xfrm>
          <a:custGeom>
            <a:avLst/>
            <a:gdLst/>
            <a:ahLst/>
            <a:rect l="0" t="0" r="r" b="b"/>
            <a:pathLst>
              <a:path w="5081" h="3626">
                <a:moveTo>
                  <a:pt x="0" y="3375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40" y="26"/>
                  <a:pt x="155" y="20"/>
                </a:cubicBezTo>
                <a:cubicBezTo>
                  <a:pt x="170" y="13"/>
                  <a:pt x="186" y="9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4829" y="0"/>
                </a:lnTo>
                <a:cubicBezTo>
                  <a:pt x="4846" y="0"/>
                  <a:pt x="4862" y="2"/>
                  <a:pt x="4878" y="5"/>
                </a:cubicBezTo>
                <a:cubicBezTo>
                  <a:pt x="4895" y="9"/>
                  <a:pt x="4910" y="13"/>
                  <a:pt x="4926" y="20"/>
                </a:cubicBezTo>
                <a:cubicBezTo>
                  <a:pt x="4941" y="26"/>
                  <a:pt x="4955" y="34"/>
                  <a:pt x="4969" y="43"/>
                </a:cubicBezTo>
                <a:cubicBezTo>
                  <a:pt x="4983" y="52"/>
                  <a:pt x="4995" y="62"/>
                  <a:pt x="5007" y="74"/>
                </a:cubicBezTo>
                <a:cubicBezTo>
                  <a:pt x="5019" y="86"/>
                  <a:pt x="5029" y="98"/>
                  <a:pt x="5038" y="112"/>
                </a:cubicBezTo>
                <a:cubicBezTo>
                  <a:pt x="5048" y="126"/>
                  <a:pt x="5055" y="140"/>
                  <a:pt x="5062" y="156"/>
                </a:cubicBezTo>
                <a:cubicBezTo>
                  <a:pt x="5068" y="171"/>
                  <a:pt x="5073" y="187"/>
                  <a:pt x="5076" y="203"/>
                </a:cubicBezTo>
                <a:cubicBezTo>
                  <a:pt x="5079" y="219"/>
                  <a:pt x="5081" y="235"/>
                  <a:pt x="5081" y="252"/>
                </a:cubicBezTo>
                <a:lnTo>
                  <a:pt x="5081" y="3375"/>
                </a:lnTo>
                <a:cubicBezTo>
                  <a:pt x="5081" y="3391"/>
                  <a:pt x="5079" y="3408"/>
                  <a:pt x="5076" y="3424"/>
                </a:cubicBezTo>
                <a:cubicBezTo>
                  <a:pt x="5073" y="3440"/>
                  <a:pt x="5068" y="3456"/>
                  <a:pt x="5062" y="3471"/>
                </a:cubicBezTo>
                <a:cubicBezTo>
                  <a:pt x="5055" y="3486"/>
                  <a:pt x="5048" y="3501"/>
                  <a:pt x="5038" y="3515"/>
                </a:cubicBezTo>
                <a:cubicBezTo>
                  <a:pt x="5029" y="3528"/>
                  <a:pt x="5019" y="3541"/>
                  <a:pt x="5007" y="3553"/>
                </a:cubicBezTo>
                <a:cubicBezTo>
                  <a:pt x="4995" y="3564"/>
                  <a:pt x="4983" y="3575"/>
                  <a:pt x="4969" y="3584"/>
                </a:cubicBezTo>
                <a:cubicBezTo>
                  <a:pt x="4955" y="3593"/>
                  <a:pt x="4941" y="3601"/>
                  <a:pt x="4926" y="3607"/>
                </a:cubicBezTo>
                <a:cubicBezTo>
                  <a:pt x="4910" y="3613"/>
                  <a:pt x="4895" y="3618"/>
                  <a:pt x="4878" y="3621"/>
                </a:cubicBezTo>
                <a:cubicBezTo>
                  <a:pt x="4862" y="3625"/>
                  <a:pt x="4846" y="3626"/>
                  <a:pt x="4829" y="3626"/>
                </a:cubicBezTo>
                <a:lnTo>
                  <a:pt x="251" y="3626"/>
                </a:lnTo>
                <a:cubicBezTo>
                  <a:pt x="235" y="3626"/>
                  <a:pt x="218" y="3625"/>
                  <a:pt x="202" y="3621"/>
                </a:cubicBezTo>
                <a:cubicBezTo>
                  <a:pt x="186" y="3618"/>
                  <a:pt x="170" y="3613"/>
                  <a:pt x="155" y="3607"/>
                </a:cubicBezTo>
                <a:cubicBezTo>
                  <a:pt x="140" y="3601"/>
                  <a:pt x="125" y="3593"/>
                  <a:pt x="111" y="3584"/>
                </a:cubicBezTo>
                <a:cubicBezTo>
                  <a:pt x="98" y="3575"/>
                  <a:pt x="85" y="3564"/>
                  <a:pt x="73" y="3553"/>
                </a:cubicBezTo>
                <a:cubicBezTo>
                  <a:pt x="62" y="3541"/>
                  <a:pt x="51" y="3528"/>
                  <a:pt x="42" y="3515"/>
                </a:cubicBezTo>
                <a:cubicBezTo>
                  <a:pt x="33" y="3501"/>
                  <a:pt x="25" y="3486"/>
                  <a:pt x="19" y="3471"/>
                </a:cubicBezTo>
                <a:cubicBezTo>
                  <a:pt x="13" y="3456"/>
                  <a:pt x="8" y="3440"/>
                  <a:pt x="5" y="3424"/>
                </a:cubicBezTo>
                <a:cubicBezTo>
                  <a:pt x="1" y="3408"/>
                  <a:pt x="0" y="3391"/>
                  <a:pt x="0" y="3375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9710640" y="2576160"/>
            <a:ext cx="1829160" cy="1305360"/>
          </a:xfrm>
          <a:custGeom>
            <a:avLst/>
            <a:gdLst/>
            <a:ahLst/>
            <a:rect l="0" t="0" r="r" b="b"/>
            <a:pathLst>
              <a:path w="5081" h="3626">
                <a:moveTo>
                  <a:pt x="0" y="3375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40" y="26"/>
                  <a:pt x="155" y="20"/>
                </a:cubicBezTo>
                <a:cubicBezTo>
                  <a:pt x="170" y="13"/>
                  <a:pt x="186" y="9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4829" y="0"/>
                </a:lnTo>
                <a:cubicBezTo>
                  <a:pt x="4846" y="0"/>
                  <a:pt x="4862" y="2"/>
                  <a:pt x="4878" y="5"/>
                </a:cubicBezTo>
                <a:cubicBezTo>
                  <a:pt x="4895" y="9"/>
                  <a:pt x="4910" y="13"/>
                  <a:pt x="4926" y="20"/>
                </a:cubicBezTo>
                <a:cubicBezTo>
                  <a:pt x="4941" y="26"/>
                  <a:pt x="4955" y="34"/>
                  <a:pt x="4969" y="43"/>
                </a:cubicBezTo>
                <a:cubicBezTo>
                  <a:pt x="4983" y="52"/>
                  <a:pt x="4995" y="62"/>
                  <a:pt x="5007" y="74"/>
                </a:cubicBezTo>
                <a:cubicBezTo>
                  <a:pt x="5019" y="86"/>
                  <a:pt x="5029" y="98"/>
                  <a:pt x="5038" y="112"/>
                </a:cubicBezTo>
                <a:cubicBezTo>
                  <a:pt x="5048" y="126"/>
                  <a:pt x="5055" y="140"/>
                  <a:pt x="5062" y="156"/>
                </a:cubicBezTo>
                <a:cubicBezTo>
                  <a:pt x="5068" y="171"/>
                  <a:pt x="5073" y="187"/>
                  <a:pt x="5076" y="203"/>
                </a:cubicBezTo>
                <a:cubicBezTo>
                  <a:pt x="5079" y="219"/>
                  <a:pt x="5081" y="235"/>
                  <a:pt x="5081" y="252"/>
                </a:cubicBezTo>
                <a:lnTo>
                  <a:pt x="5081" y="3375"/>
                </a:lnTo>
                <a:cubicBezTo>
                  <a:pt x="5081" y="3391"/>
                  <a:pt x="5079" y="3408"/>
                  <a:pt x="5076" y="3424"/>
                </a:cubicBezTo>
                <a:cubicBezTo>
                  <a:pt x="5073" y="3440"/>
                  <a:pt x="5068" y="3456"/>
                  <a:pt x="5062" y="3471"/>
                </a:cubicBezTo>
                <a:cubicBezTo>
                  <a:pt x="5055" y="3486"/>
                  <a:pt x="5048" y="3501"/>
                  <a:pt x="5038" y="3515"/>
                </a:cubicBezTo>
                <a:cubicBezTo>
                  <a:pt x="5029" y="3528"/>
                  <a:pt x="5019" y="3541"/>
                  <a:pt x="5007" y="3553"/>
                </a:cubicBezTo>
                <a:cubicBezTo>
                  <a:pt x="4995" y="3564"/>
                  <a:pt x="4983" y="3575"/>
                  <a:pt x="4969" y="3584"/>
                </a:cubicBezTo>
                <a:cubicBezTo>
                  <a:pt x="4955" y="3593"/>
                  <a:pt x="4941" y="3601"/>
                  <a:pt x="4926" y="3607"/>
                </a:cubicBezTo>
                <a:cubicBezTo>
                  <a:pt x="4910" y="3613"/>
                  <a:pt x="4895" y="3618"/>
                  <a:pt x="4878" y="3621"/>
                </a:cubicBezTo>
                <a:cubicBezTo>
                  <a:pt x="4862" y="3625"/>
                  <a:pt x="4846" y="3626"/>
                  <a:pt x="4829" y="3626"/>
                </a:cubicBezTo>
                <a:lnTo>
                  <a:pt x="251" y="3626"/>
                </a:lnTo>
                <a:cubicBezTo>
                  <a:pt x="235" y="3626"/>
                  <a:pt x="218" y="3625"/>
                  <a:pt x="202" y="3621"/>
                </a:cubicBezTo>
                <a:cubicBezTo>
                  <a:pt x="186" y="3618"/>
                  <a:pt x="170" y="3613"/>
                  <a:pt x="155" y="3607"/>
                </a:cubicBezTo>
                <a:cubicBezTo>
                  <a:pt x="140" y="3601"/>
                  <a:pt x="125" y="3593"/>
                  <a:pt x="111" y="3584"/>
                </a:cubicBezTo>
                <a:cubicBezTo>
                  <a:pt x="98" y="3575"/>
                  <a:pt x="85" y="3564"/>
                  <a:pt x="73" y="3553"/>
                </a:cubicBezTo>
                <a:cubicBezTo>
                  <a:pt x="62" y="3541"/>
                  <a:pt x="51" y="3528"/>
                  <a:pt x="42" y="3515"/>
                </a:cubicBezTo>
                <a:cubicBezTo>
                  <a:pt x="33" y="3501"/>
                  <a:pt x="25" y="3486"/>
                  <a:pt x="19" y="3471"/>
                </a:cubicBezTo>
                <a:cubicBezTo>
                  <a:pt x="13" y="3456"/>
                  <a:pt x="8" y="3440"/>
                  <a:pt x="5" y="3424"/>
                </a:cubicBezTo>
                <a:cubicBezTo>
                  <a:pt x="1" y="3408"/>
                  <a:pt x="0" y="3391"/>
                  <a:pt x="0" y="337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10544040" y="284796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53" y="0"/>
                </a:moveTo>
                <a:lnTo>
                  <a:pt x="423" y="0"/>
                </a:lnTo>
                <a:cubicBezTo>
                  <a:pt x="430" y="0"/>
                  <a:pt x="437" y="1"/>
                  <a:pt x="443" y="4"/>
                </a:cubicBezTo>
                <a:cubicBezTo>
                  <a:pt x="450" y="6"/>
                  <a:pt x="456" y="10"/>
                  <a:pt x="462" y="15"/>
                </a:cubicBezTo>
                <a:cubicBezTo>
                  <a:pt x="467" y="20"/>
                  <a:pt x="470" y="26"/>
                  <a:pt x="473" y="32"/>
                </a:cubicBezTo>
                <a:cubicBezTo>
                  <a:pt x="476" y="39"/>
                  <a:pt x="477" y="45"/>
                  <a:pt x="477" y="52"/>
                </a:cubicBezTo>
                <a:lnTo>
                  <a:pt x="477" y="424"/>
                </a:lnTo>
                <a:cubicBezTo>
                  <a:pt x="477" y="431"/>
                  <a:pt x="476" y="438"/>
                  <a:pt x="473" y="444"/>
                </a:cubicBezTo>
                <a:cubicBezTo>
                  <a:pt x="470" y="451"/>
                  <a:pt x="467" y="456"/>
                  <a:pt x="462" y="461"/>
                </a:cubicBezTo>
                <a:cubicBezTo>
                  <a:pt x="456" y="466"/>
                  <a:pt x="450" y="470"/>
                  <a:pt x="443" y="473"/>
                </a:cubicBezTo>
                <a:cubicBezTo>
                  <a:pt x="437" y="475"/>
                  <a:pt x="430" y="477"/>
                  <a:pt x="423" y="477"/>
                </a:cubicBezTo>
                <a:lnTo>
                  <a:pt x="53" y="477"/>
                </a:lnTo>
                <a:cubicBezTo>
                  <a:pt x="46" y="477"/>
                  <a:pt x="39" y="475"/>
                  <a:pt x="33" y="473"/>
                </a:cubicBezTo>
                <a:cubicBezTo>
                  <a:pt x="26" y="470"/>
                  <a:pt x="20" y="466"/>
                  <a:pt x="15" y="461"/>
                </a:cubicBezTo>
                <a:cubicBezTo>
                  <a:pt x="10" y="456"/>
                  <a:pt x="7" y="451"/>
                  <a:pt x="4" y="444"/>
                </a:cubicBezTo>
                <a:cubicBezTo>
                  <a:pt x="1" y="438"/>
                  <a:pt x="0" y="431"/>
                  <a:pt x="0" y="424"/>
                </a:cubicBezTo>
                <a:lnTo>
                  <a:pt x="0" y="52"/>
                </a:lnTo>
                <a:cubicBezTo>
                  <a:pt x="0" y="45"/>
                  <a:pt x="1" y="39"/>
                  <a:pt x="4" y="32"/>
                </a:cubicBezTo>
                <a:cubicBezTo>
                  <a:pt x="7" y="26"/>
                  <a:pt x="10" y="20"/>
                  <a:pt x="15" y="15"/>
                </a:cubicBezTo>
                <a:cubicBezTo>
                  <a:pt x="20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noFill/>
          <a:ln w="13320">
            <a:solidFill>
              <a:srgbClr val="22C55E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10544040" y="2904840"/>
            <a:ext cx="171720" cy="114840"/>
          </a:xfrm>
          <a:custGeom>
            <a:avLst/>
            <a:gdLst/>
            <a:ahLst/>
            <a:rect l="0" t="0" r="r" b="b"/>
            <a:pathLst>
              <a:path fill="none" w="477" h="319">
                <a:moveTo>
                  <a:pt x="0" y="0"/>
                </a:moveTo>
                <a:lnTo>
                  <a:pt x="477" y="0"/>
                </a:lnTo>
                <a:moveTo>
                  <a:pt x="159" y="319"/>
                </a:moveTo>
                <a:lnTo>
                  <a:pt x="159" y="0"/>
                </a:lnTo>
              </a:path>
            </a:pathLst>
          </a:custGeom>
          <a:ln w="13320">
            <a:solidFill>
              <a:srgbClr val="22C55E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9355320" y="3057120"/>
            <a:ext cx="276480" cy="32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170" b="0" u="none" strike="noStrike">
                <a:solidFill>
                  <a:srgbClr val="FF6B1A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SG" sz="21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10291320" y="3254040"/>
            <a:ext cx="78624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20" b="1" u="none" strike="noStrike">
                <a:solidFill>
                  <a:srgbClr val="CCCCCC"/>
                </a:solidFill>
                <a:effectLst/>
                <a:uFillTx/>
                <a:latin typeface="Outfit-Thin_"/>
                <a:ea typeface="Outfit-Thin_"/>
              </a:rPr>
              <a:t>Streamlit</a:t>
            </a:r>
            <a:endParaRPr lang="en-SG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652320" y="4138560"/>
            <a:ext cx="5372280" cy="1152720"/>
          </a:xfrm>
          <a:custGeom>
            <a:avLst/>
            <a:gdLst/>
            <a:ahLst/>
            <a:rect l="0" t="0" r="r" b="b"/>
            <a:pathLst>
              <a:path w="14923" h="3202">
                <a:moveTo>
                  <a:pt x="0" y="3004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3"/>
                </a:cubicBezTo>
                <a:cubicBezTo>
                  <a:pt x="172" y="1"/>
                  <a:pt x="185" y="0"/>
                  <a:pt x="198" y="0"/>
                </a:cubicBezTo>
                <a:lnTo>
                  <a:pt x="14725" y="0"/>
                </a:lnTo>
                <a:cubicBezTo>
                  <a:pt x="14738" y="0"/>
                  <a:pt x="14751" y="1"/>
                  <a:pt x="14764" y="3"/>
                </a:cubicBezTo>
                <a:cubicBezTo>
                  <a:pt x="14776" y="6"/>
                  <a:pt x="14789" y="10"/>
                  <a:pt x="14801" y="15"/>
                </a:cubicBezTo>
                <a:cubicBezTo>
                  <a:pt x="14813" y="20"/>
                  <a:pt x="14824" y="26"/>
                  <a:pt x="14835" y="33"/>
                </a:cubicBezTo>
                <a:cubicBezTo>
                  <a:pt x="14846" y="40"/>
                  <a:pt x="14856" y="49"/>
                  <a:pt x="14865" y="58"/>
                </a:cubicBezTo>
                <a:cubicBezTo>
                  <a:pt x="14874" y="67"/>
                  <a:pt x="14883" y="77"/>
                  <a:pt x="14890" y="88"/>
                </a:cubicBezTo>
                <a:cubicBezTo>
                  <a:pt x="14897" y="99"/>
                  <a:pt x="14903" y="110"/>
                  <a:pt x="14908" y="122"/>
                </a:cubicBezTo>
                <a:cubicBezTo>
                  <a:pt x="14913" y="134"/>
                  <a:pt x="14917" y="147"/>
                  <a:pt x="14920" y="159"/>
                </a:cubicBezTo>
                <a:cubicBezTo>
                  <a:pt x="14922" y="172"/>
                  <a:pt x="14923" y="185"/>
                  <a:pt x="14923" y="198"/>
                </a:cubicBezTo>
                <a:lnTo>
                  <a:pt x="14923" y="3004"/>
                </a:lnTo>
                <a:cubicBezTo>
                  <a:pt x="14923" y="3017"/>
                  <a:pt x="14922" y="3030"/>
                  <a:pt x="14920" y="3042"/>
                </a:cubicBezTo>
                <a:cubicBezTo>
                  <a:pt x="14917" y="3055"/>
                  <a:pt x="14913" y="3068"/>
                  <a:pt x="14908" y="3080"/>
                </a:cubicBezTo>
                <a:cubicBezTo>
                  <a:pt x="14903" y="3092"/>
                  <a:pt x="14897" y="3103"/>
                  <a:pt x="14890" y="3114"/>
                </a:cubicBezTo>
                <a:cubicBezTo>
                  <a:pt x="14883" y="3125"/>
                  <a:pt x="14874" y="3135"/>
                  <a:pt x="14865" y="3144"/>
                </a:cubicBezTo>
                <a:cubicBezTo>
                  <a:pt x="14856" y="3153"/>
                  <a:pt x="14846" y="3161"/>
                  <a:pt x="14835" y="3169"/>
                </a:cubicBezTo>
                <a:cubicBezTo>
                  <a:pt x="14824" y="3176"/>
                  <a:pt x="14813" y="3182"/>
                  <a:pt x="14801" y="3187"/>
                </a:cubicBezTo>
                <a:cubicBezTo>
                  <a:pt x="14789" y="3192"/>
                  <a:pt x="14776" y="3196"/>
                  <a:pt x="14764" y="3198"/>
                </a:cubicBezTo>
                <a:cubicBezTo>
                  <a:pt x="14751" y="3201"/>
                  <a:pt x="14738" y="3202"/>
                  <a:pt x="14725" y="3202"/>
                </a:cubicBezTo>
                <a:lnTo>
                  <a:pt x="198" y="3202"/>
                </a:lnTo>
                <a:cubicBezTo>
                  <a:pt x="185" y="3202"/>
                  <a:pt x="172" y="3201"/>
                  <a:pt x="160" y="3198"/>
                </a:cubicBezTo>
                <a:cubicBezTo>
                  <a:pt x="147" y="3196"/>
                  <a:pt x="134" y="3192"/>
                  <a:pt x="122" y="3187"/>
                </a:cubicBezTo>
                <a:cubicBezTo>
                  <a:pt x="110" y="3182"/>
                  <a:pt x="99" y="3176"/>
                  <a:pt x="88" y="3169"/>
                </a:cubicBezTo>
                <a:cubicBezTo>
                  <a:pt x="77" y="3161"/>
                  <a:pt x="67" y="3153"/>
                  <a:pt x="58" y="3144"/>
                </a:cubicBezTo>
                <a:cubicBezTo>
                  <a:pt x="49" y="3135"/>
                  <a:pt x="41" y="3125"/>
                  <a:pt x="33" y="3114"/>
                </a:cubicBezTo>
                <a:cubicBezTo>
                  <a:pt x="26" y="3103"/>
                  <a:pt x="20" y="3092"/>
                  <a:pt x="15" y="3080"/>
                </a:cubicBezTo>
                <a:cubicBezTo>
                  <a:pt x="10" y="3068"/>
                  <a:pt x="6" y="3055"/>
                  <a:pt x="4" y="3042"/>
                </a:cubicBezTo>
                <a:cubicBezTo>
                  <a:pt x="1" y="3030"/>
                  <a:pt x="0" y="3017"/>
                  <a:pt x="0" y="3004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652320" y="4138560"/>
            <a:ext cx="5372280" cy="1152720"/>
          </a:xfrm>
          <a:custGeom>
            <a:avLst/>
            <a:gdLst/>
            <a:ahLst/>
            <a:rect l="0" t="0" r="r" b="b"/>
            <a:pathLst>
              <a:path w="14923" h="3202">
                <a:moveTo>
                  <a:pt x="0" y="3004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3"/>
                </a:cubicBezTo>
                <a:cubicBezTo>
                  <a:pt x="172" y="1"/>
                  <a:pt x="185" y="0"/>
                  <a:pt x="198" y="0"/>
                </a:cubicBezTo>
                <a:lnTo>
                  <a:pt x="14725" y="0"/>
                </a:lnTo>
                <a:cubicBezTo>
                  <a:pt x="14738" y="0"/>
                  <a:pt x="14751" y="1"/>
                  <a:pt x="14764" y="3"/>
                </a:cubicBezTo>
                <a:cubicBezTo>
                  <a:pt x="14776" y="6"/>
                  <a:pt x="14789" y="10"/>
                  <a:pt x="14801" y="15"/>
                </a:cubicBezTo>
                <a:cubicBezTo>
                  <a:pt x="14813" y="20"/>
                  <a:pt x="14824" y="26"/>
                  <a:pt x="14835" y="33"/>
                </a:cubicBezTo>
                <a:cubicBezTo>
                  <a:pt x="14846" y="40"/>
                  <a:pt x="14856" y="49"/>
                  <a:pt x="14865" y="58"/>
                </a:cubicBezTo>
                <a:cubicBezTo>
                  <a:pt x="14874" y="67"/>
                  <a:pt x="14883" y="77"/>
                  <a:pt x="14890" y="88"/>
                </a:cubicBezTo>
                <a:cubicBezTo>
                  <a:pt x="14897" y="99"/>
                  <a:pt x="14903" y="110"/>
                  <a:pt x="14908" y="122"/>
                </a:cubicBezTo>
                <a:cubicBezTo>
                  <a:pt x="14913" y="134"/>
                  <a:pt x="14917" y="147"/>
                  <a:pt x="14920" y="159"/>
                </a:cubicBezTo>
                <a:cubicBezTo>
                  <a:pt x="14922" y="172"/>
                  <a:pt x="14923" y="185"/>
                  <a:pt x="14923" y="198"/>
                </a:cubicBezTo>
                <a:lnTo>
                  <a:pt x="14923" y="3004"/>
                </a:lnTo>
                <a:cubicBezTo>
                  <a:pt x="14923" y="3017"/>
                  <a:pt x="14922" y="3030"/>
                  <a:pt x="14920" y="3042"/>
                </a:cubicBezTo>
                <a:cubicBezTo>
                  <a:pt x="14917" y="3055"/>
                  <a:pt x="14913" y="3068"/>
                  <a:pt x="14908" y="3080"/>
                </a:cubicBezTo>
                <a:cubicBezTo>
                  <a:pt x="14903" y="3092"/>
                  <a:pt x="14897" y="3103"/>
                  <a:pt x="14890" y="3114"/>
                </a:cubicBezTo>
                <a:cubicBezTo>
                  <a:pt x="14883" y="3125"/>
                  <a:pt x="14874" y="3135"/>
                  <a:pt x="14865" y="3144"/>
                </a:cubicBezTo>
                <a:cubicBezTo>
                  <a:pt x="14856" y="3153"/>
                  <a:pt x="14846" y="3161"/>
                  <a:pt x="14835" y="3169"/>
                </a:cubicBezTo>
                <a:cubicBezTo>
                  <a:pt x="14824" y="3176"/>
                  <a:pt x="14813" y="3182"/>
                  <a:pt x="14801" y="3187"/>
                </a:cubicBezTo>
                <a:cubicBezTo>
                  <a:pt x="14789" y="3192"/>
                  <a:pt x="14776" y="3196"/>
                  <a:pt x="14764" y="3198"/>
                </a:cubicBezTo>
                <a:cubicBezTo>
                  <a:pt x="14751" y="3201"/>
                  <a:pt x="14738" y="3202"/>
                  <a:pt x="14725" y="3202"/>
                </a:cubicBezTo>
                <a:lnTo>
                  <a:pt x="198" y="3202"/>
                </a:lnTo>
                <a:cubicBezTo>
                  <a:pt x="185" y="3202"/>
                  <a:pt x="172" y="3201"/>
                  <a:pt x="160" y="3198"/>
                </a:cubicBezTo>
                <a:cubicBezTo>
                  <a:pt x="147" y="3196"/>
                  <a:pt x="134" y="3192"/>
                  <a:pt x="122" y="3187"/>
                </a:cubicBezTo>
                <a:cubicBezTo>
                  <a:pt x="110" y="3182"/>
                  <a:pt x="99" y="3176"/>
                  <a:pt x="88" y="3169"/>
                </a:cubicBezTo>
                <a:cubicBezTo>
                  <a:pt x="77" y="3161"/>
                  <a:pt x="67" y="3153"/>
                  <a:pt x="58" y="3144"/>
                </a:cubicBezTo>
                <a:cubicBezTo>
                  <a:pt x="49" y="3135"/>
                  <a:pt x="41" y="3125"/>
                  <a:pt x="33" y="3114"/>
                </a:cubicBezTo>
                <a:cubicBezTo>
                  <a:pt x="26" y="3103"/>
                  <a:pt x="20" y="3092"/>
                  <a:pt x="15" y="3080"/>
                </a:cubicBezTo>
                <a:cubicBezTo>
                  <a:pt x="10" y="3068"/>
                  <a:pt x="6" y="3055"/>
                  <a:pt x="4" y="3042"/>
                </a:cubicBezTo>
                <a:cubicBezTo>
                  <a:pt x="1" y="3030"/>
                  <a:pt x="0" y="3017"/>
                  <a:pt x="0" y="3004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10329480" y="3476160"/>
            <a:ext cx="61056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4 boards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828720" y="4279680"/>
            <a:ext cx="446436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Cleaning and enrichment are </a:t>
            </a:r>
            <a:r>
              <a:rPr lang="en-SG" sz="152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tested modules </a:t>
            </a:r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under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828720" y="4602240"/>
            <a:ext cx="151560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555555"/>
                </a:solidFill>
                <a:effectLst/>
                <a:uFillTx/>
                <a:latin typeface="Menlo"/>
                <a:ea typeface="Menlo"/>
              </a:rPr>
              <a:t>src/pipeline/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2341440" y="4574880"/>
            <a:ext cx="317376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— the notebook imports them rather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6167160" y="4138560"/>
            <a:ext cx="5372640" cy="1152720"/>
          </a:xfrm>
          <a:custGeom>
            <a:avLst/>
            <a:gdLst/>
            <a:ahLst/>
            <a:rect l="0" t="0" r="r" b="b"/>
            <a:pathLst>
              <a:path w="14924" h="3202">
                <a:moveTo>
                  <a:pt x="0" y="3004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14725" y="0"/>
                </a:lnTo>
                <a:cubicBezTo>
                  <a:pt x="14738" y="0"/>
                  <a:pt x="14751" y="1"/>
                  <a:pt x="14764" y="3"/>
                </a:cubicBezTo>
                <a:cubicBezTo>
                  <a:pt x="14777" y="6"/>
                  <a:pt x="14789" y="10"/>
                  <a:pt x="14801" y="15"/>
                </a:cubicBezTo>
                <a:cubicBezTo>
                  <a:pt x="14813" y="20"/>
                  <a:pt x="14825" y="26"/>
                  <a:pt x="14836" y="33"/>
                </a:cubicBezTo>
                <a:cubicBezTo>
                  <a:pt x="14846" y="40"/>
                  <a:pt x="14856" y="49"/>
                  <a:pt x="14866" y="58"/>
                </a:cubicBezTo>
                <a:cubicBezTo>
                  <a:pt x="14875" y="67"/>
                  <a:pt x="14883" y="77"/>
                  <a:pt x="14890" y="88"/>
                </a:cubicBezTo>
                <a:cubicBezTo>
                  <a:pt x="14898" y="99"/>
                  <a:pt x="14904" y="110"/>
                  <a:pt x="14909" y="122"/>
                </a:cubicBezTo>
                <a:cubicBezTo>
                  <a:pt x="14914" y="134"/>
                  <a:pt x="14917" y="147"/>
                  <a:pt x="14920" y="159"/>
                </a:cubicBezTo>
                <a:cubicBezTo>
                  <a:pt x="14923" y="172"/>
                  <a:pt x="14924" y="185"/>
                  <a:pt x="14924" y="198"/>
                </a:cubicBezTo>
                <a:lnTo>
                  <a:pt x="14924" y="3004"/>
                </a:lnTo>
                <a:cubicBezTo>
                  <a:pt x="14924" y="3017"/>
                  <a:pt x="14923" y="3030"/>
                  <a:pt x="14920" y="3042"/>
                </a:cubicBezTo>
                <a:cubicBezTo>
                  <a:pt x="14917" y="3055"/>
                  <a:pt x="14914" y="3068"/>
                  <a:pt x="14909" y="3080"/>
                </a:cubicBezTo>
                <a:cubicBezTo>
                  <a:pt x="14904" y="3092"/>
                  <a:pt x="14898" y="3103"/>
                  <a:pt x="14890" y="3114"/>
                </a:cubicBezTo>
                <a:cubicBezTo>
                  <a:pt x="14883" y="3125"/>
                  <a:pt x="14875" y="3135"/>
                  <a:pt x="14866" y="3144"/>
                </a:cubicBezTo>
                <a:cubicBezTo>
                  <a:pt x="14856" y="3153"/>
                  <a:pt x="14846" y="3161"/>
                  <a:pt x="14836" y="3169"/>
                </a:cubicBezTo>
                <a:cubicBezTo>
                  <a:pt x="14825" y="3176"/>
                  <a:pt x="14813" y="3182"/>
                  <a:pt x="14801" y="3187"/>
                </a:cubicBezTo>
                <a:cubicBezTo>
                  <a:pt x="14789" y="3192"/>
                  <a:pt x="14777" y="3196"/>
                  <a:pt x="14764" y="3198"/>
                </a:cubicBezTo>
                <a:cubicBezTo>
                  <a:pt x="14751" y="3201"/>
                  <a:pt x="14738" y="3202"/>
                  <a:pt x="14725" y="3202"/>
                </a:cubicBezTo>
                <a:lnTo>
                  <a:pt x="199" y="3202"/>
                </a:lnTo>
                <a:cubicBezTo>
                  <a:pt x="186" y="3202"/>
                  <a:pt x="173" y="3201"/>
                  <a:pt x="160" y="3198"/>
                </a:cubicBezTo>
                <a:cubicBezTo>
                  <a:pt x="147" y="3196"/>
                  <a:pt x="135" y="3192"/>
                  <a:pt x="123" y="3187"/>
                </a:cubicBezTo>
                <a:cubicBezTo>
                  <a:pt x="111" y="3182"/>
                  <a:pt x="99" y="3176"/>
                  <a:pt x="88" y="3169"/>
                </a:cubicBezTo>
                <a:cubicBezTo>
                  <a:pt x="78" y="3161"/>
                  <a:pt x="68" y="3153"/>
                  <a:pt x="58" y="3144"/>
                </a:cubicBezTo>
                <a:cubicBezTo>
                  <a:pt x="49" y="3135"/>
                  <a:pt x="41" y="3125"/>
                  <a:pt x="34" y="3114"/>
                </a:cubicBezTo>
                <a:cubicBezTo>
                  <a:pt x="26" y="3103"/>
                  <a:pt x="20" y="3092"/>
                  <a:pt x="15" y="3080"/>
                </a:cubicBezTo>
                <a:cubicBezTo>
                  <a:pt x="10" y="3068"/>
                  <a:pt x="7" y="3055"/>
                  <a:pt x="4" y="3042"/>
                </a:cubicBezTo>
                <a:cubicBezTo>
                  <a:pt x="2" y="3030"/>
                  <a:pt x="0" y="3017"/>
                  <a:pt x="0" y="3004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6167160" y="4138560"/>
            <a:ext cx="5372640" cy="1152720"/>
          </a:xfrm>
          <a:custGeom>
            <a:avLst/>
            <a:gdLst/>
            <a:ahLst/>
            <a:rect l="0" t="0" r="r" b="b"/>
            <a:pathLst>
              <a:path w="14924" h="3202">
                <a:moveTo>
                  <a:pt x="0" y="3004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14725" y="0"/>
                </a:lnTo>
                <a:cubicBezTo>
                  <a:pt x="14738" y="0"/>
                  <a:pt x="14751" y="1"/>
                  <a:pt x="14764" y="3"/>
                </a:cubicBezTo>
                <a:cubicBezTo>
                  <a:pt x="14777" y="6"/>
                  <a:pt x="14789" y="10"/>
                  <a:pt x="14801" y="15"/>
                </a:cubicBezTo>
                <a:cubicBezTo>
                  <a:pt x="14813" y="20"/>
                  <a:pt x="14825" y="26"/>
                  <a:pt x="14836" y="33"/>
                </a:cubicBezTo>
                <a:cubicBezTo>
                  <a:pt x="14846" y="40"/>
                  <a:pt x="14856" y="49"/>
                  <a:pt x="14866" y="58"/>
                </a:cubicBezTo>
                <a:cubicBezTo>
                  <a:pt x="14875" y="67"/>
                  <a:pt x="14883" y="77"/>
                  <a:pt x="14890" y="88"/>
                </a:cubicBezTo>
                <a:cubicBezTo>
                  <a:pt x="14898" y="99"/>
                  <a:pt x="14904" y="110"/>
                  <a:pt x="14909" y="122"/>
                </a:cubicBezTo>
                <a:cubicBezTo>
                  <a:pt x="14914" y="134"/>
                  <a:pt x="14917" y="147"/>
                  <a:pt x="14920" y="159"/>
                </a:cubicBezTo>
                <a:cubicBezTo>
                  <a:pt x="14923" y="172"/>
                  <a:pt x="14924" y="185"/>
                  <a:pt x="14924" y="198"/>
                </a:cubicBezTo>
                <a:lnTo>
                  <a:pt x="14924" y="3004"/>
                </a:lnTo>
                <a:cubicBezTo>
                  <a:pt x="14924" y="3017"/>
                  <a:pt x="14923" y="3030"/>
                  <a:pt x="14920" y="3042"/>
                </a:cubicBezTo>
                <a:cubicBezTo>
                  <a:pt x="14917" y="3055"/>
                  <a:pt x="14914" y="3068"/>
                  <a:pt x="14909" y="3080"/>
                </a:cubicBezTo>
                <a:cubicBezTo>
                  <a:pt x="14904" y="3092"/>
                  <a:pt x="14898" y="3103"/>
                  <a:pt x="14890" y="3114"/>
                </a:cubicBezTo>
                <a:cubicBezTo>
                  <a:pt x="14883" y="3125"/>
                  <a:pt x="14875" y="3135"/>
                  <a:pt x="14866" y="3144"/>
                </a:cubicBezTo>
                <a:cubicBezTo>
                  <a:pt x="14856" y="3153"/>
                  <a:pt x="14846" y="3161"/>
                  <a:pt x="14836" y="3169"/>
                </a:cubicBezTo>
                <a:cubicBezTo>
                  <a:pt x="14825" y="3176"/>
                  <a:pt x="14813" y="3182"/>
                  <a:pt x="14801" y="3187"/>
                </a:cubicBezTo>
                <a:cubicBezTo>
                  <a:pt x="14789" y="3192"/>
                  <a:pt x="14777" y="3196"/>
                  <a:pt x="14764" y="3198"/>
                </a:cubicBezTo>
                <a:cubicBezTo>
                  <a:pt x="14751" y="3201"/>
                  <a:pt x="14738" y="3202"/>
                  <a:pt x="14725" y="3202"/>
                </a:cubicBezTo>
                <a:lnTo>
                  <a:pt x="199" y="3202"/>
                </a:lnTo>
                <a:cubicBezTo>
                  <a:pt x="186" y="3202"/>
                  <a:pt x="173" y="3201"/>
                  <a:pt x="160" y="3198"/>
                </a:cubicBezTo>
                <a:cubicBezTo>
                  <a:pt x="147" y="3196"/>
                  <a:pt x="135" y="3192"/>
                  <a:pt x="123" y="3187"/>
                </a:cubicBezTo>
                <a:cubicBezTo>
                  <a:pt x="111" y="3182"/>
                  <a:pt x="99" y="3176"/>
                  <a:pt x="88" y="3169"/>
                </a:cubicBezTo>
                <a:cubicBezTo>
                  <a:pt x="78" y="3161"/>
                  <a:pt x="68" y="3153"/>
                  <a:pt x="58" y="3144"/>
                </a:cubicBezTo>
                <a:cubicBezTo>
                  <a:pt x="49" y="3135"/>
                  <a:pt x="41" y="3125"/>
                  <a:pt x="34" y="3114"/>
                </a:cubicBezTo>
                <a:cubicBezTo>
                  <a:pt x="26" y="3103"/>
                  <a:pt x="20" y="3092"/>
                  <a:pt x="15" y="3080"/>
                </a:cubicBezTo>
                <a:cubicBezTo>
                  <a:pt x="10" y="3068"/>
                  <a:pt x="7" y="3055"/>
                  <a:pt x="4" y="3042"/>
                </a:cubicBezTo>
                <a:cubicBezTo>
                  <a:pt x="2" y="3030"/>
                  <a:pt x="0" y="3017"/>
                  <a:pt x="0" y="3004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828720" y="4860720"/>
            <a:ext cx="418500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than reimplementing, so the two can't drift apart.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6343560" y="4279680"/>
            <a:ext cx="434628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DuckDB is what lets the board aggregate </a:t>
            </a:r>
            <a:r>
              <a:rPr lang="en-SG" sz="152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a million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343560" y="4574880"/>
            <a:ext cx="466884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postings inside a click </a:t>
            </a:r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instead of re-reading a 400 MB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6343560" y="4860720"/>
            <a:ext cx="235656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CSV on every filter change.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1181268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9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457" name=""/>
          <p:cNvPicPr/>
          <p:nvPr/>
        </p:nvPicPr>
        <p:blipFill>
          <a:blip r:embed="rId1"/>
          <a:stretch/>
        </p:blipFill>
        <p:spPr>
          <a:xfrm>
            <a:off x="-2880" y="-2880"/>
            <a:ext cx="12197880" cy="686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8" name=""/>
          <p:cNvSpPr/>
          <p:nvPr/>
        </p:nvSpPr>
        <p:spPr>
          <a:xfrm>
            <a:off x="5974200" y="2012040"/>
            <a:ext cx="243360" cy="243360"/>
          </a:xfrm>
          <a:custGeom>
            <a:avLst/>
            <a:gdLst/>
            <a:ahLst/>
            <a:rect l="0" t="0" r="r" b="b"/>
            <a:pathLst>
              <a:path w="676" h="676">
                <a:moveTo>
                  <a:pt x="75" y="0"/>
                </a:moveTo>
                <a:lnTo>
                  <a:pt x="601" y="0"/>
                </a:lnTo>
                <a:cubicBezTo>
                  <a:pt x="611" y="0"/>
                  <a:pt x="621" y="2"/>
                  <a:pt x="630" y="6"/>
                </a:cubicBezTo>
                <a:cubicBezTo>
                  <a:pt x="639" y="9"/>
                  <a:pt x="647" y="15"/>
                  <a:pt x="654" y="22"/>
                </a:cubicBezTo>
                <a:cubicBezTo>
                  <a:pt x="661" y="29"/>
                  <a:pt x="667" y="37"/>
                  <a:pt x="670" y="46"/>
                </a:cubicBezTo>
                <a:cubicBezTo>
                  <a:pt x="674" y="55"/>
                  <a:pt x="676" y="65"/>
                  <a:pt x="676" y="75"/>
                </a:cubicBezTo>
                <a:lnTo>
                  <a:pt x="676" y="601"/>
                </a:lnTo>
                <a:cubicBezTo>
                  <a:pt x="676" y="610"/>
                  <a:pt x="674" y="620"/>
                  <a:pt x="670" y="629"/>
                </a:cubicBezTo>
                <a:cubicBezTo>
                  <a:pt x="667" y="638"/>
                  <a:pt x="661" y="647"/>
                  <a:pt x="654" y="654"/>
                </a:cubicBezTo>
                <a:cubicBezTo>
                  <a:pt x="647" y="661"/>
                  <a:pt x="639" y="666"/>
                  <a:pt x="630" y="670"/>
                </a:cubicBezTo>
                <a:cubicBezTo>
                  <a:pt x="621" y="674"/>
                  <a:pt x="611" y="676"/>
                  <a:pt x="601" y="676"/>
                </a:cubicBezTo>
                <a:lnTo>
                  <a:pt x="75" y="676"/>
                </a:lnTo>
                <a:cubicBezTo>
                  <a:pt x="66" y="676"/>
                  <a:pt x="56" y="674"/>
                  <a:pt x="47" y="670"/>
                </a:cubicBezTo>
                <a:cubicBezTo>
                  <a:pt x="38" y="666"/>
                  <a:pt x="29" y="661"/>
                  <a:pt x="22" y="654"/>
                </a:cubicBezTo>
                <a:cubicBezTo>
                  <a:pt x="15" y="647"/>
                  <a:pt x="10" y="638"/>
                  <a:pt x="6" y="629"/>
                </a:cubicBezTo>
                <a:cubicBezTo>
                  <a:pt x="2" y="620"/>
                  <a:pt x="0" y="610"/>
                  <a:pt x="0" y="601"/>
                </a:cubicBezTo>
                <a:lnTo>
                  <a:pt x="0" y="75"/>
                </a:lnTo>
                <a:cubicBezTo>
                  <a:pt x="0" y="65"/>
                  <a:pt x="2" y="55"/>
                  <a:pt x="6" y="46"/>
                </a:cubicBezTo>
                <a:cubicBezTo>
                  <a:pt x="10" y="37"/>
                  <a:pt x="15" y="29"/>
                  <a:pt x="22" y="22"/>
                </a:cubicBezTo>
                <a:cubicBezTo>
                  <a:pt x="29" y="15"/>
                  <a:pt x="38" y="9"/>
                  <a:pt x="47" y="6"/>
                </a:cubicBezTo>
                <a:cubicBezTo>
                  <a:pt x="56" y="2"/>
                  <a:pt x="66" y="0"/>
                  <a:pt x="75" y="0"/>
                </a:cubicBezTo>
                <a:close/>
              </a:path>
            </a:pathLst>
          </a:custGeom>
          <a:noFill/>
          <a:ln w="15840">
            <a:solidFill>
              <a:srgbClr val="FF6B1A"/>
            </a:solidFill>
            <a:miter/>
          </a:ln>
        </p:spPr>
        <p:txBody>
          <a:bodyPr lIns="7920" tIns="7920" rIns="7920" bIns="792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5974200" y="2093040"/>
            <a:ext cx="243360" cy="162360"/>
          </a:xfrm>
          <a:custGeom>
            <a:avLst/>
            <a:gdLst/>
            <a:ahLst/>
            <a:rect l="0" t="0" r="r" b="b"/>
            <a:pathLst>
              <a:path fill="none" w="676" h="451">
                <a:moveTo>
                  <a:pt x="0" y="0"/>
                </a:moveTo>
                <a:lnTo>
                  <a:pt x="676" y="0"/>
                </a:lnTo>
                <a:moveTo>
                  <a:pt x="225" y="451"/>
                </a:moveTo>
                <a:lnTo>
                  <a:pt x="225" y="0"/>
                </a:lnTo>
              </a:path>
            </a:pathLst>
          </a:custGeom>
          <a:ln w="15840">
            <a:solidFill>
              <a:srgbClr val="FF6B1A"/>
            </a:solidFill>
            <a:miter/>
          </a:ln>
        </p:spPr>
        <p:txBody>
          <a:bodyPr lIns="7920" tIns="7920" rIns="7920" bIns="792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3796560" y="2365920"/>
            <a:ext cx="5687640" cy="1402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783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Live Demo</a:t>
            </a:r>
            <a:endParaRPr lang="en-SG" sz="7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2871720" y="4605120"/>
            <a:ext cx="1286280" cy="276480"/>
          </a:xfrm>
          <a:custGeom>
            <a:avLst/>
            <a:gdLst/>
            <a:ahLst/>
            <a:rect l="0" t="0" r="r" b="b"/>
            <a:pathLst>
              <a:path w="3573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189" y="0"/>
                </a:lnTo>
                <a:cubicBezTo>
                  <a:pt x="3214" y="0"/>
                  <a:pt x="3239" y="3"/>
                  <a:pt x="3264" y="7"/>
                </a:cubicBezTo>
                <a:cubicBezTo>
                  <a:pt x="3288" y="12"/>
                  <a:pt x="3312" y="20"/>
                  <a:pt x="3336" y="29"/>
                </a:cubicBezTo>
                <a:cubicBezTo>
                  <a:pt x="3359" y="39"/>
                  <a:pt x="3381" y="51"/>
                  <a:pt x="3402" y="65"/>
                </a:cubicBezTo>
                <a:cubicBezTo>
                  <a:pt x="3423" y="79"/>
                  <a:pt x="3442" y="95"/>
                  <a:pt x="3460" y="112"/>
                </a:cubicBezTo>
                <a:cubicBezTo>
                  <a:pt x="3478" y="130"/>
                  <a:pt x="3494" y="150"/>
                  <a:pt x="3508" y="171"/>
                </a:cubicBezTo>
                <a:cubicBezTo>
                  <a:pt x="3522" y="192"/>
                  <a:pt x="3534" y="214"/>
                  <a:pt x="3543" y="237"/>
                </a:cubicBezTo>
                <a:cubicBezTo>
                  <a:pt x="3553" y="260"/>
                  <a:pt x="3560" y="284"/>
                  <a:pt x="3565" y="309"/>
                </a:cubicBezTo>
                <a:cubicBezTo>
                  <a:pt x="3570" y="334"/>
                  <a:pt x="3573" y="359"/>
                  <a:pt x="3573" y="384"/>
                </a:cubicBezTo>
                <a:cubicBezTo>
                  <a:pt x="3573" y="409"/>
                  <a:pt x="3570" y="434"/>
                  <a:pt x="3565" y="459"/>
                </a:cubicBezTo>
                <a:cubicBezTo>
                  <a:pt x="3560" y="483"/>
                  <a:pt x="3553" y="507"/>
                  <a:pt x="3543" y="531"/>
                </a:cubicBezTo>
                <a:cubicBezTo>
                  <a:pt x="3534" y="554"/>
                  <a:pt x="3522" y="576"/>
                  <a:pt x="3508" y="597"/>
                </a:cubicBezTo>
                <a:cubicBezTo>
                  <a:pt x="3494" y="618"/>
                  <a:pt x="3478" y="638"/>
                  <a:pt x="3460" y="656"/>
                </a:cubicBezTo>
                <a:cubicBezTo>
                  <a:pt x="3442" y="674"/>
                  <a:pt x="3423" y="690"/>
                  <a:pt x="3402" y="704"/>
                </a:cubicBezTo>
                <a:cubicBezTo>
                  <a:pt x="3381" y="718"/>
                  <a:pt x="3359" y="730"/>
                  <a:pt x="3336" y="739"/>
                </a:cubicBezTo>
                <a:cubicBezTo>
                  <a:pt x="3312" y="749"/>
                  <a:pt x="3288" y="756"/>
                  <a:pt x="3264" y="761"/>
                </a:cubicBezTo>
                <a:cubicBezTo>
                  <a:pt x="3239" y="766"/>
                  <a:pt x="3214" y="768"/>
                  <a:pt x="3189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2871720" y="4605120"/>
            <a:ext cx="1286280" cy="276480"/>
          </a:xfrm>
          <a:custGeom>
            <a:avLst/>
            <a:gdLst/>
            <a:ahLst/>
            <a:rect l="0" t="0" r="r" b="b"/>
            <a:pathLst>
              <a:path w="3573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189" y="0"/>
                </a:lnTo>
                <a:cubicBezTo>
                  <a:pt x="3214" y="0"/>
                  <a:pt x="3239" y="3"/>
                  <a:pt x="3264" y="7"/>
                </a:cubicBezTo>
                <a:cubicBezTo>
                  <a:pt x="3288" y="12"/>
                  <a:pt x="3312" y="20"/>
                  <a:pt x="3336" y="29"/>
                </a:cubicBezTo>
                <a:cubicBezTo>
                  <a:pt x="3359" y="39"/>
                  <a:pt x="3381" y="51"/>
                  <a:pt x="3402" y="65"/>
                </a:cubicBezTo>
                <a:cubicBezTo>
                  <a:pt x="3423" y="79"/>
                  <a:pt x="3442" y="95"/>
                  <a:pt x="3460" y="112"/>
                </a:cubicBezTo>
                <a:cubicBezTo>
                  <a:pt x="3478" y="130"/>
                  <a:pt x="3494" y="150"/>
                  <a:pt x="3508" y="171"/>
                </a:cubicBezTo>
                <a:cubicBezTo>
                  <a:pt x="3522" y="192"/>
                  <a:pt x="3534" y="214"/>
                  <a:pt x="3543" y="237"/>
                </a:cubicBezTo>
                <a:cubicBezTo>
                  <a:pt x="3553" y="260"/>
                  <a:pt x="3560" y="284"/>
                  <a:pt x="3565" y="309"/>
                </a:cubicBezTo>
                <a:cubicBezTo>
                  <a:pt x="3570" y="334"/>
                  <a:pt x="3573" y="359"/>
                  <a:pt x="3573" y="384"/>
                </a:cubicBezTo>
                <a:cubicBezTo>
                  <a:pt x="3573" y="409"/>
                  <a:pt x="3570" y="434"/>
                  <a:pt x="3565" y="459"/>
                </a:cubicBezTo>
                <a:cubicBezTo>
                  <a:pt x="3560" y="483"/>
                  <a:pt x="3553" y="507"/>
                  <a:pt x="3543" y="531"/>
                </a:cubicBezTo>
                <a:cubicBezTo>
                  <a:pt x="3534" y="554"/>
                  <a:pt x="3522" y="576"/>
                  <a:pt x="3508" y="597"/>
                </a:cubicBezTo>
                <a:cubicBezTo>
                  <a:pt x="3494" y="618"/>
                  <a:pt x="3478" y="638"/>
                  <a:pt x="3460" y="656"/>
                </a:cubicBezTo>
                <a:cubicBezTo>
                  <a:pt x="3442" y="674"/>
                  <a:pt x="3423" y="690"/>
                  <a:pt x="3402" y="704"/>
                </a:cubicBezTo>
                <a:cubicBezTo>
                  <a:pt x="3381" y="718"/>
                  <a:pt x="3359" y="730"/>
                  <a:pt x="3336" y="739"/>
                </a:cubicBezTo>
                <a:cubicBezTo>
                  <a:pt x="3312" y="749"/>
                  <a:pt x="3288" y="756"/>
                  <a:pt x="3264" y="761"/>
                </a:cubicBezTo>
                <a:cubicBezTo>
                  <a:pt x="3239" y="766"/>
                  <a:pt x="3214" y="768"/>
                  <a:pt x="3189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4514760" y="3996360"/>
            <a:ext cx="322020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060" b="0" u="none" strike="noStrike">
                <a:solidFill>
                  <a:srgbClr val="777777"/>
                </a:solidFill>
                <a:effectLst/>
                <a:uFillTx/>
                <a:latin typeface="Raleway"/>
                <a:ea typeface="Raleway"/>
              </a:rPr>
              <a:t>The Hirer board — five tabs</a:t>
            </a:r>
            <a:endParaRPr lang="en-SG" sz="20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4233600" y="4605120"/>
            <a:ext cx="1267200" cy="276480"/>
          </a:xfrm>
          <a:custGeom>
            <a:avLst/>
            <a:gdLst/>
            <a:ahLst/>
            <a:rect l="0" t="0" r="r" b="b"/>
            <a:pathLst>
              <a:path w="3520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137" y="0"/>
                </a:lnTo>
                <a:cubicBezTo>
                  <a:pt x="3162" y="0"/>
                  <a:pt x="3187" y="3"/>
                  <a:pt x="3211" y="7"/>
                </a:cubicBezTo>
                <a:cubicBezTo>
                  <a:pt x="3236" y="12"/>
                  <a:pt x="3260" y="20"/>
                  <a:pt x="3283" y="29"/>
                </a:cubicBezTo>
                <a:cubicBezTo>
                  <a:pt x="3307" y="39"/>
                  <a:pt x="3329" y="51"/>
                  <a:pt x="3350" y="65"/>
                </a:cubicBezTo>
                <a:cubicBezTo>
                  <a:pt x="3371" y="79"/>
                  <a:pt x="3390" y="95"/>
                  <a:pt x="3408" y="112"/>
                </a:cubicBezTo>
                <a:cubicBezTo>
                  <a:pt x="3426" y="130"/>
                  <a:pt x="3442" y="150"/>
                  <a:pt x="3456" y="171"/>
                </a:cubicBezTo>
                <a:cubicBezTo>
                  <a:pt x="3470" y="192"/>
                  <a:pt x="3481" y="214"/>
                  <a:pt x="3491" y="237"/>
                </a:cubicBezTo>
                <a:cubicBezTo>
                  <a:pt x="3501" y="260"/>
                  <a:pt x="3508" y="284"/>
                  <a:pt x="3513" y="309"/>
                </a:cubicBezTo>
                <a:cubicBezTo>
                  <a:pt x="3518" y="334"/>
                  <a:pt x="3520" y="359"/>
                  <a:pt x="3520" y="384"/>
                </a:cubicBezTo>
                <a:cubicBezTo>
                  <a:pt x="3520" y="409"/>
                  <a:pt x="3518" y="434"/>
                  <a:pt x="3513" y="459"/>
                </a:cubicBezTo>
                <a:cubicBezTo>
                  <a:pt x="3508" y="483"/>
                  <a:pt x="3501" y="507"/>
                  <a:pt x="3491" y="531"/>
                </a:cubicBezTo>
                <a:cubicBezTo>
                  <a:pt x="3481" y="554"/>
                  <a:pt x="3470" y="576"/>
                  <a:pt x="3456" y="597"/>
                </a:cubicBezTo>
                <a:cubicBezTo>
                  <a:pt x="3442" y="618"/>
                  <a:pt x="3426" y="638"/>
                  <a:pt x="3408" y="656"/>
                </a:cubicBezTo>
                <a:cubicBezTo>
                  <a:pt x="3390" y="674"/>
                  <a:pt x="3371" y="690"/>
                  <a:pt x="3350" y="704"/>
                </a:cubicBezTo>
                <a:cubicBezTo>
                  <a:pt x="3329" y="718"/>
                  <a:pt x="3307" y="730"/>
                  <a:pt x="3283" y="739"/>
                </a:cubicBezTo>
                <a:cubicBezTo>
                  <a:pt x="3260" y="749"/>
                  <a:pt x="3236" y="756"/>
                  <a:pt x="3211" y="761"/>
                </a:cubicBezTo>
                <a:cubicBezTo>
                  <a:pt x="3187" y="766"/>
                  <a:pt x="3162" y="768"/>
                  <a:pt x="3137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90"/>
                  <a:pt x="130" y="674"/>
                  <a:pt x="113" y="656"/>
                </a:cubicBezTo>
                <a:cubicBezTo>
                  <a:pt x="95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4233600" y="4605120"/>
            <a:ext cx="1267200" cy="276480"/>
          </a:xfrm>
          <a:custGeom>
            <a:avLst/>
            <a:gdLst/>
            <a:ahLst/>
            <a:rect l="0" t="0" r="r" b="b"/>
            <a:pathLst>
              <a:path w="3520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137" y="0"/>
                </a:lnTo>
                <a:cubicBezTo>
                  <a:pt x="3162" y="0"/>
                  <a:pt x="3187" y="3"/>
                  <a:pt x="3211" y="7"/>
                </a:cubicBezTo>
                <a:cubicBezTo>
                  <a:pt x="3236" y="12"/>
                  <a:pt x="3260" y="20"/>
                  <a:pt x="3283" y="29"/>
                </a:cubicBezTo>
                <a:cubicBezTo>
                  <a:pt x="3307" y="39"/>
                  <a:pt x="3329" y="51"/>
                  <a:pt x="3350" y="65"/>
                </a:cubicBezTo>
                <a:cubicBezTo>
                  <a:pt x="3371" y="79"/>
                  <a:pt x="3390" y="95"/>
                  <a:pt x="3408" y="112"/>
                </a:cubicBezTo>
                <a:cubicBezTo>
                  <a:pt x="3426" y="130"/>
                  <a:pt x="3442" y="150"/>
                  <a:pt x="3456" y="171"/>
                </a:cubicBezTo>
                <a:cubicBezTo>
                  <a:pt x="3470" y="192"/>
                  <a:pt x="3481" y="214"/>
                  <a:pt x="3491" y="237"/>
                </a:cubicBezTo>
                <a:cubicBezTo>
                  <a:pt x="3501" y="260"/>
                  <a:pt x="3508" y="284"/>
                  <a:pt x="3513" y="309"/>
                </a:cubicBezTo>
                <a:cubicBezTo>
                  <a:pt x="3518" y="334"/>
                  <a:pt x="3520" y="359"/>
                  <a:pt x="3520" y="384"/>
                </a:cubicBezTo>
                <a:cubicBezTo>
                  <a:pt x="3520" y="409"/>
                  <a:pt x="3518" y="434"/>
                  <a:pt x="3513" y="459"/>
                </a:cubicBezTo>
                <a:cubicBezTo>
                  <a:pt x="3508" y="483"/>
                  <a:pt x="3501" y="507"/>
                  <a:pt x="3491" y="531"/>
                </a:cubicBezTo>
                <a:cubicBezTo>
                  <a:pt x="3481" y="554"/>
                  <a:pt x="3470" y="576"/>
                  <a:pt x="3456" y="597"/>
                </a:cubicBezTo>
                <a:cubicBezTo>
                  <a:pt x="3442" y="618"/>
                  <a:pt x="3426" y="638"/>
                  <a:pt x="3408" y="656"/>
                </a:cubicBezTo>
                <a:cubicBezTo>
                  <a:pt x="3390" y="674"/>
                  <a:pt x="3371" y="690"/>
                  <a:pt x="3350" y="704"/>
                </a:cubicBezTo>
                <a:cubicBezTo>
                  <a:pt x="3329" y="718"/>
                  <a:pt x="3307" y="730"/>
                  <a:pt x="3283" y="739"/>
                </a:cubicBezTo>
                <a:cubicBezTo>
                  <a:pt x="3260" y="749"/>
                  <a:pt x="3236" y="756"/>
                  <a:pt x="3211" y="761"/>
                </a:cubicBezTo>
                <a:cubicBezTo>
                  <a:pt x="3187" y="766"/>
                  <a:pt x="3162" y="768"/>
                  <a:pt x="3137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90"/>
                  <a:pt x="130" y="674"/>
                  <a:pt x="113" y="656"/>
                </a:cubicBezTo>
                <a:cubicBezTo>
                  <a:pt x="95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3000600" y="4655160"/>
            <a:ext cx="102024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Salary benchmark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5576760" y="4605120"/>
            <a:ext cx="1333800" cy="276480"/>
          </a:xfrm>
          <a:custGeom>
            <a:avLst/>
            <a:gdLst/>
            <a:ahLst/>
            <a:rect l="0" t="0" r="r" b="b"/>
            <a:pathLst>
              <a:path w="370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3321" y="0"/>
                </a:lnTo>
                <a:cubicBezTo>
                  <a:pt x="3347" y="0"/>
                  <a:pt x="3372" y="3"/>
                  <a:pt x="3396" y="7"/>
                </a:cubicBezTo>
                <a:cubicBezTo>
                  <a:pt x="3421" y="12"/>
                  <a:pt x="3445" y="20"/>
                  <a:pt x="3468" y="29"/>
                </a:cubicBezTo>
                <a:cubicBezTo>
                  <a:pt x="3491" y="39"/>
                  <a:pt x="3514" y="51"/>
                  <a:pt x="3535" y="65"/>
                </a:cubicBezTo>
                <a:cubicBezTo>
                  <a:pt x="3555" y="79"/>
                  <a:pt x="3575" y="95"/>
                  <a:pt x="3593" y="112"/>
                </a:cubicBezTo>
                <a:cubicBezTo>
                  <a:pt x="3610" y="130"/>
                  <a:pt x="3626" y="150"/>
                  <a:pt x="3640" y="171"/>
                </a:cubicBezTo>
                <a:cubicBezTo>
                  <a:pt x="3654" y="192"/>
                  <a:pt x="3666" y="214"/>
                  <a:pt x="3676" y="237"/>
                </a:cubicBezTo>
                <a:cubicBezTo>
                  <a:pt x="3685" y="260"/>
                  <a:pt x="3693" y="284"/>
                  <a:pt x="3698" y="309"/>
                </a:cubicBezTo>
                <a:cubicBezTo>
                  <a:pt x="3703" y="334"/>
                  <a:pt x="3705" y="359"/>
                  <a:pt x="3705" y="384"/>
                </a:cubicBezTo>
                <a:cubicBezTo>
                  <a:pt x="3705" y="409"/>
                  <a:pt x="3703" y="434"/>
                  <a:pt x="3698" y="459"/>
                </a:cubicBezTo>
                <a:cubicBezTo>
                  <a:pt x="3693" y="483"/>
                  <a:pt x="3685" y="507"/>
                  <a:pt x="3676" y="531"/>
                </a:cubicBezTo>
                <a:cubicBezTo>
                  <a:pt x="3666" y="554"/>
                  <a:pt x="3654" y="576"/>
                  <a:pt x="3640" y="597"/>
                </a:cubicBezTo>
                <a:cubicBezTo>
                  <a:pt x="3626" y="618"/>
                  <a:pt x="3610" y="638"/>
                  <a:pt x="3593" y="656"/>
                </a:cubicBezTo>
                <a:cubicBezTo>
                  <a:pt x="3575" y="674"/>
                  <a:pt x="3555" y="690"/>
                  <a:pt x="3535" y="704"/>
                </a:cubicBezTo>
                <a:cubicBezTo>
                  <a:pt x="3514" y="718"/>
                  <a:pt x="3491" y="730"/>
                  <a:pt x="3468" y="739"/>
                </a:cubicBezTo>
                <a:cubicBezTo>
                  <a:pt x="3445" y="749"/>
                  <a:pt x="3421" y="756"/>
                  <a:pt x="3396" y="761"/>
                </a:cubicBezTo>
                <a:cubicBezTo>
                  <a:pt x="3372" y="766"/>
                  <a:pt x="3347" y="768"/>
                  <a:pt x="3321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5576760" y="4605120"/>
            <a:ext cx="1333800" cy="276480"/>
          </a:xfrm>
          <a:custGeom>
            <a:avLst/>
            <a:gdLst/>
            <a:ahLst/>
            <a:rect l="0" t="0" r="r" b="b"/>
            <a:pathLst>
              <a:path w="370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3321" y="0"/>
                </a:lnTo>
                <a:cubicBezTo>
                  <a:pt x="3347" y="0"/>
                  <a:pt x="3372" y="3"/>
                  <a:pt x="3396" y="7"/>
                </a:cubicBezTo>
                <a:cubicBezTo>
                  <a:pt x="3421" y="12"/>
                  <a:pt x="3445" y="20"/>
                  <a:pt x="3468" y="29"/>
                </a:cubicBezTo>
                <a:cubicBezTo>
                  <a:pt x="3491" y="39"/>
                  <a:pt x="3514" y="51"/>
                  <a:pt x="3535" y="65"/>
                </a:cubicBezTo>
                <a:cubicBezTo>
                  <a:pt x="3555" y="79"/>
                  <a:pt x="3575" y="95"/>
                  <a:pt x="3593" y="112"/>
                </a:cubicBezTo>
                <a:cubicBezTo>
                  <a:pt x="3610" y="130"/>
                  <a:pt x="3626" y="150"/>
                  <a:pt x="3640" y="171"/>
                </a:cubicBezTo>
                <a:cubicBezTo>
                  <a:pt x="3654" y="192"/>
                  <a:pt x="3666" y="214"/>
                  <a:pt x="3676" y="237"/>
                </a:cubicBezTo>
                <a:cubicBezTo>
                  <a:pt x="3685" y="260"/>
                  <a:pt x="3693" y="284"/>
                  <a:pt x="3698" y="309"/>
                </a:cubicBezTo>
                <a:cubicBezTo>
                  <a:pt x="3703" y="334"/>
                  <a:pt x="3705" y="359"/>
                  <a:pt x="3705" y="384"/>
                </a:cubicBezTo>
                <a:cubicBezTo>
                  <a:pt x="3705" y="409"/>
                  <a:pt x="3703" y="434"/>
                  <a:pt x="3698" y="459"/>
                </a:cubicBezTo>
                <a:cubicBezTo>
                  <a:pt x="3693" y="483"/>
                  <a:pt x="3685" y="507"/>
                  <a:pt x="3676" y="531"/>
                </a:cubicBezTo>
                <a:cubicBezTo>
                  <a:pt x="3666" y="554"/>
                  <a:pt x="3654" y="576"/>
                  <a:pt x="3640" y="597"/>
                </a:cubicBezTo>
                <a:cubicBezTo>
                  <a:pt x="3626" y="618"/>
                  <a:pt x="3610" y="638"/>
                  <a:pt x="3593" y="656"/>
                </a:cubicBezTo>
                <a:cubicBezTo>
                  <a:pt x="3575" y="674"/>
                  <a:pt x="3555" y="690"/>
                  <a:pt x="3535" y="704"/>
                </a:cubicBezTo>
                <a:cubicBezTo>
                  <a:pt x="3514" y="718"/>
                  <a:pt x="3491" y="730"/>
                  <a:pt x="3468" y="739"/>
                </a:cubicBezTo>
                <a:cubicBezTo>
                  <a:pt x="3445" y="749"/>
                  <a:pt x="3421" y="756"/>
                  <a:pt x="3396" y="761"/>
                </a:cubicBezTo>
                <a:cubicBezTo>
                  <a:pt x="3372" y="766"/>
                  <a:pt x="3347" y="768"/>
                  <a:pt x="3321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4361400" y="4655160"/>
            <a:ext cx="102024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Experience norms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6986520" y="4605120"/>
            <a:ext cx="1381320" cy="276480"/>
          </a:xfrm>
          <a:custGeom>
            <a:avLst/>
            <a:gdLst/>
            <a:ahLst/>
            <a:rect l="0" t="0" r="r" b="b"/>
            <a:pathLst>
              <a:path w="3837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453" y="0"/>
                </a:lnTo>
                <a:cubicBezTo>
                  <a:pt x="3479" y="0"/>
                  <a:pt x="3504" y="3"/>
                  <a:pt x="3528" y="7"/>
                </a:cubicBezTo>
                <a:cubicBezTo>
                  <a:pt x="3553" y="12"/>
                  <a:pt x="3577" y="20"/>
                  <a:pt x="3600" y="29"/>
                </a:cubicBezTo>
                <a:cubicBezTo>
                  <a:pt x="3624" y="39"/>
                  <a:pt x="3646" y="51"/>
                  <a:pt x="3667" y="65"/>
                </a:cubicBezTo>
                <a:cubicBezTo>
                  <a:pt x="3688" y="79"/>
                  <a:pt x="3707" y="95"/>
                  <a:pt x="3725" y="112"/>
                </a:cubicBezTo>
                <a:cubicBezTo>
                  <a:pt x="3743" y="130"/>
                  <a:pt x="3758" y="150"/>
                  <a:pt x="3772" y="171"/>
                </a:cubicBezTo>
                <a:cubicBezTo>
                  <a:pt x="3786" y="192"/>
                  <a:pt x="3798" y="214"/>
                  <a:pt x="3808" y="237"/>
                </a:cubicBezTo>
                <a:cubicBezTo>
                  <a:pt x="3818" y="260"/>
                  <a:pt x="3825" y="284"/>
                  <a:pt x="3830" y="309"/>
                </a:cubicBezTo>
                <a:cubicBezTo>
                  <a:pt x="3835" y="334"/>
                  <a:pt x="3837" y="359"/>
                  <a:pt x="3837" y="384"/>
                </a:cubicBezTo>
                <a:cubicBezTo>
                  <a:pt x="3837" y="409"/>
                  <a:pt x="3835" y="434"/>
                  <a:pt x="3830" y="459"/>
                </a:cubicBezTo>
                <a:cubicBezTo>
                  <a:pt x="3825" y="483"/>
                  <a:pt x="3818" y="507"/>
                  <a:pt x="3808" y="531"/>
                </a:cubicBezTo>
                <a:cubicBezTo>
                  <a:pt x="3798" y="554"/>
                  <a:pt x="3786" y="576"/>
                  <a:pt x="3772" y="597"/>
                </a:cubicBezTo>
                <a:cubicBezTo>
                  <a:pt x="3758" y="618"/>
                  <a:pt x="3743" y="638"/>
                  <a:pt x="3725" y="656"/>
                </a:cubicBezTo>
                <a:cubicBezTo>
                  <a:pt x="3707" y="674"/>
                  <a:pt x="3688" y="690"/>
                  <a:pt x="3667" y="704"/>
                </a:cubicBezTo>
                <a:cubicBezTo>
                  <a:pt x="3646" y="718"/>
                  <a:pt x="3624" y="730"/>
                  <a:pt x="3600" y="739"/>
                </a:cubicBezTo>
                <a:cubicBezTo>
                  <a:pt x="3577" y="749"/>
                  <a:pt x="3553" y="756"/>
                  <a:pt x="3528" y="761"/>
                </a:cubicBezTo>
                <a:cubicBezTo>
                  <a:pt x="3504" y="766"/>
                  <a:pt x="3479" y="768"/>
                  <a:pt x="3453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6986520" y="4605120"/>
            <a:ext cx="1381320" cy="276480"/>
          </a:xfrm>
          <a:custGeom>
            <a:avLst/>
            <a:gdLst/>
            <a:ahLst/>
            <a:rect l="0" t="0" r="r" b="b"/>
            <a:pathLst>
              <a:path w="3837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453" y="0"/>
                </a:lnTo>
                <a:cubicBezTo>
                  <a:pt x="3479" y="0"/>
                  <a:pt x="3504" y="3"/>
                  <a:pt x="3528" y="7"/>
                </a:cubicBezTo>
                <a:cubicBezTo>
                  <a:pt x="3553" y="12"/>
                  <a:pt x="3577" y="20"/>
                  <a:pt x="3600" y="29"/>
                </a:cubicBezTo>
                <a:cubicBezTo>
                  <a:pt x="3624" y="39"/>
                  <a:pt x="3646" y="51"/>
                  <a:pt x="3667" y="65"/>
                </a:cubicBezTo>
                <a:cubicBezTo>
                  <a:pt x="3688" y="79"/>
                  <a:pt x="3707" y="95"/>
                  <a:pt x="3725" y="112"/>
                </a:cubicBezTo>
                <a:cubicBezTo>
                  <a:pt x="3743" y="130"/>
                  <a:pt x="3758" y="150"/>
                  <a:pt x="3772" y="171"/>
                </a:cubicBezTo>
                <a:cubicBezTo>
                  <a:pt x="3786" y="192"/>
                  <a:pt x="3798" y="214"/>
                  <a:pt x="3808" y="237"/>
                </a:cubicBezTo>
                <a:cubicBezTo>
                  <a:pt x="3818" y="260"/>
                  <a:pt x="3825" y="284"/>
                  <a:pt x="3830" y="309"/>
                </a:cubicBezTo>
                <a:cubicBezTo>
                  <a:pt x="3835" y="334"/>
                  <a:pt x="3837" y="359"/>
                  <a:pt x="3837" y="384"/>
                </a:cubicBezTo>
                <a:cubicBezTo>
                  <a:pt x="3837" y="409"/>
                  <a:pt x="3835" y="434"/>
                  <a:pt x="3830" y="459"/>
                </a:cubicBezTo>
                <a:cubicBezTo>
                  <a:pt x="3825" y="483"/>
                  <a:pt x="3818" y="507"/>
                  <a:pt x="3808" y="531"/>
                </a:cubicBezTo>
                <a:cubicBezTo>
                  <a:pt x="3798" y="554"/>
                  <a:pt x="3786" y="576"/>
                  <a:pt x="3772" y="597"/>
                </a:cubicBezTo>
                <a:cubicBezTo>
                  <a:pt x="3758" y="618"/>
                  <a:pt x="3743" y="638"/>
                  <a:pt x="3725" y="656"/>
                </a:cubicBezTo>
                <a:cubicBezTo>
                  <a:pt x="3707" y="674"/>
                  <a:pt x="3688" y="690"/>
                  <a:pt x="3667" y="704"/>
                </a:cubicBezTo>
                <a:cubicBezTo>
                  <a:pt x="3646" y="718"/>
                  <a:pt x="3624" y="730"/>
                  <a:pt x="3600" y="739"/>
                </a:cubicBezTo>
                <a:cubicBezTo>
                  <a:pt x="3577" y="749"/>
                  <a:pt x="3553" y="756"/>
                  <a:pt x="3528" y="761"/>
                </a:cubicBezTo>
                <a:cubicBezTo>
                  <a:pt x="3504" y="766"/>
                  <a:pt x="3479" y="768"/>
                  <a:pt x="3453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5703840" y="4655160"/>
            <a:ext cx="107676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Applicant response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8443800" y="4605120"/>
            <a:ext cx="876600" cy="276480"/>
          </a:xfrm>
          <a:custGeom>
            <a:avLst/>
            <a:gdLst/>
            <a:ahLst/>
            <a:rect l="0" t="0" r="r" b="b"/>
            <a:pathLst>
              <a:path w="243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2050" y="0"/>
                </a:lnTo>
                <a:cubicBezTo>
                  <a:pt x="2076" y="0"/>
                  <a:pt x="2100" y="3"/>
                  <a:pt x="2126" y="7"/>
                </a:cubicBezTo>
                <a:cubicBezTo>
                  <a:pt x="2151" y="12"/>
                  <a:pt x="2175" y="20"/>
                  <a:pt x="2198" y="29"/>
                </a:cubicBezTo>
                <a:cubicBezTo>
                  <a:pt x="2221" y="39"/>
                  <a:pt x="2244" y="51"/>
                  <a:pt x="2264" y="65"/>
                </a:cubicBezTo>
                <a:cubicBezTo>
                  <a:pt x="2285" y="79"/>
                  <a:pt x="2305" y="95"/>
                  <a:pt x="2323" y="112"/>
                </a:cubicBezTo>
                <a:cubicBezTo>
                  <a:pt x="2340" y="130"/>
                  <a:pt x="2356" y="150"/>
                  <a:pt x="2370" y="171"/>
                </a:cubicBezTo>
                <a:cubicBezTo>
                  <a:pt x="2384" y="192"/>
                  <a:pt x="2396" y="214"/>
                  <a:pt x="2406" y="237"/>
                </a:cubicBezTo>
                <a:cubicBezTo>
                  <a:pt x="2415" y="260"/>
                  <a:pt x="2423" y="284"/>
                  <a:pt x="2428" y="309"/>
                </a:cubicBezTo>
                <a:cubicBezTo>
                  <a:pt x="2433" y="334"/>
                  <a:pt x="2435" y="359"/>
                  <a:pt x="2435" y="384"/>
                </a:cubicBezTo>
                <a:cubicBezTo>
                  <a:pt x="2435" y="409"/>
                  <a:pt x="2433" y="434"/>
                  <a:pt x="2428" y="459"/>
                </a:cubicBezTo>
                <a:cubicBezTo>
                  <a:pt x="2423" y="483"/>
                  <a:pt x="2415" y="507"/>
                  <a:pt x="2406" y="531"/>
                </a:cubicBezTo>
                <a:cubicBezTo>
                  <a:pt x="2396" y="554"/>
                  <a:pt x="2384" y="576"/>
                  <a:pt x="2370" y="597"/>
                </a:cubicBezTo>
                <a:cubicBezTo>
                  <a:pt x="2356" y="618"/>
                  <a:pt x="2340" y="638"/>
                  <a:pt x="2323" y="656"/>
                </a:cubicBezTo>
                <a:cubicBezTo>
                  <a:pt x="2305" y="674"/>
                  <a:pt x="2285" y="690"/>
                  <a:pt x="2264" y="704"/>
                </a:cubicBezTo>
                <a:cubicBezTo>
                  <a:pt x="2244" y="718"/>
                  <a:pt x="2221" y="730"/>
                  <a:pt x="2198" y="739"/>
                </a:cubicBezTo>
                <a:cubicBezTo>
                  <a:pt x="2175" y="749"/>
                  <a:pt x="2151" y="756"/>
                  <a:pt x="2126" y="761"/>
                </a:cubicBezTo>
                <a:cubicBezTo>
                  <a:pt x="2100" y="766"/>
                  <a:pt x="2076" y="768"/>
                  <a:pt x="2050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F0F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8443800" y="4605120"/>
            <a:ext cx="876600" cy="276480"/>
          </a:xfrm>
          <a:custGeom>
            <a:avLst/>
            <a:gdLst/>
            <a:ahLst/>
            <a:rect l="0" t="0" r="r" b="b"/>
            <a:pathLst>
              <a:path w="243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2050" y="0"/>
                </a:lnTo>
                <a:cubicBezTo>
                  <a:pt x="2076" y="0"/>
                  <a:pt x="2100" y="3"/>
                  <a:pt x="2126" y="7"/>
                </a:cubicBezTo>
                <a:cubicBezTo>
                  <a:pt x="2151" y="12"/>
                  <a:pt x="2175" y="20"/>
                  <a:pt x="2198" y="29"/>
                </a:cubicBezTo>
                <a:cubicBezTo>
                  <a:pt x="2221" y="39"/>
                  <a:pt x="2244" y="51"/>
                  <a:pt x="2264" y="65"/>
                </a:cubicBezTo>
                <a:cubicBezTo>
                  <a:pt x="2285" y="79"/>
                  <a:pt x="2305" y="95"/>
                  <a:pt x="2323" y="112"/>
                </a:cubicBezTo>
                <a:cubicBezTo>
                  <a:pt x="2340" y="130"/>
                  <a:pt x="2356" y="150"/>
                  <a:pt x="2370" y="171"/>
                </a:cubicBezTo>
                <a:cubicBezTo>
                  <a:pt x="2384" y="192"/>
                  <a:pt x="2396" y="214"/>
                  <a:pt x="2406" y="237"/>
                </a:cubicBezTo>
                <a:cubicBezTo>
                  <a:pt x="2415" y="260"/>
                  <a:pt x="2423" y="284"/>
                  <a:pt x="2428" y="309"/>
                </a:cubicBezTo>
                <a:cubicBezTo>
                  <a:pt x="2433" y="334"/>
                  <a:pt x="2435" y="359"/>
                  <a:pt x="2435" y="384"/>
                </a:cubicBezTo>
                <a:cubicBezTo>
                  <a:pt x="2435" y="409"/>
                  <a:pt x="2433" y="434"/>
                  <a:pt x="2428" y="459"/>
                </a:cubicBezTo>
                <a:cubicBezTo>
                  <a:pt x="2423" y="483"/>
                  <a:pt x="2415" y="507"/>
                  <a:pt x="2406" y="531"/>
                </a:cubicBezTo>
                <a:cubicBezTo>
                  <a:pt x="2396" y="554"/>
                  <a:pt x="2384" y="576"/>
                  <a:pt x="2370" y="597"/>
                </a:cubicBezTo>
                <a:cubicBezTo>
                  <a:pt x="2356" y="618"/>
                  <a:pt x="2340" y="638"/>
                  <a:pt x="2323" y="656"/>
                </a:cubicBezTo>
                <a:cubicBezTo>
                  <a:pt x="2305" y="674"/>
                  <a:pt x="2285" y="690"/>
                  <a:pt x="2264" y="704"/>
                </a:cubicBezTo>
                <a:cubicBezTo>
                  <a:pt x="2244" y="718"/>
                  <a:pt x="2221" y="730"/>
                  <a:pt x="2198" y="739"/>
                </a:cubicBezTo>
                <a:cubicBezTo>
                  <a:pt x="2175" y="749"/>
                  <a:pt x="2151" y="756"/>
                  <a:pt x="2126" y="761"/>
                </a:cubicBezTo>
                <a:cubicBezTo>
                  <a:pt x="2100" y="766"/>
                  <a:pt x="2076" y="768"/>
                  <a:pt x="2050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7A4015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7116480" y="4655160"/>
            <a:ext cx="117468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Reach vs conversion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8577000" y="4655160"/>
            <a:ext cx="63324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FF6B1A"/>
                </a:solidFill>
                <a:effectLst/>
                <a:uFillTx/>
                <a:latin typeface="Outfit-Thin_"/>
                <a:ea typeface="Outfit-Thin_"/>
              </a:rPr>
              <a:t>Repost risk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647640" y="1322640"/>
            <a:ext cx="37756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P A Y   D O M I N A T E S   R E S P O N S E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647640" y="2904840"/>
            <a:ext cx="5820120" cy="57600"/>
          </a:xfrm>
          <a:custGeom>
            <a:avLst/>
            <a:gdLst/>
            <a:ahLst/>
            <a:rect l="0" t="0" r="r" b="b"/>
            <a:pathLst>
              <a:path w="16167" h="160">
                <a:moveTo>
                  <a:pt x="0" y="0"/>
                </a:moveTo>
                <a:lnTo>
                  <a:pt x="16167" y="0"/>
                </a:lnTo>
                <a:lnTo>
                  <a:pt x="16167" y="160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647640" y="3276360"/>
            <a:ext cx="5820120" cy="57600"/>
          </a:xfrm>
          <a:custGeom>
            <a:avLst/>
            <a:gdLst/>
            <a:ahLst/>
            <a:rect l="0" t="0" r="r" b="b"/>
            <a:pathLst>
              <a:path w="16167" h="160">
                <a:moveTo>
                  <a:pt x="0" y="0"/>
                </a:moveTo>
                <a:lnTo>
                  <a:pt x="16167" y="0"/>
                </a:lnTo>
                <a:lnTo>
                  <a:pt x="16167" y="160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647640" y="3647880"/>
            <a:ext cx="5820120" cy="57600"/>
          </a:xfrm>
          <a:custGeom>
            <a:avLst/>
            <a:gdLst/>
            <a:ahLst/>
            <a:rect l="0" t="0" r="r" b="b"/>
            <a:pathLst>
              <a:path w="16167" h="160">
                <a:moveTo>
                  <a:pt x="0" y="0"/>
                </a:moveTo>
                <a:lnTo>
                  <a:pt x="16167" y="0"/>
                </a:lnTo>
                <a:lnTo>
                  <a:pt x="16167" y="160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652320" y="4243320"/>
            <a:ext cx="5810400" cy="790920"/>
          </a:xfrm>
          <a:custGeom>
            <a:avLst/>
            <a:gdLst/>
            <a:ahLst/>
            <a:rect l="0" t="0" r="r" b="b"/>
            <a:pathLst>
              <a:path w="16140" h="2197">
                <a:moveTo>
                  <a:pt x="0" y="199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3"/>
                </a:cubicBezTo>
                <a:cubicBezTo>
                  <a:pt x="172" y="1"/>
                  <a:pt x="185" y="0"/>
                  <a:pt x="198" y="0"/>
                </a:cubicBezTo>
                <a:lnTo>
                  <a:pt x="15942" y="0"/>
                </a:lnTo>
                <a:cubicBezTo>
                  <a:pt x="15955" y="0"/>
                  <a:pt x="15968" y="1"/>
                  <a:pt x="15981" y="3"/>
                </a:cubicBezTo>
                <a:cubicBezTo>
                  <a:pt x="15994" y="6"/>
                  <a:pt x="16006" y="10"/>
                  <a:pt x="16018" y="15"/>
                </a:cubicBezTo>
                <a:cubicBezTo>
                  <a:pt x="16030" y="20"/>
                  <a:pt x="16041" y="26"/>
                  <a:pt x="16052" y="33"/>
                </a:cubicBezTo>
                <a:cubicBezTo>
                  <a:pt x="16063" y="40"/>
                  <a:pt x="16073" y="49"/>
                  <a:pt x="16082" y="58"/>
                </a:cubicBezTo>
                <a:cubicBezTo>
                  <a:pt x="16092" y="67"/>
                  <a:pt x="16100" y="77"/>
                  <a:pt x="16107" y="88"/>
                </a:cubicBezTo>
                <a:cubicBezTo>
                  <a:pt x="16114" y="99"/>
                  <a:pt x="16120" y="110"/>
                  <a:pt x="16125" y="122"/>
                </a:cubicBezTo>
                <a:cubicBezTo>
                  <a:pt x="16130" y="134"/>
                  <a:pt x="16134" y="147"/>
                  <a:pt x="16137" y="159"/>
                </a:cubicBezTo>
                <a:cubicBezTo>
                  <a:pt x="16139" y="172"/>
                  <a:pt x="16140" y="185"/>
                  <a:pt x="16140" y="198"/>
                </a:cubicBezTo>
                <a:lnTo>
                  <a:pt x="16140" y="1998"/>
                </a:lnTo>
                <a:cubicBezTo>
                  <a:pt x="16140" y="2011"/>
                  <a:pt x="16139" y="2024"/>
                  <a:pt x="16137" y="2037"/>
                </a:cubicBezTo>
                <a:cubicBezTo>
                  <a:pt x="16134" y="2050"/>
                  <a:pt x="16130" y="2062"/>
                  <a:pt x="16125" y="2074"/>
                </a:cubicBezTo>
                <a:cubicBezTo>
                  <a:pt x="16120" y="2086"/>
                  <a:pt x="16114" y="2098"/>
                  <a:pt x="16107" y="2109"/>
                </a:cubicBezTo>
                <a:cubicBezTo>
                  <a:pt x="16100" y="2119"/>
                  <a:pt x="16092" y="2129"/>
                  <a:pt x="16082" y="2139"/>
                </a:cubicBezTo>
                <a:cubicBezTo>
                  <a:pt x="16073" y="2148"/>
                  <a:pt x="16063" y="2156"/>
                  <a:pt x="16052" y="2163"/>
                </a:cubicBezTo>
                <a:cubicBezTo>
                  <a:pt x="16041" y="2171"/>
                  <a:pt x="16030" y="2177"/>
                  <a:pt x="16018" y="2182"/>
                </a:cubicBezTo>
                <a:cubicBezTo>
                  <a:pt x="16006" y="2187"/>
                  <a:pt x="15994" y="2190"/>
                  <a:pt x="15981" y="2193"/>
                </a:cubicBezTo>
                <a:cubicBezTo>
                  <a:pt x="15968" y="2195"/>
                  <a:pt x="15955" y="2197"/>
                  <a:pt x="15942" y="2197"/>
                </a:cubicBezTo>
                <a:lnTo>
                  <a:pt x="198" y="2197"/>
                </a:lnTo>
                <a:cubicBezTo>
                  <a:pt x="185" y="2197"/>
                  <a:pt x="172" y="2195"/>
                  <a:pt x="160" y="2193"/>
                </a:cubicBezTo>
                <a:cubicBezTo>
                  <a:pt x="147" y="2190"/>
                  <a:pt x="134" y="2187"/>
                  <a:pt x="122" y="2182"/>
                </a:cubicBezTo>
                <a:cubicBezTo>
                  <a:pt x="110" y="2177"/>
                  <a:pt x="99" y="2171"/>
                  <a:pt x="88" y="2163"/>
                </a:cubicBezTo>
                <a:cubicBezTo>
                  <a:pt x="77" y="2156"/>
                  <a:pt x="67" y="2148"/>
                  <a:pt x="58" y="2139"/>
                </a:cubicBezTo>
                <a:cubicBezTo>
                  <a:pt x="49" y="2129"/>
                  <a:pt x="41" y="2119"/>
                  <a:pt x="33" y="2109"/>
                </a:cubicBezTo>
                <a:cubicBezTo>
                  <a:pt x="26" y="2098"/>
                  <a:pt x="20" y="2086"/>
                  <a:pt x="15" y="2074"/>
                </a:cubicBezTo>
                <a:cubicBezTo>
                  <a:pt x="10" y="2062"/>
                  <a:pt x="6" y="2050"/>
                  <a:pt x="4" y="2037"/>
                </a:cubicBezTo>
                <a:cubicBezTo>
                  <a:pt x="1" y="2024"/>
                  <a:pt x="0" y="2011"/>
                  <a:pt x="0" y="1998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652320" y="4243320"/>
            <a:ext cx="5810400" cy="790920"/>
          </a:xfrm>
          <a:custGeom>
            <a:avLst/>
            <a:gdLst/>
            <a:ahLst/>
            <a:rect l="0" t="0" r="r" b="b"/>
            <a:pathLst>
              <a:path w="16140" h="2197">
                <a:moveTo>
                  <a:pt x="0" y="199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3"/>
                </a:cubicBezTo>
                <a:cubicBezTo>
                  <a:pt x="172" y="1"/>
                  <a:pt x="185" y="0"/>
                  <a:pt x="198" y="0"/>
                </a:cubicBezTo>
                <a:lnTo>
                  <a:pt x="15942" y="0"/>
                </a:lnTo>
                <a:cubicBezTo>
                  <a:pt x="15955" y="0"/>
                  <a:pt x="15968" y="1"/>
                  <a:pt x="15981" y="3"/>
                </a:cubicBezTo>
                <a:cubicBezTo>
                  <a:pt x="15994" y="6"/>
                  <a:pt x="16006" y="10"/>
                  <a:pt x="16018" y="15"/>
                </a:cubicBezTo>
                <a:cubicBezTo>
                  <a:pt x="16030" y="20"/>
                  <a:pt x="16041" y="26"/>
                  <a:pt x="16052" y="33"/>
                </a:cubicBezTo>
                <a:cubicBezTo>
                  <a:pt x="16063" y="40"/>
                  <a:pt x="16073" y="49"/>
                  <a:pt x="16082" y="58"/>
                </a:cubicBezTo>
                <a:cubicBezTo>
                  <a:pt x="16092" y="67"/>
                  <a:pt x="16100" y="77"/>
                  <a:pt x="16107" y="88"/>
                </a:cubicBezTo>
                <a:cubicBezTo>
                  <a:pt x="16114" y="99"/>
                  <a:pt x="16120" y="110"/>
                  <a:pt x="16125" y="122"/>
                </a:cubicBezTo>
                <a:cubicBezTo>
                  <a:pt x="16130" y="134"/>
                  <a:pt x="16134" y="147"/>
                  <a:pt x="16137" y="159"/>
                </a:cubicBezTo>
                <a:cubicBezTo>
                  <a:pt x="16139" y="172"/>
                  <a:pt x="16140" y="185"/>
                  <a:pt x="16140" y="198"/>
                </a:cubicBezTo>
                <a:lnTo>
                  <a:pt x="16140" y="1998"/>
                </a:lnTo>
                <a:cubicBezTo>
                  <a:pt x="16140" y="2011"/>
                  <a:pt x="16139" y="2024"/>
                  <a:pt x="16137" y="2037"/>
                </a:cubicBezTo>
                <a:cubicBezTo>
                  <a:pt x="16134" y="2050"/>
                  <a:pt x="16130" y="2062"/>
                  <a:pt x="16125" y="2074"/>
                </a:cubicBezTo>
                <a:cubicBezTo>
                  <a:pt x="16120" y="2086"/>
                  <a:pt x="16114" y="2098"/>
                  <a:pt x="16107" y="2109"/>
                </a:cubicBezTo>
                <a:cubicBezTo>
                  <a:pt x="16100" y="2119"/>
                  <a:pt x="16092" y="2129"/>
                  <a:pt x="16082" y="2139"/>
                </a:cubicBezTo>
                <a:cubicBezTo>
                  <a:pt x="16073" y="2148"/>
                  <a:pt x="16063" y="2156"/>
                  <a:pt x="16052" y="2163"/>
                </a:cubicBezTo>
                <a:cubicBezTo>
                  <a:pt x="16041" y="2171"/>
                  <a:pt x="16030" y="2177"/>
                  <a:pt x="16018" y="2182"/>
                </a:cubicBezTo>
                <a:cubicBezTo>
                  <a:pt x="16006" y="2187"/>
                  <a:pt x="15994" y="2190"/>
                  <a:pt x="15981" y="2193"/>
                </a:cubicBezTo>
                <a:cubicBezTo>
                  <a:pt x="15968" y="2195"/>
                  <a:pt x="15955" y="2197"/>
                  <a:pt x="15942" y="2197"/>
                </a:cubicBezTo>
                <a:lnTo>
                  <a:pt x="198" y="2197"/>
                </a:lnTo>
                <a:cubicBezTo>
                  <a:pt x="185" y="2197"/>
                  <a:pt x="172" y="2195"/>
                  <a:pt x="160" y="2193"/>
                </a:cubicBezTo>
                <a:cubicBezTo>
                  <a:pt x="147" y="2190"/>
                  <a:pt x="134" y="2187"/>
                  <a:pt x="122" y="2182"/>
                </a:cubicBezTo>
                <a:cubicBezTo>
                  <a:pt x="110" y="2177"/>
                  <a:pt x="99" y="2171"/>
                  <a:pt x="88" y="2163"/>
                </a:cubicBezTo>
                <a:cubicBezTo>
                  <a:pt x="77" y="2156"/>
                  <a:pt x="67" y="2148"/>
                  <a:pt x="58" y="2139"/>
                </a:cubicBezTo>
                <a:cubicBezTo>
                  <a:pt x="49" y="2129"/>
                  <a:pt x="41" y="2119"/>
                  <a:pt x="33" y="2109"/>
                </a:cubicBezTo>
                <a:cubicBezTo>
                  <a:pt x="26" y="2098"/>
                  <a:pt x="20" y="2086"/>
                  <a:pt x="15" y="2074"/>
                </a:cubicBezTo>
                <a:cubicBezTo>
                  <a:pt x="10" y="2062"/>
                  <a:pt x="6" y="2050"/>
                  <a:pt x="4" y="2037"/>
                </a:cubicBezTo>
                <a:cubicBezTo>
                  <a:pt x="1" y="2024"/>
                  <a:pt x="0" y="2011"/>
                  <a:pt x="0" y="1998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647640" y="1564560"/>
            <a:ext cx="52891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720" b="0" u="none" strike="noStrike">
                <a:solidFill>
                  <a:srgbClr val="888888"/>
                </a:solidFill>
                <a:effectLst/>
                <a:uFillTx/>
                <a:latin typeface="Raleway"/>
                <a:ea typeface="Raleway"/>
              </a:rPr>
              <a:t>Two compounding effects, not one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647640" y="2293200"/>
            <a:ext cx="18914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APPLICATIONS · UNDER-FILLED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2076120" y="2752560"/>
            <a:ext cx="3381840" cy="38520"/>
          </a:xfrm>
          <a:custGeom>
            <a:avLst/>
            <a:gdLst/>
            <a:ahLst/>
            <a:rect l="0" t="0" r="r" b="b"/>
            <a:pathLst>
              <a:path w="9394" h="107">
                <a:moveTo>
                  <a:pt x="0" y="53"/>
                </a:move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9341" y="0"/>
                </a:lnTo>
                <a:cubicBezTo>
                  <a:pt x="9348" y="0"/>
                  <a:pt x="9355" y="1"/>
                  <a:pt x="9361" y="4"/>
                </a:cubicBezTo>
                <a:cubicBezTo>
                  <a:pt x="9368" y="7"/>
                  <a:pt x="9374" y="10"/>
                  <a:pt x="9379" y="15"/>
                </a:cubicBezTo>
                <a:cubicBezTo>
                  <a:pt x="9384" y="20"/>
                  <a:pt x="9387" y="26"/>
                  <a:pt x="9390" y="33"/>
                </a:cubicBezTo>
                <a:cubicBezTo>
                  <a:pt x="9393" y="39"/>
                  <a:pt x="9394" y="46"/>
                  <a:pt x="9394" y="53"/>
                </a:cubicBezTo>
                <a:cubicBezTo>
                  <a:pt x="9394" y="60"/>
                  <a:pt x="9393" y="67"/>
                  <a:pt x="9390" y="74"/>
                </a:cubicBezTo>
                <a:cubicBezTo>
                  <a:pt x="9387" y="81"/>
                  <a:pt x="9384" y="86"/>
                  <a:pt x="9379" y="91"/>
                </a:cubicBezTo>
                <a:cubicBezTo>
                  <a:pt x="9374" y="96"/>
                  <a:pt x="9368" y="100"/>
                  <a:pt x="9361" y="103"/>
                </a:cubicBezTo>
                <a:cubicBezTo>
                  <a:pt x="9355" y="105"/>
                  <a:pt x="9348" y="107"/>
                  <a:pt x="9341" y="107"/>
                </a:cubicBezTo>
                <a:lnTo>
                  <a:pt x="53" y="107"/>
                </a:lnTo>
                <a:cubicBezTo>
                  <a:pt x="46" y="107"/>
                  <a:pt x="40" y="105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1"/>
                  <a:pt x="4" y="74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2076120" y="2752560"/>
            <a:ext cx="676800" cy="38520"/>
          </a:xfrm>
          <a:custGeom>
            <a:avLst/>
            <a:gdLst/>
            <a:ahLst/>
            <a:rect l="0" t="0" r="r" b="b"/>
            <a:pathLst>
              <a:path w="1880" h="107">
                <a:moveTo>
                  <a:pt x="16" y="15"/>
                </a:moveTo>
                <a:cubicBezTo>
                  <a:pt x="26" y="5"/>
                  <a:pt x="39" y="0"/>
                  <a:pt x="53" y="0"/>
                </a:cubicBezTo>
                <a:lnTo>
                  <a:pt x="1880" y="0"/>
                </a:lnTo>
                <a:lnTo>
                  <a:pt x="1880" y="107"/>
                </a:lnTo>
                <a:lnTo>
                  <a:pt x="53" y="107"/>
                </a:lnTo>
                <a:cubicBezTo>
                  <a:pt x="39" y="107"/>
                  <a:pt x="26" y="102"/>
                  <a:pt x="16" y="91"/>
                </a:cubicBezTo>
                <a:cubicBezTo>
                  <a:pt x="6" y="81"/>
                  <a:pt x="0" y="67"/>
                  <a:pt x="0" y="53"/>
                </a:cubicBezTo>
                <a:cubicBezTo>
                  <a:pt x="0" y="38"/>
                  <a:pt x="6" y="26"/>
                  <a:pt x="16" y="15"/>
                </a:cubicBezTo>
                <a:close/>
              </a:path>
            </a:pathLst>
          </a:custGeom>
          <a:solidFill>
            <a:srgbClr val="EF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723960" y="2657160"/>
            <a:ext cx="77904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Entry &lt; $3k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672880" y="2657160"/>
            <a:ext cx="151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2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6018480" y="2657160"/>
            <a:ext cx="4327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0" u="none" strike="noStrike">
                <a:solidFill>
                  <a:srgbClr val="EF4444"/>
                </a:solidFill>
                <a:effectLst/>
                <a:uFillTx/>
                <a:latin typeface="RalewayRoman"/>
                <a:ea typeface="RalewayRoman"/>
              </a:rPr>
              <a:t>43.3%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2076120" y="3124080"/>
            <a:ext cx="3381840" cy="38520"/>
          </a:xfrm>
          <a:custGeom>
            <a:avLst/>
            <a:gdLst/>
            <a:ahLst/>
            <a:rect l="0" t="0" r="r" b="b"/>
            <a:pathLst>
              <a:path w="9394" h="107">
                <a:moveTo>
                  <a:pt x="0" y="53"/>
                </a:moveTo>
                <a:cubicBezTo>
                  <a:pt x="0" y="46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9341" y="0"/>
                </a:lnTo>
                <a:cubicBezTo>
                  <a:pt x="9348" y="0"/>
                  <a:pt x="9355" y="1"/>
                  <a:pt x="9361" y="4"/>
                </a:cubicBezTo>
                <a:cubicBezTo>
                  <a:pt x="9368" y="7"/>
                  <a:pt x="9374" y="10"/>
                  <a:pt x="9379" y="15"/>
                </a:cubicBezTo>
                <a:cubicBezTo>
                  <a:pt x="9384" y="20"/>
                  <a:pt x="9387" y="26"/>
                  <a:pt x="9390" y="32"/>
                </a:cubicBezTo>
                <a:cubicBezTo>
                  <a:pt x="9393" y="39"/>
                  <a:pt x="9394" y="46"/>
                  <a:pt x="9394" y="53"/>
                </a:cubicBezTo>
                <a:cubicBezTo>
                  <a:pt x="9394" y="60"/>
                  <a:pt x="9393" y="67"/>
                  <a:pt x="9390" y="73"/>
                </a:cubicBezTo>
                <a:cubicBezTo>
                  <a:pt x="9387" y="79"/>
                  <a:pt x="9384" y="85"/>
                  <a:pt x="9379" y="91"/>
                </a:cubicBezTo>
                <a:cubicBezTo>
                  <a:pt x="9374" y="96"/>
                  <a:pt x="9368" y="100"/>
                  <a:pt x="9361" y="103"/>
                </a:cubicBezTo>
                <a:cubicBezTo>
                  <a:pt x="9355" y="105"/>
                  <a:pt x="9348" y="107"/>
                  <a:pt x="9341" y="107"/>
                </a:cubicBezTo>
                <a:lnTo>
                  <a:pt x="53" y="107"/>
                </a:lnTo>
                <a:cubicBezTo>
                  <a:pt x="46" y="107"/>
                  <a:pt x="40" y="105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5"/>
                  <a:pt x="7" y="79"/>
                  <a:pt x="4" y="73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2076120" y="3124080"/>
            <a:ext cx="1010160" cy="38520"/>
          </a:xfrm>
          <a:custGeom>
            <a:avLst/>
            <a:gdLst/>
            <a:ahLst/>
            <a:rect l="0" t="0" r="r" b="b"/>
            <a:pathLst>
              <a:path w="2806" h="107">
                <a:moveTo>
                  <a:pt x="16" y="15"/>
                </a:moveTo>
                <a:cubicBezTo>
                  <a:pt x="26" y="5"/>
                  <a:pt x="39" y="0"/>
                  <a:pt x="53" y="0"/>
                </a:cubicBezTo>
                <a:lnTo>
                  <a:pt x="2806" y="0"/>
                </a:lnTo>
                <a:lnTo>
                  <a:pt x="2806" y="107"/>
                </a:lnTo>
                <a:lnTo>
                  <a:pt x="53" y="107"/>
                </a:lnTo>
                <a:cubicBezTo>
                  <a:pt x="39" y="107"/>
                  <a:pt x="26" y="101"/>
                  <a:pt x="16" y="91"/>
                </a:cubicBezTo>
                <a:cubicBezTo>
                  <a:pt x="6" y="80"/>
                  <a:pt x="0" y="67"/>
                  <a:pt x="0" y="53"/>
                </a:cubicBezTo>
                <a:cubicBezTo>
                  <a:pt x="0" y="38"/>
                  <a:pt x="6" y="26"/>
                  <a:pt x="16" y="15"/>
                </a:cubicBezTo>
                <a:close/>
              </a:path>
            </a:pathLst>
          </a:custGeom>
          <a:solidFill>
            <a:srgbClr val="F5A62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723960" y="3028320"/>
            <a:ext cx="67824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Mid $3-5k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5673600" y="3028320"/>
            <a:ext cx="151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3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6039000" y="3028320"/>
            <a:ext cx="4327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0" u="none" strike="noStrike">
                <a:solidFill>
                  <a:srgbClr val="F5A623"/>
                </a:solidFill>
                <a:effectLst/>
                <a:uFillTx/>
                <a:latin typeface="RalewayRoman"/>
                <a:ea typeface="RalewayRoman"/>
              </a:rPr>
              <a:t>31.3%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2076120" y="3495600"/>
            <a:ext cx="3381840" cy="38520"/>
          </a:xfrm>
          <a:custGeom>
            <a:avLst/>
            <a:gdLst/>
            <a:ahLst/>
            <a:rect l="0" t="0" r="r" b="b"/>
            <a:pathLst>
              <a:path w="9394" h="107">
                <a:moveTo>
                  <a:pt x="0" y="54"/>
                </a:moveTo>
                <a:cubicBezTo>
                  <a:pt x="0" y="47"/>
                  <a:pt x="2" y="40"/>
                  <a:pt x="4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5"/>
                </a:cubicBezTo>
                <a:cubicBezTo>
                  <a:pt x="40" y="1"/>
                  <a:pt x="46" y="0"/>
                  <a:pt x="53" y="0"/>
                </a:cubicBezTo>
                <a:lnTo>
                  <a:pt x="9341" y="0"/>
                </a:lnTo>
                <a:cubicBezTo>
                  <a:pt x="9348" y="0"/>
                  <a:pt x="9355" y="1"/>
                  <a:pt x="9361" y="5"/>
                </a:cubicBezTo>
                <a:cubicBezTo>
                  <a:pt x="9368" y="7"/>
                  <a:pt x="9374" y="11"/>
                  <a:pt x="9379" y="16"/>
                </a:cubicBezTo>
                <a:cubicBezTo>
                  <a:pt x="9384" y="21"/>
                  <a:pt x="9387" y="27"/>
                  <a:pt x="9390" y="33"/>
                </a:cubicBezTo>
                <a:cubicBezTo>
                  <a:pt x="9393" y="40"/>
                  <a:pt x="9394" y="47"/>
                  <a:pt x="9394" y="54"/>
                </a:cubicBezTo>
                <a:cubicBezTo>
                  <a:pt x="9394" y="61"/>
                  <a:pt x="9393" y="67"/>
                  <a:pt x="9390" y="74"/>
                </a:cubicBezTo>
                <a:cubicBezTo>
                  <a:pt x="9387" y="80"/>
                  <a:pt x="9384" y="86"/>
                  <a:pt x="9379" y="91"/>
                </a:cubicBezTo>
                <a:cubicBezTo>
                  <a:pt x="9374" y="96"/>
                  <a:pt x="9368" y="100"/>
                  <a:pt x="9361" y="103"/>
                </a:cubicBezTo>
                <a:cubicBezTo>
                  <a:pt x="9355" y="105"/>
                  <a:pt x="9348" y="107"/>
                  <a:pt x="9341" y="107"/>
                </a:cubicBezTo>
                <a:lnTo>
                  <a:pt x="53" y="107"/>
                </a:lnTo>
                <a:cubicBezTo>
                  <a:pt x="46" y="107"/>
                  <a:pt x="40" y="105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4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2076120" y="3495600"/>
            <a:ext cx="1686600" cy="38520"/>
          </a:xfrm>
          <a:custGeom>
            <a:avLst/>
            <a:gdLst/>
            <a:ahLst/>
            <a:rect l="0" t="0" r="r" b="b"/>
            <a:pathLst>
              <a:path w="4685" h="107">
                <a:moveTo>
                  <a:pt x="16" y="16"/>
                </a:moveTo>
                <a:cubicBezTo>
                  <a:pt x="26" y="6"/>
                  <a:pt x="39" y="0"/>
                  <a:pt x="53" y="0"/>
                </a:cubicBezTo>
                <a:lnTo>
                  <a:pt x="4685" y="0"/>
                </a:lnTo>
                <a:lnTo>
                  <a:pt x="4685" y="107"/>
                </a:lnTo>
                <a:lnTo>
                  <a:pt x="53" y="107"/>
                </a:lnTo>
                <a:cubicBezTo>
                  <a:pt x="39" y="107"/>
                  <a:pt x="26" y="101"/>
                  <a:pt x="16" y="91"/>
                </a:cubicBezTo>
                <a:cubicBezTo>
                  <a:pt x="6" y="81"/>
                  <a:pt x="0" y="68"/>
                  <a:pt x="0" y="54"/>
                </a:cubicBezTo>
                <a:cubicBezTo>
                  <a:pt x="0" y="39"/>
                  <a:pt x="6" y="27"/>
                  <a:pt x="16" y="16"/>
                </a:cubicBez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3960" y="3399840"/>
            <a:ext cx="85608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Senior $5-8k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5673240" y="3399840"/>
            <a:ext cx="151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5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6027840" y="3399840"/>
            <a:ext cx="4327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18.5%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2076120" y="3867120"/>
            <a:ext cx="3381840" cy="38160"/>
          </a:xfrm>
          <a:custGeom>
            <a:avLst/>
            <a:gdLst/>
            <a:ahLst/>
            <a:rect l="0" t="0" r="r" b="b"/>
            <a:pathLst>
              <a:path w="9394" h="106">
                <a:moveTo>
                  <a:pt x="16" y="15"/>
                </a:moveTo>
                <a:cubicBezTo>
                  <a:pt x="26" y="5"/>
                  <a:pt x="39" y="0"/>
                  <a:pt x="53" y="0"/>
                </a:cubicBezTo>
                <a:lnTo>
                  <a:pt x="9341" y="0"/>
                </a:lnTo>
                <a:cubicBezTo>
                  <a:pt x="9356" y="0"/>
                  <a:pt x="9368" y="5"/>
                  <a:pt x="9379" y="15"/>
                </a:cubicBezTo>
                <a:cubicBezTo>
                  <a:pt x="9389" y="26"/>
                  <a:pt x="9394" y="39"/>
                  <a:pt x="9394" y="53"/>
                </a:cubicBezTo>
                <a:cubicBezTo>
                  <a:pt x="9394" y="68"/>
                  <a:pt x="9389" y="81"/>
                  <a:pt x="9379" y="91"/>
                </a:cubicBezTo>
                <a:cubicBezTo>
                  <a:pt x="9368" y="101"/>
                  <a:pt x="9356" y="106"/>
                  <a:pt x="9341" y="106"/>
                </a:cubicBezTo>
                <a:lnTo>
                  <a:pt x="53" y="106"/>
                </a:lnTo>
                <a:cubicBezTo>
                  <a:pt x="39" y="106"/>
                  <a:pt x="26" y="101"/>
                  <a:pt x="16" y="91"/>
                </a:cubicBezTo>
                <a:cubicBezTo>
                  <a:pt x="6" y="81"/>
                  <a:pt x="0" y="68"/>
                  <a:pt x="0" y="54"/>
                </a:cubicBezTo>
                <a:lnTo>
                  <a:pt x="0" y="53"/>
                </a:lnTo>
                <a:cubicBezTo>
                  <a:pt x="0" y="39"/>
                  <a:pt x="6" y="26"/>
                  <a:pt x="16" y="15"/>
                </a:cubicBezTo>
                <a:close/>
              </a:path>
            </a:pathLst>
          </a:custGeom>
          <a:solidFill>
            <a:srgbClr val="22C5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723960" y="3771360"/>
            <a:ext cx="77040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Exec &gt; $8k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599800" y="3771360"/>
            <a:ext cx="204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1" u="none" strike="noStrike">
                <a:solidFill>
                  <a:srgbClr val="22C55E"/>
                </a:solidFill>
                <a:effectLst/>
                <a:uFillTx/>
                <a:latin typeface="Outfit-Thin_"/>
                <a:ea typeface="Outfit-Thin_"/>
              </a:rPr>
              <a:t>10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6032520" y="3771360"/>
            <a:ext cx="4327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0" u="none" strike="noStrike">
                <a:solidFill>
                  <a:srgbClr val="22C55E"/>
                </a:solidFill>
                <a:effectLst/>
                <a:uFillTx/>
                <a:latin typeface="RalewayRoman"/>
                <a:ea typeface="RalewayRoman"/>
              </a:rPr>
              <a:t>12.6%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790560" y="4367520"/>
            <a:ext cx="50626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3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Median </a:t>
            </a:r>
            <a:r>
              <a:rPr lang="en-SG" sz="143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3 </a:t>
            </a:r>
            <a:r>
              <a:rPr lang="en-SG" sz="143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applications against a mean of </a:t>
            </a:r>
            <a:r>
              <a:rPr lang="en-SG" sz="143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9.6</a:t>
            </a:r>
            <a:r>
              <a:rPr lang="en-SG" sz="143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. A board quoting</a:t>
            </a:r>
            <a:endParaRPr lang="en-SG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6676920" y="2285640"/>
            <a:ext cx="9720" cy="3219840"/>
          </a:xfrm>
          <a:custGeom>
            <a:avLst/>
            <a:gdLst/>
            <a:ahLst/>
            <a:rect l="0" t="0" r="r" b="b"/>
            <a:pathLst>
              <a:path w="27" h="8944">
                <a:moveTo>
                  <a:pt x="0" y="0"/>
                </a:moveTo>
                <a:lnTo>
                  <a:pt x="27" y="0"/>
                </a:lnTo>
                <a:lnTo>
                  <a:pt x="27" y="8944"/>
                </a:lnTo>
                <a:lnTo>
                  <a:pt x="0" y="8944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790560" y="4643640"/>
            <a:ext cx="39646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3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averages sets expectations three times too high.</a:t>
            </a:r>
            <a:endParaRPr lang="en-SG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8155440" y="4228920"/>
            <a:ext cx="2400120" cy="0"/>
          </a:xfrm>
          <a:prstGeom prst="line">
            <a:avLst/>
          </a:prstGeom>
          <a:ln w="9360">
            <a:solidFill>
              <a:srgbClr val="22222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8155440" y="2666880"/>
            <a:ext cx="0" cy="1562040"/>
          </a:xfrm>
          <a:prstGeom prst="line">
            <a:avLst/>
          </a:prstGeom>
          <a:ln w="9360">
            <a:solidFill>
              <a:srgbClr val="22222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6891840" y="2293200"/>
            <a:ext cx="15890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REACH AND CONVERSION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7974720" y="2651400"/>
            <a:ext cx="1713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670" b="0" u="none" strike="noStrike">
                <a:solidFill>
                  <a:srgbClr val="444444"/>
                </a:solidFill>
                <a:effectLst/>
                <a:uFillTx/>
                <a:latin typeface="Outfit-Thin_"/>
                <a:ea typeface="Outfit-Thin_"/>
              </a:rPr>
              <a:t>10%</a:t>
            </a:r>
            <a:endParaRPr lang="en-SG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8014320" y="3413520"/>
            <a:ext cx="12420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670" b="0" u="none" strike="noStrike">
                <a:solidFill>
                  <a:srgbClr val="444444"/>
                </a:solidFill>
                <a:effectLst/>
                <a:uFillTx/>
                <a:latin typeface="Outfit-Thin_"/>
                <a:ea typeface="Outfit-Thin_"/>
              </a:rPr>
              <a:t>5%</a:t>
            </a:r>
            <a:endParaRPr lang="en-SG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313840" y="4270680"/>
            <a:ext cx="957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670" b="0" u="none" strike="noStrike">
                <a:solidFill>
                  <a:srgbClr val="444444"/>
                </a:solidFill>
                <a:effectLst/>
                <a:uFillTx/>
                <a:latin typeface="Outfit-Thin_"/>
                <a:ea typeface="Outfit-Thin_"/>
              </a:rPr>
              <a:t>50</a:t>
            </a:r>
            <a:endParaRPr lang="en-SG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8381880" y="2883600"/>
            <a:ext cx="1921680" cy="854640"/>
          </a:xfrm>
          <a:custGeom>
            <a:avLst/>
            <a:gdLst/>
            <a:ahLst/>
            <a:rect l="0" t="0" r="r" b="b"/>
            <a:pathLst>
              <a:path w="5338" h="2374">
                <a:moveTo>
                  <a:pt x="0" y="2350"/>
                </a:moveTo>
                <a:lnTo>
                  <a:pt x="97" y="2307"/>
                </a:lnTo>
                <a:lnTo>
                  <a:pt x="108" y="2332"/>
                </a:lnTo>
                <a:lnTo>
                  <a:pt x="11" y="2374"/>
                </a:lnTo>
                <a:lnTo>
                  <a:pt x="0" y="2350"/>
                </a:lnTo>
                <a:moveTo>
                  <a:pt x="194" y="2265"/>
                </a:moveTo>
                <a:lnTo>
                  <a:pt x="291" y="2222"/>
                </a:lnTo>
                <a:lnTo>
                  <a:pt x="301" y="2246"/>
                </a:lnTo>
                <a:lnTo>
                  <a:pt x="205" y="2289"/>
                </a:lnTo>
                <a:lnTo>
                  <a:pt x="194" y="2265"/>
                </a:lnTo>
                <a:moveTo>
                  <a:pt x="388" y="2179"/>
                </a:moveTo>
                <a:lnTo>
                  <a:pt x="484" y="2136"/>
                </a:lnTo>
                <a:lnTo>
                  <a:pt x="495" y="2161"/>
                </a:lnTo>
                <a:lnTo>
                  <a:pt x="398" y="2203"/>
                </a:lnTo>
                <a:lnTo>
                  <a:pt x="388" y="2179"/>
                </a:lnTo>
                <a:moveTo>
                  <a:pt x="581" y="2094"/>
                </a:moveTo>
                <a:lnTo>
                  <a:pt x="678" y="2051"/>
                </a:lnTo>
                <a:lnTo>
                  <a:pt x="689" y="2075"/>
                </a:lnTo>
                <a:lnTo>
                  <a:pt x="592" y="2118"/>
                </a:lnTo>
                <a:lnTo>
                  <a:pt x="581" y="2094"/>
                </a:lnTo>
                <a:moveTo>
                  <a:pt x="776" y="2008"/>
                </a:moveTo>
                <a:lnTo>
                  <a:pt x="873" y="1966"/>
                </a:lnTo>
                <a:lnTo>
                  <a:pt x="883" y="1990"/>
                </a:lnTo>
                <a:lnTo>
                  <a:pt x="787" y="2033"/>
                </a:lnTo>
                <a:lnTo>
                  <a:pt x="776" y="2008"/>
                </a:lnTo>
                <a:moveTo>
                  <a:pt x="970" y="1923"/>
                </a:moveTo>
                <a:lnTo>
                  <a:pt x="1066" y="1880"/>
                </a:lnTo>
                <a:lnTo>
                  <a:pt x="1077" y="1904"/>
                </a:lnTo>
                <a:lnTo>
                  <a:pt x="980" y="1947"/>
                </a:lnTo>
                <a:lnTo>
                  <a:pt x="970" y="1923"/>
                </a:lnTo>
                <a:moveTo>
                  <a:pt x="1163" y="1837"/>
                </a:moveTo>
                <a:lnTo>
                  <a:pt x="1260" y="1795"/>
                </a:lnTo>
                <a:lnTo>
                  <a:pt x="1271" y="1819"/>
                </a:lnTo>
                <a:lnTo>
                  <a:pt x="1174" y="1862"/>
                </a:lnTo>
                <a:lnTo>
                  <a:pt x="1163" y="1837"/>
                </a:lnTo>
                <a:moveTo>
                  <a:pt x="1357" y="1752"/>
                </a:moveTo>
                <a:lnTo>
                  <a:pt x="1454" y="1709"/>
                </a:lnTo>
                <a:lnTo>
                  <a:pt x="1464" y="1733"/>
                </a:lnTo>
                <a:lnTo>
                  <a:pt x="1368" y="1776"/>
                </a:lnTo>
                <a:lnTo>
                  <a:pt x="1357" y="1752"/>
                </a:lnTo>
                <a:moveTo>
                  <a:pt x="1551" y="1667"/>
                </a:moveTo>
                <a:lnTo>
                  <a:pt x="1647" y="1624"/>
                </a:lnTo>
                <a:lnTo>
                  <a:pt x="1658" y="1648"/>
                </a:lnTo>
                <a:lnTo>
                  <a:pt x="1561" y="1691"/>
                </a:lnTo>
                <a:lnTo>
                  <a:pt x="1551" y="1667"/>
                </a:lnTo>
                <a:moveTo>
                  <a:pt x="1744" y="1581"/>
                </a:moveTo>
                <a:lnTo>
                  <a:pt x="1841" y="1538"/>
                </a:lnTo>
                <a:lnTo>
                  <a:pt x="1852" y="1563"/>
                </a:lnTo>
                <a:lnTo>
                  <a:pt x="1755" y="1605"/>
                </a:lnTo>
                <a:lnTo>
                  <a:pt x="1744" y="1581"/>
                </a:lnTo>
                <a:moveTo>
                  <a:pt x="1938" y="1496"/>
                </a:moveTo>
                <a:lnTo>
                  <a:pt x="2035" y="1453"/>
                </a:lnTo>
                <a:lnTo>
                  <a:pt x="2045" y="1477"/>
                </a:lnTo>
                <a:lnTo>
                  <a:pt x="1949" y="1520"/>
                </a:lnTo>
                <a:lnTo>
                  <a:pt x="1938" y="1496"/>
                </a:lnTo>
                <a:moveTo>
                  <a:pt x="2132" y="1410"/>
                </a:moveTo>
                <a:lnTo>
                  <a:pt x="2228" y="1368"/>
                </a:lnTo>
                <a:lnTo>
                  <a:pt x="2239" y="1392"/>
                </a:lnTo>
                <a:lnTo>
                  <a:pt x="2142" y="1434"/>
                </a:lnTo>
                <a:lnTo>
                  <a:pt x="2132" y="1410"/>
                </a:lnTo>
                <a:moveTo>
                  <a:pt x="2325" y="1325"/>
                </a:moveTo>
                <a:lnTo>
                  <a:pt x="2422" y="1282"/>
                </a:lnTo>
                <a:lnTo>
                  <a:pt x="2433" y="1306"/>
                </a:lnTo>
                <a:lnTo>
                  <a:pt x="2336" y="1349"/>
                </a:lnTo>
                <a:lnTo>
                  <a:pt x="2325" y="1325"/>
                </a:lnTo>
                <a:moveTo>
                  <a:pt x="2519" y="1239"/>
                </a:moveTo>
                <a:lnTo>
                  <a:pt x="2616" y="1197"/>
                </a:lnTo>
                <a:lnTo>
                  <a:pt x="2626" y="1221"/>
                </a:lnTo>
                <a:lnTo>
                  <a:pt x="2530" y="1264"/>
                </a:lnTo>
                <a:lnTo>
                  <a:pt x="2519" y="1239"/>
                </a:lnTo>
                <a:moveTo>
                  <a:pt x="2712" y="1154"/>
                </a:moveTo>
                <a:lnTo>
                  <a:pt x="2809" y="1111"/>
                </a:lnTo>
                <a:lnTo>
                  <a:pt x="2820" y="1135"/>
                </a:lnTo>
                <a:lnTo>
                  <a:pt x="2723" y="1178"/>
                </a:lnTo>
                <a:lnTo>
                  <a:pt x="2712" y="1154"/>
                </a:lnTo>
                <a:moveTo>
                  <a:pt x="2906" y="1069"/>
                </a:moveTo>
                <a:lnTo>
                  <a:pt x="3003" y="1026"/>
                </a:lnTo>
                <a:lnTo>
                  <a:pt x="3014" y="1050"/>
                </a:lnTo>
                <a:lnTo>
                  <a:pt x="2917" y="1093"/>
                </a:lnTo>
                <a:lnTo>
                  <a:pt x="2906" y="1069"/>
                </a:lnTo>
                <a:moveTo>
                  <a:pt x="3100" y="983"/>
                </a:moveTo>
                <a:lnTo>
                  <a:pt x="3197" y="940"/>
                </a:lnTo>
                <a:lnTo>
                  <a:pt x="3207" y="965"/>
                </a:lnTo>
                <a:lnTo>
                  <a:pt x="3110" y="1007"/>
                </a:lnTo>
                <a:lnTo>
                  <a:pt x="3100" y="983"/>
                </a:lnTo>
                <a:moveTo>
                  <a:pt x="3293" y="898"/>
                </a:moveTo>
                <a:lnTo>
                  <a:pt x="3390" y="855"/>
                </a:lnTo>
                <a:lnTo>
                  <a:pt x="3401" y="879"/>
                </a:lnTo>
                <a:lnTo>
                  <a:pt x="3304" y="922"/>
                </a:lnTo>
                <a:lnTo>
                  <a:pt x="3293" y="898"/>
                </a:lnTo>
                <a:moveTo>
                  <a:pt x="3487" y="812"/>
                </a:moveTo>
                <a:lnTo>
                  <a:pt x="3584" y="769"/>
                </a:lnTo>
                <a:lnTo>
                  <a:pt x="3595" y="794"/>
                </a:lnTo>
                <a:lnTo>
                  <a:pt x="3498" y="836"/>
                </a:lnTo>
                <a:lnTo>
                  <a:pt x="3487" y="812"/>
                </a:lnTo>
                <a:moveTo>
                  <a:pt x="3681" y="727"/>
                </a:moveTo>
                <a:lnTo>
                  <a:pt x="3778" y="684"/>
                </a:lnTo>
                <a:lnTo>
                  <a:pt x="3788" y="708"/>
                </a:lnTo>
                <a:lnTo>
                  <a:pt x="3691" y="751"/>
                </a:lnTo>
                <a:lnTo>
                  <a:pt x="3681" y="727"/>
                </a:lnTo>
                <a:moveTo>
                  <a:pt x="3874" y="641"/>
                </a:moveTo>
                <a:lnTo>
                  <a:pt x="3971" y="599"/>
                </a:lnTo>
                <a:lnTo>
                  <a:pt x="3982" y="623"/>
                </a:lnTo>
                <a:lnTo>
                  <a:pt x="3885" y="666"/>
                </a:lnTo>
                <a:lnTo>
                  <a:pt x="3874" y="641"/>
                </a:lnTo>
                <a:moveTo>
                  <a:pt x="4068" y="556"/>
                </a:moveTo>
                <a:lnTo>
                  <a:pt x="4165" y="513"/>
                </a:lnTo>
                <a:lnTo>
                  <a:pt x="4176" y="537"/>
                </a:lnTo>
                <a:lnTo>
                  <a:pt x="4079" y="580"/>
                </a:lnTo>
                <a:lnTo>
                  <a:pt x="4068" y="556"/>
                </a:lnTo>
                <a:moveTo>
                  <a:pt x="4262" y="470"/>
                </a:moveTo>
                <a:lnTo>
                  <a:pt x="4359" y="428"/>
                </a:lnTo>
                <a:lnTo>
                  <a:pt x="4369" y="452"/>
                </a:lnTo>
                <a:lnTo>
                  <a:pt x="4272" y="495"/>
                </a:lnTo>
                <a:lnTo>
                  <a:pt x="4262" y="470"/>
                </a:lnTo>
                <a:moveTo>
                  <a:pt x="4455" y="385"/>
                </a:moveTo>
                <a:lnTo>
                  <a:pt x="4552" y="342"/>
                </a:lnTo>
                <a:lnTo>
                  <a:pt x="4563" y="366"/>
                </a:lnTo>
                <a:lnTo>
                  <a:pt x="4466" y="409"/>
                </a:lnTo>
                <a:lnTo>
                  <a:pt x="4455" y="385"/>
                </a:lnTo>
                <a:moveTo>
                  <a:pt x="4649" y="300"/>
                </a:moveTo>
                <a:lnTo>
                  <a:pt x="4746" y="256"/>
                </a:lnTo>
                <a:lnTo>
                  <a:pt x="4757" y="280"/>
                </a:lnTo>
                <a:lnTo>
                  <a:pt x="4660" y="324"/>
                </a:lnTo>
                <a:lnTo>
                  <a:pt x="4649" y="300"/>
                </a:lnTo>
                <a:moveTo>
                  <a:pt x="4843" y="213"/>
                </a:moveTo>
                <a:lnTo>
                  <a:pt x="4940" y="170"/>
                </a:lnTo>
                <a:lnTo>
                  <a:pt x="4950" y="195"/>
                </a:lnTo>
                <a:lnTo>
                  <a:pt x="4853" y="237"/>
                </a:lnTo>
                <a:lnTo>
                  <a:pt x="4843" y="213"/>
                </a:lnTo>
                <a:moveTo>
                  <a:pt x="5036" y="128"/>
                </a:moveTo>
                <a:lnTo>
                  <a:pt x="5133" y="85"/>
                </a:lnTo>
                <a:lnTo>
                  <a:pt x="5144" y="109"/>
                </a:lnTo>
                <a:lnTo>
                  <a:pt x="5047" y="152"/>
                </a:lnTo>
                <a:lnTo>
                  <a:pt x="5036" y="128"/>
                </a:lnTo>
                <a:moveTo>
                  <a:pt x="5230" y="42"/>
                </a:moveTo>
                <a:lnTo>
                  <a:pt x="5327" y="0"/>
                </a:lnTo>
                <a:lnTo>
                  <a:pt x="5338" y="24"/>
                </a:lnTo>
                <a:lnTo>
                  <a:pt x="5241" y="66"/>
                </a:lnTo>
                <a:lnTo>
                  <a:pt x="5230" y="42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8317080" y="3666960"/>
            <a:ext cx="133920" cy="133560"/>
          </a:xfrm>
          <a:custGeom>
            <a:avLst/>
            <a:gdLst/>
            <a:ahLst/>
            <a:rect l="0" t="0" r="r" b="b"/>
            <a:pathLst>
              <a:path w="372" h="371">
                <a:moveTo>
                  <a:pt x="372" y="185"/>
                </a:moveTo>
                <a:cubicBezTo>
                  <a:pt x="372" y="197"/>
                  <a:pt x="371" y="209"/>
                  <a:pt x="368" y="221"/>
                </a:cubicBezTo>
                <a:cubicBezTo>
                  <a:pt x="366" y="233"/>
                  <a:pt x="362" y="245"/>
                  <a:pt x="358" y="256"/>
                </a:cubicBezTo>
                <a:cubicBezTo>
                  <a:pt x="353" y="267"/>
                  <a:pt x="347" y="278"/>
                  <a:pt x="341" y="288"/>
                </a:cubicBezTo>
                <a:cubicBezTo>
                  <a:pt x="334" y="298"/>
                  <a:pt x="326" y="308"/>
                  <a:pt x="318" y="316"/>
                </a:cubicBezTo>
                <a:cubicBezTo>
                  <a:pt x="309" y="325"/>
                  <a:pt x="300" y="332"/>
                  <a:pt x="290" y="339"/>
                </a:cubicBezTo>
                <a:cubicBezTo>
                  <a:pt x="279" y="346"/>
                  <a:pt x="269" y="352"/>
                  <a:pt x="257" y="356"/>
                </a:cubicBezTo>
                <a:cubicBezTo>
                  <a:pt x="246" y="362"/>
                  <a:pt x="235" y="365"/>
                  <a:pt x="223" y="368"/>
                </a:cubicBezTo>
                <a:cubicBezTo>
                  <a:pt x="211" y="370"/>
                  <a:pt x="199" y="371"/>
                  <a:pt x="187" y="371"/>
                </a:cubicBezTo>
                <a:cubicBezTo>
                  <a:pt x="174" y="371"/>
                  <a:pt x="162" y="370"/>
                  <a:pt x="150" y="368"/>
                </a:cubicBezTo>
                <a:cubicBezTo>
                  <a:pt x="139" y="365"/>
                  <a:pt x="127" y="362"/>
                  <a:pt x="116" y="356"/>
                </a:cubicBezTo>
                <a:cubicBezTo>
                  <a:pt x="105" y="352"/>
                  <a:pt x="94" y="346"/>
                  <a:pt x="84" y="339"/>
                </a:cubicBezTo>
                <a:cubicBezTo>
                  <a:pt x="74" y="332"/>
                  <a:pt x="64" y="325"/>
                  <a:pt x="56" y="316"/>
                </a:cubicBezTo>
                <a:cubicBezTo>
                  <a:pt x="47" y="308"/>
                  <a:pt x="39" y="298"/>
                  <a:pt x="33" y="288"/>
                </a:cubicBezTo>
                <a:cubicBezTo>
                  <a:pt x="26" y="278"/>
                  <a:pt x="19" y="267"/>
                  <a:pt x="15" y="256"/>
                </a:cubicBezTo>
                <a:cubicBezTo>
                  <a:pt x="10" y="245"/>
                  <a:pt x="6" y="233"/>
                  <a:pt x="4" y="221"/>
                </a:cubicBezTo>
                <a:cubicBezTo>
                  <a:pt x="2" y="209"/>
                  <a:pt x="0" y="197"/>
                  <a:pt x="0" y="185"/>
                </a:cubicBezTo>
                <a:cubicBezTo>
                  <a:pt x="0" y="173"/>
                  <a:pt x="2" y="161"/>
                  <a:pt x="4" y="149"/>
                </a:cubicBezTo>
                <a:cubicBezTo>
                  <a:pt x="6" y="137"/>
                  <a:pt x="10" y="126"/>
                  <a:pt x="15" y="114"/>
                </a:cubicBezTo>
                <a:cubicBezTo>
                  <a:pt x="19" y="103"/>
                  <a:pt x="26" y="92"/>
                  <a:pt x="33" y="82"/>
                </a:cubicBezTo>
                <a:cubicBezTo>
                  <a:pt x="39" y="72"/>
                  <a:pt x="47" y="63"/>
                  <a:pt x="56" y="54"/>
                </a:cubicBezTo>
                <a:cubicBezTo>
                  <a:pt x="64" y="46"/>
                  <a:pt x="74" y="38"/>
                  <a:pt x="84" y="31"/>
                </a:cubicBezTo>
                <a:cubicBezTo>
                  <a:pt x="94" y="24"/>
                  <a:pt x="105" y="19"/>
                  <a:pt x="116" y="14"/>
                </a:cubicBezTo>
                <a:cubicBezTo>
                  <a:pt x="127" y="9"/>
                  <a:pt x="139" y="6"/>
                  <a:pt x="150" y="4"/>
                </a:cubicBezTo>
                <a:cubicBezTo>
                  <a:pt x="162" y="1"/>
                  <a:pt x="174" y="0"/>
                  <a:pt x="187" y="0"/>
                </a:cubicBezTo>
                <a:cubicBezTo>
                  <a:pt x="199" y="0"/>
                  <a:pt x="211" y="1"/>
                  <a:pt x="223" y="4"/>
                </a:cubicBezTo>
                <a:cubicBezTo>
                  <a:pt x="235" y="6"/>
                  <a:pt x="246" y="9"/>
                  <a:pt x="257" y="14"/>
                </a:cubicBezTo>
                <a:cubicBezTo>
                  <a:pt x="269" y="19"/>
                  <a:pt x="279" y="24"/>
                  <a:pt x="290" y="31"/>
                </a:cubicBezTo>
                <a:cubicBezTo>
                  <a:pt x="300" y="38"/>
                  <a:pt x="309" y="46"/>
                  <a:pt x="318" y="54"/>
                </a:cubicBezTo>
                <a:cubicBezTo>
                  <a:pt x="326" y="63"/>
                  <a:pt x="334" y="72"/>
                  <a:pt x="341" y="82"/>
                </a:cubicBezTo>
                <a:cubicBezTo>
                  <a:pt x="347" y="92"/>
                  <a:pt x="353" y="103"/>
                  <a:pt x="358" y="114"/>
                </a:cubicBezTo>
                <a:cubicBezTo>
                  <a:pt x="362" y="126"/>
                  <a:pt x="366" y="137"/>
                  <a:pt x="368" y="149"/>
                </a:cubicBezTo>
                <a:cubicBezTo>
                  <a:pt x="371" y="161"/>
                  <a:pt x="372" y="173"/>
                  <a:pt x="372" y="185"/>
                </a:cubicBezTo>
                <a:close/>
              </a:path>
            </a:pathLst>
          </a:custGeom>
          <a:solidFill>
            <a:srgbClr val="EF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10186200" y="4270680"/>
            <a:ext cx="3801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670" b="0" u="none" strike="noStrike">
                <a:solidFill>
                  <a:srgbClr val="444444"/>
                </a:solidFill>
                <a:effectLst/>
                <a:uFillTx/>
                <a:latin typeface="Outfit-Thin_"/>
                <a:ea typeface="Outfit-Thin_"/>
              </a:rPr>
              <a:t>120 views</a:t>
            </a:r>
            <a:endParaRPr lang="en-SG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8641080" y="3381120"/>
            <a:ext cx="133560" cy="133920"/>
          </a:xfrm>
          <a:custGeom>
            <a:avLst/>
            <a:gdLst/>
            <a:ahLst/>
            <a:rect l="0" t="0" r="r" b="b"/>
            <a:pathLst>
              <a:path w="371" h="372">
                <a:moveTo>
                  <a:pt x="371" y="186"/>
                </a:moveTo>
                <a:cubicBezTo>
                  <a:pt x="371" y="199"/>
                  <a:pt x="370" y="211"/>
                  <a:pt x="368" y="223"/>
                </a:cubicBezTo>
                <a:cubicBezTo>
                  <a:pt x="365" y="234"/>
                  <a:pt x="362" y="246"/>
                  <a:pt x="357" y="257"/>
                </a:cubicBezTo>
                <a:cubicBezTo>
                  <a:pt x="353" y="269"/>
                  <a:pt x="347" y="279"/>
                  <a:pt x="340" y="289"/>
                </a:cubicBezTo>
                <a:cubicBezTo>
                  <a:pt x="333" y="299"/>
                  <a:pt x="326" y="309"/>
                  <a:pt x="317" y="317"/>
                </a:cubicBezTo>
                <a:cubicBezTo>
                  <a:pt x="309" y="326"/>
                  <a:pt x="299" y="334"/>
                  <a:pt x="289" y="340"/>
                </a:cubicBezTo>
                <a:cubicBezTo>
                  <a:pt x="279" y="347"/>
                  <a:pt x="268" y="353"/>
                  <a:pt x="257" y="358"/>
                </a:cubicBezTo>
                <a:cubicBezTo>
                  <a:pt x="246" y="362"/>
                  <a:pt x="234" y="366"/>
                  <a:pt x="221" y="368"/>
                </a:cubicBezTo>
                <a:cubicBezTo>
                  <a:pt x="209" y="370"/>
                  <a:pt x="197" y="372"/>
                  <a:pt x="185" y="372"/>
                </a:cubicBezTo>
                <a:cubicBezTo>
                  <a:pt x="173" y="372"/>
                  <a:pt x="161" y="370"/>
                  <a:pt x="149" y="368"/>
                </a:cubicBezTo>
                <a:cubicBezTo>
                  <a:pt x="137" y="366"/>
                  <a:pt x="126" y="362"/>
                  <a:pt x="114" y="358"/>
                </a:cubicBezTo>
                <a:cubicBezTo>
                  <a:pt x="103" y="353"/>
                  <a:pt x="92" y="347"/>
                  <a:pt x="82" y="340"/>
                </a:cubicBezTo>
                <a:cubicBezTo>
                  <a:pt x="72" y="334"/>
                  <a:pt x="63" y="326"/>
                  <a:pt x="54" y="317"/>
                </a:cubicBezTo>
                <a:cubicBezTo>
                  <a:pt x="46" y="309"/>
                  <a:pt x="38" y="299"/>
                  <a:pt x="31" y="289"/>
                </a:cubicBezTo>
                <a:cubicBezTo>
                  <a:pt x="24" y="279"/>
                  <a:pt x="19" y="269"/>
                  <a:pt x="14" y="257"/>
                </a:cubicBezTo>
                <a:cubicBezTo>
                  <a:pt x="9" y="246"/>
                  <a:pt x="6" y="234"/>
                  <a:pt x="4" y="223"/>
                </a:cubicBezTo>
                <a:cubicBezTo>
                  <a:pt x="1" y="211"/>
                  <a:pt x="0" y="199"/>
                  <a:pt x="0" y="186"/>
                </a:cubicBezTo>
                <a:cubicBezTo>
                  <a:pt x="0" y="174"/>
                  <a:pt x="1" y="162"/>
                  <a:pt x="4" y="150"/>
                </a:cubicBezTo>
                <a:cubicBezTo>
                  <a:pt x="6" y="138"/>
                  <a:pt x="9" y="127"/>
                  <a:pt x="14" y="116"/>
                </a:cubicBezTo>
                <a:cubicBezTo>
                  <a:pt x="19" y="104"/>
                  <a:pt x="24" y="94"/>
                  <a:pt x="31" y="84"/>
                </a:cubicBezTo>
                <a:cubicBezTo>
                  <a:pt x="38" y="73"/>
                  <a:pt x="46" y="64"/>
                  <a:pt x="54" y="55"/>
                </a:cubicBezTo>
                <a:cubicBezTo>
                  <a:pt x="63" y="47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cubicBezTo>
                  <a:pt x="197" y="0"/>
                  <a:pt x="209" y="1"/>
                  <a:pt x="221" y="4"/>
                </a:cubicBezTo>
                <a:cubicBezTo>
                  <a:pt x="234" y="6"/>
                  <a:pt x="246" y="10"/>
                  <a:pt x="257" y="14"/>
                </a:cubicBezTo>
                <a:cubicBezTo>
                  <a:pt x="268" y="19"/>
                  <a:pt x="279" y="25"/>
                  <a:pt x="289" y="31"/>
                </a:cubicBezTo>
                <a:cubicBezTo>
                  <a:pt x="299" y="38"/>
                  <a:pt x="309" y="47"/>
                  <a:pt x="317" y="55"/>
                </a:cubicBezTo>
                <a:cubicBezTo>
                  <a:pt x="326" y="64"/>
                  <a:pt x="333" y="73"/>
                  <a:pt x="340" y="84"/>
                </a:cubicBezTo>
                <a:cubicBezTo>
                  <a:pt x="347" y="94"/>
                  <a:pt x="353" y="104"/>
                  <a:pt x="357" y="116"/>
                </a:cubicBezTo>
                <a:cubicBezTo>
                  <a:pt x="362" y="127"/>
                  <a:pt x="365" y="138"/>
                  <a:pt x="368" y="150"/>
                </a:cubicBezTo>
                <a:cubicBezTo>
                  <a:pt x="370" y="162"/>
                  <a:pt x="371" y="174"/>
                  <a:pt x="371" y="186"/>
                </a:cubicBezTo>
                <a:close/>
              </a:path>
            </a:pathLst>
          </a:custGeom>
          <a:solidFill>
            <a:srgbClr val="F5A62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9279360" y="3066840"/>
            <a:ext cx="133560" cy="133560"/>
          </a:xfrm>
          <a:custGeom>
            <a:avLst/>
            <a:gdLst/>
            <a:ahLst/>
            <a:rect l="0" t="0" r="r" b="b"/>
            <a:pathLst>
              <a:path w="371" h="371">
                <a:moveTo>
                  <a:pt x="371" y="186"/>
                </a:moveTo>
                <a:cubicBezTo>
                  <a:pt x="371" y="198"/>
                  <a:pt x="370" y="210"/>
                  <a:pt x="368" y="222"/>
                </a:cubicBezTo>
                <a:cubicBezTo>
                  <a:pt x="365" y="234"/>
                  <a:pt x="362" y="246"/>
                  <a:pt x="357" y="257"/>
                </a:cubicBezTo>
                <a:cubicBezTo>
                  <a:pt x="352" y="268"/>
                  <a:pt x="347" y="279"/>
                  <a:pt x="340" y="289"/>
                </a:cubicBezTo>
                <a:cubicBezTo>
                  <a:pt x="333" y="299"/>
                  <a:pt x="325" y="309"/>
                  <a:pt x="317" y="317"/>
                </a:cubicBezTo>
                <a:cubicBezTo>
                  <a:pt x="307" y="326"/>
                  <a:pt x="298" y="334"/>
                  <a:pt x="288" y="340"/>
                </a:cubicBezTo>
                <a:cubicBezTo>
                  <a:pt x="278" y="347"/>
                  <a:pt x="267" y="353"/>
                  <a:pt x="256" y="357"/>
                </a:cubicBezTo>
                <a:cubicBezTo>
                  <a:pt x="245" y="362"/>
                  <a:pt x="233" y="366"/>
                  <a:pt x="221" y="368"/>
                </a:cubicBezTo>
                <a:cubicBezTo>
                  <a:pt x="209" y="370"/>
                  <a:pt x="197" y="371"/>
                  <a:pt x="185" y="371"/>
                </a:cubicBezTo>
                <a:cubicBezTo>
                  <a:pt x="173" y="371"/>
                  <a:pt x="161" y="370"/>
                  <a:pt x="149" y="368"/>
                </a:cubicBezTo>
                <a:cubicBezTo>
                  <a:pt x="137" y="366"/>
                  <a:pt x="125" y="362"/>
                  <a:pt x="114" y="357"/>
                </a:cubicBezTo>
                <a:cubicBezTo>
                  <a:pt x="103" y="353"/>
                  <a:pt x="92" y="347"/>
                  <a:pt x="82" y="340"/>
                </a:cubicBezTo>
                <a:cubicBezTo>
                  <a:pt x="72" y="334"/>
                  <a:pt x="63" y="326"/>
                  <a:pt x="54" y="317"/>
                </a:cubicBezTo>
                <a:cubicBezTo>
                  <a:pt x="45" y="309"/>
                  <a:pt x="38" y="299"/>
                  <a:pt x="31" y="289"/>
                </a:cubicBezTo>
                <a:cubicBezTo>
                  <a:pt x="24" y="279"/>
                  <a:pt x="18" y="268"/>
                  <a:pt x="14" y="257"/>
                </a:cubicBezTo>
                <a:cubicBezTo>
                  <a:pt x="9" y="246"/>
                  <a:pt x="6" y="234"/>
                  <a:pt x="3" y="222"/>
                </a:cubicBezTo>
                <a:cubicBezTo>
                  <a:pt x="1" y="210"/>
                  <a:pt x="0" y="198"/>
                  <a:pt x="0" y="186"/>
                </a:cubicBez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4"/>
                </a:cubicBezTo>
                <a:cubicBezTo>
                  <a:pt x="18" y="103"/>
                  <a:pt x="24" y="93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cubicBezTo>
                  <a:pt x="197" y="0"/>
                  <a:pt x="209" y="1"/>
                  <a:pt x="221" y="4"/>
                </a:cubicBezTo>
                <a:cubicBezTo>
                  <a:pt x="233" y="6"/>
                  <a:pt x="245" y="10"/>
                  <a:pt x="256" y="14"/>
                </a:cubicBezTo>
                <a:cubicBezTo>
                  <a:pt x="267" y="19"/>
                  <a:pt x="278" y="25"/>
                  <a:pt x="288" y="31"/>
                </a:cubicBezTo>
                <a:cubicBezTo>
                  <a:pt x="298" y="38"/>
                  <a:pt x="307" y="46"/>
                  <a:pt x="317" y="54"/>
                </a:cubicBezTo>
                <a:cubicBezTo>
                  <a:pt x="325" y="63"/>
                  <a:pt x="333" y="72"/>
                  <a:pt x="340" y="82"/>
                </a:cubicBezTo>
                <a:cubicBezTo>
                  <a:pt x="347" y="93"/>
                  <a:pt x="352" y="103"/>
                  <a:pt x="357" y="114"/>
                </a:cubicBezTo>
                <a:cubicBezTo>
                  <a:pt x="362" y="126"/>
                  <a:pt x="365" y="137"/>
                  <a:pt x="368" y="149"/>
                </a:cubicBezTo>
                <a:cubicBezTo>
                  <a:pt x="370" y="161"/>
                  <a:pt x="371" y="173"/>
                  <a:pt x="371" y="186"/>
                </a:cubicBez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10250640" y="2800080"/>
            <a:ext cx="153000" cy="153000"/>
          </a:xfrm>
          <a:custGeom>
            <a:avLst/>
            <a:gdLst/>
            <a:ahLst/>
            <a:rect l="0" t="0" r="r" b="b"/>
            <a:pathLst>
              <a:path w="425" h="425">
                <a:moveTo>
                  <a:pt x="425" y="213"/>
                </a:moveTo>
                <a:cubicBezTo>
                  <a:pt x="425" y="227"/>
                  <a:pt x="423" y="241"/>
                  <a:pt x="421" y="254"/>
                </a:cubicBezTo>
                <a:cubicBezTo>
                  <a:pt x="418" y="268"/>
                  <a:pt x="414" y="281"/>
                  <a:pt x="409" y="294"/>
                </a:cubicBezTo>
                <a:cubicBezTo>
                  <a:pt x="403" y="307"/>
                  <a:pt x="397" y="319"/>
                  <a:pt x="389" y="331"/>
                </a:cubicBezTo>
                <a:cubicBezTo>
                  <a:pt x="381" y="342"/>
                  <a:pt x="373" y="353"/>
                  <a:pt x="363" y="363"/>
                </a:cubicBezTo>
                <a:cubicBezTo>
                  <a:pt x="353" y="372"/>
                  <a:pt x="342" y="381"/>
                  <a:pt x="331" y="389"/>
                </a:cubicBezTo>
                <a:cubicBezTo>
                  <a:pt x="319" y="397"/>
                  <a:pt x="307" y="403"/>
                  <a:pt x="294" y="408"/>
                </a:cubicBezTo>
                <a:cubicBezTo>
                  <a:pt x="281" y="414"/>
                  <a:pt x="268" y="418"/>
                  <a:pt x="254" y="421"/>
                </a:cubicBezTo>
                <a:cubicBezTo>
                  <a:pt x="241" y="423"/>
                  <a:pt x="227" y="425"/>
                  <a:pt x="213" y="425"/>
                </a:cubicBezTo>
                <a:cubicBezTo>
                  <a:pt x="199" y="425"/>
                  <a:pt x="185" y="423"/>
                  <a:pt x="172" y="421"/>
                </a:cubicBezTo>
                <a:cubicBezTo>
                  <a:pt x="158" y="418"/>
                  <a:pt x="145" y="414"/>
                  <a:pt x="132" y="408"/>
                </a:cubicBezTo>
                <a:cubicBezTo>
                  <a:pt x="119" y="403"/>
                  <a:pt x="107" y="397"/>
                  <a:pt x="96" y="389"/>
                </a:cubicBezTo>
                <a:cubicBezTo>
                  <a:pt x="84" y="381"/>
                  <a:pt x="72" y="372"/>
                  <a:pt x="62" y="363"/>
                </a:cubicBezTo>
                <a:cubicBezTo>
                  <a:pt x="53" y="353"/>
                  <a:pt x="44" y="342"/>
                  <a:pt x="36" y="331"/>
                </a:cubicBezTo>
                <a:cubicBezTo>
                  <a:pt x="28" y="319"/>
                  <a:pt x="22" y="307"/>
                  <a:pt x="17" y="294"/>
                </a:cubicBezTo>
                <a:cubicBezTo>
                  <a:pt x="11" y="281"/>
                  <a:pt x="7" y="268"/>
                  <a:pt x="5" y="254"/>
                </a:cubicBezTo>
                <a:cubicBezTo>
                  <a:pt x="2" y="241"/>
                  <a:pt x="0" y="227"/>
                  <a:pt x="0" y="213"/>
                </a:cubicBezTo>
                <a:cubicBezTo>
                  <a:pt x="0" y="199"/>
                  <a:pt x="2" y="185"/>
                  <a:pt x="5" y="172"/>
                </a:cubicBezTo>
                <a:cubicBezTo>
                  <a:pt x="7" y="158"/>
                  <a:pt x="11" y="145"/>
                  <a:pt x="17" y="132"/>
                </a:cubicBezTo>
                <a:cubicBezTo>
                  <a:pt x="22" y="119"/>
                  <a:pt x="28" y="107"/>
                  <a:pt x="36" y="95"/>
                </a:cubicBezTo>
                <a:cubicBezTo>
                  <a:pt x="44" y="84"/>
                  <a:pt x="53" y="73"/>
                  <a:pt x="62" y="63"/>
                </a:cubicBezTo>
                <a:cubicBezTo>
                  <a:pt x="72" y="53"/>
                  <a:pt x="84" y="44"/>
                  <a:pt x="96" y="36"/>
                </a:cubicBezTo>
                <a:cubicBezTo>
                  <a:pt x="107" y="28"/>
                  <a:pt x="119" y="22"/>
                  <a:pt x="132" y="16"/>
                </a:cubicBezTo>
                <a:cubicBezTo>
                  <a:pt x="145" y="11"/>
                  <a:pt x="158" y="7"/>
                  <a:pt x="172" y="4"/>
                </a:cubicBezTo>
                <a:cubicBezTo>
                  <a:pt x="185" y="2"/>
                  <a:pt x="199" y="0"/>
                  <a:pt x="213" y="0"/>
                </a:cubicBezTo>
                <a:cubicBezTo>
                  <a:pt x="227" y="0"/>
                  <a:pt x="241" y="2"/>
                  <a:pt x="254" y="4"/>
                </a:cubicBezTo>
                <a:cubicBezTo>
                  <a:pt x="268" y="7"/>
                  <a:pt x="281" y="11"/>
                  <a:pt x="294" y="16"/>
                </a:cubicBezTo>
                <a:cubicBezTo>
                  <a:pt x="307" y="22"/>
                  <a:pt x="319" y="28"/>
                  <a:pt x="331" y="36"/>
                </a:cubicBezTo>
                <a:cubicBezTo>
                  <a:pt x="342" y="44"/>
                  <a:pt x="353" y="53"/>
                  <a:pt x="363" y="63"/>
                </a:cubicBezTo>
                <a:cubicBezTo>
                  <a:pt x="373" y="73"/>
                  <a:pt x="381" y="84"/>
                  <a:pt x="389" y="95"/>
                </a:cubicBezTo>
                <a:cubicBezTo>
                  <a:pt x="397" y="107"/>
                  <a:pt x="403" y="119"/>
                  <a:pt x="409" y="132"/>
                </a:cubicBezTo>
                <a:cubicBezTo>
                  <a:pt x="414" y="145"/>
                  <a:pt x="418" y="158"/>
                  <a:pt x="421" y="172"/>
                </a:cubicBezTo>
                <a:cubicBezTo>
                  <a:pt x="423" y="185"/>
                  <a:pt x="425" y="199"/>
                  <a:pt x="425" y="213"/>
                </a:cubicBezTo>
                <a:close/>
              </a:path>
            </a:pathLst>
          </a:custGeom>
          <a:solidFill>
            <a:srgbClr val="22C5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8294760" y="3851640"/>
            <a:ext cx="2282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670" b="1" u="none" strike="noStrike">
                <a:solidFill>
                  <a:srgbClr val="EF4444"/>
                </a:solidFill>
                <a:effectLst/>
                <a:uFillTx/>
                <a:latin typeface="Outfit-Thin_"/>
                <a:ea typeface="Outfit-Thin_"/>
              </a:rPr>
              <a:t>3.2%</a:t>
            </a:r>
            <a:endParaRPr lang="en-SG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10238040" y="2689560"/>
            <a:ext cx="2282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670" b="1" u="none" strike="noStrike">
                <a:solidFill>
                  <a:srgbClr val="22C55E"/>
                </a:solidFill>
                <a:effectLst/>
                <a:uFillTx/>
                <a:latin typeface="Outfit-Thin_"/>
                <a:ea typeface="Outfit-Thin_"/>
              </a:rPr>
              <a:t>8.9%</a:t>
            </a:r>
            <a:endParaRPr lang="en-SG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6891840" y="4621320"/>
            <a:ext cx="4530240" cy="17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9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Entry postings get </a:t>
            </a:r>
            <a:r>
              <a:rPr lang="en-SG" sz="139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half </a:t>
            </a:r>
            <a:r>
              <a:rPr lang="en-SG" sz="139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the views (53 vs 116), and convert</a:t>
            </a:r>
            <a:endParaRPr lang="en-SG" sz="13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6891840" y="4916520"/>
            <a:ext cx="4324320" cy="17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9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them at </a:t>
            </a:r>
            <a:r>
              <a:rPr lang="en-SG" sz="139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a third </a:t>
            </a:r>
            <a:r>
              <a:rPr lang="en-SG" sz="139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the rate. Both at once — conversion the</a:t>
            </a:r>
            <a:endParaRPr lang="en-SG" sz="13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6891840" y="5221080"/>
            <a:ext cx="3213000" cy="17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9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bigger half. </a:t>
            </a:r>
            <a:r>
              <a:rPr lang="en-SG" sz="139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Pay is the lever, not visibility.</a:t>
            </a:r>
            <a:endParaRPr lang="en-SG" sz="13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11791440" y="6414120"/>
            <a:ext cx="18540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11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647640" y="1074960"/>
            <a:ext cx="32774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T H E   H E A D L I N E   F I N D I N G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652320" y="2347560"/>
            <a:ext cx="4829400" cy="1371960"/>
          </a:xfrm>
          <a:custGeom>
            <a:avLst/>
            <a:gdLst/>
            <a:ahLst/>
            <a:rect l="0" t="0" r="r" b="b"/>
            <a:pathLst>
              <a:path w="13415" h="3811">
                <a:moveTo>
                  <a:pt x="0" y="3560"/>
                </a:moveTo>
                <a:lnTo>
                  <a:pt x="0" y="252"/>
                </a:lnTo>
                <a:cubicBezTo>
                  <a:pt x="0" y="235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4" y="74"/>
                </a:cubicBezTo>
                <a:cubicBezTo>
                  <a:pt x="85" y="62"/>
                  <a:pt x="98" y="52"/>
                  <a:pt x="112" y="43"/>
                </a:cubicBezTo>
                <a:cubicBezTo>
                  <a:pt x="125" y="34"/>
                  <a:pt x="140" y="26"/>
                  <a:pt x="155" y="20"/>
                </a:cubicBezTo>
                <a:cubicBezTo>
                  <a:pt x="170" y="13"/>
                  <a:pt x="186" y="9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3164" y="0"/>
                </a:lnTo>
                <a:cubicBezTo>
                  <a:pt x="13180" y="0"/>
                  <a:pt x="13197" y="2"/>
                  <a:pt x="13213" y="5"/>
                </a:cubicBezTo>
                <a:cubicBezTo>
                  <a:pt x="13229" y="9"/>
                  <a:pt x="13245" y="13"/>
                  <a:pt x="13260" y="20"/>
                </a:cubicBezTo>
                <a:cubicBezTo>
                  <a:pt x="13275" y="26"/>
                  <a:pt x="13290" y="34"/>
                  <a:pt x="13304" y="43"/>
                </a:cubicBezTo>
                <a:cubicBezTo>
                  <a:pt x="13317" y="52"/>
                  <a:pt x="13330" y="62"/>
                  <a:pt x="13342" y="74"/>
                </a:cubicBezTo>
                <a:cubicBezTo>
                  <a:pt x="13353" y="86"/>
                  <a:pt x="13364" y="98"/>
                  <a:pt x="13373" y="112"/>
                </a:cubicBezTo>
                <a:cubicBezTo>
                  <a:pt x="13382" y="126"/>
                  <a:pt x="13390" y="140"/>
                  <a:pt x="13396" y="156"/>
                </a:cubicBezTo>
                <a:cubicBezTo>
                  <a:pt x="13402" y="171"/>
                  <a:pt x="13407" y="187"/>
                  <a:pt x="13410" y="203"/>
                </a:cubicBezTo>
                <a:cubicBezTo>
                  <a:pt x="13414" y="219"/>
                  <a:pt x="13415" y="235"/>
                  <a:pt x="13415" y="252"/>
                </a:cubicBezTo>
                <a:lnTo>
                  <a:pt x="13415" y="3560"/>
                </a:lnTo>
                <a:cubicBezTo>
                  <a:pt x="13415" y="3577"/>
                  <a:pt x="13414" y="3593"/>
                  <a:pt x="13410" y="3609"/>
                </a:cubicBezTo>
                <a:cubicBezTo>
                  <a:pt x="13407" y="3625"/>
                  <a:pt x="13402" y="3641"/>
                  <a:pt x="13396" y="3656"/>
                </a:cubicBezTo>
                <a:cubicBezTo>
                  <a:pt x="13390" y="3672"/>
                  <a:pt x="13382" y="3686"/>
                  <a:pt x="13373" y="3700"/>
                </a:cubicBezTo>
                <a:cubicBezTo>
                  <a:pt x="13364" y="3713"/>
                  <a:pt x="13353" y="3726"/>
                  <a:pt x="13342" y="3738"/>
                </a:cubicBezTo>
                <a:cubicBezTo>
                  <a:pt x="13330" y="3750"/>
                  <a:pt x="13317" y="3760"/>
                  <a:pt x="13304" y="3769"/>
                </a:cubicBezTo>
                <a:cubicBezTo>
                  <a:pt x="13290" y="3778"/>
                  <a:pt x="13275" y="3786"/>
                  <a:pt x="13260" y="3792"/>
                </a:cubicBezTo>
                <a:cubicBezTo>
                  <a:pt x="13245" y="3799"/>
                  <a:pt x="13229" y="3803"/>
                  <a:pt x="13213" y="3807"/>
                </a:cubicBezTo>
                <a:cubicBezTo>
                  <a:pt x="13197" y="3810"/>
                  <a:pt x="13180" y="3811"/>
                  <a:pt x="13164" y="3811"/>
                </a:cubicBezTo>
                <a:lnTo>
                  <a:pt x="251" y="3811"/>
                </a:lnTo>
                <a:cubicBezTo>
                  <a:pt x="235" y="3811"/>
                  <a:pt x="218" y="3810"/>
                  <a:pt x="202" y="3807"/>
                </a:cubicBezTo>
                <a:cubicBezTo>
                  <a:pt x="186" y="3803"/>
                  <a:pt x="170" y="3799"/>
                  <a:pt x="155" y="3792"/>
                </a:cubicBezTo>
                <a:cubicBezTo>
                  <a:pt x="140" y="3786"/>
                  <a:pt x="125" y="3778"/>
                  <a:pt x="112" y="3769"/>
                </a:cubicBezTo>
                <a:cubicBezTo>
                  <a:pt x="98" y="3760"/>
                  <a:pt x="85" y="3750"/>
                  <a:pt x="74" y="3738"/>
                </a:cubicBezTo>
                <a:cubicBezTo>
                  <a:pt x="62" y="3726"/>
                  <a:pt x="51" y="3713"/>
                  <a:pt x="42" y="3700"/>
                </a:cubicBezTo>
                <a:cubicBezTo>
                  <a:pt x="33" y="3686"/>
                  <a:pt x="25" y="3672"/>
                  <a:pt x="19" y="3656"/>
                </a:cubicBezTo>
                <a:cubicBezTo>
                  <a:pt x="13" y="3641"/>
                  <a:pt x="8" y="3625"/>
                  <a:pt x="5" y="3609"/>
                </a:cubicBezTo>
                <a:cubicBezTo>
                  <a:pt x="2" y="3593"/>
                  <a:pt x="0" y="3577"/>
                  <a:pt x="0" y="3560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652320" y="2347560"/>
            <a:ext cx="4829400" cy="1371960"/>
          </a:xfrm>
          <a:custGeom>
            <a:avLst/>
            <a:gdLst/>
            <a:ahLst/>
            <a:rect l="0" t="0" r="r" b="b"/>
            <a:pathLst>
              <a:path w="13415" h="3811">
                <a:moveTo>
                  <a:pt x="0" y="3560"/>
                </a:moveTo>
                <a:lnTo>
                  <a:pt x="0" y="252"/>
                </a:lnTo>
                <a:cubicBezTo>
                  <a:pt x="0" y="235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4" y="74"/>
                </a:cubicBezTo>
                <a:cubicBezTo>
                  <a:pt x="85" y="62"/>
                  <a:pt x="98" y="52"/>
                  <a:pt x="112" y="43"/>
                </a:cubicBezTo>
                <a:cubicBezTo>
                  <a:pt x="125" y="34"/>
                  <a:pt x="140" y="26"/>
                  <a:pt x="155" y="20"/>
                </a:cubicBezTo>
                <a:cubicBezTo>
                  <a:pt x="170" y="13"/>
                  <a:pt x="186" y="9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3164" y="0"/>
                </a:lnTo>
                <a:cubicBezTo>
                  <a:pt x="13180" y="0"/>
                  <a:pt x="13197" y="2"/>
                  <a:pt x="13213" y="5"/>
                </a:cubicBezTo>
                <a:cubicBezTo>
                  <a:pt x="13229" y="9"/>
                  <a:pt x="13245" y="13"/>
                  <a:pt x="13260" y="20"/>
                </a:cubicBezTo>
                <a:cubicBezTo>
                  <a:pt x="13275" y="26"/>
                  <a:pt x="13290" y="34"/>
                  <a:pt x="13304" y="43"/>
                </a:cubicBezTo>
                <a:cubicBezTo>
                  <a:pt x="13317" y="52"/>
                  <a:pt x="13330" y="62"/>
                  <a:pt x="13342" y="74"/>
                </a:cubicBezTo>
                <a:cubicBezTo>
                  <a:pt x="13353" y="86"/>
                  <a:pt x="13364" y="98"/>
                  <a:pt x="13373" y="112"/>
                </a:cubicBezTo>
                <a:cubicBezTo>
                  <a:pt x="13382" y="126"/>
                  <a:pt x="13390" y="140"/>
                  <a:pt x="13396" y="156"/>
                </a:cubicBezTo>
                <a:cubicBezTo>
                  <a:pt x="13402" y="171"/>
                  <a:pt x="13407" y="187"/>
                  <a:pt x="13410" y="203"/>
                </a:cubicBezTo>
                <a:cubicBezTo>
                  <a:pt x="13414" y="219"/>
                  <a:pt x="13415" y="235"/>
                  <a:pt x="13415" y="252"/>
                </a:cubicBezTo>
                <a:lnTo>
                  <a:pt x="13415" y="3560"/>
                </a:lnTo>
                <a:cubicBezTo>
                  <a:pt x="13415" y="3577"/>
                  <a:pt x="13414" y="3593"/>
                  <a:pt x="13410" y="3609"/>
                </a:cubicBezTo>
                <a:cubicBezTo>
                  <a:pt x="13407" y="3625"/>
                  <a:pt x="13402" y="3641"/>
                  <a:pt x="13396" y="3656"/>
                </a:cubicBezTo>
                <a:cubicBezTo>
                  <a:pt x="13390" y="3672"/>
                  <a:pt x="13382" y="3686"/>
                  <a:pt x="13373" y="3700"/>
                </a:cubicBezTo>
                <a:cubicBezTo>
                  <a:pt x="13364" y="3713"/>
                  <a:pt x="13353" y="3726"/>
                  <a:pt x="13342" y="3738"/>
                </a:cubicBezTo>
                <a:cubicBezTo>
                  <a:pt x="13330" y="3750"/>
                  <a:pt x="13317" y="3760"/>
                  <a:pt x="13304" y="3769"/>
                </a:cubicBezTo>
                <a:cubicBezTo>
                  <a:pt x="13290" y="3778"/>
                  <a:pt x="13275" y="3786"/>
                  <a:pt x="13260" y="3792"/>
                </a:cubicBezTo>
                <a:cubicBezTo>
                  <a:pt x="13245" y="3799"/>
                  <a:pt x="13229" y="3803"/>
                  <a:pt x="13213" y="3807"/>
                </a:cubicBezTo>
                <a:cubicBezTo>
                  <a:pt x="13197" y="3810"/>
                  <a:pt x="13180" y="3811"/>
                  <a:pt x="13164" y="3811"/>
                </a:cubicBezTo>
                <a:lnTo>
                  <a:pt x="251" y="3811"/>
                </a:lnTo>
                <a:cubicBezTo>
                  <a:pt x="235" y="3811"/>
                  <a:pt x="218" y="3810"/>
                  <a:pt x="202" y="3807"/>
                </a:cubicBezTo>
                <a:cubicBezTo>
                  <a:pt x="186" y="3803"/>
                  <a:pt x="170" y="3799"/>
                  <a:pt x="155" y="3792"/>
                </a:cubicBezTo>
                <a:cubicBezTo>
                  <a:pt x="140" y="3786"/>
                  <a:pt x="125" y="3778"/>
                  <a:pt x="112" y="3769"/>
                </a:cubicBezTo>
                <a:cubicBezTo>
                  <a:pt x="98" y="3760"/>
                  <a:pt x="85" y="3750"/>
                  <a:pt x="74" y="3738"/>
                </a:cubicBezTo>
                <a:cubicBezTo>
                  <a:pt x="62" y="3726"/>
                  <a:pt x="51" y="3713"/>
                  <a:pt x="42" y="3700"/>
                </a:cubicBezTo>
                <a:cubicBezTo>
                  <a:pt x="33" y="3686"/>
                  <a:pt x="25" y="3672"/>
                  <a:pt x="19" y="3656"/>
                </a:cubicBezTo>
                <a:cubicBezTo>
                  <a:pt x="13" y="3641"/>
                  <a:pt x="8" y="3625"/>
                  <a:pt x="5" y="3609"/>
                </a:cubicBezTo>
                <a:cubicBezTo>
                  <a:pt x="2" y="3593"/>
                  <a:pt x="0" y="3577"/>
                  <a:pt x="0" y="356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809280" y="3247920"/>
            <a:ext cx="4515480" cy="9720"/>
          </a:xfrm>
          <a:custGeom>
            <a:avLst/>
            <a:gdLst/>
            <a:ahLst/>
            <a:rect l="0" t="0" r="r" b="b"/>
            <a:pathLst>
              <a:path w="12543" h="27">
                <a:moveTo>
                  <a:pt x="0" y="0"/>
                </a:moveTo>
                <a:lnTo>
                  <a:pt x="12543" y="0"/>
                </a:lnTo>
                <a:lnTo>
                  <a:pt x="125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657000" y="3848040"/>
            <a:ext cx="4820040" cy="1514880"/>
          </a:xfrm>
          <a:custGeom>
            <a:avLst/>
            <a:gdLst/>
            <a:ahLst/>
            <a:rect l="0" t="0" r="r" b="b"/>
            <a:pathLst>
              <a:path w="13389" h="4208">
                <a:moveTo>
                  <a:pt x="0" y="3968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13151" y="0"/>
                </a:lnTo>
                <a:cubicBezTo>
                  <a:pt x="13167" y="0"/>
                  <a:pt x="13182" y="1"/>
                  <a:pt x="13197" y="4"/>
                </a:cubicBezTo>
                <a:cubicBezTo>
                  <a:pt x="13213" y="7"/>
                  <a:pt x="13228" y="12"/>
                  <a:pt x="13242" y="18"/>
                </a:cubicBezTo>
                <a:cubicBezTo>
                  <a:pt x="13256" y="24"/>
                  <a:pt x="13270" y="31"/>
                  <a:pt x="13283" y="40"/>
                </a:cubicBezTo>
                <a:cubicBezTo>
                  <a:pt x="13296" y="48"/>
                  <a:pt x="13308" y="58"/>
                  <a:pt x="13319" y="69"/>
                </a:cubicBezTo>
                <a:cubicBezTo>
                  <a:pt x="13330" y="80"/>
                  <a:pt x="13340" y="92"/>
                  <a:pt x="13349" y="105"/>
                </a:cubicBezTo>
                <a:cubicBezTo>
                  <a:pt x="13358" y="118"/>
                  <a:pt x="13365" y="132"/>
                  <a:pt x="13371" y="147"/>
                </a:cubicBezTo>
                <a:cubicBezTo>
                  <a:pt x="13377" y="161"/>
                  <a:pt x="13381" y="176"/>
                  <a:pt x="13384" y="191"/>
                </a:cubicBezTo>
                <a:cubicBezTo>
                  <a:pt x="13388" y="207"/>
                  <a:pt x="13389" y="222"/>
                  <a:pt x="13389" y="238"/>
                </a:cubicBezTo>
                <a:lnTo>
                  <a:pt x="13389" y="3968"/>
                </a:lnTo>
                <a:cubicBezTo>
                  <a:pt x="13389" y="3984"/>
                  <a:pt x="13388" y="4000"/>
                  <a:pt x="13384" y="4015"/>
                </a:cubicBezTo>
                <a:cubicBezTo>
                  <a:pt x="13381" y="4030"/>
                  <a:pt x="13377" y="4046"/>
                  <a:pt x="13371" y="4061"/>
                </a:cubicBezTo>
                <a:cubicBezTo>
                  <a:pt x="13365" y="4075"/>
                  <a:pt x="13358" y="4089"/>
                  <a:pt x="13349" y="4102"/>
                </a:cubicBezTo>
                <a:cubicBezTo>
                  <a:pt x="13340" y="4115"/>
                  <a:pt x="13330" y="4127"/>
                  <a:pt x="13319" y="4138"/>
                </a:cubicBezTo>
                <a:cubicBezTo>
                  <a:pt x="13308" y="4149"/>
                  <a:pt x="13296" y="4159"/>
                  <a:pt x="13283" y="4167"/>
                </a:cubicBezTo>
                <a:cubicBezTo>
                  <a:pt x="13270" y="4176"/>
                  <a:pt x="13256" y="4183"/>
                  <a:pt x="13242" y="4189"/>
                </a:cubicBezTo>
                <a:cubicBezTo>
                  <a:pt x="13228" y="4195"/>
                  <a:pt x="13213" y="4200"/>
                  <a:pt x="13197" y="4203"/>
                </a:cubicBezTo>
                <a:cubicBezTo>
                  <a:pt x="13182" y="4206"/>
                  <a:pt x="13167" y="4208"/>
                  <a:pt x="13151" y="4208"/>
                </a:cubicBezTo>
                <a:lnTo>
                  <a:pt x="238" y="4208"/>
                </a:lnTo>
                <a:cubicBezTo>
                  <a:pt x="223" y="4208"/>
                  <a:pt x="207" y="4206"/>
                  <a:pt x="192" y="4203"/>
                </a:cubicBezTo>
                <a:cubicBezTo>
                  <a:pt x="176" y="4200"/>
                  <a:pt x="162" y="4195"/>
                  <a:pt x="147" y="4189"/>
                </a:cubicBezTo>
                <a:cubicBezTo>
                  <a:pt x="133" y="4183"/>
                  <a:pt x="119" y="4176"/>
                  <a:pt x="106" y="4167"/>
                </a:cubicBezTo>
                <a:cubicBezTo>
                  <a:pt x="93" y="4159"/>
                  <a:pt x="81" y="4149"/>
                  <a:pt x="70" y="4138"/>
                </a:cubicBezTo>
                <a:cubicBezTo>
                  <a:pt x="59" y="4127"/>
                  <a:pt x="49" y="4115"/>
                  <a:pt x="40" y="4102"/>
                </a:cubicBezTo>
                <a:cubicBezTo>
                  <a:pt x="32" y="4089"/>
                  <a:pt x="24" y="4075"/>
                  <a:pt x="18" y="4061"/>
                </a:cubicBezTo>
                <a:cubicBezTo>
                  <a:pt x="12" y="4046"/>
                  <a:pt x="8" y="4030"/>
                  <a:pt x="5" y="4015"/>
                </a:cubicBezTo>
                <a:cubicBezTo>
                  <a:pt x="2" y="4000"/>
                  <a:pt x="0" y="3984"/>
                  <a:pt x="0" y="3968"/>
                </a:cubicBezTo>
                <a:close/>
              </a:path>
            </a:pathLst>
          </a:custGeom>
          <a:solidFill>
            <a:srgbClr val="2A0D0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657000" y="3848040"/>
            <a:ext cx="4820040" cy="1514880"/>
          </a:xfrm>
          <a:custGeom>
            <a:avLst/>
            <a:gdLst/>
            <a:ahLst/>
            <a:rect l="0" t="0" r="r" b="b"/>
            <a:pathLst>
              <a:path w="13389" h="4208">
                <a:moveTo>
                  <a:pt x="0" y="3968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13151" y="0"/>
                </a:lnTo>
                <a:cubicBezTo>
                  <a:pt x="13167" y="0"/>
                  <a:pt x="13182" y="1"/>
                  <a:pt x="13197" y="4"/>
                </a:cubicBezTo>
                <a:cubicBezTo>
                  <a:pt x="13213" y="7"/>
                  <a:pt x="13228" y="12"/>
                  <a:pt x="13242" y="18"/>
                </a:cubicBezTo>
                <a:cubicBezTo>
                  <a:pt x="13256" y="24"/>
                  <a:pt x="13270" y="31"/>
                  <a:pt x="13283" y="40"/>
                </a:cubicBezTo>
                <a:cubicBezTo>
                  <a:pt x="13296" y="48"/>
                  <a:pt x="13308" y="58"/>
                  <a:pt x="13319" y="69"/>
                </a:cubicBezTo>
                <a:cubicBezTo>
                  <a:pt x="13330" y="80"/>
                  <a:pt x="13340" y="92"/>
                  <a:pt x="13349" y="105"/>
                </a:cubicBezTo>
                <a:cubicBezTo>
                  <a:pt x="13358" y="118"/>
                  <a:pt x="13365" y="132"/>
                  <a:pt x="13371" y="147"/>
                </a:cubicBezTo>
                <a:cubicBezTo>
                  <a:pt x="13377" y="161"/>
                  <a:pt x="13381" y="176"/>
                  <a:pt x="13384" y="191"/>
                </a:cubicBezTo>
                <a:cubicBezTo>
                  <a:pt x="13388" y="207"/>
                  <a:pt x="13389" y="222"/>
                  <a:pt x="13389" y="238"/>
                </a:cubicBezTo>
                <a:lnTo>
                  <a:pt x="13389" y="3968"/>
                </a:lnTo>
                <a:cubicBezTo>
                  <a:pt x="13389" y="3984"/>
                  <a:pt x="13388" y="4000"/>
                  <a:pt x="13384" y="4015"/>
                </a:cubicBezTo>
                <a:cubicBezTo>
                  <a:pt x="13381" y="4030"/>
                  <a:pt x="13377" y="4046"/>
                  <a:pt x="13371" y="4061"/>
                </a:cubicBezTo>
                <a:cubicBezTo>
                  <a:pt x="13365" y="4075"/>
                  <a:pt x="13358" y="4089"/>
                  <a:pt x="13349" y="4102"/>
                </a:cubicBezTo>
                <a:cubicBezTo>
                  <a:pt x="13340" y="4115"/>
                  <a:pt x="13330" y="4127"/>
                  <a:pt x="13319" y="4138"/>
                </a:cubicBezTo>
                <a:cubicBezTo>
                  <a:pt x="13308" y="4149"/>
                  <a:pt x="13296" y="4159"/>
                  <a:pt x="13283" y="4167"/>
                </a:cubicBezTo>
                <a:cubicBezTo>
                  <a:pt x="13270" y="4176"/>
                  <a:pt x="13256" y="4183"/>
                  <a:pt x="13242" y="4189"/>
                </a:cubicBezTo>
                <a:cubicBezTo>
                  <a:pt x="13228" y="4195"/>
                  <a:pt x="13213" y="4200"/>
                  <a:pt x="13197" y="4203"/>
                </a:cubicBezTo>
                <a:cubicBezTo>
                  <a:pt x="13182" y="4206"/>
                  <a:pt x="13167" y="4208"/>
                  <a:pt x="13151" y="4208"/>
                </a:cubicBezTo>
                <a:lnTo>
                  <a:pt x="238" y="4208"/>
                </a:lnTo>
                <a:cubicBezTo>
                  <a:pt x="223" y="4208"/>
                  <a:pt x="207" y="4206"/>
                  <a:pt x="192" y="4203"/>
                </a:cubicBezTo>
                <a:cubicBezTo>
                  <a:pt x="176" y="4200"/>
                  <a:pt x="162" y="4195"/>
                  <a:pt x="147" y="4189"/>
                </a:cubicBezTo>
                <a:cubicBezTo>
                  <a:pt x="133" y="4183"/>
                  <a:pt x="119" y="4176"/>
                  <a:pt x="106" y="4167"/>
                </a:cubicBezTo>
                <a:cubicBezTo>
                  <a:pt x="93" y="4159"/>
                  <a:pt x="81" y="4149"/>
                  <a:pt x="70" y="4138"/>
                </a:cubicBezTo>
                <a:cubicBezTo>
                  <a:pt x="59" y="4127"/>
                  <a:pt x="49" y="4115"/>
                  <a:pt x="40" y="4102"/>
                </a:cubicBezTo>
                <a:cubicBezTo>
                  <a:pt x="32" y="4089"/>
                  <a:pt x="24" y="4075"/>
                  <a:pt x="18" y="4061"/>
                </a:cubicBezTo>
                <a:cubicBezTo>
                  <a:pt x="12" y="4046"/>
                  <a:pt x="8" y="4030"/>
                  <a:pt x="5" y="4015"/>
                </a:cubicBezTo>
                <a:cubicBezTo>
                  <a:pt x="2" y="4000"/>
                  <a:pt x="0" y="3984"/>
                  <a:pt x="0" y="3968"/>
                </a:cubicBezTo>
                <a:close/>
              </a:path>
            </a:pathLst>
          </a:custGeom>
          <a:noFill/>
          <a:ln w="18720">
            <a:solidFill>
              <a:srgbClr val="EF4444"/>
            </a:solidFill>
            <a:miter/>
          </a:ln>
        </p:spPr>
        <p:txBody>
          <a:bodyPr lIns="9360" tIns="9360" rIns="9360" bIns="936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647640" y="1316880"/>
            <a:ext cx="86338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720" b="0" u="none" strike="noStrike">
                <a:solidFill>
                  <a:srgbClr val="888888"/>
                </a:solidFill>
                <a:effectLst/>
                <a:uFillTx/>
                <a:latin typeface="Raleway"/>
                <a:ea typeface="Raleway"/>
              </a:rPr>
              <a:t>The market-wide number gives exactly the wrong advice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647640" y="2032920"/>
            <a:ext cx="3031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1" u="none" strike="noStrike">
                <a:solidFill>
                  <a:srgbClr val="666666"/>
                </a:solidFill>
                <a:effectLst/>
                <a:uFillTx/>
                <a:latin typeface="Outfit-Thin_Semi"/>
                <a:ea typeface="Outfit-Thin_Semi"/>
              </a:rPr>
              <a:t>WHAT THE WHOLE MARKET SHOWS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809640" y="2411280"/>
            <a:ext cx="1240560" cy="52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930" b="1" u="none" strike="noStrike">
                <a:solidFill>
                  <a:srgbClr val="888888"/>
                </a:solidFill>
                <a:effectLst/>
                <a:uFillTx/>
                <a:latin typeface="Outfit-Thin_"/>
                <a:ea typeface="Outfit-Thin_"/>
              </a:rPr>
              <a:t>18.7%</a:t>
            </a:r>
            <a:endParaRPr lang="en-SG" sz="29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1719720" y="2522880"/>
            <a:ext cx="372600" cy="37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93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SG" sz="29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1823040" y="2472480"/>
            <a:ext cx="37260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93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SG" sz="29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2196000" y="2522880"/>
            <a:ext cx="372600" cy="37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93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SG" sz="29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2299680" y="2411280"/>
            <a:ext cx="1240560" cy="52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930" b="1" u="none" strike="noStrike">
                <a:solidFill>
                  <a:srgbClr val="888888"/>
                </a:solidFill>
                <a:effectLst/>
                <a:uFillTx/>
                <a:latin typeface="Outfit-Thin_"/>
                <a:ea typeface="Outfit-Thin_"/>
              </a:rPr>
              <a:t>16.2%</a:t>
            </a:r>
            <a:endParaRPr lang="en-SG" sz="29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809640" y="2930400"/>
            <a:ext cx="19087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2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reposted, asking &lt;3 years  </a:t>
            </a:r>
            <a:endParaRPr lang="en-SG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2652840" y="2945880"/>
            <a:ext cx="156240" cy="18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20" b="0" u="none" strike="noStrike">
                <a:solidFill>
                  <a:srgbClr val="666666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SG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2807640" y="2930400"/>
            <a:ext cx="12006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2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  asking 3+ years</a:t>
            </a:r>
            <a:endParaRPr lang="en-SG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809640" y="3341160"/>
            <a:ext cx="8164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Reads as: 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834120" y="4062960"/>
            <a:ext cx="151200" cy="151200"/>
          </a:xfrm>
          <a:custGeom>
            <a:avLst/>
            <a:gdLst/>
            <a:ahLst/>
            <a:rect l="0" t="0" r="r" b="b"/>
            <a:pathLst>
              <a:path w="420" h="420">
                <a:moveTo>
                  <a:pt x="420" y="211"/>
                </a:moveTo>
                <a:cubicBezTo>
                  <a:pt x="420" y="224"/>
                  <a:pt x="418" y="238"/>
                  <a:pt x="416" y="252"/>
                </a:cubicBezTo>
                <a:cubicBezTo>
                  <a:pt x="413" y="265"/>
                  <a:pt x="409" y="278"/>
                  <a:pt x="404" y="291"/>
                </a:cubicBezTo>
                <a:cubicBezTo>
                  <a:pt x="398" y="304"/>
                  <a:pt x="391" y="316"/>
                  <a:pt x="383" y="327"/>
                </a:cubicBezTo>
                <a:cubicBezTo>
                  <a:pt x="376" y="338"/>
                  <a:pt x="367" y="349"/>
                  <a:pt x="357" y="359"/>
                </a:cubicBezTo>
                <a:cubicBezTo>
                  <a:pt x="348" y="368"/>
                  <a:pt x="337" y="377"/>
                  <a:pt x="326" y="385"/>
                </a:cubicBezTo>
                <a:cubicBezTo>
                  <a:pt x="314" y="392"/>
                  <a:pt x="302" y="399"/>
                  <a:pt x="289" y="404"/>
                </a:cubicBezTo>
                <a:cubicBezTo>
                  <a:pt x="277" y="409"/>
                  <a:pt x="264" y="413"/>
                  <a:pt x="250" y="416"/>
                </a:cubicBezTo>
                <a:cubicBezTo>
                  <a:pt x="237" y="419"/>
                  <a:pt x="223" y="420"/>
                  <a:pt x="209" y="420"/>
                </a:cubicBezTo>
                <a:cubicBezTo>
                  <a:pt x="196" y="420"/>
                  <a:pt x="182" y="419"/>
                  <a:pt x="168" y="416"/>
                </a:cubicBezTo>
                <a:cubicBezTo>
                  <a:pt x="155" y="413"/>
                  <a:pt x="142" y="409"/>
                  <a:pt x="129" y="404"/>
                </a:cubicBezTo>
                <a:cubicBezTo>
                  <a:pt x="116" y="399"/>
                  <a:pt x="104" y="392"/>
                  <a:pt x="93" y="385"/>
                </a:cubicBezTo>
                <a:cubicBezTo>
                  <a:pt x="81" y="377"/>
                  <a:pt x="71" y="368"/>
                  <a:pt x="61" y="359"/>
                </a:cubicBezTo>
                <a:cubicBezTo>
                  <a:pt x="51" y="349"/>
                  <a:pt x="43" y="338"/>
                  <a:pt x="35" y="327"/>
                </a:cubicBezTo>
                <a:cubicBezTo>
                  <a:pt x="27" y="316"/>
                  <a:pt x="21" y="304"/>
                  <a:pt x="16" y="291"/>
                </a:cubicBezTo>
                <a:cubicBezTo>
                  <a:pt x="10" y="278"/>
                  <a:pt x="7" y="265"/>
                  <a:pt x="4" y="252"/>
                </a:cubicBezTo>
                <a:cubicBezTo>
                  <a:pt x="1" y="238"/>
                  <a:pt x="0" y="224"/>
                  <a:pt x="0" y="211"/>
                </a:cubicBezTo>
                <a:cubicBezTo>
                  <a:pt x="0" y="196"/>
                  <a:pt x="1" y="182"/>
                  <a:pt x="4" y="169"/>
                </a:cubicBezTo>
                <a:cubicBezTo>
                  <a:pt x="7" y="155"/>
                  <a:pt x="10" y="142"/>
                  <a:pt x="16" y="129"/>
                </a:cubicBezTo>
                <a:cubicBezTo>
                  <a:pt x="21" y="117"/>
                  <a:pt x="27" y="105"/>
                  <a:pt x="35" y="93"/>
                </a:cubicBezTo>
                <a:cubicBezTo>
                  <a:pt x="43" y="82"/>
                  <a:pt x="51" y="71"/>
                  <a:pt x="61" y="62"/>
                </a:cubicBezTo>
                <a:cubicBezTo>
                  <a:pt x="71" y="52"/>
                  <a:pt x="81" y="43"/>
                  <a:pt x="93" y="35"/>
                </a:cubicBezTo>
                <a:cubicBezTo>
                  <a:pt x="104" y="28"/>
                  <a:pt x="116" y="21"/>
                  <a:pt x="129" y="16"/>
                </a:cubicBezTo>
                <a:cubicBezTo>
                  <a:pt x="142" y="11"/>
                  <a:pt x="155" y="7"/>
                  <a:pt x="168" y="4"/>
                </a:cubicBezTo>
                <a:cubicBezTo>
                  <a:pt x="182" y="2"/>
                  <a:pt x="196" y="0"/>
                  <a:pt x="209" y="0"/>
                </a:cubicBezTo>
                <a:cubicBezTo>
                  <a:pt x="223" y="0"/>
                  <a:pt x="237" y="2"/>
                  <a:pt x="250" y="4"/>
                </a:cubicBezTo>
                <a:cubicBezTo>
                  <a:pt x="264" y="7"/>
                  <a:pt x="277" y="11"/>
                  <a:pt x="289" y="16"/>
                </a:cubicBezTo>
                <a:cubicBezTo>
                  <a:pt x="302" y="21"/>
                  <a:pt x="314" y="28"/>
                  <a:pt x="326" y="35"/>
                </a:cubicBezTo>
                <a:cubicBezTo>
                  <a:pt x="337" y="43"/>
                  <a:pt x="348" y="52"/>
                  <a:pt x="357" y="62"/>
                </a:cubicBezTo>
                <a:cubicBezTo>
                  <a:pt x="367" y="71"/>
                  <a:pt x="376" y="82"/>
                  <a:pt x="383" y="93"/>
                </a:cubicBezTo>
                <a:cubicBezTo>
                  <a:pt x="391" y="105"/>
                  <a:pt x="398" y="117"/>
                  <a:pt x="404" y="129"/>
                </a:cubicBezTo>
                <a:cubicBezTo>
                  <a:pt x="409" y="142"/>
                  <a:pt x="413" y="155"/>
                  <a:pt x="416" y="169"/>
                </a:cubicBezTo>
                <a:cubicBezTo>
                  <a:pt x="418" y="182"/>
                  <a:pt x="420" y="196"/>
                  <a:pt x="420" y="211"/>
                </a:cubicBezTo>
                <a:close/>
              </a:path>
            </a:pathLst>
          </a:custGeom>
          <a:noFill/>
          <a:ln w="18720">
            <a:solidFill>
              <a:srgbClr val="EF4444"/>
            </a:solidFill>
            <a:miter/>
          </a:ln>
        </p:spPr>
        <p:txBody>
          <a:bodyPr lIns="9360" tIns="9360" rIns="9360" bIns="936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 flipH="1">
            <a:off x="886680" y="4115880"/>
            <a:ext cx="45720" cy="45360"/>
          </a:xfrm>
          <a:prstGeom prst="line">
            <a:avLst/>
          </a:prstGeom>
          <a:ln w="18720">
            <a:solidFill>
              <a:srgbClr val="EF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tIns="9360" rIns="9360" bIns="936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886680" y="4115880"/>
            <a:ext cx="45720" cy="45360"/>
          </a:xfrm>
          <a:prstGeom prst="line">
            <a:avLst/>
          </a:prstGeom>
          <a:ln w="18720">
            <a:solidFill>
              <a:srgbClr val="EF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tIns="9360" rIns="9360" bIns="936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1628280" y="3341160"/>
            <a:ext cx="3449160" cy="17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9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raise the experience bar, get fewer reposts.</a:t>
            </a:r>
            <a:endParaRPr lang="en-SG" sz="13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1085760" y="3958200"/>
            <a:ext cx="4020480" cy="369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060" b="1" u="none" strike="noStrike">
                <a:solidFill>
                  <a:srgbClr val="EF4444"/>
                </a:solidFill>
                <a:effectLst/>
                <a:uFillTx/>
                <a:latin typeface="Outfit-Thin_"/>
                <a:ea typeface="Outfit-Thin_"/>
              </a:rPr>
              <a:t>True number. Wrong advice.</a:t>
            </a:r>
            <a:endParaRPr lang="en-SG" sz="20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819000" y="4394880"/>
            <a:ext cx="412776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DDDDDD"/>
                </a:solidFill>
                <a:effectLst/>
                <a:uFillTx/>
                <a:latin typeface="RalewayRoman"/>
                <a:ea typeface="RalewayRoman"/>
              </a:rPr>
              <a:t>It compares </a:t>
            </a:r>
            <a:r>
              <a:rPr lang="en-SG" sz="1300" b="0" u="none" strike="noStrike">
                <a:solidFill>
                  <a:srgbClr val="FFFFFF"/>
                </a:solidFill>
                <a:effectLst/>
                <a:uFillTx/>
                <a:latin typeface="RalewayRoman"/>
                <a:ea typeface="RalewayRoman"/>
              </a:rPr>
              <a:t>$3,000 </a:t>
            </a:r>
            <a:r>
              <a:rPr lang="en-SG" sz="1300" b="0" u="none" strike="noStrike">
                <a:solidFill>
                  <a:srgbClr val="DDDDDD"/>
                </a:solidFill>
                <a:effectLst/>
                <a:uFillTx/>
                <a:latin typeface="RalewayRoman"/>
                <a:ea typeface="RalewayRoman"/>
              </a:rPr>
              <a:t>roles against </a:t>
            </a:r>
            <a:r>
              <a:rPr lang="en-SG" sz="1300" b="0" u="none" strike="noStrike">
                <a:solidFill>
                  <a:srgbClr val="FFFFFF"/>
                </a:solidFill>
                <a:effectLst/>
                <a:uFillTx/>
                <a:latin typeface="RalewayRoman"/>
                <a:ea typeface="RalewayRoman"/>
              </a:rPr>
              <a:t>$5,400 </a:t>
            </a:r>
            <a:r>
              <a:rPr lang="en-SG" sz="1300" b="0" u="none" strike="noStrike">
                <a:solidFill>
                  <a:srgbClr val="DDDDDD"/>
                </a:solidFill>
                <a:effectLst/>
                <a:uFillTx/>
                <a:latin typeface="RalewayRoman"/>
                <a:ea typeface="RalewayRoman"/>
              </a:rPr>
              <a:t>ones. Postings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819000" y="4671000"/>
            <a:ext cx="449532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DDDDDD"/>
                </a:solidFill>
                <a:effectLst/>
                <a:uFillTx/>
                <a:latin typeface="RalewayRoman"/>
                <a:ea typeface="RalewayRoman"/>
              </a:rPr>
              <a:t>asking 3+ years are simply the better-paid ones — and what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5676840" y="2342880"/>
            <a:ext cx="5867640" cy="424440"/>
          </a:xfrm>
          <a:custGeom>
            <a:avLst/>
            <a:gdLst/>
            <a:ahLst/>
            <a:rect l="0" t="0" r="r" b="b"/>
            <a:pathLst>
              <a:path w="16299" h="1179">
                <a:moveTo>
                  <a:pt x="0" y="1032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6140" y="0"/>
                </a:lnTo>
                <a:cubicBezTo>
                  <a:pt x="16151" y="0"/>
                  <a:pt x="16161" y="1"/>
                  <a:pt x="16171" y="3"/>
                </a:cubicBezTo>
                <a:cubicBezTo>
                  <a:pt x="16181" y="5"/>
                  <a:pt x="16191" y="8"/>
                  <a:pt x="16201" y="12"/>
                </a:cubicBezTo>
                <a:cubicBezTo>
                  <a:pt x="16211" y="16"/>
                  <a:pt x="16220" y="21"/>
                  <a:pt x="16228" y="27"/>
                </a:cubicBezTo>
                <a:cubicBezTo>
                  <a:pt x="16237" y="33"/>
                  <a:pt x="16245" y="39"/>
                  <a:pt x="16252" y="47"/>
                </a:cubicBezTo>
                <a:cubicBezTo>
                  <a:pt x="16260" y="54"/>
                  <a:pt x="16266" y="62"/>
                  <a:pt x="16272" y="71"/>
                </a:cubicBezTo>
                <a:cubicBezTo>
                  <a:pt x="16278" y="79"/>
                  <a:pt x="16283" y="89"/>
                  <a:pt x="16287" y="98"/>
                </a:cubicBezTo>
                <a:cubicBezTo>
                  <a:pt x="16291" y="108"/>
                  <a:pt x="16294" y="118"/>
                  <a:pt x="16296" y="128"/>
                </a:cubicBezTo>
                <a:cubicBezTo>
                  <a:pt x="16298" y="138"/>
                  <a:pt x="16299" y="149"/>
                  <a:pt x="16299" y="159"/>
                </a:cubicBezTo>
                <a:lnTo>
                  <a:pt x="16299" y="1032"/>
                </a:lnTo>
                <a:cubicBezTo>
                  <a:pt x="16299" y="1042"/>
                  <a:pt x="16298" y="1051"/>
                  <a:pt x="16296" y="1061"/>
                </a:cubicBezTo>
                <a:cubicBezTo>
                  <a:pt x="16294" y="1070"/>
                  <a:pt x="16291" y="1079"/>
                  <a:pt x="16287" y="1088"/>
                </a:cubicBezTo>
                <a:cubicBezTo>
                  <a:pt x="16283" y="1097"/>
                  <a:pt x="16278" y="1105"/>
                  <a:pt x="16272" y="1113"/>
                </a:cubicBezTo>
                <a:cubicBezTo>
                  <a:pt x="16266" y="1121"/>
                  <a:pt x="16260" y="1128"/>
                  <a:pt x="16252" y="1135"/>
                </a:cubicBezTo>
                <a:cubicBezTo>
                  <a:pt x="16245" y="1142"/>
                  <a:pt x="16237" y="1149"/>
                  <a:pt x="16228" y="1154"/>
                </a:cubicBezTo>
                <a:cubicBezTo>
                  <a:pt x="16220" y="1159"/>
                  <a:pt x="16211" y="1164"/>
                  <a:pt x="16201" y="1168"/>
                </a:cubicBezTo>
                <a:cubicBezTo>
                  <a:pt x="16191" y="1171"/>
                  <a:pt x="16181" y="1174"/>
                  <a:pt x="16171" y="1176"/>
                </a:cubicBezTo>
                <a:cubicBezTo>
                  <a:pt x="16161" y="1178"/>
                  <a:pt x="16151" y="1179"/>
                  <a:pt x="16140" y="1179"/>
                </a:cubicBezTo>
                <a:lnTo>
                  <a:pt x="158" y="1179"/>
                </a:lnTo>
                <a:cubicBezTo>
                  <a:pt x="148" y="1179"/>
                  <a:pt x="138" y="1178"/>
                  <a:pt x="127" y="1176"/>
                </a:cubicBezTo>
                <a:cubicBezTo>
                  <a:pt x="117" y="1174"/>
                  <a:pt x="107" y="1171"/>
                  <a:pt x="98" y="1168"/>
                </a:cubicBezTo>
                <a:cubicBezTo>
                  <a:pt x="88" y="1164"/>
                  <a:pt x="79" y="1159"/>
                  <a:pt x="70" y="1154"/>
                </a:cubicBezTo>
                <a:cubicBezTo>
                  <a:pt x="62" y="1149"/>
                  <a:pt x="54" y="1142"/>
                  <a:pt x="46" y="1135"/>
                </a:cubicBezTo>
                <a:cubicBezTo>
                  <a:pt x="39" y="1128"/>
                  <a:pt x="32" y="1121"/>
                  <a:pt x="26" y="1113"/>
                </a:cubicBezTo>
                <a:cubicBezTo>
                  <a:pt x="21" y="1105"/>
                  <a:pt x="16" y="1097"/>
                  <a:pt x="12" y="1088"/>
                </a:cubicBezTo>
                <a:cubicBezTo>
                  <a:pt x="8" y="1079"/>
                  <a:pt x="5" y="1070"/>
                  <a:pt x="3" y="1061"/>
                </a:cubicBezTo>
                <a:cubicBezTo>
                  <a:pt x="1" y="1051"/>
                  <a:pt x="0" y="1042"/>
                  <a:pt x="0" y="1032"/>
                </a:cubicBezTo>
                <a:close/>
              </a:path>
            </a:pathLst>
          </a:custGeom>
          <a:solidFill>
            <a:srgbClr val="1A0E0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5676840" y="2714400"/>
            <a:ext cx="5867640" cy="57600"/>
          </a:xfrm>
          <a:custGeom>
            <a:avLst/>
            <a:gdLst/>
            <a:ahLst/>
            <a:rect l="0" t="0" r="r" b="b"/>
            <a:pathLst>
              <a:path w="16299" h="160">
                <a:moveTo>
                  <a:pt x="0" y="0"/>
                </a:moveTo>
                <a:lnTo>
                  <a:pt x="16299" y="0"/>
                </a:lnTo>
                <a:lnTo>
                  <a:pt x="16299" y="160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5676840" y="3143160"/>
            <a:ext cx="5867640" cy="57240"/>
          </a:xfrm>
          <a:custGeom>
            <a:avLst/>
            <a:gdLst/>
            <a:ahLst/>
            <a:rect l="0" t="0" r="r" b="b"/>
            <a:pathLst>
              <a:path w="16299" h="159">
                <a:moveTo>
                  <a:pt x="0" y="0"/>
                </a:moveTo>
                <a:lnTo>
                  <a:pt x="16299" y="0"/>
                </a:lnTo>
                <a:lnTo>
                  <a:pt x="16299" y="159"/>
                </a:lnTo>
                <a:lnTo>
                  <a:pt x="0" y="159"/>
                </a:lnTo>
                <a:lnTo>
                  <a:pt x="0" y="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5676840" y="3571560"/>
            <a:ext cx="5867640" cy="57600"/>
          </a:xfrm>
          <a:custGeom>
            <a:avLst/>
            <a:gdLst/>
            <a:ahLst/>
            <a:rect l="0" t="0" r="r" b="b"/>
            <a:pathLst>
              <a:path w="16299" h="160">
                <a:moveTo>
                  <a:pt x="0" y="0"/>
                </a:moveTo>
                <a:lnTo>
                  <a:pt x="16299" y="0"/>
                </a:lnTo>
                <a:lnTo>
                  <a:pt x="16299" y="160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5681520" y="4186080"/>
            <a:ext cx="5858280" cy="1010160"/>
          </a:xfrm>
          <a:custGeom>
            <a:avLst/>
            <a:gdLst/>
            <a:ahLst/>
            <a:rect l="0" t="0" r="r" b="b"/>
            <a:pathLst>
              <a:path w="16273" h="2806">
                <a:moveTo>
                  <a:pt x="0" y="2607"/>
                </a:moveTo>
                <a:lnTo>
                  <a:pt x="0" y="198"/>
                </a:lnTo>
                <a:cubicBezTo>
                  <a:pt x="0" y="185"/>
                  <a:pt x="1" y="172"/>
                  <a:pt x="4" y="160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16074" y="0"/>
                </a:lnTo>
                <a:cubicBezTo>
                  <a:pt x="16087" y="0"/>
                  <a:pt x="16100" y="1"/>
                  <a:pt x="16113" y="4"/>
                </a:cubicBezTo>
                <a:cubicBezTo>
                  <a:pt x="16126" y="6"/>
                  <a:pt x="16138" y="10"/>
                  <a:pt x="16150" y="15"/>
                </a:cubicBezTo>
                <a:cubicBezTo>
                  <a:pt x="16162" y="20"/>
                  <a:pt x="16174" y="26"/>
                  <a:pt x="16185" y="33"/>
                </a:cubicBezTo>
                <a:cubicBezTo>
                  <a:pt x="16195" y="41"/>
                  <a:pt x="16205" y="49"/>
                  <a:pt x="16215" y="58"/>
                </a:cubicBezTo>
                <a:cubicBezTo>
                  <a:pt x="16224" y="67"/>
                  <a:pt x="16232" y="77"/>
                  <a:pt x="16239" y="88"/>
                </a:cubicBezTo>
                <a:cubicBezTo>
                  <a:pt x="16247" y="99"/>
                  <a:pt x="16253" y="110"/>
                  <a:pt x="16258" y="122"/>
                </a:cubicBezTo>
                <a:cubicBezTo>
                  <a:pt x="16263" y="134"/>
                  <a:pt x="16266" y="147"/>
                  <a:pt x="16269" y="160"/>
                </a:cubicBezTo>
                <a:cubicBezTo>
                  <a:pt x="16272" y="172"/>
                  <a:pt x="16273" y="185"/>
                  <a:pt x="16273" y="198"/>
                </a:cubicBezTo>
                <a:lnTo>
                  <a:pt x="16273" y="2607"/>
                </a:lnTo>
                <a:cubicBezTo>
                  <a:pt x="16273" y="2620"/>
                  <a:pt x="16272" y="2633"/>
                  <a:pt x="16269" y="2646"/>
                </a:cubicBezTo>
                <a:cubicBezTo>
                  <a:pt x="16266" y="2659"/>
                  <a:pt x="16263" y="2671"/>
                  <a:pt x="16258" y="2683"/>
                </a:cubicBezTo>
                <a:cubicBezTo>
                  <a:pt x="16253" y="2695"/>
                  <a:pt x="16247" y="2706"/>
                  <a:pt x="16239" y="2717"/>
                </a:cubicBezTo>
                <a:cubicBezTo>
                  <a:pt x="16232" y="2728"/>
                  <a:pt x="16224" y="2738"/>
                  <a:pt x="16215" y="2747"/>
                </a:cubicBezTo>
                <a:cubicBezTo>
                  <a:pt x="16205" y="2757"/>
                  <a:pt x="16195" y="2765"/>
                  <a:pt x="16185" y="2772"/>
                </a:cubicBezTo>
                <a:cubicBezTo>
                  <a:pt x="16174" y="2779"/>
                  <a:pt x="16162" y="2785"/>
                  <a:pt x="16150" y="2790"/>
                </a:cubicBezTo>
                <a:cubicBezTo>
                  <a:pt x="16138" y="2795"/>
                  <a:pt x="16126" y="2799"/>
                  <a:pt x="16113" y="2802"/>
                </a:cubicBezTo>
                <a:cubicBezTo>
                  <a:pt x="16100" y="2804"/>
                  <a:pt x="16087" y="2806"/>
                  <a:pt x="16074" y="2806"/>
                </a:cubicBezTo>
                <a:lnTo>
                  <a:pt x="198" y="2806"/>
                </a:lnTo>
                <a:cubicBezTo>
                  <a:pt x="185" y="2806"/>
                  <a:pt x="172" y="2804"/>
                  <a:pt x="160" y="2802"/>
                </a:cubicBezTo>
                <a:cubicBezTo>
                  <a:pt x="147" y="2799"/>
                  <a:pt x="134" y="2795"/>
                  <a:pt x="122" y="2790"/>
                </a:cubicBezTo>
                <a:cubicBezTo>
                  <a:pt x="110" y="2785"/>
                  <a:pt x="99" y="2779"/>
                  <a:pt x="88" y="2772"/>
                </a:cubicBezTo>
                <a:cubicBezTo>
                  <a:pt x="77" y="2765"/>
                  <a:pt x="67" y="2757"/>
                  <a:pt x="58" y="2747"/>
                </a:cubicBezTo>
                <a:cubicBezTo>
                  <a:pt x="49" y="2738"/>
                  <a:pt x="41" y="2728"/>
                  <a:pt x="33" y="2717"/>
                </a:cubicBezTo>
                <a:cubicBezTo>
                  <a:pt x="26" y="2706"/>
                  <a:pt x="20" y="2695"/>
                  <a:pt x="15" y="2683"/>
                </a:cubicBezTo>
                <a:cubicBezTo>
                  <a:pt x="10" y="2671"/>
                  <a:pt x="6" y="2659"/>
                  <a:pt x="4" y="2646"/>
                </a:cubicBezTo>
                <a:cubicBezTo>
                  <a:pt x="1" y="2633"/>
                  <a:pt x="0" y="2620"/>
                  <a:pt x="0" y="2607"/>
                </a:cubicBezTo>
                <a:close/>
              </a:path>
            </a:pathLst>
          </a:custGeom>
          <a:solidFill>
            <a:srgbClr val="1A0B0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5681520" y="4186080"/>
            <a:ext cx="5858280" cy="1010160"/>
          </a:xfrm>
          <a:custGeom>
            <a:avLst/>
            <a:gdLst/>
            <a:ahLst/>
            <a:rect l="0" t="0" r="r" b="b"/>
            <a:pathLst>
              <a:path w="16273" h="2806">
                <a:moveTo>
                  <a:pt x="0" y="2607"/>
                </a:moveTo>
                <a:lnTo>
                  <a:pt x="0" y="198"/>
                </a:lnTo>
                <a:cubicBezTo>
                  <a:pt x="0" y="185"/>
                  <a:pt x="1" y="172"/>
                  <a:pt x="4" y="160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16074" y="0"/>
                </a:lnTo>
                <a:cubicBezTo>
                  <a:pt x="16087" y="0"/>
                  <a:pt x="16100" y="1"/>
                  <a:pt x="16113" y="4"/>
                </a:cubicBezTo>
                <a:cubicBezTo>
                  <a:pt x="16126" y="6"/>
                  <a:pt x="16138" y="10"/>
                  <a:pt x="16150" y="15"/>
                </a:cubicBezTo>
                <a:cubicBezTo>
                  <a:pt x="16162" y="20"/>
                  <a:pt x="16174" y="26"/>
                  <a:pt x="16185" y="33"/>
                </a:cubicBezTo>
                <a:cubicBezTo>
                  <a:pt x="16195" y="41"/>
                  <a:pt x="16205" y="49"/>
                  <a:pt x="16215" y="58"/>
                </a:cubicBezTo>
                <a:cubicBezTo>
                  <a:pt x="16224" y="67"/>
                  <a:pt x="16232" y="77"/>
                  <a:pt x="16239" y="88"/>
                </a:cubicBezTo>
                <a:cubicBezTo>
                  <a:pt x="16247" y="99"/>
                  <a:pt x="16253" y="110"/>
                  <a:pt x="16258" y="122"/>
                </a:cubicBezTo>
                <a:cubicBezTo>
                  <a:pt x="16263" y="134"/>
                  <a:pt x="16266" y="147"/>
                  <a:pt x="16269" y="160"/>
                </a:cubicBezTo>
                <a:cubicBezTo>
                  <a:pt x="16272" y="172"/>
                  <a:pt x="16273" y="185"/>
                  <a:pt x="16273" y="198"/>
                </a:cubicBezTo>
                <a:lnTo>
                  <a:pt x="16273" y="2607"/>
                </a:lnTo>
                <a:cubicBezTo>
                  <a:pt x="16273" y="2620"/>
                  <a:pt x="16272" y="2633"/>
                  <a:pt x="16269" y="2646"/>
                </a:cubicBezTo>
                <a:cubicBezTo>
                  <a:pt x="16266" y="2659"/>
                  <a:pt x="16263" y="2671"/>
                  <a:pt x="16258" y="2683"/>
                </a:cubicBezTo>
                <a:cubicBezTo>
                  <a:pt x="16253" y="2695"/>
                  <a:pt x="16247" y="2706"/>
                  <a:pt x="16239" y="2717"/>
                </a:cubicBezTo>
                <a:cubicBezTo>
                  <a:pt x="16232" y="2728"/>
                  <a:pt x="16224" y="2738"/>
                  <a:pt x="16215" y="2747"/>
                </a:cubicBezTo>
                <a:cubicBezTo>
                  <a:pt x="16205" y="2757"/>
                  <a:pt x="16195" y="2765"/>
                  <a:pt x="16185" y="2772"/>
                </a:cubicBezTo>
                <a:cubicBezTo>
                  <a:pt x="16174" y="2779"/>
                  <a:pt x="16162" y="2785"/>
                  <a:pt x="16150" y="2790"/>
                </a:cubicBezTo>
                <a:cubicBezTo>
                  <a:pt x="16138" y="2795"/>
                  <a:pt x="16126" y="2799"/>
                  <a:pt x="16113" y="2802"/>
                </a:cubicBezTo>
                <a:cubicBezTo>
                  <a:pt x="16100" y="2804"/>
                  <a:pt x="16087" y="2806"/>
                  <a:pt x="16074" y="2806"/>
                </a:cubicBezTo>
                <a:lnTo>
                  <a:pt x="198" y="2806"/>
                </a:lnTo>
                <a:cubicBezTo>
                  <a:pt x="185" y="2806"/>
                  <a:pt x="172" y="2804"/>
                  <a:pt x="160" y="2802"/>
                </a:cubicBezTo>
                <a:cubicBezTo>
                  <a:pt x="147" y="2799"/>
                  <a:pt x="134" y="2795"/>
                  <a:pt x="122" y="2790"/>
                </a:cubicBezTo>
                <a:cubicBezTo>
                  <a:pt x="110" y="2785"/>
                  <a:pt x="99" y="2779"/>
                  <a:pt x="88" y="2772"/>
                </a:cubicBezTo>
                <a:cubicBezTo>
                  <a:pt x="77" y="2765"/>
                  <a:pt x="67" y="2757"/>
                  <a:pt x="58" y="2747"/>
                </a:cubicBezTo>
                <a:cubicBezTo>
                  <a:pt x="49" y="2738"/>
                  <a:pt x="41" y="2728"/>
                  <a:pt x="33" y="2717"/>
                </a:cubicBezTo>
                <a:cubicBezTo>
                  <a:pt x="26" y="2706"/>
                  <a:pt x="20" y="2695"/>
                  <a:pt x="15" y="2683"/>
                </a:cubicBezTo>
                <a:cubicBezTo>
                  <a:pt x="10" y="2671"/>
                  <a:pt x="6" y="2659"/>
                  <a:pt x="4" y="2646"/>
                </a:cubicBezTo>
                <a:cubicBezTo>
                  <a:pt x="1" y="2633"/>
                  <a:pt x="0" y="2620"/>
                  <a:pt x="0" y="2607"/>
                </a:cubicBezTo>
                <a:close/>
              </a:path>
            </a:pathLst>
          </a:custGeom>
          <a:noFill/>
          <a:ln w="9360">
            <a:solidFill>
              <a:srgbClr val="5C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819000" y="4956840"/>
            <a:ext cx="337068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DDDDDD"/>
                </a:solidFill>
                <a:effectLst/>
                <a:uFillTx/>
                <a:latin typeface="RalewayRoman"/>
                <a:ea typeface="RalewayRoman"/>
              </a:rPr>
              <a:t>cuts reposting is pay, not the experience bar.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5681520" y="2032920"/>
            <a:ext cx="4395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1" u="none" strike="noStrike">
                <a:solidFill>
                  <a:srgbClr val="666666"/>
                </a:solidFill>
                <a:effectLst/>
                <a:uFillTx/>
                <a:latin typeface="Outfit-Thin_Semi"/>
                <a:ea typeface="Outfit-Thin_Semi"/>
              </a:rPr>
              <a:t>HOLD PAY FIXED — THE HIRER'S ACTUAL DECISION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5757480" y="2432520"/>
            <a:ext cx="84888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FFFFFF"/>
                </a:solidFill>
                <a:effectLst/>
                <a:uFillTx/>
                <a:latin typeface="RalewayRoman"/>
                <a:ea typeface="RalewayRoman"/>
              </a:rPr>
              <a:t>Entry &lt; $3k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6881400" y="2432520"/>
            <a:ext cx="37008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19.4 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7200360" y="2449440"/>
            <a:ext cx="1666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999999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7366320" y="2432520"/>
            <a:ext cx="51768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</a:t>
            </a:r>
            <a:r>
              <a:rPr lang="en-SG" sz="1300" b="0" u="none" strike="noStrike">
                <a:solidFill>
                  <a:srgbClr val="EF4444"/>
                </a:solidFill>
                <a:effectLst/>
                <a:uFillTx/>
                <a:latin typeface="RalewayRoman"/>
                <a:ea typeface="RalewayRoman"/>
              </a:rPr>
              <a:t>24.6%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10863360" y="2432520"/>
            <a:ext cx="7286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EF4444"/>
                </a:solidFill>
                <a:effectLst/>
                <a:uFillTx/>
                <a:latin typeface="Outfit-Thin_"/>
                <a:ea typeface="Outfit-Thin_"/>
              </a:rPr>
              <a:t>+5.3 pts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5757480" y="2861280"/>
            <a:ext cx="76680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Mid $3–5k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6881400" y="2861280"/>
            <a:ext cx="37008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18.4 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7201080" y="2878200"/>
            <a:ext cx="1666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999999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7366680" y="2861280"/>
            <a:ext cx="51768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18.1%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11125440" y="2861280"/>
            <a:ext cx="3873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888888"/>
                </a:solidFill>
                <a:effectLst/>
                <a:uFillTx/>
                <a:latin typeface="Outfit-Thin_"/>
                <a:ea typeface="Outfit-Thin_"/>
              </a:rPr>
              <a:t>−0.3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5757480" y="3290040"/>
            <a:ext cx="96084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Senior $5–8k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6881400" y="3290040"/>
            <a:ext cx="37008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17.9 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7188120" y="3306960"/>
            <a:ext cx="1666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999999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7353720" y="3290040"/>
            <a:ext cx="51768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</a:t>
            </a:r>
            <a:r>
              <a:rPr lang="en-SG" sz="1300" b="0" u="none" strike="noStrike">
                <a:solidFill>
                  <a:srgbClr val="22C55E"/>
                </a:solidFill>
                <a:effectLst/>
                <a:uFillTx/>
                <a:latin typeface="RalewayRoman"/>
                <a:ea typeface="RalewayRoman"/>
              </a:rPr>
              <a:t>15.5%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11133720" y="3290040"/>
            <a:ext cx="3873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22C55E"/>
                </a:solidFill>
                <a:effectLst/>
                <a:uFillTx/>
                <a:latin typeface="Outfit-Thin_"/>
                <a:ea typeface="Outfit-Thin_"/>
              </a:rPr>
              <a:t>−2.4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5757480" y="3718440"/>
            <a:ext cx="83988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Exec &gt; $8k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6881400" y="3718440"/>
            <a:ext cx="37008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15.0 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7207200" y="3735360"/>
            <a:ext cx="1666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999999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7372800" y="3718440"/>
            <a:ext cx="51768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</a:t>
            </a:r>
            <a:r>
              <a:rPr lang="en-SG" sz="1300" b="0" u="none" strike="noStrike">
                <a:solidFill>
                  <a:srgbClr val="22C55E"/>
                </a:solidFill>
                <a:effectLst/>
                <a:uFillTx/>
                <a:latin typeface="RalewayRoman"/>
                <a:ea typeface="RalewayRoman"/>
              </a:rPr>
              <a:t>12.1%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1143800" y="3718440"/>
            <a:ext cx="3873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22C55E"/>
                </a:solidFill>
                <a:effectLst/>
                <a:uFillTx/>
                <a:latin typeface="Outfit-Thin_"/>
                <a:ea typeface="Outfit-Thin_"/>
              </a:rPr>
              <a:t>−2.9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5824080" y="4303080"/>
            <a:ext cx="5074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EF4444"/>
                </a:solidFill>
                <a:effectLst/>
                <a:uFillTx/>
                <a:latin typeface="RalewayRoman"/>
                <a:ea typeface="RalewayRoman"/>
              </a:rPr>
              <a:t>The entry band reverses.</a:t>
            </a:r>
            <a:r>
              <a:rPr lang="en-SG" sz="1350" b="0" u="none" strike="noStrike">
                <a:solidFill>
                  <a:srgbClr val="DDDDDD"/>
                </a:solidFill>
                <a:effectLst/>
                <a:uFillTx/>
                <a:latin typeface="RalewayRoman"/>
                <a:ea typeface="RalewayRoman"/>
              </a:rPr>
              <a:t> Demanding 3+ years at under $3k raises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5824080" y="4560480"/>
            <a:ext cx="51901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DDDDDD"/>
                </a:solidFill>
                <a:effectLst/>
                <a:uFillTx/>
                <a:latin typeface="RalewayRoman"/>
                <a:ea typeface="RalewayRoman"/>
              </a:rPr>
              <a:t>reposting by 5.3 points — the one place the experience bar actually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5824080" y="4817520"/>
            <a:ext cx="42786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DDDDDD"/>
                </a:solidFill>
                <a:effectLst/>
                <a:uFillTx/>
                <a:latin typeface="RalewayRoman"/>
                <a:ea typeface="RalewayRoman"/>
              </a:rPr>
              <a:t>costs you. Everywhere else it does little or helps slightly.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9353520" y="2476440"/>
            <a:ext cx="9720" cy="152640"/>
          </a:xfrm>
          <a:custGeom>
            <a:avLst/>
            <a:gdLst/>
            <a:ahLst/>
            <a:rect l="0" t="0" r="r" b="b"/>
            <a:pathLst>
              <a:path w="27" h="424">
                <a:moveTo>
                  <a:pt x="0" y="0"/>
                </a:moveTo>
                <a:lnTo>
                  <a:pt x="27" y="0"/>
                </a:lnTo>
                <a:lnTo>
                  <a:pt x="27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9353520" y="2533320"/>
            <a:ext cx="781200" cy="57600"/>
          </a:xfrm>
          <a:custGeom>
            <a:avLst/>
            <a:gdLst/>
            <a:ahLst/>
            <a:rect l="0" t="0" r="r" b="b"/>
            <a:pathLst>
              <a:path w="2170" h="160">
                <a:moveTo>
                  <a:pt x="0" y="106"/>
                </a:moveTo>
                <a:lnTo>
                  <a:pt x="0" y="53"/>
                </a:lnTo>
                <a:cubicBezTo>
                  <a:pt x="0" y="46"/>
                  <a:pt x="1" y="40"/>
                  <a:pt x="4" y="33"/>
                </a:cubicBezTo>
                <a:cubicBezTo>
                  <a:pt x="6" y="27"/>
                  <a:pt x="10" y="21"/>
                  <a:pt x="15" y="16"/>
                </a:cubicBezTo>
                <a:cubicBezTo>
                  <a:pt x="20" y="11"/>
                  <a:pt x="26" y="7"/>
                  <a:pt x="32" y="4"/>
                </a:cubicBezTo>
                <a:cubicBezTo>
                  <a:pt x="39" y="2"/>
                  <a:pt x="45" y="0"/>
                  <a:pt x="52" y="0"/>
                </a:cubicBezTo>
                <a:lnTo>
                  <a:pt x="2117" y="0"/>
                </a:lnTo>
                <a:cubicBezTo>
                  <a:pt x="2124" y="0"/>
                  <a:pt x="2131" y="2"/>
                  <a:pt x="2137" y="4"/>
                </a:cubicBezTo>
                <a:cubicBezTo>
                  <a:pt x="2144" y="7"/>
                  <a:pt x="2150" y="11"/>
                  <a:pt x="2155" y="16"/>
                </a:cubicBezTo>
                <a:cubicBezTo>
                  <a:pt x="2160" y="21"/>
                  <a:pt x="2163" y="27"/>
                  <a:pt x="2166" y="33"/>
                </a:cubicBezTo>
                <a:cubicBezTo>
                  <a:pt x="2169" y="40"/>
                  <a:pt x="2170" y="46"/>
                  <a:pt x="2170" y="53"/>
                </a:cubicBezTo>
                <a:lnTo>
                  <a:pt x="2170" y="106"/>
                </a:lnTo>
                <a:cubicBezTo>
                  <a:pt x="2170" y="113"/>
                  <a:pt x="2169" y="120"/>
                  <a:pt x="2166" y="126"/>
                </a:cubicBezTo>
                <a:cubicBezTo>
                  <a:pt x="2163" y="133"/>
                  <a:pt x="2160" y="139"/>
                  <a:pt x="2155" y="144"/>
                </a:cubicBezTo>
                <a:cubicBezTo>
                  <a:pt x="2150" y="149"/>
                  <a:pt x="2144" y="153"/>
                  <a:pt x="2137" y="156"/>
                </a:cubicBezTo>
                <a:cubicBezTo>
                  <a:pt x="2131" y="159"/>
                  <a:pt x="2124" y="160"/>
                  <a:pt x="2117" y="160"/>
                </a:cubicBezTo>
                <a:lnTo>
                  <a:pt x="52" y="160"/>
                </a:lnTo>
                <a:cubicBezTo>
                  <a:pt x="45" y="160"/>
                  <a:pt x="39" y="159"/>
                  <a:pt x="32" y="156"/>
                </a:cubicBezTo>
                <a:cubicBezTo>
                  <a:pt x="26" y="153"/>
                  <a:pt x="20" y="149"/>
                  <a:pt x="15" y="144"/>
                </a:cubicBezTo>
                <a:cubicBezTo>
                  <a:pt x="10" y="139"/>
                  <a:pt x="6" y="133"/>
                  <a:pt x="4" y="126"/>
                </a:cubicBezTo>
                <a:cubicBezTo>
                  <a:pt x="1" y="120"/>
                  <a:pt x="0" y="113"/>
                  <a:pt x="0" y="106"/>
                </a:cubicBezTo>
                <a:close/>
              </a:path>
            </a:pathLst>
          </a:custGeom>
          <a:solidFill>
            <a:srgbClr val="EF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9353520" y="2904840"/>
            <a:ext cx="9720" cy="153000"/>
          </a:xfrm>
          <a:custGeom>
            <a:avLst/>
            <a:gdLst/>
            <a:ahLst/>
            <a:rect l="0" t="0" r="r" b="b"/>
            <a:pathLst>
              <a:path w="27" h="425">
                <a:moveTo>
                  <a:pt x="0" y="0"/>
                </a:moveTo>
                <a:lnTo>
                  <a:pt x="27" y="0"/>
                </a:lnTo>
                <a:lnTo>
                  <a:pt x="27" y="425"/>
                </a:lnTo>
                <a:lnTo>
                  <a:pt x="0" y="425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9305640" y="2962080"/>
            <a:ext cx="48240" cy="57600"/>
          </a:xfrm>
          <a:custGeom>
            <a:avLst/>
            <a:gdLst/>
            <a:ahLst/>
            <a:rect l="0" t="0" r="r" b="b"/>
            <a:pathLst>
              <a:path w="134" h="160">
                <a:moveTo>
                  <a:pt x="0" y="107"/>
                </a:move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80" y="0"/>
                </a:lnTo>
                <a:cubicBezTo>
                  <a:pt x="87" y="0"/>
                  <a:pt x="94" y="1"/>
                  <a:pt x="101" y="4"/>
                </a:cubicBezTo>
                <a:cubicBezTo>
                  <a:pt x="107" y="7"/>
                  <a:pt x="113" y="11"/>
                  <a:pt x="118" y="16"/>
                </a:cubicBezTo>
                <a:cubicBezTo>
                  <a:pt x="123" y="21"/>
                  <a:pt x="127" y="26"/>
                  <a:pt x="130" y="33"/>
                </a:cubicBezTo>
                <a:cubicBezTo>
                  <a:pt x="132" y="39"/>
                  <a:pt x="134" y="46"/>
                  <a:pt x="134" y="53"/>
                </a:cubicBezTo>
                <a:lnTo>
                  <a:pt x="134" y="107"/>
                </a:lnTo>
                <a:cubicBezTo>
                  <a:pt x="134" y="114"/>
                  <a:pt x="132" y="121"/>
                  <a:pt x="130" y="127"/>
                </a:cubicBezTo>
                <a:cubicBezTo>
                  <a:pt x="127" y="134"/>
                  <a:pt x="123" y="139"/>
                  <a:pt x="118" y="144"/>
                </a:cubicBezTo>
                <a:cubicBezTo>
                  <a:pt x="113" y="149"/>
                  <a:pt x="107" y="153"/>
                  <a:pt x="101" y="156"/>
                </a:cubicBezTo>
                <a:cubicBezTo>
                  <a:pt x="94" y="158"/>
                  <a:pt x="87" y="160"/>
                  <a:pt x="80" y="160"/>
                </a:cubicBezTo>
                <a:lnTo>
                  <a:pt x="53" y="160"/>
                </a:lnTo>
                <a:cubicBezTo>
                  <a:pt x="46" y="160"/>
                  <a:pt x="39" y="158"/>
                  <a:pt x="33" y="156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4"/>
                  <a:pt x="4" y="127"/>
                </a:cubicBezTo>
                <a:cubicBezTo>
                  <a:pt x="2" y="121"/>
                  <a:pt x="0" y="114"/>
                  <a:pt x="0" y="107"/>
                </a:cubicBez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9353520" y="3333600"/>
            <a:ext cx="9720" cy="152640"/>
          </a:xfrm>
          <a:custGeom>
            <a:avLst/>
            <a:gdLst/>
            <a:ahLst/>
            <a:rect l="0" t="0" r="r" b="b"/>
            <a:pathLst>
              <a:path w="27" h="424">
                <a:moveTo>
                  <a:pt x="0" y="0"/>
                </a:moveTo>
                <a:lnTo>
                  <a:pt x="27" y="0"/>
                </a:lnTo>
                <a:lnTo>
                  <a:pt x="27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8991360" y="3390840"/>
            <a:ext cx="362520" cy="57240"/>
          </a:xfrm>
          <a:custGeom>
            <a:avLst/>
            <a:gdLst/>
            <a:ahLst/>
            <a:rect l="0" t="0" r="r" b="b"/>
            <a:pathLst>
              <a:path w="1007" h="159">
                <a:moveTo>
                  <a:pt x="0" y="105"/>
                </a:moveTo>
                <a:lnTo>
                  <a:pt x="0" y="53"/>
                </a:lnTo>
                <a:cubicBezTo>
                  <a:pt x="0" y="46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954" y="0"/>
                </a:lnTo>
                <a:cubicBezTo>
                  <a:pt x="961" y="0"/>
                  <a:pt x="967" y="1"/>
                  <a:pt x="974" y="4"/>
                </a:cubicBezTo>
                <a:cubicBezTo>
                  <a:pt x="980" y="6"/>
                  <a:pt x="986" y="10"/>
                  <a:pt x="991" y="15"/>
                </a:cubicBezTo>
                <a:cubicBezTo>
                  <a:pt x="996" y="20"/>
                  <a:pt x="1000" y="26"/>
                  <a:pt x="1003" y="32"/>
                </a:cubicBezTo>
                <a:cubicBezTo>
                  <a:pt x="1005" y="39"/>
                  <a:pt x="1007" y="46"/>
                  <a:pt x="1007" y="53"/>
                </a:cubicBezTo>
                <a:lnTo>
                  <a:pt x="1007" y="105"/>
                </a:lnTo>
                <a:cubicBezTo>
                  <a:pt x="1007" y="113"/>
                  <a:pt x="1005" y="119"/>
                  <a:pt x="1003" y="126"/>
                </a:cubicBezTo>
                <a:cubicBezTo>
                  <a:pt x="1000" y="132"/>
                  <a:pt x="996" y="138"/>
                  <a:pt x="991" y="144"/>
                </a:cubicBezTo>
                <a:cubicBezTo>
                  <a:pt x="986" y="149"/>
                  <a:pt x="980" y="153"/>
                  <a:pt x="974" y="155"/>
                </a:cubicBezTo>
                <a:cubicBezTo>
                  <a:pt x="967" y="158"/>
                  <a:pt x="961" y="159"/>
                  <a:pt x="954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8"/>
                  <a:pt x="7" y="132"/>
                  <a:pt x="4" y="126"/>
                </a:cubicBezTo>
                <a:cubicBezTo>
                  <a:pt x="2" y="119"/>
                  <a:pt x="0" y="113"/>
                  <a:pt x="0" y="105"/>
                </a:cubicBezTo>
                <a:close/>
              </a:path>
            </a:pathLst>
          </a:custGeom>
          <a:solidFill>
            <a:srgbClr val="22C5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9353520" y="3762360"/>
            <a:ext cx="9720" cy="152640"/>
          </a:xfrm>
          <a:custGeom>
            <a:avLst/>
            <a:gdLst/>
            <a:ahLst/>
            <a:rect l="0" t="0" r="r" b="b"/>
            <a:pathLst>
              <a:path w="27" h="424">
                <a:moveTo>
                  <a:pt x="0" y="0"/>
                </a:moveTo>
                <a:lnTo>
                  <a:pt x="27" y="0"/>
                </a:lnTo>
                <a:lnTo>
                  <a:pt x="27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8915040" y="3819240"/>
            <a:ext cx="438840" cy="57600"/>
          </a:xfrm>
          <a:custGeom>
            <a:avLst/>
            <a:gdLst/>
            <a:ahLst/>
            <a:rect l="0" t="0" r="r" b="b"/>
            <a:pathLst>
              <a:path w="1219" h="160">
                <a:moveTo>
                  <a:pt x="0" y="107"/>
                </a:moveTo>
                <a:lnTo>
                  <a:pt x="0" y="53"/>
                </a:ln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lnTo>
                  <a:pt x="1166" y="0"/>
                </a:lnTo>
                <a:cubicBezTo>
                  <a:pt x="1173" y="0"/>
                  <a:pt x="1179" y="2"/>
                  <a:pt x="1186" y="4"/>
                </a:cubicBezTo>
                <a:cubicBezTo>
                  <a:pt x="1192" y="7"/>
                  <a:pt x="1198" y="11"/>
                  <a:pt x="1203" y="16"/>
                </a:cubicBezTo>
                <a:cubicBezTo>
                  <a:pt x="1208" y="21"/>
                  <a:pt x="1212" y="26"/>
                  <a:pt x="1215" y="33"/>
                </a:cubicBezTo>
                <a:cubicBezTo>
                  <a:pt x="1217" y="39"/>
                  <a:pt x="1219" y="46"/>
                  <a:pt x="1219" y="53"/>
                </a:cubicBezTo>
                <a:lnTo>
                  <a:pt x="1219" y="107"/>
                </a:lnTo>
                <a:cubicBezTo>
                  <a:pt x="1219" y="114"/>
                  <a:pt x="1217" y="121"/>
                  <a:pt x="1215" y="127"/>
                </a:cubicBezTo>
                <a:cubicBezTo>
                  <a:pt x="1212" y="134"/>
                  <a:pt x="1208" y="140"/>
                  <a:pt x="1203" y="145"/>
                </a:cubicBezTo>
                <a:cubicBezTo>
                  <a:pt x="1198" y="150"/>
                  <a:pt x="1192" y="153"/>
                  <a:pt x="1186" y="156"/>
                </a:cubicBezTo>
                <a:cubicBezTo>
                  <a:pt x="1179" y="159"/>
                  <a:pt x="1173" y="160"/>
                  <a:pt x="1166" y="160"/>
                </a:cubicBezTo>
                <a:lnTo>
                  <a:pt x="53" y="160"/>
                </a:lnTo>
                <a:cubicBezTo>
                  <a:pt x="46" y="160"/>
                  <a:pt x="40" y="159"/>
                  <a:pt x="33" y="156"/>
                </a:cubicBezTo>
                <a:cubicBezTo>
                  <a:pt x="27" y="153"/>
                  <a:pt x="21" y="150"/>
                  <a:pt x="16" y="145"/>
                </a:cubicBezTo>
                <a:cubicBezTo>
                  <a:pt x="11" y="140"/>
                  <a:pt x="7" y="134"/>
                  <a:pt x="5" y="127"/>
                </a:cubicBezTo>
                <a:cubicBezTo>
                  <a:pt x="2" y="121"/>
                  <a:pt x="0" y="114"/>
                  <a:pt x="0" y="107"/>
                </a:cubicBezTo>
                <a:close/>
              </a:path>
            </a:pathLst>
          </a:custGeom>
          <a:solidFill>
            <a:srgbClr val="22C5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2087280" y="5487840"/>
            <a:ext cx="7998120" cy="17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9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The gap between bands is far larger than chance — so the board </a:t>
            </a:r>
            <a:r>
              <a:rPr lang="en-SG" sz="1390" b="0" u="none" strike="noStrike">
                <a:solidFill>
                  <a:srgbClr val="FF6B1A"/>
                </a:solidFill>
                <a:effectLst/>
                <a:uFillTx/>
                <a:latin typeface="RalewayRoman"/>
                <a:ea typeface="RalewayRoman"/>
              </a:rPr>
              <a:t>never shows the market-wide view.</a:t>
            </a:r>
            <a:endParaRPr lang="en-SG" sz="13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11759040" y="6414120"/>
            <a:ext cx="18540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12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647640" y="2495520"/>
            <a:ext cx="10896840" cy="57240"/>
          </a:xfrm>
          <a:custGeom>
            <a:avLst/>
            <a:gdLst/>
            <a:ahLst/>
            <a:rect l="0" t="0" r="r" b="b"/>
            <a:pathLst>
              <a:path w="30269" h="159">
                <a:moveTo>
                  <a:pt x="0" y="0"/>
                </a:moveTo>
                <a:lnTo>
                  <a:pt x="30269" y="0"/>
                </a:lnTo>
                <a:lnTo>
                  <a:pt x="30269" y="159"/>
                </a:lnTo>
                <a:lnTo>
                  <a:pt x="0" y="159"/>
                </a:lnTo>
                <a:lnTo>
                  <a:pt x="0" y="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647640" y="3990960"/>
            <a:ext cx="10896840" cy="57240"/>
          </a:xfrm>
          <a:custGeom>
            <a:avLst/>
            <a:gdLst/>
            <a:ahLst/>
            <a:rect l="0" t="0" r="r" b="b"/>
            <a:pathLst>
              <a:path w="30269" h="159">
                <a:moveTo>
                  <a:pt x="0" y="0"/>
                </a:moveTo>
                <a:lnTo>
                  <a:pt x="30269" y="0"/>
                </a:lnTo>
                <a:lnTo>
                  <a:pt x="30269" y="159"/>
                </a:lnTo>
                <a:lnTo>
                  <a:pt x="0" y="159"/>
                </a:lnTo>
                <a:lnTo>
                  <a:pt x="0" y="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647640" y="951120"/>
            <a:ext cx="376668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C H A L L E N G E S   &amp;   L E A R N I N G S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762120" y="1500120"/>
            <a:ext cx="553680" cy="58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3270" b="1" u="none" strike="noStrike">
                <a:solidFill>
                  <a:srgbClr val="242424"/>
                </a:solidFill>
                <a:effectLst/>
                <a:uFillTx/>
                <a:latin typeface="Outfit-Thin_"/>
                <a:ea typeface="Outfit-Thin_"/>
              </a:rPr>
              <a:t>01</a:t>
            </a:r>
            <a:endParaRPr lang="en-SG" sz="32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1467000" y="1484280"/>
            <a:ext cx="49914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1" u="none" strike="noStrike">
                <a:solidFill>
                  <a:srgbClr val="EEEEEE"/>
                </a:solidFill>
                <a:effectLst/>
                <a:uFillTx/>
                <a:latin typeface="Outfit-Thin_"/>
                <a:ea typeface="Outfit-Thin_"/>
              </a:rPr>
              <a:t>The hard part was deciding what the data 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5672880" y="1484280"/>
            <a:ext cx="1941480" cy="314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50" b="1" u="none" strike="noStrike">
                <a:solidFill>
                  <a:srgbClr val="EEEEEE"/>
                </a:solidFill>
                <a:effectLst/>
                <a:uFillTx/>
                <a:latin typeface="Outfit-Thin_"/>
                <a:ea typeface="Outfit-Thin_"/>
              </a:rPr>
              <a:t>couldn't answer</a:t>
            </a:r>
            <a:endParaRPr lang="en-SG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1467000" y="1847160"/>
            <a:ext cx="989784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Half of layer two is spent earning the right to use 78,942 rows instead of a million. That felt like losing data — it was the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1467000" y="2123280"/>
            <a:ext cx="438696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difference between a number and a trustworthy one.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762120" y="2709720"/>
            <a:ext cx="553680" cy="58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3270" b="1" u="none" strike="noStrike">
                <a:solidFill>
                  <a:srgbClr val="242424"/>
                </a:solidFill>
                <a:effectLst/>
                <a:uFillTx/>
                <a:latin typeface="Outfit-Thin_"/>
                <a:ea typeface="Outfit-Thin_"/>
              </a:rPr>
              <a:t>02</a:t>
            </a:r>
            <a:endParaRPr lang="en-SG" sz="32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1467000" y="2693880"/>
            <a:ext cx="4645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1" u="none" strike="noStrike">
                <a:solidFill>
                  <a:srgbClr val="EEEEEE"/>
                </a:solidFill>
                <a:effectLst/>
                <a:uFillTx/>
                <a:latin typeface="Outfit-Thin_"/>
                <a:ea typeface="Outfit-Thin_"/>
              </a:rPr>
              <a:t>We built two features and deleted them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1467000" y="3083400"/>
            <a:ext cx="124200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555555"/>
                </a:solidFill>
                <a:effectLst/>
                <a:uFillTx/>
                <a:latin typeface="Menlo"/>
                <a:ea typeface="Menlo"/>
              </a:rPr>
              <a:t>skill_count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2710080" y="3056760"/>
            <a:ext cx="265716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matches keywords against job 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5419080" y="3056760"/>
            <a:ext cx="398520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3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titles</a:t>
            </a:r>
            <a:endParaRPr lang="en-SG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5765400" y="3056760"/>
            <a:ext cx="565740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— there's no description field, and a headline isn't where skills live.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1467000" y="3359520"/>
            <a:ext cx="2370600" cy="21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555555"/>
                </a:solidFill>
                <a:effectLst/>
                <a:uFillTx/>
                <a:latin typeface="Menlo"/>
                <a:ea typeface="Menlo"/>
              </a:rPr>
              <a:t>competitiveness_score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3840480" y="3333240"/>
            <a:ext cx="752256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barely correlated with applications, views or vacancies. A score that doesn't track its own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1467000" y="3618720"/>
            <a:ext cx="260532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subject is worse than no score.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762120" y="4205160"/>
            <a:ext cx="553680" cy="58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3270" b="1" u="none" strike="noStrike">
                <a:solidFill>
                  <a:srgbClr val="242424"/>
                </a:solidFill>
                <a:effectLst/>
                <a:uFillTx/>
                <a:latin typeface="Outfit-Thin_"/>
                <a:ea typeface="Outfit-Thin_"/>
              </a:rPr>
              <a:t>03</a:t>
            </a:r>
            <a:endParaRPr lang="en-SG" sz="32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1467000" y="4189320"/>
            <a:ext cx="5313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1" u="none" strike="noStrike">
                <a:solidFill>
                  <a:srgbClr val="EEEEEE"/>
                </a:solidFill>
                <a:effectLst/>
                <a:uFillTx/>
                <a:latin typeface="Outfit-Thin_"/>
                <a:ea typeface="Outfit-Thin_"/>
              </a:rPr>
              <a:t>Analysis and product carry the same caveats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652320" y="5138640"/>
            <a:ext cx="5382000" cy="733680"/>
          </a:xfrm>
          <a:custGeom>
            <a:avLst/>
            <a:gdLst/>
            <a:ahLst/>
            <a:rect l="0" t="0" r="r" b="b"/>
            <a:pathLst>
              <a:path w="14950" h="2038">
                <a:moveTo>
                  <a:pt x="0" y="1840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14751" y="0"/>
                </a:lnTo>
                <a:cubicBezTo>
                  <a:pt x="14764" y="0"/>
                  <a:pt x="14777" y="1"/>
                  <a:pt x="14790" y="4"/>
                </a:cubicBezTo>
                <a:cubicBezTo>
                  <a:pt x="14803" y="6"/>
                  <a:pt x="14815" y="10"/>
                  <a:pt x="14827" y="15"/>
                </a:cubicBezTo>
                <a:cubicBezTo>
                  <a:pt x="14839" y="20"/>
                  <a:pt x="14851" y="26"/>
                  <a:pt x="14862" y="33"/>
                </a:cubicBezTo>
                <a:cubicBezTo>
                  <a:pt x="14872" y="40"/>
                  <a:pt x="14883" y="49"/>
                  <a:pt x="14892" y="58"/>
                </a:cubicBezTo>
                <a:cubicBezTo>
                  <a:pt x="14901" y="67"/>
                  <a:pt x="14909" y="77"/>
                  <a:pt x="14916" y="88"/>
                </a:cubicBezTo>
                <a:cubicBezTo>
                  <a:pt x="14924" y="99"/>
                  <a:pt x="14930" y="110"/>
                  <a:pt x="14935" y="122"/>
                </a:cubicBezTo>
                <a:cubicBezTo>
                  <a:pt x="14940" y="134"/>
                  <a:pt x="14943" y="147"/>
                  <a:pt x="14946" y="159"/>
                </a:cubicBezTo>
                <a:cubicBezTo>
                  <a:pt x="14949" y="172"/>
                  <a:pt x="14950" y="185"/>
                  <a:pt x="14950" y="198"/>
                </a:cubicBezTo>
                <a:lnTo>
                  <a:pt x="14950" y="1840"/>
                </a:lnTo>
                <a:cubicBezTo>
                  <a:pt x="14950" y="1853"/>
                  <a:pt x="14949" y="1866"/>
                  <a:pt x="14946" y="1878"/>
                </a:cubicBezTo>
                <a:cubicBezTo>
                  <a:pt x="14943" y="1891"/>
                  <a:pt x="14940" y="1904"/>
                  <a:pt x="14935" y="1916"/>
                </a:cubicBezTo>
                <a:cubicBezTo>
                  <a:pt x="14930" y="1928"/>
                  <a:pt x="14924" y="1939"/>
                  <a:pt x="14916" y="1950"/>
                </a:cubicBezTo>
                <a:cubicBezTo>
                  <a:pt x="14909" y="1961"/>
                  <a:pt x="14901" y="1971"/>
                  <a:pt x="14892" y="1980"/>
                </a:cubicBezTo>
                <a:cubicBezTo>
                  <a:pt x="14883" y="1989"/>
                  <a:pt x="14872" y="1997"/>
                  <a:pt x="14862" y="2005"/>
                </a:cubicBezTo>
                <a:cubicBezTo>
                  <a:pt x="14851" y="2012"/>
                  <a:pt x="14839" y="2018"/>
                  <a:pt x="14827" y="2023"/>
                </a:cubicBezTo>
                <a:cubicBezTo>
                  <a:pt x="14815" y="2028"/>
                  <a:pt x="14803" y="2032"/>
                  <a:pt x="14790" y="2034"/>
                </a:cubicBezTo>
                <a:cubicBezTo>
                  <a:pt x="14777" y="2037"/>
                  <a:pt x="14764" y="2038"/>
                  <a:pt x="14751" y="2038"/>
                </a:cubicBezTo>
                <a:lnTo>
                  <a:pt x="198" y="2038"/>
                </a:lnTo>
                <a:cubicBezTo>
                  <a:pt x="185" y="2038"/>
                  <a:pt x="172" y="2037"/>
                  <a:pt x="160" y="2034"/>
                </a:cubicBezTo>
                <a:cubicBezTo>
                  <a:pt x="147" y="2032"/>
                  <a:pt x="134" y="2028"/>
                  <a:pt x="122" y="2023"/>
                </a:cubicBezTo>
                <a:cubicBezTo>
                  <a:pt x="110" y="2018"/>
                  <a:pt x="99" y="2012"/>
                  <a:pt x="88" y="2005"/>
                </a:cubicBezTo>
                <a:cubicBezTo>
                  <a:pt x="77" y="1997"/>
                  <a:pt x="67" y="1989"/>
                  <a:pt x="58" y="1980"/>
                </a:cubicBezTo>
                <a:cubicBezTo>
                  <a:pt x="49" y="1971"/>
                  <a:pt x="41" y="1961"/>
                  <a:pt x="33" y="1950"/>
                </a:cubicBezTo>
                <a:cubicBezTo>
                  <a:pt x="26" y="1939"/>
                  <a:pt x="20" y="1928"/>
                  <a:pt x="15" y="1916"/>
                </a:cubicBezTo>
                <a:cubicBezTo>
                  <a:pt x="10" y="1904"/>
                  <a:pt x="6" y="1891"/>
                  <a:pt x="4" y="1878"/>
                </a:cubicBezTo>
                <a:cubicBezTo>
                  <a:pt x="1" y="1866"/>
                  <a:pt x="0" y="1853"/>
                  <a:pt x="0" y="1840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652320" y="5138640"/>
            <a:ext cx="5382000" cy="733680"/>
          </a:xfrm>
          <a:custGeom>
            <a:avLst/>
            <a:gdLst/>
            <a:ahLst/>
            <a:rect l="0" t="0" r="r" b="b"/>
            <a:pathLst>
              <a:path w="14950" h="2038">
                <a:moveTo>
                  <a:pt x="0" y="1840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14751" y="0"/>
                </a:lnTo>
                <a:cubicBezTo>
                  <a:pt x="14764" y="0"/>
                  <a:pt x="14777" y="1"/>
                  <a:pt x="14790" y="4"/>
                </a:cubicBezTo>
                <a:cubicBezTo>
                  <a:pt x="14803" y="6"/>
                  <a:pt x="14815" y="10"/>
                  <a:pt x="14827" y="15"/>
                </a:cubicBezTo>
                <a:cubicBezTo>
                  <a:pt x="14839" y="20"/>
                  <a:pt x="14851" y="26"/>
                  <a:pt x="14862" y="33"/>
                </a:cubicBezTo>
                <a:cubicBezTo>
                  <a:pt x="14872" y="40"/>
                  <a:pt x="14883" y="49"/>
                  <a:pt x="14892" y="58"/>
                </a:cubicBezTo>
                <a:cubicBezTo>
                  <a:pt x="14901" y="67"/>
                  <a:pt x="14909" y="77"/>
                  <a:pt x="14916" y="88"/>
                </a:cubicBezTo>
                <a:cubicBezTo>
                  <a:pt x="14924" y="99"/>
                  <a:pt x="14930" y="110"/>
                  <a:pt x="14935" y="122"/>
                </a:cubicBezTo>
                <a:cubicBezTo>
                  <a:pt x="14940" y="134"/>
                  <a:pt x="14943" y="147"/>
                  <a:pt x="14946" y="159"/>
                </a:cubicBezTo>
                <a:cubicBezTo>
                  <a:pt x="14949" y="172"/>
                  <a:pt x="14950" y="185"/>
                  <a:pt x="14950" y="198"/>
                </a:cubicBezTo>
                <a:lnTo>
                  <a:pt x="14950" y="1840"/>
                </a:lnTo>
                <a:cubicBezTo>
                  <a:pt x="14950" y="1853"/>
                  <a:pt x="14949" y="1866"/>
                  <a:pt x="14946" y="1878"/>
                </a:cubicBezTo>
                <a:cubicBezTo>
                  <a:pt x="14943" y="1891"/>
                  <a:pt x="14940" y="1904"/>
                  <a:pt x="14935" y="1916"/>
                </a:cubicBezTo>
                <a:cubicBezTo>
                  <a:pt x="14930" y="1928"/>
                  <a:pt x="14924" y="1939"/>
                  <a:pt x="14916" y="1950"/>
                </a:cubicBezTo>
                <a:cubicBezTo>
                  <a:pt x="14909" y="1961"/>
                  <a:pt x="14901" y="1971"/>
                  <a:pt x="14892" y="1980"/>
                </a:cubicBezTo>
                <a:cubicBezTo>
                  <a:pt x="14883" y="1989"/>
                  <a:pt x="14872" y="1997"/>
                  <a:pt x="14862" y="2005"/>
                </a:cubicBezTo>
                <a:cubicBezTo>
                  <a:pt x="14851" y="2012"/>
                  <a:pt x="14839" y="2018"/>
                  <a:pt x="14827" y="2023"/>
                </a:cubicBezTo>
                <a:cubicBezTo>
                  <a:pt x="14815" y="2028"/>
                  <a:pt x="14803" y="2032"/>
                  <a:pt x="14790" y="2034"/>
                </a:cubicBezTo>
                <a:cubicBezTo>
                  <a:pt x="14777" y="2037"/>
                  <a:pt x="14764" y="2038"/>
                  <a:pt x="14751" y="2038"/>
                </a:cubicBezTo>
                <a:lnTo>
                  <a:pt x="198" y="2038"/>
                </a:lnTo>
                <a:cubicBezTo>
                  <a:pt x="185" y="2038"/>
                  <a:pt x="172" y="2037"/>
                  <a:pt x="160" y="2034"/>
                </a:cubicBezTo>
                <a:cubicBezTo>
                  <a:pt x="147" y="2032"/>
                  <a:pt x="134" y="2028"/>
                  <a:pt x="122" y="2023"/>
                </a:cubicBezTo>
                <a:cubicBezTo>
                  <a:pt x="110" y="2018"/>
                  <a:pt x="99" y="2012"/>
                  <a:pt x="88" y="2005"/>
                </a:cubicBezTo>
                <a:cubicBezTo>
                  <a:pt x="77" y="1997"/>
                  <a:pt x="67" y="1989"/>
                  <a:pt x="58" y="1980"/>
                </a:cubicBezTo>
                <a:cubicBezTo>
                  <a:pt x="49" y="1971"/>
                  <a:pt x="41" y="1961"/>
                  <a:pt x="33" y="1950"/>
                </a:cubicBezTo>
                <a:cubicBezTo>
                  <a:pt x="26" y="1939"/>
                  <a:pt x="20" y="1928"/>
                  <a:pt x="15" y="1916"/>
                </a:cubicBezTo>
                <a:cubicBezTo>
                  <a:pt x="10" y="1904"/>
                  <a:pt x="6" y="1891"/>
                  <a:pt x="4" y="1878"/>
                </a:cubicBezTo>
                <a:cubicBezTo>
                  <a:pt x="1" y="1866"/>
                  <a:pt x="0" y="1853"/>
                  <a:pt x="0" y="184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1467000" y="4542840"/>
            <a:ext cx="938736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48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Every chart on the board repeats its notebook's scope note — which cohort, how many postings, which window.</a:t>
            </a:r>
            <a:endParaRPr lang="en-SG" sz="14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790560" y="5246280"/>
            <a:ext cx="4544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NOT ESTABLISHED —</a:t>
            </a:r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causation, seasonality (one 4-month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790560" y="5503320"/>
            <a:ext cx="26946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window), or whether a role actually 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3558240" y="5503320"/>
            <a:ext cx="374040" cy="17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9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filled</a:t>
            </a:r>
            <a:endParaRPr lang="en-SG" sz="13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6157800" y="5138640"/>
            <a:ext cx="5382000" cy="733680"/>
          </a:xfrm>
          <a:custGeom>
            <a:avLst/>
            <a:gdLst/>
            <a:ahLst/>
            <a:rect l="0" t="0" r="r" b="b"/>
            <a:pathLst>
              <a:path w="14950" h="2038">
                <a:moveTo>
                  <a:pt x="0" y="1840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14751" y="0"/>
                </a:lnTo>
                <a:cubicBezTo>
                  <a:pt x="14764" y="0"/>
                  <a:pt x="14777" y="1"/>
                  <a:pt x="14790" y="4"/>
                </a:cubicBezTo>
                <a:cubicBezTo>
                  <a:pt x="14803" y="6"/>
                  <a:pt x="14815" y="10"/>
                  <a:pt x="14827" y="15"/>
                </a:cubicBezTo>
                <a:cubicBezTo>
                  <a:pt x="14839" y="20"/>
                  <a:pt x="14851" y="26"/>
                  <a:pt x="14862" y="33"/>
                </a:cubicBezTo>
                <a:cubicBezTo>
                  <a:pt x="14872" y="40"/>
                  <a:pt x="14882" y="49"/>
                  <a:pt x="14892" y="58"/>
                </a:cubicBezTo>
                <a:cubicBezTo>
                  <a:pt x="14901" y="67"/>
                  <a:pt x="14909" y="77"/>
                  <a:pt x="14916" y="88"/>
                </a:cubicBezTo>
                <a:cubicBezTo>
                  <a:pt x="14924" y="99"/>
                  <a:pt x="14930" y="110"/>
                  <a:pt x="14935" y="122"/>
                </a:cubicBezTo>
                <a:cubicBezTo>
                  <a:pt x="14940" y="134"/>
                  <a:pt x="14943" y="147"/>
                  <a:pt x="14946" y="159"/>
                </a:cubicBezTo>
                <a:cubicBezTo>
                  <a:pt x="14949" y="172"/>
                  <a:pt x="14950" y="185"/>
                  <a:pt x="14950" y="198"/>
                </a:cubicBezTo>
                <a:lnTo>
                  <a:pt x="14950" y="1840"/>
                </a:lnTo>
                <a:cubicBezTo>
                  <a:pt x="14950" y="1853"/>
                  <a:pt x="14949" y="1866"/>
                  <a:pt x="14946" y="1878"/>
                </a:cubicBezTo>
                <a:cubicBezTo>
                  <a:pt x="14943" y="1891"/>
                  <a:pt x="14940" y="1904"/>
                  <a:pt x="14935" y="1916"/>
                </a:cubicBezTo>
                <a:cubicBezTo>
                  <a:pt x="14930" y="1928"/>
                  <a:pt x="14924" y="1939"/>
                  <a:pt x="14916" y="1950"/>
                </a:cubicBezTo>
                <a:cubicBezTo>
                  <a:pt x="14909" y="1961"/>
                  <a:pt x="14901" y="1971"/>
                  <a:pt x="14892" y="1980"/>
                </a:cubicBezTo>
                <a:cubicBezTo>
                  <a:pt x="14882" y="1989"/>
                  <a:pt x="14872" y="1997"/>
                  <a:pt x="14862" y="2005"/>
                </a:cubicBezTo>
                <a:cubicBezTo>
                  <a:pt x="14851" y="2012"/>
                  <a:pt x="14839" y="2018"/>
                  <a:pt x="14827" y="2023"/>
                </a:cubicBezTo>
                <a:cubicBezTo>
                  <a:pt x="14815" y="2028"/>
                  <a:pt x="14803" y="2032"/>
                  <a:pt x="14790" y="2034"/>
                </a:cubicBezTo>
                <a:cubicBezTo>
                  <a:pt x="14777" y="2037"/>
                  <a:pt x="14764" y="2038"/>
                  <a:pt x="14751" y="2038"/>
                </a:cubicBezTo>
                <a:lnTo>
                  <a:pt x="198" y="2038"/>
                </a:lnTo>
                <a:cubicBezTo>
                  <a:pt x="185" y="2038"/>
                  <a:pt x="172" y="2037"/>
                  <a:pt x="160" y="2034"/>
                </a:cubicBezTo>
                <a:cubicBezTo>
                  <a:pt x="147" y="2032"/>
                  <a:pt x="134" y="2028"/>
                  <a:pt x="122" y="2023"/>
                </a:cubicBezTo>
                <a:cubicBezTo>
                  <a:pt x="110" y="2018"/>
                  <a:pt x="99" y="2012"/>
                  <a:pt x="88" y="2005"/>
                </a:cubicBezTo>
                <a:cubicBezTo>
                  <a:pt x="77" y="1997"/>
                  <a:pt x="67" y="1989"/>
                  <a:pt x="58" y="1980"/>
                </a:cubicBezTo>
                <a:cubicBezTo>
                  <a:pt x="49" y="1971"/>
                  <a:pt x="40" y="1961"/>
                  <a:pt x="33" y="1950"/>
                </a:cubicBezTo>
                <a:cubicBezTo>
                  <a:pt x="26" y="1939"/>
                  <a:pt x="20" y="1928"/>
                  <a:pt x="15" y="1916"/>
                </a:cubicBezTo>
                <a:cubicBezTo>
                  <a:pt x="10" y="1904"/>
                  <a:pt x="6" y="1891"/>
                  <a:pt x="4" y="1878"/>
                </a:cubicBezTo>
                <a:cubicBezTo>
                  <a:pt x="1" y="1866"/>
                  <a:pt x="0" y="1853"/>
                  <a:pt x="0" y="1840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6157800" y="5138640"/>
            <a:ext cx="5382000" cy="733680"/>
          </a:xfrm>
          <a:custGeom>
            <a:avLst/>
            <a:gdLst/>
            <a:ahLst/>
            <a:rect l="0" t="0" r="r" b="b"/>
            <a:pathLst>
              <a:path w="14950" h="2038">
                <a:moveTo>
                  <a:pt x="0" y="1840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14751" y="0"/>
                </a:lnTo>
                <a:cubicBezTo>
                  <a:pt x="14764" y="0"/>
                  <a:pt x="14777" y="1"/>
                  <a:pt x="14790" y="4"/>
                </a:cubicBezTo>
                <a:cubicBezTo>
                  <a:pt x="14803" y="6"/>
                  <a:pt x="14815" y="10"/>
                  <a:pt x="14827" y="15"/>
                </a:cubicBezTo>
                <a:cubicBezTo>
                  <a:pt x="14839" y="20"/>
                  <a:pt x="14851" y="26"/>
                  <a:pt x="14862" y="33"/>
                </a:cubicBezTo>
                <a:cubicBezTo>
                  <a:pt x="14872" y="40"/>
                  <a:pt x="14882" y="49"/>
                  <a:pt x="14892" y="58"/>
                </a:cubicBezTo>
                <a:cubicBezTo>
                  <a:pt x="14901" y="67"/>
                  <a:pt x="14909" y="77"/>
                  <a:pt x="14916" y="88"/>
                </a:cubicBezTo>
                <a:cubicBezTo>
                  <a:pt x="14924" y="99"/>
                  <a:pt x="14930" y="110"/>
                  <a:pt x="14935" y="122"/>
                </a:cubicBezTo>
                <a:cubicBezTo>
                  <a:pt x="14940" y="134"/>
                  <a:pt x="14943" y="147"/>
                  <a:pt x="14946" y="159"/>
                </a:cubicBezTo>
                <a:cubicBezTo>
                  <a:pt x="14949" y="172"/>
                  <a:pt x="14950" y="185"/>
                  <a:pt x="14950" y="198"/>
                </a:cubicBezTo>
                <a:lnTo>
                  <a:pt x="14950" y="1840"/>
                </a:lnTo>
                <a:cubicBezTo>
                  <a:pt x="14950" y="1853"/>
                  <a:pt x="14949" y="1866"/>
                  <a:pt x="14946" y="1878"/>
                </a:cubicBezTo>
                <a:cubicBezTo>
                  <a:pt x="14943" y="1891"/>
                  <a:pt x="14940" y="1904"/>
                  <a:pt x="14935" y="1916"/>
                </a:cubicBezTo>
                <a:cubicBezTo>
                  <a:pt x="14930" y="1928"/>
                  <a:pt x="14924" y="1939"/>
                  <a:pt x="14916" y="1950"/>
                </a:cubicBezTo>
                <a:cubicBezTo>
                  <a:pt x="14909" y="1961"/>
                  <a:pt x="14901" y="1971"/>
                  <a:pt x="14892" y="1980"/>
                </a:cubicBezTo>
                <a:cubicBezTo>
                  <a:pt x="14882" y="1989"/>
                  <a:pt x="14872" y="1997"/>
                  <a:pt x="14862" y="2005"/>
                </a:cubicBezTo>
                <a:cubicBezTo>
                  <a:pt x="14851" y="2012"/>
                  <a:pt x="14839" y="2018"/>
                  <a:pt x="14827" y="2023"/>
                </a:cubicBezTo>
                <a:cubicBezTo>
                  <a:pt x="14815" y="2028"/>
                  <a:pt x="14803" y="2032"/>
                  <a:pt x="14790" y="2034"/>
                </a:cubicBezTo>
                <a:cubicBezTo>
                  <a:pt x="14777" y="2037"/>
                  <a:pt x="14764" y="2038"/>
                  <a:pt x="14751" y="2038"/>
                </a:cubicBezTo>
                <a:lnTo>
                  <a:pt x="198" y="2038"/>
                </a:lnTo>
                <a:cubicBezTo>
                  <a:pt x="185" y="2038"/>
                  <a:pt x="172" y="2037"/>
                  <a:pt x="160" y="2034"/>
                </a:cubicBezTo>
                <a:cubicBezTo>
                  <a:pt x="147" y="2032"/>
                  <a:pt x="134" y="2028"/>
                  <a:pt x="122" y="2023"/>
                </a:cubicBezTo>
                <a:cubicBezTo>
                  <a:pt x="110" y="2018"/>
                  <a:pt x="99" y="2012"/>
                  <a:pt x="88" y="2005"/>
                </a:cubicBezTo>
                <a:cubicBezTo>
                  <a:pt x="77" y="1997"/>
                  <a:pt x="67" y="1989"/>
                  <a:pt x="58" y="1980"/>
                </a:cubicBezTo>
                <a:cubicBezTo>
                  <a:pt x="49" y="1971"/>
                  <a:pt x="40" y="1961"/>
                  <a:pt x="33" y="1950"/>
                </a:cubicBezTo>
                <a:cubicBezTo>
                  <a:pt x="26" y="1939"/>
                  <a:pt x="20" y="1928"/>
                  <a:pt x="15" y="1916"/>
                </a:cubicBezTo>
                <a:cubicBezTo>
                  <a:pt x="10" y="1904"/>
                  <a:pt x="6" y="1891"/>
                  <a:pt x="4" y="1878"/>
                </a:cubicBezTo>
                <a:cubicBezTo>
                  <a:pt x="1" y="1866"/>
                  <a:pt x="0" y="1853"/>
                  <a:pt x="0" y="184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3881160" y="5503320"/>
            <a:ext cx="171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.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6296040" y="5246280"/>
            <a:ext cx="42876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NEXT —</a:t>
            </a:r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employers posting at volume get markedly less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6296040" y="5503320"/>
            <a:ext cx="19926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engagement per posting (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8300160" y="5554440"/>
            <a:ext cx="171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ρ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8398440" y="5503320"/>
            <a:ext cx="7574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= −0.53).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11759760" y="6414120"/>
            <a:ext cx="18540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13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635" name=""/>
          <p:cNvPicPr/>
          <p:nvPr/>
        </p:nvPicPr>
        <p:blipFill>
          <a:blip r:embed="rId1"/>
          <a:stretch/>
        </p:blipFill>
        <p:spPr>
          <a:xfrm>
            <a:off x="-2880" y="-2880"/>
            <a:ext cx="12197880" cy="686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6" name=""/>
          <p:cNvSpPr/>
          <p:nvPr/>
        </p:nvSpPr>
        <p:spPr>
          <a:xfrm>
            <a:off x="5976720" y="2043000"/>
            <a:ext cx="238680" cy="238320"/>
          </a:xfrm>
          <a:custGeom>
            <a:avLst/>
            <a:gdLst/>
            <a:ahLst/>
            <a:rect l="0" t="0" r="r" b="b"/>
            <a:pathLst>
              <a:path fill="none" w="663" h="662">
                <a:moveTo>
                  <a:pt x="663" y="300"/>
                </a:moveTo>
                <a:lnTo>
                  <a:pt x="663" y="331"/>
                </a:lnTo>
                <a:cubicBezTo>
                  <a:pt x="663" y="354"/>
                  <a:pt x="660" y="378"/>
                  <a:pt x="655" y="401"/>
                </a:cubicBezTo>
                <a:cubicBezTo>
                  <a:pt x="650" y="424"/>
                  <a:pt x="643" y="446"/>
                  <a:pt x="633" y="468"/>
                </a:cubicBezTo>
                <a:cubicBezTo>
                  <a:pt x="623" y="489"/>
                  <a:pt x="611" y="509"/>
                  <a:pt x="597" y="528"/>
                </a:cubicBezTo>
                <a:cubicBezTo>
                  <a:pt x="583" y="547"/>
                  <a:pt x="567" y="565"/>
                  <a:pt x="549" y="580"/>
                </a:cubicBezTo>
                <a:cubicBezTo>
                  <a:pt x="531" y="596"/>
                  <a:pt x="512" y="610"/>
                  <a:pt x="491" y="621"/>
                </a:cubicBezTo>
                <a:cubicBezTo>
                  <a:pt x="470" y="633"/>
                  <a:pt x="448" y="642"/>
                  <a:pt x="426" y="649"/>
                </a:cubicBezTo>
                <a:cubicBezTo>
                  <a:pt x="403" y="655"/>
                  <a:pt x="380" y="659"/>
                  <a:pt x="356" y="661"/>
                </a:cubicBezTo>
                <a:cubicBezTo>
                  <a:pt x="333" y="663"/>
                  <a:pt x="309" y="662"/>
                  <a:pt x="286" y="659"/>
                </a:cubicBezTo>
                <a:cubicBezTo>
                  <a:pt x="262" y="656"/>
                  <a:pt x="238" y="650"/>
                  <a:pt x="216" y="642"/>
                </a:cubicBezTo>
                <a:cubicBezTo>
                  <a:pt x="194" y="633"/>
                  <a:pt x="173" y="623"/>
                  <a:pt x="153" y="610"/>
                </a:cubicBezTo>
                <a:cubicBezTo>
                  <a:pt x="133" y="596"/>
                  <a:pt x="115" y="582"/>
                  <a:pt x="98" y="565"/>
                </a:cubicBezTo>
                <a:cubicBezTo>
                  <a:pt x="81" y="548"/>
                  <a:pt x="66" y="530"/>
                  <a:pt x="53" y="510"/>
                </a:cubicBezTo>
                <a:cubicBezTo>
                  <a:pt x="41" y="491"/>
                  <a:pt x="30" y="470"/>
                  <a:pt x="22" y="447"/>
                </a:cubicBezTo>
                <a:cubicBezTo>
                  <a:pt x="13" y="425"/>
                  <a:pt x="7" y="403"/>
                  <a:pt x="4" y="379"/>
                </a:cubicBezTo>
                <a:cubicBezTo>
                  <a:pt x="0" y="356"/>
                  <a:pt x="-1" y="332"/>
                  <a:pt x="1" y="309"/>
                </a:cubicBezTo>
                <a:cubicBezTo>
                  <a:pt x="2" y="285"/>
                  <a:pt x="6" y="262"/>
                  <a:pt x="13" y="239"/>
                </a:cubicBezTo>
                <a:cubicBezTo>
                  <a:pt x="19" y="216"/>
                  <a:pt x="28" y="195"/>
                  <a:pt x="40" y="174"/>
                </a:cubicBezTo>
                <a:cubicBezTo>
                  <a:pt x="51" y="153"/>
                  <a:pt x="64" y="133"/>
                  <a:pt x="79" y="115"/>
                </a:cubicBezTo>
                <a:cubicBezTo>
                  <a:pt x="95" y="97"/>
                  <a:pt x="112" y="81"/>
                  <a:pt x="131" y="67"/>
                </a:cubicBezTo>
                <a:cubicBezTo>
                  <a:pt x="150" y="53"/>
                  <a:pt x="170" y="41"/>
                  <a:pt x="191" y="31"/>
                </a:cubicBezTo>
                <a:cubicBezTo>
                  <a:pt x="213" y="21"/>
                  <a:pt x="235" y="13"/>
                  <a:pt x="259" y="8"/>
                </a:cubicBezTo>
                <a:cubicBezTo>
                  <a:pt x="282" y="3"/>
                  <a:pt x="305" y="0"/>
                  <a:pt x="329" y="0"/>
                </a:cubicBezTo>
                <a:cubicBezTo>
                  <a:pt x="353" y="-1"/>
                  <a:pt x="376" y="2"/>
                  <a:pt x="399" y="7"/>
                </a:cubicBezTo>
                <a:cubicBezTo>
                  <a:pt x="422" y="11"/>
                  <a:pt x="445" y="19"/>
                  <a:pt x="466" y="28"/>
                </a:cubicBezTo>
              </a:path>
            </a:pathLst>
          </a:custGeom>
          <a:ln w="16560">
            <a:solidFill>
              <a:srgbClr val="22C55E"/>
            </a:solidFill>
            <a:miter/>
          </a:ln>
        </p:spPr>
        <p:txBody>
          <a:bodyPr lIns="8280" tIns="8280" rIns="8280" bIns="82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6060240" y="2066760"/>
            <a:ext cx="155160" cy="119520"/>
          </a:xfrm>
          <a:custGeom>
            <a:avLst/>
            <a:gdLst/>
            <a:ahLst/>
            <a:rect l="0" t="0" r="r" b="b"/>
            <a:pathLst>
              <a:path fill="none" w="431" h="332">
                <a:moveTo>
                  <a:pt x="431" y="0"/>
                </a:moveTo>
                <a:lnTo>
                  <a:pt x="99" y="332"/>
                </a:lnTo>
                <a:lnTo>
                  <a:pt x="0" y="233"/>
                </a:lnTo>
              </a:path>
            </a:pathLst>
          </a:custGeom>
          <a:ln w="16560">
            <a:solidFill>
              <a:srgbClr val="22C55E"/>
            </a:solidFill>
            <a:miter/>
          </a:ln>
        </p:spPr>
        <p:txBody>
          <a:bodyPr lIns="8280" tIns="8280" rIns="8280" bIns="82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2900880" y="2445840"/>
            <a:ext cx="8008920" cy="858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78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One board, one vacancy</a:t>
            </a:r>
            <a:endParaRPr lang="en-SG" sz="47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3195720" y="3566880"/>
            <a:ext cx="5800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000" b="0" u="none" strike="noStrike">
                <a:solidFill>
                  <a:srgbClr val="8A8A8A"/>
                </a:solidFill>
                <a:effectLst/>
                <a:uFillTx/>
                <a:latin typeface="Raleway"/>
                <a:ea typeface="Raleway"/>
              </a:rPr>
              <a:t>What the market pays · whether the configuration is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3052080" y="3995640"/>
            <a:ext cx="61264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000" b="0" u="none" strike="noStrike">
                <a:solidFill>
                  <a:srgbClr val="8A8A8A"/>
                </a:solidFill>
                <a:effectLst/>
                <a:uFillTx/>
                <a:latin typeface="Raleway"/>
                <a:ea typeface="Raleway"/>
              </a:rPr>
              <a:t>one anyone else uses · where the measurable risk sits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051880" y="4653000"/>
            <a:ext cx="1919520" cy="18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0" u="none" strike="noStrike">
                <a:solidFill>
                  <a:srgbClr val="555555"/>
                </a:solidFill>
                <a:effectLst/>
                <a:uFillTx/>
                <a:latin typeface="Outfit-Thin_"/>
                <a:ea typeface="Outfit-Thin_"/>
              </a:rPr>
              <a:t>THANK YOU — QUESTIONS?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LibreOffice/26.2.5.2$MacOSX_AARCH64 LibreOffice_project/cd7284b4cbbfeb507e630c1aac019f4157393acb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en-SG</dc:language>
  <cp:lastModifiedBy/>
  <cp:revision>0</cp:revision>
  <dc:subject/>
  <dc:title/>
</cp:coreProperties>
</file>