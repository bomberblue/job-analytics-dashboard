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SG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SG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SG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SG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SG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SG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SG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SG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SG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SG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"/>
          <p:cNvPicPr/>
          <p:nvPr/>
        </p:nvPicPr>
        <p:blipFill>
          <a:blip r:embed="rId1"/>
          <a:stretch/>
        </p:blipFill>
        <p:spPr>
          <a:xfrm>
            <a:off x="-2880" y="-2880"/>
            <a:ext cx="12197880" cy="68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"/>
          <p:cNvSpPr txBox="1"/>
          <p:nvPr/>
        </p:nvSpPr>
        <p:spPr>
          <a:xfrm>
            <a:off x="4784400" y="2032920"/>
            <a:ext cx="3667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1" u="none" strike="noStrike">
                <a:solidFill>
                  <a:srgbClr val="FF6B1A"/>
                </a:solidFill>
                <a:effectLst/>
                <a:uFillTx/>
                <a:latin typeface="Outfit-Thin_Semi"/>
                <a:ea typeface="Outfit-Thin_Semi"/>
              </a:rPr>
              <a:t>S I N G A P O R E   J O B S   A N A LY T I C S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691360" y="2194560"/>
            <a:ext cx="8778960" cy="1402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83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Before You Post</a:t>
            </a:r>
            <a:endParaRPr lang="en-SG" sz="7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3862080" y="4519440"/>
            <a:ext cx="1200600" cy="295560"/>
          </a:xfrm>
          <a:custGeom>
            <a:avLst/>
            <a:gdLst/>
            <a:ahLst/>
            <a:rect l="0" t="0" r="r" b="b"/>
            <a:pathLst>
              <a:path w="3335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2" y="254"/>
                </a:cubicBezTo>
                <a:cubicBezTo>
                  <a:pt x="42" y="229"/>
                  <a:pt x="55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40" y="101"/>
                  <a:pt x="160" y="84"/>
                  <a:pt x="183" y="69"/>
                </a:cubicBezTo>
                <a:cubicBezTo>
                  <a:pt x="205" y="54"/>
                  <a:pt x="229" y="41"/>
                  <a:pt x="254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4" y="0"/>
                  <a:pt x="410" y="0"/>
                </a:cubicBezTo>
                <a:lnTo>
                  <a:pt x="2925" y="0"/>
                </a:lnTo>
                <a:cubicBezTo>
                  <a:pt x="2952" y="0"/>
                  <a:pt x="2979" y="3"/>
                  <a:pt x="3005" y="8"/>
                </a:cubicBezTo>
                <a:cubicBezTo>
                  <a:pt x="3031" y="13"/>
                  <a:pt x="3057" y="21"/>
                  <a:pt x="3082" y="31"/>
                </a:cubicBezTo>
                <a:cubicBezTo>
                  <a:pt x="3107" y="41"/>
                  <a:pt x="3130" y="54"/>
                  <a:pt x="3153" y="69"/>
                </a:cubicBezTo>
                <a:cubicBezTo>
                  <a:pt x="3175" y="84"/>
                  <a:pt x="3196" y="101"/>
                  <a:pt x="3215" y="120"/>
                </a:cubicBezTo>
                <a:cubicBezTo>
                  <a:pt x="3234" y="139"/>
                  <a:pt x="3251" y="161"/>
                  <a:pt x="3266" y="183"/>
                </a:cubicBezTo>
                <a:cubicBezTo>
                  <a:pt x="3281" y="206"/>
                  <a:pt x="3294" y="229"/>
                  <a:pt x="3304" y="254"/>
                </a:cubicBezTo>
                <a:cubicBezTo>
                  <a:pt x="3314" y="279"/>
                  <a:pt x="3322" y="305"/>
                  <a:pt x="3327" y="331"/>
                </a:cubicBezTo>
                <a:cubicBezTo>
                  <a:pt x="3332" y="357"/>
                  <a:pt x="3335" y="384"/>
                  <a:pt x="3335" y="411"/>
                </a:cubicBezTo>
                <a:cubicBezTo>
                  <a:pt x="3335" y="438"/>
                  <a:pt x="3332" y="465"/>
                  <a:pt x="3327" y="491"/>
                </a:cubicBezTo>
                <a:cubicBezTo>
                  <a:pt x="3322" y="517"/>
                  <a:pt x="3314" y="543"/>
                  <a:pt x="3304" y="568"/>
                </a:cubicBezTo>
                <a:cubicBezTo>
                  <a:pt x="3294" y="593"/>
                  <a:pt x="3281" y="617"/>
                  <a:pt x="3266" y="639"/>
                </a:cubicBezTo>
                <a:cubicBezTo>
                  <a:pt x="3251" y="661"/>
                  <a:pt x="3234" y="682"/>
                  <a:pt x="3215" y="701"/>
                </a:cubicBezTo>
                <a:cubicBezTo>
                  <a:pt x="3196" y="720"/>
                  <a:pt x="3175" y="737"/>
                  <a:pt x="3153" y="752"/>
                </a:cubicBezTo>
                <a:cubicBezTo>
                  <a:pt x="3130" y="767"/>
                  <a:pt x="3107" y="780"/>
                  <a:pt x="3082" y="790"/>
                </a:cubicBezTo>
                <a:cubicBezTo>
                  <a:pt x="3057" y="800"/>
                  <a:pt x="3031" y="808"/>
                  <a:pt x="3005" y="813"/>
                </a:cubicBezTo>
                <a:cubicBezTo>
                  <a:pt x="2979" y="819"/>
                  <a:pt x="2952" y="821"/>
                  <a:pt x="2925" y="821"/>
                </a:cubicBezTo>
                <a:lnTo>
                  <a:pt x="410" y="821"/>
                </a:lnTo>
                <a:cubicBezTo>
                  <a:pt x="384" y="821"/>
                  <a:pt x="357" y="819"/>
                  <a:pt x="330" y="813"/>
                </a:cubicBezTo>
                <a:cubicBezTo>
                  <a:pt x="304" y="808"/>
                  <a:pt x="278" y="800"/>
                  <a:pt x="254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40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5" y="617"/>
                  <a:pt x="42" y="593"/>
                  <a:pt x="32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1C0E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3862080" y="4519440"/>
            <a:ext cx="1200600" cy="295560"/>
          </a:xfrm>
          <a:custGeom>
            <a:avLst/>
            <a:gdLst/>
            <a:ahLst/>
            <a:rect l="0" t="0" r="r" b="b"/>
            <a:pathLst>
              <a:path w="3335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2" y="254"/>
                </a:cubicBezTo>
                <a:cubicBezTo>
                  <a:pt x="42" y="229"/>
                  <a:pt x="55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40" y="101"/>
                  <a:pt x="160" y="84"/>
                  <a:pt x="183" y="69"/>
                </a:cubicBezTo>
                <a:cubicBezTo>
                  <a:pt x="205" y="54"/>
                  <a:pt x="229" y="41"/>
                  <a:pt x="254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4" y="0"/>
                  <a:pt x="410" y="0"/>
                </a:cubicBezTo>
                <a:lnTo>
                  <a:pt x="2925" y="0"/>
                </a:lnTo>
                <a:cubicBezTo>
                  <a:pt x="2952" y="0"/>
                  <a:pt x="2979" y="3"/>
                  <a:pt x="3005" y="8"/>
                </a:cubicBezTo>
                <a:cubicBezTo>
                  <a:pt x="3031" y="13"/>
                  <a:pt x="3057" y="21"/>
                  <a:pt x="3082" y="31"/>
                </a:cubicBezTo>
                <a:cubicBezTo>
                  <a:pt x="3107" y="41"/>
                  <a:pt x="3130" y="54"/>
                  <a:pt x="3153" y="69"/>
                </a:cubicBezTo>
                <a:cubicBezTo>
                  <a:pt x="3175" y="84"/>
                  <a:pt x="3196" y="101"/>
                  <a:pt x="3215" y="120"/>
                </a:cubicBezTo>
                <a:cubicBezTo>
                  <a:pt x="3234" y="139"/>
                  <a:pt x="3251" y="161"/>
                  <a:pt x="3266" y="183"/>
                </a:cubicBezTo>
                <a:cubicBezTo>
                  <a:pt x="3281" y="206"/>
                  <a:pt x="3294" y="229"/>
                  <a:pt x="3304" y="254"/>
                </a:cubicBezTo>
                <a:cubicBezTo>
                  <a:pt x="3314" y="279"/>
                  <a:pt x="3322" y="305"/>
                  <a:pt x="3327" y="331"/>
                </a:cubicBezTo>
                <a:cubicBezTo>
                  <a:pt x="3332" y="357"/>
                  <a:pt x="3335" y="384"/>
                  <a:pt x="3335" y="411"/>
                </a:cubicBezTo>
                <a:cubicBezTo>
                  <a:pt x="3335" y="438"/>
                  <a:pt x="3332" y="465"/>
                  <a:pt x="3327" y="491"/>
                </a:cubicBezTo>
                <a:cubicBezTo>
                  <a:pt x="3322" y="517"/>
                  <a:pt x="3314" y="543"/>
                  <a:pt x="3304" y="568"/>
                </a:cubicBezTo>
                <a:cubicBezTo>
                  <a:pt x="3294" y="593"/>
                  <a:pt x="3281" y="617"/>
                  <a:pt x="3266" y="639"/>
                </a:cubicBezTo>
                <a:cubicBezTo>
                  <a:pt x="3251" y="661"/>
                  <a:pt x="3234" y="682"/>
                  <a:pt x="3215" y="701"/>
                </a:cubicBezTo>
                <a:cubicBezTo>
                  <a:pt x="3196" y="720"/>
                  <a:pt x="3175" y="737"/>
                  <a:pt x="3153" y="752"/>
                </a:cubicBezTo>
                <a:cubicBezTo>
                  <a:pt x="3130" y="767"/>
                  <a:pt x="3107" y="780"/>
                  <a:pt x="3082" y="790"/>
                </a:cubicBezTo>
                <a:cubicBezTo>
                  <a:pt x="3057" y="800"/>
                  <a:pt x="3031" y="808"/>
                  <a:pt x="3005" y="813"/>
                </a:cubicBezTo>
                <a:cubicBezTo>
                  <a:pt x="2979" y="819"/>
                  <a:pt x="2952" y="821"/>
                  <a:pt x="2925" y="821"/>
                </a:cubicBezTo>
                <a:lnTo>
                  <a:pt x="410" y="821"/>
                </a:lnTo>
                <a:cubicBezTo>
                  <a:pt x="384" y="821"/>
                  <a:pt x="357" y="819"/>
                  <a:pt x="330" y="813"/>
                </a:cubicBezTo>
                <a:cubicBezTo>
                  <a:pt x="304" y="808"/>
                  <a:pt x="278" y="800"/>
                  <a:pt x="254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40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5" y="617"/>
                  <a:pt x="42" y="593"/>
                  <a:pt x="32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3104280" y="3833280"/>
            <a:ext cx="5955840" cy="28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600" b="0">
                <a:solidFill>
                  <a:srgbClr val="AAAAAA"/>
                </a:solidFill>
                <a:latin typeface="Aptos"/>
              </a:rPr>
              <a:t>Benchmark the offer · test the ask · set realistic response expectations</a:t>
            </a:r>
            <a:endParaRPr lang="en-SG" sz="2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5148000" y="451944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4089" y="0"/>
                </a:lnTo>
                <a:cubicBezTo>
                  <a:pt x="4116" y="0"/>
                  <a:pt x="4143" y="3"/>
                  <a:pt x="4169" y="8"/>
                </a:cubicBezTo>
                <a:cubicBezTo>
                  <a:pt x="4195" y="13"/>
                  <a:pt x="4221" y="21"/>
                  <a:pt x="4246" y="31"/>
                </a:cubicBezTo>
                <a:cubicBezTo>
                  <a:pt x="4271" y="41"/>
                  <a:pt x="4294" y="54"/>
                  <a:pt x="4317" y="69"/>
                </a:cubicBezTo>
                <a:cubicBezTo>
                  <a:pt x="4339" y="84"/>
                  <a:pt x="4360" y="101"/>
                  <a:pt x="4379" y="120"/>
                </a:cubicBezTo>
                <a:cubicBezTo>
                  <a:pt x="4398" y="139"/>
                  <a:pt x="4415" y="161"/>
                  <a:pt x="4430" y="183"/>
                </a:cubicBezTo>
                <a:cubicBezTo>
                  <a:pt x="4445" y="206"/>
                  <a:pt x="4458" y="229"/>
                  <a:pt x="4468" y="254"/>
                </a:cubicBezTo>
                <a:cubicBezTo>
                  <a:pt x="4478" y="279"/>
                  <a:pt x="4486" y="305"/>
                  <a:pt x="4491" y="331"/>
                </a:cubicBezTo>
                <a:cubicBezTo>
                  <a:pt x="4497" y="357"/>
                  <a:pt x="4499" y="384"/>
                  <a:pt x="4499" y="411"/>
                </a:cubicBezTo>
                <a:cubicBezTo>
                  <a:pt x="4499" y="438"/>
                  <a:pt x="4497" y="465"/>
                  <a:pt x="4491" y="491"/>
                </a:cubicBezTo>
                <a:cubicBezTo>
                  <a:pt x="4486" y="517"/>
                  <a:pt x="4478" y="543"/>
                  <a:pt x="4468" y="568"/>
                </a:cubicBezTo>
                <a:cubicBezTo>
                  <a:pt x="4458" y="593"/>
                  <a:pt x="4445" y="617"/>
                  <a:pt x="4430" y="639"/>
                </a:cubicBezTo>
                <a:cubicBezTo>
                  <a:pt x="4415" y="661"/>
                  <a:pt x="4398" y="682"/>
                  <a:pt x="4379" y="701"/>
                </a:cubicBezTo>
                <a:cubicBezTo>
                  <a:pt x="4360" y="720"/>
                  <a:pt x="4339" y="737"/>
                  <a:pt x="4317" y="752"/>
                </a:cubicBezTo>
                <a:cubicBezTo>
                  <a:pt x="4294" y="767"/>
                  <a:pt x="4271" y="780"/>
                  <a:pt x="4246" y="790"/>
                </a:cubicBezTo>
                <a:cubicBezTo>
                  <a:pt x="4221" y="800"/>
                  <a:pt x="4195" y="808"/>
                  <a:pt x="4169" y="813"/>
                </a:cubicBezTo>
                <a:cubicBezTo>
                  <a:pt x="4143" y="819"/>
                  <a:pt x="4116" y="821"/>
                  <a:pt x="4089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1C0E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5148000" y="451944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4089" y="0"/>
                </a:lnTo>
                <a:cubicBezTo>
                  <a:pt x="4116" y="0"/>
                  <a:pt x="4143" y="3"/>
                  <a:pt x="4169" y="8"/>
                </a:cubicBezTo>
                <a:cubicBezTo>
                  <a:pt x="4195" y="13"/>
                  <a:pt x="4221" y="21"/>
                  <a:pt x="4246" y="31"/>
                </a:cubicBezTo>
                <a:cubicBezTo>
                  <a:pt x="4271" y="41"/>
                  <a:pt x="4294" y="54"/>
                  <a:pt x="4317" y="69"/>
                </a:cubicBezTo>
                <a:cubicBezTo>
                  <a:pt x="4339" y="84"/>
                  <a:pt x="4360" y="101"/>
                  <a:pt x="4379" y="120"/>
                </a:cubicBezTo>
                <a:cubicBezTo>
                  <a:pt x="4398" y="139"/>
                  <a:pt x="4415" y="161"/>
                  <a:pt x="4430" y="183"/>
                </a:cubicBezTo>
                <a:cubicBezTo>
                  <a:pt x="4445" y="206"/>
                  <a:pt x="4458" y="229"/>
                  <a:pt x="4468" y="254"/>
                </a:cubicBezTo>
                <a:cubicBezTo>
                  <a:pt x="4478" y="279"/>
                  <a:pt x="4486" y="305"/>
                  <a:pt x="4491" y="331"/>
                </a:cubicBezTo>
                <a:cubicBezTo>
                  <a:pt x="4497" y="357"/>
                  <a:pt x="4499" y="384"/>
                  <a:pt x="4499" y="411"/>
                </a:cubicBezTo>
                <a:cubicBezTo>
                  <a:pt x="4499" y="438"/>
                  <a:pt x="4497" y="465"/>
                  <a:pt x="4491" y="491"/>
                </a:cubicBezTo>
                <a:cubicBezTo>
                  <a:pt x="4486" y="517"/>
                  <a:pt x="4478" y="543"/>
                  <a:pt x="4468" y="568"/>
                </a:cubicBezTo>
                <a:cubicBezTo>
                  <a:pt x="4458" y="593"/>
                  <a:pt x="4445" y="617"/>
                  <a:pt x="4430" y="639"/>
                </a:cubicBezTo>
                <a:cubicBezTo>
                  <a:pt x="4415" y="661"/>
                  <a:pt x="4398" y="682"/>
                  <a:pt x="4379" y="701"/>
                </a:cubicBezTo>
                <a:cubicBezTo>
                  <a:pt x="4360" y="720"/>
                  <a:pt x="4339" y="737"/>
                  <a:pt x="4317" y="752"/>
                </a:cubicBezTo>
                <a:cubicBezTo>
                  <a:pt x="4294" y="767"/>
                  <a:pt x="4271" y="780"/>
                  <a:pt x="4246" y="790"/>
                </a:cubicBezTo>
                <a:cubicBezTo>
                  <a:pt x="4221" y="800"/>
                  <a:pt x="4195" y="808"/>
                  <a:pt x="4169" y="813"/>
                </a:cubicBezTo>
                <a:cubicBezTo>
                  <a:pt x="4143" y="819"/>
                  <a:pt x="4116" y="821"/>
                  <a:pt x="4089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004640" y="4567320"/>
            <a:ext cx="94140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D2884D"/>
                </a:solidFill>
                <a:effectLst/>
                <a:uFillTx/>
                <a:latin typeface="Outfit-Thin_"/>
                <a:ea typeface="Outfit-Thin_"/>
              </a:rPr>
              <a:t>1.04M postings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6852960" y="4519440"/>
            <a:ext cx="1476720" cy="295560"/>
          </a:xfrm>
          <a:custGeom>
            <a:avLst/>
            <a:gdLst/>
            <a:ahLst/>
            <a:rect l="0" t="0" r="r" b="b"/>
            <a:pathLst>
              <a:path w="4102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3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3692" y="0"/>
                </a:lnTo>
                <a:cubicBezTo>
                  <a:pt x="3719" y="0"/>
                  <a:pt x="3746" y="3"/>
                  <a:pt x="3772" y="8"/>
                </a:cubicBezTo>
                <a:cubicBezTo>
                  <a:pt x="3799" y="13"/>
                  <a:pt x="3824" y="21"/>
                  <a:pt x="3849" y="31"/>
                </a:cubicBezTo>
                <a:cubicBezTo>
                  <a:pt x="3874" y="41"/>
                  <a:pt x="3898" y="54"/>
                  <a:pt x="3920" y="69"/>
                </a:cubicBezTo>
                <a:cubicBezTo>
                  <a:pt x="3942" y="84"/>
                  <a:pt x="3963" y="101"/>
                  <a:pt x="3982" y="120"/>
                </a:cubicBezTo>
                <a:cubicBezTo>
                  <a:pt x="4001" y="139"/>
                  <a:pt x="4018" y="161"/>
                  <a:pt x="4033" y="183"/>
                </a:cubicBezTo>
                <a:cubicBezTo>
                  <a:pt x="4048" y="206"/>
                  <a:pt x="4061" y="229"/>
                  <a:pt x="4071" y="254"/>
                </a:cubicBezTo>
                <a:cubicBezTo>
                  <a:pt x="4081" y="279"/>
                  <a:pt x="4089" y="305"/>
                  <a:pt x="4094" y="331"/>
                </a:cubicBezTo>
                <a:cubicBezTo>
                  <a:pt x="4100" y="357"/>
                  <a:pt x="4102" y="384"/>
                  <a:pt x="4102" y="411"/>
                </a:cubicBezTo>
                <a:cubicBezTo>
                  <a:pt x="4102" y="438"/>
                  <a:pt x="4100" y="465"/>
                  <a:pt x="4094" y="491"/>
                </a:cubicBezTo>
                <a:cubicBezTo>
                  <a:pt x="4089" y="517"/>
                  <a:pt x="4081" y="543"/>
                  <a:pt x="4071" y="568"/>
                </a:cubicBezTo>
                <a:cubicBezTo>
                  <a:pt x="4061" y="593"/>
                  <a:pt x="4048" y="617"/>
                  <a:pt x="4033" y="639"/>
                </a:cubicBezTo>
                <a:cubicBezTo>
                  <a:pt x="4018" y="661"/>
                  <a:pt x="4001" y="682"/>
                  <a:pt x="3982" y="701"/>
                </a:cubicBezTo>
                <a:cubicBezTo>
                  <a:pt x="3963" y="720"/>
                  <a:pt x="3942" y="737"/>
                  <a:pt x="3920" y="752"/>
                </a:cubicBezTo>
                <a:cubicBezTo>
                  <a:pt x="3898" y="767"/>
                  <a:pt x="3874" y="780"/>
                  <a:pt x="3849" y="790"/>
                </a:cubicBezTo>
                <a:cubicBezTo>
                  <a:pt x="3824" y="800"/>
                  <a:pt x="3799" y="808"/>
                  <a:pt x="3772" y="813"/>
                </a:cubicBezTo>
                <a:cubicBezTo>
                  <a:pt x="3746" y="819"/>
                  <a:pt x="3719" y="821"/>
                  <a:pt x="3692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1C0E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6852960" y="4519440"/>
            <a:ext cx="1476720" cy="295560"/>
          </a:xfrm>
          <a:custGeom>
            <a:avLst/>
            <a:gdLst/>
            <a:ahLst/>
            <a:rect l="0" t="0" r="r" b="b"/>
            <a:pathLst>
              <a:path w="4102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3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3692" y="0"/>
                </a:lnTo>
                <a:cubicBezTo>
                  <a:pt x="3719" y="0"/>
                  <a:pt x="3746" y="3"/>
                  <a:pt x="3772" y="8"/>
                </a:cubicBezTo>
                <a:cubicBezTo>
                  <a:pt x="3799" y="13"/>
                  <a:pt x="3824" y="21"/>
                  <a:pt x="3849" y="31"/>
                </a:cubicBezTo>
                <a:cubicBezTo>
                  <a:pt x="3874" y="41"/>
                  <a:pt x="3898" y="54"/>
                  <a:pt x="3920" y="69"/>
                </a:cubicBezTo>
                <a:cubicBezTo>
                  <a:pt x="3942" y="84"/>
                  <a:pt x="3963" y="101"/>
                  <a:pt x="3982" y="120"/>
                </a:cubicBezTo>
                <a:cubicBezTo>
                  <a:pt x="4001" y="139"/>
                  <a:pt x="4018" y="161"/>
                  <a:pt x="4033" y="183"/>
                </a:cubicBezTo>
                <a:cubicBezTo>
                  <a:pt x="4048" y="206"/>
                  <a:pt x="4061" y="229"/>
                  <a:pt x="4071" y="254"/>
                </a:cubicBezTo>
                <a:cubicBezTo>
                  <a:pt x="4081" y="279"/>
                  <a:pt x="4089" y="305"/>
                  <a:pt x="4094" y="331"/>
                </a:cubicBezTo>
                <a:cubicBezTo>
                  <a:pt x="4100" y="357"/>
                  <a:pt x="4102" y="384"/>
                  <a:pt x="4102" y="411"/>
                </a:cubicBezTo>
                <a:cubicBezTo>
                  <a:pt x="4102" y="438"/>
                  <a:pt x="4100" y="465"/>
                  <a:pt x="4094" y="491"/>
                </a:cubicBezTo>
                <a:cubicBezTo>
                  <a:pt x="4089" y="517"/>
                  <a:pt x="4081" y="543"/>
                  <a:pt x="4071" y="568"/>
                </a:cubicBezTo>
                <a:cubicBezTo>
                  <a:pt x="4061" y="593"/>
                  <a:pt x="4048" y="617"/>
                  <a:pt x="4033" y="639"/>
                </a:cubicBezTo>
                <a:cubicBezTo>
                  <a:pt x="4018" y="661"/>
                  <a:pt x="4001" y="682"/>
                  <a:pt x="3982" y="701"/>
                </a:cubicBezTo>
                <a:cubicBezTo>
                  <a:pt x="3963" y="720"/>
                  <a:pt x="3942" y="737"/>
                  <a:pt x="3920" y="752"/>
                </a:cubicBezTo>
                <a:cubicBezTo>
                  <a:pt x="3898" y="767"/>
                  <a:pt x="3874" y="780"/>
                  <a:pt x="3849" y="790"/>
                </a:cubicBezTo>
                <a:cubicBezTo>
                  <a:pt x="3824" y="800"/>
                  <a:pt x="3799" y="808"/>
                  <a:pt x="3772" y="813"/>
                </a:cubicBezTo>
                <a:cubicBezTo>
                  <a:pt x="3746" y="819"/>
                  <a:pt x="3719" y="821"/>
                  <a:pt x="3692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5281920" y="4567320"/>
            <a:ext cx="134208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D2884D"/>
                </a:solidFill>
                <a:effectLst/>
                <a:uFillTx/>
                <a:latin typeface="Outfit-Thin_"/>
                <a:ea typeface="Outfit-Thin_"/>
              </a:rPr>
              <a:t>Mar 2023 – May 2024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6991920" y="4567320"/>
            <a:ext cx="121464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D2884D"/>
                </a:solidFill>
                <a:effectLst/>
                <a:uFillTx/>
                <a:latin typeface="Outfit-Thin_"/>
                <a:ea typeface="Outfit-Thin_"/>
              </a:rPr>
              <a:t>Streamlit + DuckDB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657000" y="4667040"/>
            <a:ext cx="10887480" cy="686160"/>
          </a:xfrm>
          <a:custGeom>
            <a:avLst/>
            <a:gdLst/>
            <a:ahLst/>
            <a:rect l="0" t="0" r="r" b="b"/>
            <a:pathLst>
              <a:path w="30243" h="1906">
                <a:moveTo>
                  <a:pt x="0" y="1906"/>
                </a:moveTo>
                <a:lnTo>
                  <a:pt x="0" y="0"/>
                </a:lnTo>
                <a:lnTo>
                  <a:pt x="30031" y="0"/>
                </a:lnTo>
                <a:cubicBezTo>
                  <a:pt x="30045" y="0"/>
                  <a:pt x="30059" y="1"/>
                  <a:pt x="30073" y="4"/>
                </a:cubicBezTo>
                <a:cubicBezTo>
                  <a:pt x="30086" y="7"/>
                  <a:pt x="30099" y="11"/>
                  <a:pt x="30112" y="16"/>
                </a:cubicBezTo>
                <a:cubicBezTo>
                  <a:pt x="30125" y="22"/>
                  <a:pt x="30137" y="28"/>
                  <a:pt x="30149" y="36"/>
                </a:cubicBezTo>
                <a:cubicBezTo>
                  <a:pt x="30160" y="43"/>
                  <a:pt x="30171" y="52"/>
                  <a:pt x="30181" y="62"/>
                </a:cubicBezTo>
                <a:cubicBezTo>
                  <a:pt x="30191" y="72"/>
                  <a:pt x="30200" y="83"/>
                  <a:pt x="30207" y="94"/>
                </a:cubicBezTo>
                <a:cubicBezTo>
                  <a:pt x="30215" y="106"/>
                  <a:pt x="30222" y="118"/>
                  <a:pt x="30227" y="131"/>
                </a:cubicBezTo>
                <a:cubicBezTo>
                  <a:pt x="30232" y="144"/>
                  <a:pt x="30236" y="157"/>
                  <a:pt x="30239" y="170"/>
                </a:cubicBezTo>
                <a:cubicBezTo>
                  <a:pt x="30242" y="184"/>
                  <a:pt x="30243" y="198"/>
                  <a:pt x="30243" y="212"/>
                </a:cubicBezTo>
                <a:lnTo>
                  <a:pt x="30243" y="1694"/>
                </a:lnTo>
                <a:cubicBezTo>
                  <a:pt x="30243" y="1708"/>
                  <a:pt x="30242" y="1722"/>
                  <a:pt x="30239" y="1736"/>
                </a:cubicBezTo>
                <a:cubicBezTo>
                  <a:pt x="30236" y="1749"/>
                  <a:pt x="30232" y="1763"/>
                  <a:pt x="30227" y="1775"/>
                </a:cubicBezTo>
                <a:cubicBezTo>
                  <a:pt x="30222" y="1788"/>
                  <a:pt x="30215" y="1800"/>
                  <a:pt x="30207" y="1812"/>
                </a:cubicBezTo>
                <a:cubicBezTo>
                  <a:pt x="30200" y="1824"/>
                  <a:pt x="30191" y="1834"/>
                  <a:pt x="30181" y="1844"/>
                </a:cubicBezTo>
                <a:cubicBezTo>
                  <a:pt x="30171" y="1854"/>
                  <a:pt x="30160" y="1863"/>
                  <a:pt x="30149" y="1870"/>
                </a:cubicBezTo>
                <a:cubicBezTo>
                  <a:pt x="30137" y="1878"/>
                  <a:pt x="30125" y="1885"/>
                  <a:pt x="30112" y="1890"/>
                </a:cubicBezTo>
                <a:cubicBezTo>
                  <a:pt x="30099" y="1895"/>
                  <a:pt x="30086" y="1899"/>
                  <a:pt x="30073" y="1902"/>
                </a:cubicBezTo>
                <a:cubicBezTo>
                  <a:pt x="30059" y="1905"/>
                  <a:pt x="30045" y="1906"/>
                  <a:pt x="30031" y="1906"/>
                </a:cubicBezTo>
                <a:lnTo>
                  <a:pt x="0" y="1906"/>
                </a:lnTo>
                <a:close/>
              </a:path>
            </a:pathLst>
          </a:custGeom>
          <a:solidFill>
            <a:srgbClr val="120A0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647640" y="4667040"/>
            <a:ext cx="19440" cy="686160"/>
          </a:xfrm>
          <a:custGeom>
            <a:avLst/>
            <a:gdLst/>
            <a:ahLst/>
            <a:rect l="0" t="0" r="r" b="b"/>
            <a:pathLst>
              <a:path w="54" h="1906">
                <a:moveTo>
                  <a:pt x="0" y="0"/>
                </a:moveTo>
                <a:lnTo>
                  <a:pt x="54" y="0"/>
                </a:lnTo>
                <a:lnTo>
                  <a:pt x="54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647640" y="1474920"/>
            <a:ext cx="1329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F5F5F"/>
                </a:solidFill>
                <a:effectLst/>
                <a:uFillTx/>
                <a:latin typeface="Arial"/>
                <a:ea typeface="Outfit-Thin_Semi"/>
              </a:rPr>
              <a:t>T H E   U S E R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47640" y="1716840"/>
            <a:ext cx="6847200" cy="346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2100" b="0">
                <a:solidFill>
                  <a:srgbClr val="F2F2F2"/>
                </a:solidFill>
                <a:latin typeface="Aptos"/>
              </a:rPr>
              <a:t>A hirer has three knobs — and no reliable benchmark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652320" y="2447640"/>
            <a:ext cx="3534120" cy="2024640"/>
          </a:xfrm>
          <a:custGeom>
            <a:avLst/>
            <a:gdLst/>
            <a:ahLst/>
            <a:rect l="0" t="0" r="r" b="b"/>
            <a:pathLst>
              <a:path w="9817" h="5624">
                <a:moveTo>
                  <a:pt x="0" y="5372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3" y="119"/>
                  <a:pt x="42" y="106"/>
                </a:cubicBezTo>
                <a:cubicBezTo>
                  <a:pt x="51" y="93"/>
                  <a:pt x="62" y="81"/>
                  <a:pt x="74" y="70"/>
                </a:cubicBezTo>
                <a:cubicBezTo>
                  <a:pt x="85" y="59"/>
                  <a:pt x="98" y="49"/>
                  <a:pt x="112" y="40"/>
                </a:cubicBezTo>
                <a:cubicBezTo>
                  <a:pt x="125" y="32"/>
                  <a:pt x="140" y="24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9566" y="0"/>
                </a:lnTo>
                <a:cubicBezTo>
                  <a:pt x="9582" y="0"/>
                  <a:pt x="9598" y="2"/>
                  <a:pt x="9615" y="5"/>
                </a:cubicBezTo>
                <a:cubicBezTo>
                  <a:pt x="9631" y="8"/>
                  <a:pt x="9647" y="12"/>
                  <a:pt x="9662" y="18"/>
                </a:cubicBezTo>
                <a:cubicBezTo>
                  <a:pt x="9677" y="24"/>
                  <a:pt x="9692" y="32"/>
                  <a:pt x="9705" y="40"/>
                </a:cubicBezTo>
                <a:cubicBezTo>
                  <a:pt x="9719" y="49"/>
                  <a:pt x="9732" y="59"/>
                  <a:pt x="9743" y="70"/>
                </a:cubicBezTo>
                <a:cubicBezTo>
                  <a:pt x="9755" y="81"/>
                  <a:pt x="9765" y="93"/>
                  <a:pt x="9775" y="106"/>
                </a:cubicBezTo>
                <a:cubicBezTo>
                  <a:pt x="9784" y="119"/>
                  <a:pt x="9791" y="133"/>
                  <a:pt x="9798" y="147"/>
                </a:cubicBezTo>
                <a:cubicBezTo>
                  <a:pt x="9804" y="162"/>
                  <a:pt x="9809" y="177"/>
                  <a:pt x="9812" y="192"/>
                </a:cubicBezTo>
                <a:cubicBezTo>
                  <a:pt x="9815" y="207"/>
                  <a:pt x="9817" y="223"/>
                  <a:pt x="9817" y="238"/>
                </a:cubicBezTo>
                <a:lnTo>
                  <a:pt x="9817" y="5372"/>
                </a:lnTo>
                <a:cubicBezTo>
                  <a:pt x="9817" y="5389"/>
                  <a:pt x="9815" y="5405"/>
                  <a:pt x="9812" y="5421"/>
                </a:cubicBezTo>
                <a:cubicBezTo>
                  <a:pt x="9809" y="5438"/>
                  <a:pt x="9804" y="5453"/>
                  <a:pt x="9798" y="5469"/>
                </a:cubicBezTo>
                <a:cubicBezTo>
                  <a:pt x="9791" y="5484"/>
                  <a:pt x="9784" y="5498"/>
                  <a:pt x="9775" y="5512"/>
                </a:cubicBezTo>
                <a:cubicBezTo>
                  <a:pt x="9765" y="5526"/>
                  <a:pt x="9755" y="5538"/>
                  <a:pt x="9743" y="5550"/>
                </a:cubicBezTo>
                <a:cubicBezTo>
                  <a:pt x="9732" y="5562"/>
                  <a:pt x="9719" y="5572"/>
                  <a:pt x="9705" y="5581"/>
                </a:cubicBezTo>
                <a:cubicBezTo>
                  <a:pt x="9692" y="5590"/>
                  <a:pt x="9677" y="5598"/>
                  <a:pt x="9662" y="5605"/>
                </a:cubicBezTo>
                <a:cubicBezTo>
                  <a:pt x="9647" y="5611"/>
                  <a:pt x="9631" y="5616"/>
                  <a:pt x="9615" y="5619"/>
                </a:cubicBezTo>
                <a:cubicBezTo>
                  <a:pt x="9598" y="5622"/>
                  <a:pt x="9582" y="5624"/>
                  <a:pt x="9566" y="5624"/>
                </a:cubicBezTo>
                <a:lnTo>
                  <a:pt x="251" y="5624"/>
                </a:lnTo>
                <a:cubicBezTo>
                  <a:pt x="235" y="5624"/>
                  <a:pt x="218" y="5622"/>
                  <a:pt x="202" y="5619"/>
                </a:cubicBezTo>
                <a:cubicBezTo>
                  <a:pt x="186" y="5616"/>
                  <a:pt x="170" y="5611"/>
                  <a:pt x="155" y="5605"/>
                </a:cubicBezTo>
                <a:cubicBezTo>
                  <a:pt x="140" y="5598"/>
                  <a:pt x="125" y="5590"/>
                  <a:pt x="112" y="5581"/>
                </a:cubicBezTo>
                <a:cubicBezTo>
                  <a:pt x="98" y="5572"/>
                  <a:pt x="85" y="5562"/>
                  <a:pt x="74" y="5550"/>
                </a:cubicBezTo>
                <a:cubicBezTo>
                  <a:pt x="62" y="5538"/>
                  <a:pt x="51" y="5526"/>
                  <a:pt x="42" y="5512"/>
                </a:cubicBezTo>
                <a:cubicBezTo>
                  <a:pt x="33" y="5498"/>
                  <a:pt x="25" y="5484"/>
                  <a:pt x="19" y="5469"/>
                </a:cubicBezTo>
                <a:cubicBezTo>
                  <a:pt x="13" y="5453"/>
                  <a:pt x="8" y="5438"/>
                  <a:pt x="5" y="5421"/>
                </a:cubicBezTo>
                <a:cubicBezTo>
                  <a:pt x="2" y="5405"/>
                  <a:pt x="0" y="5389"/>
                  <a:pt x="0" y="5372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672840" y="2457360"/>
            <a:ext cx="3492720" cy="52920"/>
          </a:xfrm>
          <a:custGeom>
            <a:avLst/>
            <a:gdLst/>
            <a:ahLst/>
            <a:rect l="0" t="0" r="r" b="b"/>
            <a:pathLst>
              <a:path w="9702" h="147">
                <a:moveTo>
                  <a:pt x="9673" y="147"/>
                </a:moveTo>
                <a:lnTo>
                  <a:pt x="29" y="147"/>
                </a:lnTo>
                <a:lnTo>
                  <a:pt x="0" y="88"/>
                </a:lnTo>
                <a:cubicBezTo>
                  <a:pt x="8" y="79"/>
                  <a:pt x="16" y="70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9509" y="0"/>
                </a:lnTo>
                <a:cubicBezTo>
                  <a:pt x="9540" y="0"/>
                  <a:pt x="9571" y="5"/>
                  <a:pt x="9600" y="16"/>
                </a:cubicBezTo>
                <a:cubicBezTo>
                  <a:pt x="9629" y="27"/>
                  <a:pt x="9655" y="42"/>
                  <a:pt x="9677" y="62"/>
                </a:cubicBezTo>
                <a:cubicBezTo>
                  <a:pt x="9686" y="70"/>
                  <a:pt x="9695" y="79"/>
                  <a:pt x="9702" y="88"/>
                </a:cubicBezTo>
                <a:lnTo>
                  <a:pt x="9673" y="147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682200" y="4424040"/>
            <a:ext cx="3474360" cy="43200"/>
          </a:xfrm>
          <a:custGeom>
            <a:avLst/>
            <a:gdLst/>
            <a:ahLst/>
            <a:rect l="0" t="0" r="r" b="b"/>
            <a:pathLst>
              <a:path w="9651" h="120">
                <a:moveTo>
                  <a:pt x="49" y="0"/>
                </a:moveTo>
                <a:lnTo>
                  <a:pt x="9602" y="0"/>
                </a:lnTo>
                <a:lnTo>
                  <a:pt x="9651" y="51"/>
                </a:lnTo>
                <a:cubicBezTo>
                  <a:pt x="9629" y="73"/>
                  <a:pt x="9603" y="90"/>
                  <a:pt x="9574" y="102"/>
                </a:cubicBezTo>
                <a:cubicBezTo>
                  <a:pt x="9545" y="114"/>
                  <a:pt x="9514" y="120"/>
                  <a:pt x="9483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413856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0" y="5380"/>
                </a:moveTo>
                <a:lnTo>
                  <a:pt x="0" y="148"/>
                </a:lnTo>
                <a:lnTo>
                  <a:pt x="74" y="0"/>
                </a:lnTo>
                <a:cubicBezTo>
                  <a:pt x="84" y="14"/>
                  <a:pt x="93" y="28"/>
                  <a:pt x="101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5258"/>
                </a:lnTo>
                <a:cubicBezTo>
                  <a:pt x="120" y="5290"/>
                  <a:pt x="114" y="5320"/>
                  <a:pt x="101" y="5349"/>
                </a:cubicBezTo>
                <a:cubicBezTo>
                  <a:pt x="88" y="5379"/>
                  <a:pt x="71" y="5404"/>
                  <a:pt x="49" y="5427"/>
                </a:cubicBezTo>
                <a:lnTo>
                  <a:pt x="48" y="5428"/>
                </a:lnTo>
                <a:lnTo>
                  <a:pt x="0" y="538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65700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120" y="148"/>
                </a:moveTo>
                <a:lnTo>
                  <a:pt x="120" y="5380"/>
                </a:lnTo>
                <a:lnTo>
                  <a:pt x="72" y="5428"/>
                </a:lnTo>
                <a:lnTo>
                  <a:pt x="71" y="5427"/>
                </a:lnTo>
                <a:cubicBezTo>
                  <a:pt x="49" y="5404"/>
                  <a:pt x="31" y="5379"/>
                  <a:pt x="18" y="5349"/>
                </a:cubicBezTo>
                <a:cubicBezTo>
                  <a:pt x="6" y="5320"/>
                  <a:pt x="0" y="5290"/>
                  <a:pt x="0" y="5258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8"/>
                  <a:pt x="35" y="14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838080" y="4859640"/>
            <a:ext cx="10353960" cy="22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400" b="0">
                <a:solidFill>
                  <a:srgbClr val="AAAAAA"/>
                </a:solidFill>
                <a:latin typeface="Aptos"/>
              </a:rPr>
              <a:t>Before I post: is my offer competitive — and what response should I realistically expect?</a:t>
            </a:r>
            <a:endParaRPr lang="en-SG" sz="1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828720" y="2629080"/>
            <a:ext cx="7711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THEY SET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828720" y="2998800"/>
            <a:ext cx="979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Pay range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828720" y="3456000"/>
            <a:ext cx="2830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Minimum years of experience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4329000" y="2447640"/>
            <a:ext cx="3534120" cy="2024640"/>
          </a:xfrm>
          <a:custGeom>
            <a:avLst/>
            <a:gdLst/>
            <a:ahLst/>
            <a:rect l="0" t="0" r="r" b="b"/>
            <a:pathLst>
              <a:path w="9817" h="5624">
                <a:moveTo>
                  <a:pt x="0" y="537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3" y="119"/>
                  <a:pt x="42" y="106"/>
                </a:cubicBezTo>
                <a:cubicBezTo>
                  <a:pt x="51" y="93"/>
                  <a:pt x="62" y="81"/>
                  <a:pt x="73" y="70"/>
                </a:cubicBezTo>
                <a:cubicBezTo>
                  <a:pt x="85" y="59"/>
                  <a:pt x="98" y="49"/>
                  <a:pt x="112" y="40"/>
                </a:cubicBezTo>
                <a:cubicBezTo>
                  <a:pt x="125" y="32"/>
                  <a:pt x="140" y="24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9565" y="0"/>
                </a:lnTo>
                <a:cubicBezTo>
                  <a:pt x="9582" y="0"/>
                  <a:pt x="9598" y="2"/>
                  <a:pt x="9615" y="5"/>
                </a:cubicBezTo>
                <a:cubicBezTo>
                  <a:pt x="9631" y="8"/>
                  <a:pt x="9646" y="12"/>
                  <a:pt x="9662" y="18"/>
                </a:cubicBezTo>
                <a:cubicBezTo>
                  <a:pt x="9677" y="24"/>
                  <a:pt x="9691" y="32"/>
                  <a:pt x="9705" y="40"/>
                </a:cubicBezTo>
                <a:cubicBezTo>
                  <a:pt x="9719" y="49"/>
                  <a:pt x="9732" y="59"/>
                  <a:pt x="9743" y="70"/>
                </a:cubicBezTo>
                <a:cubicBezTo>
                  <a:pt x="9755" y="81"/>
                  <a:pt x="9765" y="93"/>
                  <a:pt x="9774" y="106"/>
                </a:cubicBezTo>
                <a:cubicBezTo>
                  <a:pt x="9784" y="119"/>
                  <a:pt x="9791" y="133"/>
                  <a:pt x="9798" y="147"/>
                </a:cubicBezTo>
                <a:cubicBezTo>
                  <a:pt x="9804" y="162"/>
                  <a:pt x="9809" y="177"/>
                  <a:pt x="9812" y="192"/>
                </a:cubicBezTo>
                <a:cubicBezTo>
                  <a:pt x="9815" y="207"/>
                  <a:pt x="9817" y="223"/>
                  <a:pt x="9817" y="238"/>
                </a:cubicBezTo>
                <a:lnTo>
                  <a:pt x="9817" y="5372"/>
                </a:lnTo>
                <a:cubicBezTo>
                  <a:pt x="9817" y="5389"/>
                  <a:pt x="9815" y="5405"/>
                  <a:pt x="9812" y="5421"/>
                </a:cubicBezTo>
                <a:cubicBezTo>
                  <a:pt x="9809" y="5438"/>
                  <a:pt x="9804" y="5453"/>
                  <a:pt x="9798" y="5469"/>
                </a:cubicBezTo>
                <a:cubicBezTo>
                  <a:pt x="9791" y="5484"/>
                  <a:pt x="9784" y="5498"/>
                  <a:pt x="9774" y="5512"/>
                </a:cubicBezTo>
                <a:cubicBezTo>
                  <a:pt x="9765" y="5526"/>
                  <a:pt x="9755" y="5538"/>
                  <a:pt x="9743" y="5550"/>
                </a:cubicBezTo>
                <a:cubicBezTo>
                  <a:pt x="9732" y="5562"/>
                  <a:pt x="9719" y="5572"/>
                  <a:pt x="9705" y="5581"/>
                </a:cubicBezTo>
                <a:cubicBezTo>
                  <a:pt x="9691" y="5590"/>
                  <a:pt x="9677" y="5598"/>
                  <a:pt x="9662" y="5605"/>
                </a:cubicBezTo>
                <a:cubicBezTo>
                  <a:pt x="9646" y="5611"/>
                  <a:pt x="9631" y="5616"/>
                  <a:pt x="9615" y="5619"/>
                </a:cubicBezTo>
                <a:cubicBezTo>
                  <a:pt x="9598" y="5622"/>
                  <a:pt x="9582" y="5624"/>
                  <a:pt x="9565" y="5624"/>
                </a:cubicBezTo>
                <a:lnTo>
                  <a:pt x="251" y="5624"/>
                </a:lnTo>
                <a:cubicBezTo>
                  <a:pt x="235" y="5624"/>
                  <a:pt x="218" y="5622"/>
                  <a:pt x="202" y="5619"/>
                </a:cubicBezTo>
                <a:cubicBezTo>
                  <a:pt x="186" y="5616"/>
                  <a:pt x="170" y="5611"/>
                  <a:pt x="155" y="5605"/>
                </a:cubicBezTo>
                <a:cubicBezTo>
                  <a:pt x="140" y="5598"/>
                  <a:pt x="125" y="5590"/>
                  <a:pt x="112" y="5581"/>
                </a:cubicBezTo>
                <a:cubicBezTo>
                  <a:pt x="98" y="5572"/>
                  <a:pt x="85" y="5562"/>
                  <a:pt x="73" y="5550"/>
                </a:cubicBezTo>
                <a:cubicBezTo>
                  <a:pt x="62" y="5538"/>
                  <a:pt x="51" y="5526"/>
                  <a:pt x="42" y="5512"/>
                </a:cubicBezTo>
                <a:cubicBezTo>
                  <a:pt x="33" y="5498"/>
                  <a:pt x="25" y="5484"/>
                  <a:pt x="19" y="5469"/>
                </a:cubicBezTo>
                <a:cubicBezTo>
                  <a:pt x="13" y="5453"/>
                  <a:pt x="8" y="5438"/>
                  <a:pt x="5" y="5421"/>
                </a:cubicBezTo>
                <a:cubicBezTo>
                  <a:pt x="1" y="5405"/>
                  <a:pt x="0" y="5389"/>
                  <a:pt x="0" y="5372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4349520" y="2457360"/>
            <a:ext cx="3492720" cy="52920"/>
          </a:xfrm>
          <a:custGeom>
            <a:avLst/>
            <a:gdLst/>
            <a:ahLst/>
            <a:rect l="0" t="0" r="r" b="b"/>
            <a:pathLst>
              <a:path w="9702" h="147">
                <a:moveTo>
                  <a:pt x="9673" y="147"/>
                </a:moveTo>
                <a:lnTo>
                  <a:pt x="29" y="147"/>
                </a:lnTo>
                <a:lnTo>
                  <a:pt x="0" y="88"/>
                </a:lnTo>
                <a:cubicBezTo>
                  <a:pt x="8" y="79"/>
                  <a:pt x="16" y="70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9508" y="0"/>
                </a:lnTo>
                <a:cubicBezTo>
                  <a:pt x="9540" y="0"/>
                  <a:pt x="9570" y="5"/>
                  <a:pt x="9600" y="16"/>
                </a:cubicBezTo>
                <a:cubicBezTo>
                  <a:pt x="9629" y="27"/>
                  <a:pt x="9655" y="42"/>
                  <a:pt x="9677" y="62"/>
                </a:cubicBezTo>
                <a:cubicBezTo>
                  <a:pt x="9686" y="70"/>
                  <a:pt x="9695" y="79"/>
                  <a:pt x="9702" y="88"/>
                </a:cubicBezTo>
                <a:lnTo>
                  <a:pt x="9673" y="14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4358880" y="4424040"/>
            <a:ext cx="3474360" cy="43200"/>
          </a:xfrm>
          <a:custGeom>
            <a:avLst/>
            <a:gdLst/>
            <a:ahLst/>
            <a:rect l="0" t="0" r="r" b="b"/>
            <a:pathLst>
              <a:path w="9651" h="120">
                <a:moveTo>
                  <a:pt x="49" y="0"/>
                </a:moveTo>
                <a:lnTo>
                  <a:pt x="9602" y="0"/>
                </a:lnTo>
                <a:lnTo>
                  <a:pt x="9651" y="51"/>
                </a:lnTo>
                <a:cubicBezTo>
                  <a:pt x="9629" y="73"/>
                  <a:pt x="9603" y="90"/>
                  <a:pt x="9574" y="102"/>
                </a:cubicBezTo>
                <a:cubicBezTo>
                  <a:pt x="9544" y="114"/>
                  <a:pt x="9514" y="120"/>
                  <a:pt x="9482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781524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0" y="5380"/>
                </a:moveTo>
                <a:lnTo>
                  <a:pt x="0" y="148"/>
                </a:lnTo>
                <a:lnTo>
                  <a:pt x="74" y="0"/>
                </a:lnTo>
                <a:cubicBezTo>
                  <a:pt x="85" y="14"/>
                  <a:pt x="94" y="28"/>
                  <a:pt x="101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5258"/>
                </a:lnTo>
                <a:cubicBezTo>
                  <a:pt x="120" y="5290"/>
                  <a:pt x="114" y="5320"/>
                  <a:pt x="101" y="5349"/>
                </a:cubicBezTo>
                <a:cubicBezTo>
                  <a:pt x="89" y="5379"/>
                  <a:pt x="72" y="5404"/>
                  <a:pt x="50" y="5427"/>
                </a:cubicBezTo>
                <a:cubicBezTo>
                  <a:pt x="49" y="5427"/>
                  <a:pt x="49" y="5428"/>
                  <a:pt x="49" y="5428"/>
                </a:cubicBezTo>
                <a:lnTo>
                  <a:pt x="0" y="538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433368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120" y="148"/>
                </a:moveTo>
                <a:lnTo>
                  <a:pt x="120" y="5380"/>
                </a:lnTo>
                <a:lnTo>
                  <a:pt x="72" y="5428"/>
                </a:lnTo>
                <a:lnTo>
                  <a:pt x="71" y="5427"/>
                </a:lnTo>
                <a:cubicBezTo>
                  <a:pt x="48" y="5404"/>
                  <a:pt x="30" y="5379"/>
                  <a:pt x="18" y="5349"/>
                </a:cubicBezTo>
                <a:cubicBezTo>
                  <a:pt x="6" y="5320"/>
                  <a:pt x="0" y="5290"/>
                  <a:pt x="0" y="5258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5" y="28"/>
                  <a:pt x="34" y="14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828720" y="3903480"/>
            <a:ext cx="1254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Position level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4505400" y="2629080"/>
            <a:ext cx="15415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THEY DECIDE FROM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4505400" y="2998800"/>
            <a:ext cx="2305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What they paid last time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505400" y="3456000"/>
            <a:ext cx="1947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A colleague's guess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8005680" y="2447640"/>
            <a:ext cx="3534120" cy="2024640"/>
          </a:xfrm>
          <a:custGeom>
            <a:avLst/>
            <a:gdLst/>
            <a:ahLst/>
            <a:rect l="0" t="0" r="r" b="b"/>
            <a:pathLst>
              <a:path w="9817" h="5624">
                <a:moveTo>
                  <a:pt x="0" y="537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3" y="119"/>
                  <a:pt x="42" y="106"/>
                </a:cubicBezTo>
                <a:cubicBezTo>
                  <a:pt x="51" y="93"/>
                  <a:pt x="62" y="81"/>
                  <a:pt x="73" y="70"/>
                </a:cubicBezTo>
                <a:cubicBezTo>
                  <a:pt x="85" y="59"/>
                  <a:pt x="98" y="49"/>
                  <a:pt x="111" y="40"/>
                </a:cubicBezTo>
                <a:cubicBezTo>
                  <a:pt x="125" y="32"/>
                  <a:pt x="140" y="24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9565" y="0"/>
                </a:lnTo>
                <a:cubicBezTo>
                  <a:pt x="9582" y="0"/>
                  <a:pt x="9598" y="2"/>
                  <a:pt x="9614" y="5"/>
                </a:cubicBezTo>
                <a:cubicBezTo>
                  <a:pt x="9631" y="8"/>
                  <a:pt x="9646" y="12"/>
                  <a:pt x="9662" y="18"/>
                </a:cubicBezTo>
                <a:cubicBezTo>
                  <a:pt x="9677" y="24"/>
                  <a:pt x="9691" y="32"/>
                  <a:pt x="9705" y="40"/>
                </a:cubicBezTo>
                <a:cubicBezTo>
                  <a:pt x="9719" y="49"/>
                  <a:pt x="9731" y="59"/>
                  <a:pt x="9743" y="70"/>
                </a:cubicBezTo>
                <a:cubicBezTo>
                  <a:pt x="9755" y="81"/>
                  <a:pt x="9765" y="93"/>
                  <a:pt x="9774" y="106"/>
                </a:cubicBezTo>
                <a:cubicBezTo>
                  <a:pt x="9784" y="119"/>
                  <a:pt x="9791" y="133"/>
                  <a:pt x="9798" y="147"/>
                </a:cubicBezTo>
                <a:cubicBezTo>
                  <a:pt x="9804" y="162"/>
                  <a:pt x="9809" y="177"/>
                  <a:pt x="9812" y="192"/>
                </a:cubicBezTo>
                <a:cubicBezTo>
                  <a:pt x="9815" y="207"/>
                  <a:pt x="9817" y="223"/>
                  <a:pt x="9817" y="238"/>
                </a:cubicBezTo>
                <a:lnTo>
                  <a:pt x="9817" y="5372"/>
                </a:lnTo>
                <a:cubicBezTo>
                  <a:pt x="9817" y="5389"/>
                  <a:pt x="9815" y="5405"/>
                  <a:pt x="9812" y="5421"/>
                </a:cubicBezTo>
                <a:cubicBezTo>
                  <a:pt x="9809" y="5438"/>
                  <a:pt x="9804" y="5453"/>
                  <a:pt x="9798" y="5469"/>
                </a:cubicBezTo>
                <a:cubicBezTo>
                  <a:pt x="9791" y="5484"/>
                  <a:pt x="9784" y="5498"/>
                  <a:pt x="9774" y="5512"/>
                </a:cubicBezTo>
                <a:cubicBezTo>
                  <a:pt x="9765" y="5526"/>
                  <a:pt x="9755" y="5538"/>
                  <a:pt x="9743" y="5550"/>
                </a:cubicBezTo>
                <a:cubicBezTo>
                  <a:pt x="9731" y="5562"/>
                  <a:pt x="9719" y="5572"/>
                  <a:pt x="9705" y="5581"/>
                </a:cubicBezTo>
                <a:cubicBezTo>
                  <a:pt x="9691" y="5590"/>
                  <a:pt x="9677" y="5598"/>
                  <a:pt x="9662" y="5605"/>
                </a:cubicBezTo>
                <a:cubicBezTo>
                  <a:pt x="9646" y="5611"/>
                  <a:pt x="9631" y="5616"/>
                  <a:pt x="9614" y="5619"/>
                </a:cubicBezTo>
                <a:cubicBezTo>
                  <a:pt x="9598" y="5622"/>
                  <a:pt x="9582" y="5624"/>
                  <a:pt x="9565" y="5624"/>
                </a:cubicBezTo>
                <a:lnTo>
                  <a:pt x="251" y="5624"/>
                </a:lnTo>
                <a:cubicBezTo>
                  <a:pt x="235" y="5624"/>
                  <a:pt x="218" y="5622"/>
                  <a:pt x="202" y="5619"/>
                </a:cubicBezTo>
                <a:cubicBezTo>
                  <a:pt x="186" y="5616"/>
                  <a:pt x="170" y="5611"/>
                  <a:pt x="155" y="5605"/>
                </a:cubicBezTo>
                <a:cubicBezTo>
                  <a:pt x="140" y="5598"/>
                  <a:pt x="125" y="5590"/>
                  <a:pt x="111" y="5581"/>
                </a:cubicBezTo>
                <a:cubicBezTo>
                  <a:pt x="98" y="5572"/>
                  <a:pt x="85" y="5562"/>
                  <a:pt x="73" y="5550"/>
                </a:cubicBezTo>
                <a:cubicBezTo>
                  <a:pt x="62" y="5538"/>
                  <a:pt x="51" y="5526"/>
                  <a:pt x="42" y="5512"/>
                </a:cubicBezTo>
                <a:cubicBezTo>
                  <a:pt x="33" y="5498"/>
                  <a:pt x="25" y="5484"/>
                  <a:pt x="19" y="5469"/>
                </a:cubicBezTo>
                <a:cubicBezTo>
                  <a:pt x="13" y="5453"/>
                  <a:pt x="8" y="5438"/>
                  <a:pt x="5" y="5421"/>
                </a:cubicBezTo>
                <a:cubicBezTo>
                  <a:pt x="1" y="5405"/>
                  <a:pt x="0" y="5389"/>
                  <a:pt x="0" y="5372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026200" y="2457360"/>
            <a:ext cx="3492720" cy="52920"/>
          </a:xfrm>
          <a:custGeom>
            <a:avLst/>
            <a:gdLst/>
            <a:ahLst/>
            <a:rect l="0" t="0" r="r" b="b"/>
            <a:pathLst>
              <a:path w="9702" h="147">
                <a:moveTo>
                  <a:pt x="9673" y="147"/>
                </a:moveTo>
                <a:lnTo>
                  <a:pt x="29" y="147"/>
                </a:lnTo>
                <a:lnTo>
                  <a:pt x="0" y="88"/>
                </a:lnTo>
                <a:cubicBezTo>
                  <a:pt x="8" y="79"/>
                  <a:pt x="16" y="70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9508" y="0"/>
                </a:lnTo>
                <a:cubicBezTo>
                  <a:pt x="9540" y="0"/>
                  <a:pt x="9570" y="5"/>
                  <a:pt x="9600" y="16"/>
                </a:cubicBezTo>
                <a:cubicBezTo>
                  <a:pt x="9629" y="27"/>
                  <a:pt x="9654" y="42"/>
                  <a:pt x="9677" y="62"/>
                </a:cubicBezTo>
                <a:cubicBezTo>
                  <a:pt x="9686" y="70"/>
                  <a:pt x="9695" y="79"/>
                  <a:pt x="9702" y="88"/>
                </a:cubicBezTo>
                <a:lnTo>
                  <a:pt x="9673" y="147"/>
                </a:ln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8035560" y="4424040"/>
            <a:ext cx="3474360" cy="43200"/>
          </a:xfrm>
          <a:custGeom>
            <a:avLst/>
            <a:gdLst/>
            <a:ahLst/>
            <a:rect l="0" t="0" r="r" b="b"/>
            <a:pathLst>
              <a:path w="9651" h="120">
                <a:moveTo>
                  <a:pt x="49" y="0"/>
                </a:moveTo>
                <a:lnTo>
                  <a:pt x="9601" y="0"/>
                </a:lnTo>
                <a:lnTo>
                  <a:pt x="9651" y="51"/>
                </a:lnTo>
                <a:cubicBezTo>
                  <a:pt x="9628" y="73"/>
                  <a:pt x="9603" y="90"/>
                  <a:pt x="9574" y="102"/>
                </a:cubicBezTo>
                <a:cubicBezTo>
                  <a:pt x="9544" y="114"/>
                  <a:pt x="9514" y="120"/>
                  <a:pt x="9482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1491560" y="2488680"/>
            <a:ext cx="43560" cy="1954080"/>
          </a:xfrm>
          <a:custGeom>
            <a:avLst/>
            <a:gdLst/>
            <a:ahLst/>
            <a:rect l="0" t="0" r="r" b="b"/>
            <a:pathLst>
              <a:path w="121" h="5428">
                <a:moveTo>
                  <a:pt x="0" y="5380"/>
                </a:moveTo>
                <a:lnTo>
                  <a:pt x="0" y="148"/>
                </a:lnTo>
                <a:lnTo>
                  <a:pt x="75" y="0"/>
                </a:lnTo>
                <a:cubicBezTo>
                  <a:pt x="86" y="14"/>
                  <a:pt x="95" y="28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5258"/>
                </a:lnTo>
                <a:cubicBezTo>
                  <a:pt x="121" y="5290"/>
                  <a:pt x="114" y="5320"/>
                  <a:pt x="102" y="5349"/>
                </a:cubicBezTo>
                <a:cubicBezTo>
                  <a:pt x="90" y="5379"/>
                  <a:pt x="73" y="5404"/>
                  <a:pt x="51" y="5427"/>
                </a:cubicBezTo>
                <a:cubicBezTo>
                  <a:pt x="50" y="5427"/>
                  <a:pt x="50" y="5428"/>
                  <a:pt x="49" y="5428"/>
                </a:cubicBezTo>
                <a:lnTo>
                  <a:pt x="0" y="538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801036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120" y="148"/>
                </a:moveTo>
                <a:lnTo>
                  <a:pt x="120" y="5380"/>
                </a:lnTo>
                <a:lnTo>
                  <a:pt x="72" y="5428"/>
                </a:lnTo>
                <a:lnTo>
                  <a:pt x="71" y="5427"/>
                </a:lnTo>
                <a:cubicBezTo>
                  <a:pt x="47" y="5404"/>
                  <a:pt x="30" y="5379"/>
                  <a:pt x="18" y="5349"/>
                </a:cubicBezTo>
                <a:cubicBezTo>
                  <a:pt x="6" y="5320"/>
                  <a:pt x="0" y="5290"/>
                  <a:pt x="0" y="5258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5" y="28"/>
                  <a:pt x="34" y="14"/>
                  <a:pt x="45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505400" y="3903480"/>
            <a:ext cx="2305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— no reference point —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8182080" y="2629080"/>
            <a:ext cx="11023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AND IT COSTS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8182080" y="2873520"/>
            <a:ext cx="840240" cy="50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830" b="1" u="none" strike="noStrike">
                <a:solidFill>
                  <a:srgbClr val="EF4444"/>
                </a:solidFill>
                <a:effectLst/>
                <a:uFillTx/>
                <a:latin typeface="Outfit-Thin_"/>
                <a:ea typeface="Outfit-Thin_"/>
              </a:rPr>
              <a:t>30%</a:t>
            </a:r>
            <a:endParaRPr lang="en-SG" sz="2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8182080" y="3328200"/>
            <a:ext cx="84060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under-filled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8182080" y="3597480"/>
            <a:ext cx="1199880" cy="50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830" b="1" u="none" strike="noStrike">
                <a:solidFill>
                  <a:srgbClr val="F5A623"/>
                </a:solidFill>
                <a:effectLst/>
                <a:uFillTx/>
                <a:latin typeface="Outfit-Thin_"/>
                <a:ea typeface="Outfit-Thin_"/>
              </a:rPr>
              <a:t>17.8%</a:t>
            </a:r>
            <a:endParaRPr lang="en-SG" sz="2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8182080" y="4051800"/>
            <a:ext cx="6652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reposted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181664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2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47640" y="1293840"/>
            <a:ext cx="2381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F5F5F"/>
                </a:solidFill>
                <a:effectLst/>
                <a:uFillTx/>
                <a:latin typeface="Arial"/>
                <a:ea typeface="Outfit-Thin_Semi"/>
              </a:rPr>
              <a:t>T H E   C O N S T R A I N T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647640" y="1526400"/>
            <a:ext cx="86346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2000" b="0">
                <a:solidFill>
                  <a:srgbClr val="F2F2F2"/>
                </a:solidFill>
                <a:latin typeface="Aptos"/>
              </a:rPr>
              <a:t>1.04M rows benchmark the market. Only a subset can measure response.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6006600" y="3479400"/>
            <a:ext cx="194400" cy="25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555555"/>
                </a:solidFill>
                <a:effectLst/>
                <a:uFillTx/>
                <a:latin typeface="Outfit-Thin_"/>
                <a:ea typeface="Outfit-Thin_"/>
              </a:rPr>
              <a:t>vs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652320" y="2266920"/>
            <a:ext cx="5181840" cy="2729160"/>
          </a:xfrm>
          <a:custGeom>
            <a:avLst/>
            <a:gdLst/>
            <a:ahLst/>
            <a:rect l="0" t="0" r="r" b="b"/>
            <a:pathLst>
              <a:path w="14394" h="7581">
                <a:moveTo>
                  <a:pt x="0" y="7330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3" y="118"/>
                  <a:pt x="42" y="105"/>
                </a:cubicBezTo>
                <a:cubicBezTo>
                  <a:pt x="51" y="92"/>
                  <a:pt x="62" y="80"/>
                  <a:pt x="74" y="69"/>
                </a:cubicBezTo>
                <a:cubicBezTo>
                  <a:pt x="85" y="58"/>
                  <a:pt x="98" y="48"/>
                  <a:pt x="112" y="40"/>
                </a:cubicBezTo>
                <a:cubicBezTo>
                  <a:pt x="125" y="31"/>
                  <a:pt x="140" y="24"/>
                  <a:pt x="155" y="18"/>
                </a:cubicBezTo>
                <a:cubicBezTo>
                  <a:pt x="170" y="12"/>
                  <a:pt x="186" y="7"/>
                  <a:pt x="202" y="4"/>
                </a:cubicBezTo>
                <a:cubicBezTo>
                  <a:pt x="218" y="1"/>
                  <a:pt x="235" y="0"/>
                  <a:pt x="251" y="0"/>
                </a:cubicBezTo>
                <a:lnTo>
                  <a:pt x="14143" y="0"/>
                </a:lnTo>
                <a:cubicBezTo>
                  <a:pt x="14159" y="0"/>
                  <a:pt x="14176" y="1"/>
                  <a:pt x="14192" y="4"/>
                </a:cubicBezTo>
                <a:cubicBezTo>
                  <a:pt x="14208" y="7"/>
                  <a:pt x="14224" y="12"/>
                  <a:pt x="14239" y="18"/>
                </a:cubicBezTo>
                <a:cubicBezTo>
                  <a:pt x="14254" y="24"/>
                  <a:pt x="14269" y="31"/>
                  <a:pt x="14283" y="40"/>
                </a:cubicBezTo>
                <a:cubicBezTo>
                  <a:pt x="14296" y="48"/>
                  <a:pt x="14309" y="58"/>
                  <a:pt x="14321" y="69"/>
                </a:cubicBezTo>
                <a:cubicBezTo>
                  <a:pt x="14332" y="80"/>
                  <a:pt x="14343" y="92"/>
                  <a:pt x="14352" y="105"/>
                </a:cubicBezTo>
                <a:cubicBezTo>
                  <a:pt x="14361" y="118"/>
                  <a:pt x="14369" y="132"/>
                  <a:pt x="14375" y="147"/>
                </a:cubicBezTo>
                <a:cubicBezTo>
                  <a:pt x="14381" y="161"/>
                  <a:pt x="14386" y="176"/>
                  <a:pt x="14389" y="191"/>
                </a:cubicBezTo>
                <a:cubicBezTo>
                  <a:pt x="14393" y="207"/>
                  <a:pt x="14394" y="222"/>
                  <a:pt x="14394" y="238"/>
                </a:cubicBezTo>
                <a:lnTo>
                  <a:pt x="14394" y="7330"/>
                </a:lnTo>
                <a:cubicBezTo>
                  <a:pt x="14394" y="7346"/>
                  <a:pt x="14393" y="7362"/>
                  <a:pt x="14389" y="7379"/>
                </a:cubicBezTo>
                <a:cubicBezTo>
                  <a:pt x="14386" y="7395"/>
                  <a:pt x="14381" y="7410"/>
                  <a:pt x="14375" y="7426"/>
                </a:cubicBezTo>
                <a:cubicBezTo>
                  <a:pt x="14369" y="7441"/>
                  <a:pt x="14361" y="7455"/>
                  <a:pt x="14352" y="7469"/>
                </a:cubicBezTo>
                <a:cubicBezTo>
                  <a:pt x="14343" y="7483"/>
                  <a:pt x="14332" y="7496"/>
                  <a:pt x="14321" y="7507"/>
                </a:cubicBezTo>
                <a:cubicBezTo>
                  <a:pt x="14309" y="7519"/>
                  <a:pt x="14296" y="7529"/>
                  <a:pt x="14283" y="7539"/>
                </a:cubicBezTo>
                <a:cubicBezTo>
                  <a:pt x="14269" y="7548"/>
                  <a:pt x="14254" y="7555"/>
                  <a:pt x="14239" y="7562"/>
                </a:cubicBezTo>
                <a:cubicBezTo>
                  <a:pt x="14224" y="7568"/>
                  <a:pt x="14208" y="7573"/>
                  <a:pt x="14192" y="7576"/>
                </a:cubicBezTo>
                <a:cubicBezTo>
                  <a:pt x="14176" y="7579"/>
                  <a:pt x="14159" y="7581"/>
                  <a:pt x="14143" y="7581"/>
                </a:cubicBezTo>
                <a:lnTo>
                  <a:pt x="251" y="7581"/>
                </a:lnTo>
                <a:cubicBezTo>
                  <a:pt x="235" y="7581"/>
                  <a:pt x="218" y="7579"/>
                  <a:pt x="202" y="7576"/>
                </a:cubicBezTo>
                <a:cubicBezTo>
                  <a:pt x="186" y="7573"/>
                  <a:pt x="170" y="7568"/>
                  <a:pt x="155" y="7562"/>
                </a:cubicBezTo>
                <a:cubicBezTo>
                  <a:pt x="140" y="7555"/>
                  <a:pt x="125" y="7548"/>
                  <a:pt x="112" y="7539"/>
                </a:cubicBezTo>
                <a:cubicBezTo>
                  <a:pt x="98" y="7529"/>
                  <a:pt x="85" y="7519"/>
                  <a:pt x="74" y="7507"/>
                </a:cubicBezTo>
                <a:cubicBezTo>
                  <a:pt x="62" y="7496"/>
                  <a:pt x="51" y="7483"/>
                  <a:pt x="42" y="7469"/>
                </a:cubicBezTo>
                <a:cubicBezTo>
                  <a:pt x="33" y="7455"/>
                  <a:pt x="25" y="7441"/>
                  <a:pt x="19" y="7426"/>
                </a:cubicBezTo>
                <a:cubicBezTo>
                  <a:pt x="13" y="7410"/>
                  <a:pt x="8" y="7395"/>
                  <a:pt x="5" y="7379"/>
                </a:cubicBezTo>
                <a:cubicBezTo>
                  <a:pt x="2" y="7362"/>
                  <a:pt x="0" y="7346"/>
                  <a:pt x="0" y="7330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672840" y="2276280"/>
            <a:ext cx="5140800" cy="53280"/>
          </a:xfrm>
          <a:custGeom>
            <a:avLst/>
            <a:gdLst/>
            <a:ahLst/>
            <a:rect l="0" t="0" r="r" b="b"/>
            <a:pathLst>
              <a:path w="14280" h="148">
                <a:moveTo>
                  <a:pt x="14251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80"/>
                  <a:pt x="16" y="71"/>
                  <a:pt x="26" y="63"/>
                </a:cubicBezTo>
                <a:cubicBezTo>
                  <a:pt x="48" y="43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14086" y="0"/>
                </a:lnTo>
                <a:cubicBezTo>
                  <a:pt x="14117" y="0"/>
                  <a:pt x="14148" y="5"/>
                  <a:pt x="14177" y="16"/>
                </a:cubicBezTo>
                <a:cubicBezTo>
                  <a:pt x="14206" y="27"/>
                  <a:pt x="14232" y="43"/>
                  <a:pt x="14254" y="63"/>
                </a:cubicBezTo>
                <a:cubicBezTo>
                  <a:pt x="14264" y="71"/>
                  <a:pt x="14272" y="80"/>
                  <a:pt x="14280" y="90"/>
                </a:cubicBezTo>
                <a:lnTo>
                  <a:pt x="14251" y="148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682200" y="4948200"/>
            <a:ext cx="5122080" cy="43200"/>
          </a:xfrm>
          <a:custGeom>
            <a:avLst/>
            <a:gdLst/>
            <a:ahLst/>
            <a:rect l="0" t="0" r="r" b="b"/>
            <a:pathLst>
              <a:path w="14228" h="120">
                <a:moveTo>
                  <a:pt x="49" y="0"/>
                </a:moveTo>
                <a:lnTo>
                  <a:pt x="14179" y="0"/>
                </a:lnTo>
                <a:lnTo>
                  <a:pt x="14228" y="49"/>
                </a:lnTo>
                <a:cubicBezTo>
                  <a:pt x="14206" y="71"/>
                  <a:pt x="14180" y="88"/>
                  <a:pt x="14151" y="101"/>
                </a:cubicBezTo>
                <a:cubicBezTo>
                  <a:pt x="14122" y="113"/>
                  <a:pt x="14091" y="120"/>
                  <a:pt x="14060" y="120"/>
                </a:cubicBezTo>
                <a:lnTo>
                  <a:pt x="168" y="120"/>
                </a:lnTo>
                <a:cubicBezTo>
                  <a:pt x="137" y="120"/>
                  <a:pt x="106" y="113"/>
                  <a:pt x="77" y="101"/>
                </a:cubicBezTo>
                <a:cubicBezTo>
                  <a:pt x="48" y="88"/>
                  <a:pt x="22" y="71"/>
                  <a:pt x="0" y="49"/>
                </a:cubicBezTo>
                <a:lnTo>
                  <a:pt x="49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5786280" y="2307960"/>
            <a:ext cx="43200" cy="2658600"/>
          </a:xfrm>
          <a:custGeom>
            <a:avLst/>
            <a:gdLst/>
            <a:ahLst/>
            <a:rect l="0" t="0" r="r" b="b"/>
            <a:pathLst>
              <a:path w="120" h="7385">
                <a:moveTo>
                  <a:pt x="0" y="7337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7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7216"/>
                </a:lnTo>
                <a:cubicBezTo>
                  <a:pt x="120" y="7247"/>
                  <a:pt x="114" y="7277"/>
                  <a:pt x="102" y="7307"/>
                </a:cubicBezTo>
                <a:cubicBezTo>
                  <a:pt x="90" y="7336"/>
                  <a:pt x="73" y="7362"/>
                  <a:pt x="49" y="7384"/>
                </a:cubicBezTo>
                <a:lnTo>
                  <a:pt x="48" y="7385"/>
                </a:lnTo>
                <a:lnTo>
                  <a:pt x="0" y="7337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657000" y="2307960"/>
            <a:ext cx="43200" cy="2658600"/>
          </a:xfrm>
          <a:custGeom>
            <a:avLst/>
            <a:gdLst/>
            <a:ahLst/>
            <a:rect l="0" t="0" r="r" b="b"/>
            <a:pathLst>
              <a:path w="120" h="7385">
                <a:moveTo>
                  <a:pt x="120" y="148"/>
                </a:moveTo>
                <a:lnTo>
                  <a:pt x="120" y="7337"/>
                </a:lnTo>
                <a:lnTo>
                  <a:pt x="72" y="7385"/>
                </a:lnTo>
                <a:lnTo>
                  <a:pt x="71" y="7384"/>
                </a:lnTo>
                <a:cubicBezTo>
                  <a:pt x="49" y="7362"/>
                  <a:pt x="31" y="7336"/>
                  <a:pt x="18" y="7307"/>
                </a:cubicBezTo>
                <a:cubicBezTo>
                  <a:pt x="6" y="7277"/>
                  <a:pt x="0" y="7247"/>
                  <a:pt x="0" y="7216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7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828360" y="3924000"/>
            <a:ext cx="4829760" cy="10080"/>
          </a:xfrm>
          <a:custGeom>
            <a:avLst/>
            <a:gdLst/>
            <a:ahLst/>
            <a:rect l="0" t="0" r="r" b="b"/>
            <a:pathLst>
              <a:path w="13416" h="28">
                <a:moveTo>
                  <a:pt x="0" y="0"/>
                </a:moveTo>
                <a:lnTo>
                  <a:pt x="13416" y="0"/>
                </a:lnTo>
                <a:lnTo>
                  <a:pt x="134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506040" y="5212080"/>
            <a:ext cx="5146560" cy="22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200" b="0">
                <a:solidFill>
                  <a:srgbClr val="AAAAAA"/>
                </a:solidFill>
                <a:latin typeface="Aptos"/>
              </a:rPr>
              <a:t>Same dataset. Different questions. Different evidentiary limits.</a:t>
            </a:r>
            <a:endParaRPr lang="en-SG" sz="1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28720" y="2460960"/>
            <a:ext cx="36464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500" b="1" u="none" strike="noStrike">
                <a:solidFill>
                  <a:srgbClr val="FF6B1A"/>
                </a:solidFill>
                <a:effectLst/>
                <a:uFillTx/>
                <a:latin typeface="Outfit-Thin_"/>
                <a:ea typeface="Outfit-Thin_"/>
              </a:rPr>
              <a:t>What a posting SAYS</a:t>
            </a:r>
            <a:endParaRPr lang="en-SG" sz="2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28720" y="3063960"/>
            <a:ext cx="2214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Pay · level · years · dates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28720" y="3435480"/>
            <a:ext cx="2577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Fixed the moment it goes up.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28720" y="3963240"/>
            <a:ext cx="1719000" cy="739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13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1.04M</a:t>
            </a:r>
            <a:endParaRPr lang="en-SG" sz="4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6357600" y="2266920"/>
            <a:ext cx="5182200" cy="2729160"/>
          </a:xfrm>
          <a:custGeom>
            <a:avLst/>
            <a:gdLst/>
            <a:ahLst/>
            <a:rect l="0" t="0" r="r" b="b"/>
            <a:pathLst>
              <a:path w="14395" h="7581">
                <a:moveTo>
                  <a:pt x="0" y="7330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20" y="147"/>
                </a:cubicBezTo>
                <a:cubicBezTo>
                  <a:pt x="26" y="132"/>
                  <a:pt x="34" y="118"/>
                  <a:pt x="43" y="105"/>
                </a:cubicBezTo>
                <a:cubicBezTo>
                  <a:pt x="52" y="92"/>
                  <a:pt x="62" y="80"/>
                  <a:pt x="74" y="69"/>
                </a:cubicBezTo>
                <a:cubicBezTo>
                  <a:pt x="86" y="58"/>
                  <a:pt x="98" y="48"/>
                  <a:pt x="112" y="40"/>
                </a:cubicBezTo>
                <a:cubicBezTo>
                  <a:pt x="126" y="31"/>
                  <a:pt x="140" y="24"/>
                  <a:pt x="156" y="18"/>
                </a:cubicBezTo>
                <a:cubicBezTo>
                  <a:pt x="171" y="12"/>
                  <a:pt x="187" y="7"/>
                  <a:pt x="203" y="4"/>
                </a:cubicBezTo>
                <a:cubicBezTo>
                  <a:pt x="219" y="1"/>
                  <a:pt x="235" y="0"/>
                  <a:pt x="252" y="0"/>
                </a:cubicBezTo>
                <a:lnTo>
                  <a:pt x="14143" y="0"/>
                </a:lnTo>
                <a:cubicBezTo>
                  <a:pt x="14160" y="0"/>
                  <a:pt x="14176" y="1"/>
                  <a:pt x="14192" y="4"/>
                </a:cubicBezTo>
                <a:cubicBezTo>
                  <a:pt x="14209" y="7"/>
                  <a:pt x="14224" y="12"/>
                  <a:pt x="14240" y="18"/>
                </a:cubicBezTo>
                <a:cubicBezTo>
                  <a:pt x="14255" y="24"/>
                  <a:pt x="14269" y="31"/>
                  <a:pt x="14283" y="40"/>
                </a:cubicBezTo>
                <a:cubicBezTo>
                  <a:pt x="14297" y="48"/>
                  <a:pt x="14309" y="58"/>
                  <a:pt x="14321" y="69"/>
                </a:cubicBezTo>
                <a:cubicBezTo>
                  <a:pt x="14333" y="80"/>
                  <a:pt x="14343" y="92"/>
                  <a:pt x="14352" y="105"/>
                </a:cubicBezTo>
                <a:cubicBezTo>
                  <a:pt x="14362" y="118"/>
                  <a:pt x="14369" y="132"/>
                  <a:pt x="14376" y="147"/>
                </a:cubicBezTo>
                <a:cubicBezTo>
                  <a:pt x="14382" y="161"/>
                  <a:pt x="14387" y="176"/>
                  <a:pt x="14390" y="191"/>
                </a:cubicBezTo>
                <a:cubicBezTo>
                  <a:pt x="14393" y="207"/>
                  <a:pt x="14395" y="222"/>
                  <a:pt x="14395" y="238"/>
                </a:cubicBezTo>
                <a:lnTo>
                  <a:pt x="14395" y="7330"/>
                </a:lnTo>
                <a:cubicBezTo>
                  <a:pt x="14395" y="7346"/>
                  <a:pt x="14393" y="7362"/>
                  <a:pt x="14390" y="7379"/>
                </a:cubicBezTo>
                <a:cubicBezTo>
                  <a:pt x="14387" y="7395"/>
                  <a:pt x="14382" y="7410"/>
                  <a:pt x="14376" y="7426"/>
                </a:cubicBezTo>
                <a:cubicBezTo>
                  <a:pt x="14369" y="7441"/>
                  <a:pt x="14362" y="7455"/>
                  <a:pt x="14352" y="7469"/>
                </a:cubicBezTo>
                <a:cubicBezTo>
                  <a:pt x="14343" y="7483"/>
                  <a:pt x="14333" y="7496"/>
                  <a:pt x="14321" y="7507"/>
                </a:cubicBezTo>
                <a:cubicBezTo>
                  <a:pt x="14309" y="7519"/>
                  <a:pt x="14297" y="7529"/>
                  <a:pt x="14283" y="7539"/>
                </a:cubicBezTo>
                <a:cubicBezTo>
                  <a:pt x="14269" y="7548"/>
                  <a:pt x="14255" y="7555"/>
                  <a:pt x="14240" y="7562"/>
                </a:cubicBezTo>
                <a:cubicBezTo>
                  <a:pt x="14224" y="7568"/>
                  <a:pt x="14209" y="7573"/>
                  <a:pt x="14192" y="7576"/>
                </a:cubicBezTo>
                <a:cubicBezTo>
                  <a:pt x="14176" y="7579"/>
                  <a:pt x="14160" y="7581"/>
                  <a:pt x="14143" y="7581"/>
                </a:cubicBezTo>
                <a:lnTo>
                  <a:pt x="252" y="7581"/>
                </a:lnTo>
                <a:cubicBezTo>
                  <a:pt x="235" y="7581"/>
                  <a:pt x="219" y="7579"/>
                  <a:pt x="203" y="7576"/>
                </a:cubicBezTo>
                <a:cubicBezTo>
                  <a:pt x="187" y="7573"/>
                  <a:pt x="171" y="7568"/>
                  <a:pt x="156" y="7562"/>
                </a:cubicBezTo>
                <a:cubicBezTo>
                  <a:pt x="140" y="7555"/>
                  <a:pt x="126" y="7548"/>
                  <a:pt x="112" y="7539"/>
                </a:cubicBezTo>
                <a:cubicBezTo>
                  <a:pt x="98" y="7529"/>
                  <a:pt x="86" y="7519"/>
                  <a:pt x="74" y="7507"/>
                </a:cubicBezTo>
                <a:cubicBezTo>
                  <a:pt x="62" y="7496"/>
                  <a:pt x="52" y="7483"/>
                  <a:pt x="43" y="7469"/>
                </a:cubicBezTo>
                <a:cubicBezTo>
                  <a:pt x="34" y="7455"/>
                  <a:pt x="26" y="7441"/>
                  <a:pt x="20" y="7426"/>
                </a:cubicBezTo>
                <a:cubicBezTo>
                  <a:pt x="13" y="7410"/>
                  <a:pt x="8" y="7395"/>
                  <a:pt x="5" y="7379"/>
                </a:cubicBezTo>
                <a:cubicBezTo>
                  <a:pt x="2" y="7362"/>
                  <a:pt x="0" y="7346"/>
                  <a:pt x="0" y="7330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6378480" y="2276280"/>
            <a:ext cx="5140440" cy="53280"/>
          </a:xfrm>
          <a:custGeom>
            <a:avLst/>
            <a:gdLst/>
            <a:ahLst/>
            <a:rect l="0" t="0" r="r" b="b"/>
            <a:pathLst>
              <a:path w="14279" h="148">
                <a:moveTo>
                  <a:pt x="14250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80"/>
                  <a:pt x="16" y="71"/>
                  <a:pt x="25" y="63"/>
                </a:cubicBezTo>
                <a:cubicBezTo>
                  <a:pt x="48" y="43"/>
                  <a:pt x="73" y="27"/>
                  <a:pt x="103" y="16"/>
                </a:cubicBezTo>
                <a:cubicBezTo>
                  <a:pt x="132" y="5"/>
                  <a:pt x="162" y="0"/>
                  <a:pt x="194" y="0"/>
                </a:cubicBezTo>
                <a:lnTo>
                  <a:pt x="14085" y="0"/>
                </a:lnTo>
                <a:cubicBezTo>
                  <a:pt x="14117" y="0"/>
                  <a:pt x="14147" y="5"/>
                  <a:pt x="14177" y="16"/>
                </a:cubicBezTo>
                <a:cubicBezTo>
                  <a:pt x="14206" y="27"/>
                  <a:pt x="14231" y="43"/>
                  <a:pt x="14254" y="63"/>
                </a:cubicBezTo>
                <a:cubicBezTo>
                  <a:pt x="14263" y="71"/>
                  <a:pt x="14272" y="80"/>
                  <a:pt x="14279" y="90"/>
                </a:cubicBezTo>
                <a:lnTo>
                  <a:pt x="14250" y="148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387480" y="4948200"/>
            <a:ext cx="5122440" cy="43200"/>
          </a:xfrm>
          <a:custGeom>
            <a:avLst/>
            <a:gdLst/>
            <a:ahLst/>
            <a:rect l="0" t="0" r="r" b="b"/>
            <a:pathLst>
              <a:path w="14229" h="120">
                <a:moveTo>
                  <a:pt x="50" y="0"/>
                </a:moveTo>
                <a:lnTo>
                  <a:pt x="14179" y="0"/>
                </a:lnTo>
                <a:lnTo>
                  <a:pt x="14229" y="49"/>
                </a:lnTo>
                <a:cubicBezTo>
                  <a:pt x="14206" y="71"/>
                  <a:pt x="14181" y="88"/>
                  <a:pt x="14152" y="101"/>
                </a:cubicBezTo>
                <a:cubicBezTo>
                  <a:pt x="14122" y="113"/>
                  <a:pt x="14092" y="120"/>
                  <a:pt x="14060" y="120"/>
                </a:cubicBezTo>
                <a:lnTo>
                  <a:pt x="169" y="120"/>
                </a:lnTo>
                <a:cubicBezTo>
                  <a:pt x="137" y="120"/>
                  <a:pt x="107" y="113"/>
                  <a:pt x="78" y="101"/>
                </a:cubicBezTo>
                <a:cubicBezTo>
                  <a:pt x="48" y="88"/>
                  <a:pt x="23" y="71"/>
                  <a:pt x="0" y="49"/>
                </a:cubicBezTo>
                <a:lnTo>
                  <a:pt x="50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11491560" y="2307960"/>
            <a:ext cx="43560" cy="2658600"/>
          </a:xfrm>
          <a:custGeom>
            <a:avLst/>
            <a:gdLst/>
            <a:ahLst/>
            <a:rect l="0" t="0" r="r" b="b"/>
            <a:pathLst>
              <a:path w="121" h="7385">
                <a:moveTo>
                  <a:pt x="0" y="7337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7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7216"/>
                </a:lnTo>
                <a:cubicBezTo>
                  <a:pt x="121" y="7247"/>
                  <a:pt x="114" y="7277"/>
                  <a:pt x="102" y="7307"/>
                </a:cubicBezTo>
                <a:cubicBezTo>
                  <a:pt x="90" y="7336"/>
                  <a:pt x="73" y="7362"/>
                  <a:pt x="51" y="7384"/>
                </a:cubicBezTo>
                <a:cubicBezTo>
                  <a:pt x="50" y="7384"/>
                  <a:pt x="50" y="7385"/>
                  <a:pt x="49" y="7385"/>
                </a:cubicBezTo>
                <a:lnTo>
                  <a:pt x="0" y="7337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6362640" y="2307960"/>
            <a:ext cx="43200" cy="2658600"/>
          </a:xfrm>
          <a:custGeom>
            <a:avLst/>
            <a:gdLst/>
            <a:ahLst/>
            <a:rect l="0" t="0" r="r" b="b"/>
            <a:pathLst>
              <a:path w="120" h="7385">
                <a:moveTo>
                  <a:pt x="120" y="148"/>
                </a:moveTo>
                <a:lnTo>
                  <a:pt x="120" y="7337"/>
                </a:lnTo>
                <a:lnTo>
                  <a:pt x="71" y="7385"/>
                </a:lnTo>
                <a:cubicBezTo>
                  <a:pt x="70" y="7385"/>
                  <a:pt x="70" y="7384"/>
                  <a:pt x="69" y="7384"/>
                </a:cubicBezTo>
                <a:cubicBezTo>
                  <a:pt x="47" y="7362"/>
                  <a:pt x="30" y="7336"/>
                  <a:pt x="18" y="7307"/>
                </a:cubicBezTo>
                <a:cubicBezTo>
                  <a:pt x="6" y="7277"/>
                  <a:pt x="0" y="7247"/>
                  <a:pt x="0" y="7216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5" y="27"/>
                  <a:pt x="34" y="13"/>
                  <a:pt x="45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6534000" y="3924000"/>
            <a:ext cx="4829400" cy="10080"/>
          </a:xfrm>
          <a:custGeom>
            <a:avLst/>
            <a:gdLst/>
            <a:ahLst/>
            <a:rect l="0" t="0" r="r" b="b"/>
            <a:pathLst>
              <a:path w="13415" h="28">
                <a:moveTo>
                  <a:pt x="0" y="0"/>
                </a:moveTo>
                <a:lnTo>
                  <a:pt x="13415" y="0"/>
                </a:lnTo>
                <a:lnTo>
                  <a:pt x="134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828720" y="4593600"/>
            <a:ext cx="170208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18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POSTINGS · 15 MONTHS</a:t>
            </a:r>
            <a:endParaRPr lang="en-SG" sz="11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537600" y="2460960"/>
            <a:ext cx="34524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500" b="1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What a posting GOT</a:t>
            </a:r>
            <a:endParaRPr lang="en-SG" sz="2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537600" y="3063960"/>
            <a:ext cx="25880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Views · applications · reposts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537600" y="3435480"/>
            <a:ext cx="2599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Accumulates after it goes up.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537600" y="3963240"/>
            <a:ext cx="1311120" cy="739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130" b="1" u="none" strike="noStrike">
                <a:solidFill>
                  <a:srgbClr val="666666"/>
                </a:solidFill>
                <a:effectLst/>
                <a:uFillTx/>
                <a:latin typeface="Outfit-Thin_"/>
                <a:ea typeface="Outfit-Thin_"/>
              </a:rPr>
              <a:t>? ? ?</a:t>
            </a:r>
            <a:endParaRPr lang="en-SG" sz="4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537600" y="4593600"/>
            <a:ext cx="1278720" cy="149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800" b="1">
                <a:solidFill>
                  <a:srgbClr val="5C5C5C"/>
                </a:solidFill>
                <a:latin typeface="Aptos"/>
              </a:rPr>
              <a:t>NEEDS A VALID COHORT</a:t>
            </a:r>
            <a:endParaRPr lang="en-SG" sz="11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181700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3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652320" y="4605120"/>
            <a:ext cx="10887480" cy="562320"/>
          </a:xfrm>
          <a:custGeom>
            <a:avLst/>
            <a:gdLst/>
            <a:ahLst/>
            <a:rect l="0" t="0" r="r" b="b"/>
            <a:pathLst>
              <a:path w="30243" h="1562">
                <a:moveTo>
                  <a:pt x="0" y="1364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30044" y="0"/>
                </a:lnTo>
                <a:cubicBezTo>
                  <a:pt x="30057" y="0"/>
                  <a:pt x="30070" y="1"/>
                  <a:pt x="30083" y="4"/>
                </a:cubicBezTo>
                <a:cubicBezTo>
                  <a:pt x="30096" y="6"/>
                  <a:pt x="30108" y="10"/>
                  <a:pt x="30120" y="15"/>
                </a:cubicBezTo>
                <a:cubicBezTo>
                  <a:pt x="30132" y="20"/>
                  <a:pt x="30144" y="26"/>
                  <a:pt x="30155" y="34"/>
                </a:cubicBezTo>
                <a:cubicBezTo>
                  <a:pt x="30165" y="41"/>
                  <a:pt x="30175" y="49"/>
                  <a:pt x="30185" y="58"/>
                </a:cubicBezTo>
                <a:cubicBezTo>
                  <a:pt x="30194" y="67"/>
                  <a:pt x="30202" y="77"/>
                  <a:pt x="30209" y="88"/>
                </a:cubicBezTo>
                <a:cubicBezTo>
                  <a:pt x="30217" y="99"/>
                  <a:pt x="30223" y="111"/>
                  <a:pt x="30228" y="123"/>
                </a:cubicBezTo>
                <a:cubicBezTo>
                  <a:pt x="30233" y="135"/>
                  <a:pt x="30236" y="147"/>
                  <a:pt x="30239" y="160"/>
                </a:cubicBezTo>
                <a:cubicBezTo>
                  <a:pt x="30242" y="173"/>
                  <a:pt x="30243" y="186"/>
                  <a:pt x="30243" y="199"/>
                </a:cubicBezTo>
                <a:lnTo>
                  <a:pt x="30243" y="1364"/>
                </a:lnTo>
                <a:cubicBezTo>
                  <a:pt x="30243" y="1377"/>
                  <a:pt x="30242" y="1390"/>
                  <a:pt x="30239" y="1402"/>
                </a:cubicBezTo>
                <a:cubicBezTo>
                  <a:pt x="30236" y="1415"/>
                  <a:pt x="30233" y="1428"/>
                  <a:pt x="30228" y="1440"/>
                </a:cubicBezTo>
                <a:cubicBezTo>
                  <a:pt x="30223" y="1452"/>
                  <a:pt x="30217" y="1463"/>
                  <a:pt x="30209" y="1474"/>
                </a:cubicBezTo>
                <a:cubicBezTo>
                  <a:pt x="30202" y="1485"/>
                  <a:pt x="30194" y="1495"/>
                  <a:pt x="30185" y="1504"/>
                </a:cubicBezTo>
                <a:cubicBezTo>
                  <a:pt x="30175" y="1513"/>
                  <a:pt x="30165" y="1521"/>
                  <a:pt x="30155" y="1529"/>
                </a:cubicBezTo>
                <a:cubicBezTo>
                  <a:pt x="30144" y="1536"/>
                  <a:pt x="30132" y="1542"/>
                  <a:pt x="30120" y="1547"/>
                </a:cubicBezTo>
                <a:cubicBezTo>
                  <a:pt x="30108" y="1552"/>
                  <a:pt x="30096" y="1556"/>
                  <a:pt x="30083" y="1558"/>
                </a:cubicBezTo>
                <a:cubicBezTo>
                  <a:pt x="30070" y="1561"/>
                  <a:pt x="30057" y="1562"/>
                  <a:pt x="30044" y="1562"/>
                </a:cubicBezTo>
                <a:lnTo>
                  <a:pt x="198" y="1562"/>
                </a:lnTo>
                <a:cubicBezTo>
                  <a:pt x="185" y="1562"/>
                  <a:pt x="172" y="1561"/>
                  <a:pt x="160" y="1558"/>
                </a:cubicBezTo>
                <a:cubicBezTo>
                  <a:pt x="147" y="1556"/>
                  <a:pt x="134" y="1552"/>
                  <a:pt x="122" y="1547"/>
                </a:cubicBezTo>
                <a:cubicBezTo>
                  <a:pt x="110" y="1542"/>
                  <a:pt x="99" y="1536"/>
                  <a:pt x="88" y="1529"/>
                </a:cubicBezTo>
                <a:cubicBezTo>
                  <a:pt x="77" y="1521"/>
                  <a:pt x="67" y="1513"/>
                  <a:pt x="58" y="1504"/>
                </a:cubicBezTo>
                <a:cubicBezTo>
                  <a:pt x="49" y="1495"/>
                  <a:pt x="41" y="1485"/>
                  <a:pt x="33" y="1474"/>
                </a:cubicBezTo>
                <a:cubicBezTo>
                  <a:pt x="26" y="1463"/>
                  <a:pt x="20" y="1452"/>
                  <a:pt x="15" y="1440"/>
                </a:cubicBezTo>
                <a:cubicBezTo>
                  <a:pt x="10" y="1428"/>
                  <a:pt x="6" y="1415"/>
                  <a:pt x="4" y="1402"/>
                </a:cubicBezTo>
                <a:cubicBezTo>
                  <a:pt x="1" y="1390"/>
                  <a:pt x="0" y="1377"/>
                  <a:pt x="0" y="1364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652320" y="4605120"/>
            <a:ext cx="10887480" cy="562320"/>
          </a:xfrm>
          <a:custGeom>
            <a:avLst/>
            <a:gdLst/>
            <a:ahLst/>
            <a:rect l="0" t="0" r="r" b="b"/>
            <a:pathLst>
              <a:path w="30243" h="1562">
                <a:moveTo>
                  <a:pt x="0" y="1364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30044" y="0"/>
                </a:lnTo>
                <a:cubicBezTo>
                  <a:pt x="30057" y="0"/>
                  <a:pt x="30070" y="1"/>
                  <a:pt x="30083" y="4"/>
                </a:cubicBezTo>
                <a:cubicBezTo>
                  <a:pt x="30096" y="6"/>
                  <a:pt x="30108" y="10"/>
                  <a:pt x="30120" y="15"/>
                </a:cubicBezTo>
                <a:cubicBezTo>
                  <a:pt x="30132" y="20"/>
                  <a:pt x="30144" y="26"/>
                  <a:pt x="30155" y="34"/>
                </a:cubicBezTo>
                <a:cubicBezTo>
                  <a:pt x="30165" y="41"/>
                  <a:pt x="30175" y="49"/>
                  <a:pt x="30185" y="58"/>
                </a:cubicBezTo>
                <a:cubicBezTo>
                  <a:pt x="30194" y="67"/>
                  <a:pt x="30202" y="77"/>
                  <a:pt x="30209" y="88"/>
                </a:cubicBezTo>
                <a:cubicBezTo>
                  <a:pt x="30217" y="99"/>
                  <a:pt x="30223" y="111"/>
                  <a:pt x="30228" y="123"/>
                </a:cubicBezTo>
                <a:cubicBezTo>
                  <a:pt x="30233" y="135"/>
                  <a:pt x="30236" y="147"/>
                  <a:pt x="30239" y="160"/>
                </a:cubicBezTo>
                <a:cubicBezTo>
                  <a:pt x="30242" y="173"/>
                  <a:pt x="30243" y="186"/>
                  <a:pt x="30243" y="199"/>
                </a:cubicBezTo>
                <a:lnTo>
                  <a:pt x="30243" y="1364"/>
                </a:lnTo>
                <a:cubicBezTo>
                  <a:pt x="30243" y="1377"/>
                  <a:pt x="30242" y="1390"/>
                  <a:pt x="30239" y="1402"/>
                </a:cubicBezTo>
                <a:cubicBezTo>
                  <a:pt x="30236" y="1415"/>
                  <a:pt x="30233" y="1428"/>
                  <a:pt x="30228" y="1440"/>
                </a:cubicBezTo>
                <a:cubicBezTo>
                  <a:pt x="30223" y="1452"/>
                  <a:pt x="30217" y="1463"/>
                  <a:pt x="30209" y="1474"/>
                </a:cubicBezTo>
                <a:cubicBezTo>
                  <a:pt x="30202" y="1485"/>
                  <a:pt x="30194" y="1495"/>
                  <a:pt x="30185" y="1504"/>
                </a:cubicBezTo>
                <a:cubicBezTo>
                  <a:pt x="30175" y="1513"/>
                  <a:pt x="30165" y="1521"/>
                  <a:pt x="30155" y="1529"/>
                </a:cubicBezTo>
                <a:cubicBezTo>
                  <a:pt x="30144" y="1536"/>
                  <a:pt x="30132" y="1542"/>
                  <a:pt x="30120" y="1547"/>
                </a:cubicBezTo>
                <a:cubicBezTo>
                  <a:pt x="30108" y="1552"/>
                  <a:pt x="30096" y="1556"/>
                  <a:pt x="30083" y="1558"/>
                </a:cubicBezTo>
                <a:cubicBezTo>
                  <a:pt x="30070" y="1561"/>
                  <a:pt x="30057" y="1562"/>
                  <a:pt x="30044" y="1562"/>
                </a:cubicBezTo>
                <a:lnTo>
                  <a:pt x="198" y="1562"/>
                </a:lnTo>
                <a:cubicBezTo>
                  <a:pt x="185" y="1562"/>
                  <a:pt x="172" y="1561"/>
                  <a:pt x="160" y="1558"/>
                </a:cubicBezTo>
                <a:cubicBezTo>
                  <a:pt x="147" y="1556"/>
                  <a:pt x="134" y="1552"/>
                  <a:pt x="122" y="1547"/>
                </a:cubicBezTo>
                <a:cubicBezTo>
                  <a:pt x="110" y="1542"/>
                  <a:pt x="99" y="1536"/>
                  <a:pt x="88" y="1529"/>
                </a:cubicBezTo>
                <a:cubicBezTo>
                  <a:pt x="77" y="1521"/>
                  <a:pt x="67" y="1513"/>
                  <a:pt x="58" y="1504"/>
                </a:cubicBezTo>
                <a:cubicBezTo>
                  <a:pt x="49" y="1495"/>
                  <a:pt x="41" y="1485"/>
                  <a:pt x="33" y="1474"/>
                </a:cubicBezTo>
                <a:cubicBezTo>
                  <a:pt x="26" y="1463"/>
                  <a:pt x="20" y="1452"/>
                  <a:pt x="15" y="1440"/>
                </a:cubicBezTo>
                <a:cubicBezTo>
                  <a:pt x="10" y="1428"/>
                  <a:pt x="6" y="1415"/>
                  <a:pt x="4" y="1402"/>
                </a:cubicBezTo>
                <a:cubicBezTo>
                  <a:pt x="1" y="1390"/>
                  <a:pt x="0" y="1377"/>
                  <a:pt x="0" y="1364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47640" y="1656000"/>
            <a:ext cx="135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F5F5F"/>
                </a:solidFill>
                <a:effectLst/>
                <a:uFillTx/>
                <a:latin typeface="Arial"/>
                <a:ea typeface="Outfit-Thin_Semi"/>
              </a:rPr>
              <a:t>C L E A N I N G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47640" y="1888200"/>
            <a:ext cx="6058080" cy="346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2100" b="0">
                <a:solidFill>
                  <a:srgbClr val="F2F2F2"/>
                </a:solidFill>
                <a:latin typeface="Aptos"/>
              </a:rPr>
              <a:t>We removed 0.38% — and imputed nothing.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652320" y="2628720"/>
            <a:ext cx="2619720" cy="1757880"/>
          </a:xfrm>
          <a:custGeom>
            <a:avLst/>
            <a:gdLst/>
            <a:ahLst/>
            <a:rect l="0" t="0" r="r" b="b"/>
            <a:pathLst>
              <a:path w="7277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2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5" y="134"/>
                  <a:pt x="33" y="120"/>
                  <a:pt x="42" y="107"/>
                </a:cubicBezTo>
                <a:cubicBezTo>
                  <a:pt x="51" y="94"/>
                  <a:pt x="62" y="82"/>
                  <a:pt x="74" y="71"/>
                </a:cubicBezTo>
                <a:cubicBezTo>
                  <a:pt x="85" y="60"/>
                  <a:pt x="98" y="50"/>
                  <a:pt x="112" y="41"/>
                </a:cubicBezTo>
                <a:cubicBezTo>
                  <a:pt x="125" y="32"/>
                  <a:pt x="140" y="25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7026" y="0"/>
                </a:lnTo>
                <a:cubicBezTo>
                  <a:pt x="7042" y="0"/>
                  <a:pt x="7058" y="2"/>
                  <a:pt x="7075" y="5"/>
                </a:cubicBezTo>
                <a:cubicBezTo>
                  <a:pt x="7091" y="8"/>
                  <a:pt x="7107" y="12"/>
                  <a:pt x="7122" y="18"/>
                </a:cubicBezTo>
                <a:cubicBezTo>
                  <a:pt x="7137" y="25"/>
                  <a:pt x="7152" y="32"/>
                  <a:pt x="7165" y="41"/>
                </a:cubicBezTo>
                <a:cubicBezTo>
                  <a:pt x="7179" y="50"/>
                  <a:pt x="7192" y="60"/>
                  <a:pt x="7203" y="71"/>
                </a:cubicBezTo>
                <a:cubicBezTo>
                  <a:pt x="7215" y="82"/>
                  <a:pt x="7225" y="94"/>
                  <a:pt x="7235" y="107"/>
                </a:cubicBezTo>
                <a:cubicBezTo>
                  <a:pt x="7244" y="120"/>
                  <a:pt x="7251" y="134"/>
                  <a:pt x="7258" y="148"/>
                </a:cubicBezTo>
                <a:cubicBezTo>
                  <a:pt x="7264" y="162"/>
                  <a:pt x="7269" y="177"/>
                  <a:pt x="7272" y="193"/>
                </a:cubicBezTo>
                <a:cubicBezTo>
                  <a:pt x="7275" y="208"/>
                  <a:pt x="7277" y="223"/>
                  <a:pt x="7277" y="239"/>
                </a:cubicBezTo>
                <a:lnTo>
                  <a:pt x="7277" y="4631"/>
                </a:lnTo>
                <a:cubicBezTo>
                  <a:pt x="7277" y="4648"/>
                  <a:pt x="7275" y="4664"/>
                  <a:pt x="7272" y="4680"/>
                </a:cubicBezTo>
                <a:cubicBezTo>
                  <a:pt x="7269" y="4696"/>
                  <a:pt x="7264" y="4712"/>
                  <a:pt x="7258" y="4727"/>
                </a:cubicBezTo>
                <a:cubicBezTo>
                  <a:pt x="7251" y="4743"/>
                  <a:pt x="7244" y="4757"/>
                  <a:pt x="7235" y="4771"/>
                </a:cubicBezTo>
                <a:cubicBezTo>
                  <a:pt x="7225" y="4785"/>
                  <a:pt x="7215" y="4797"/>
                  <a:pt x="7203" y="4809"/>
                </a:cubicBezTo>
                <a:cubicBezTo>
                  <a:pt x="7192" y="4821"/>
                  <a:pt x="7179" y="4831"/>
                  <a:pt x="7165" y="4840"/>
                </a:cubicBezTo>
                <a:cubicBezTo>
                  <a:pt x="7152" y="4849"/>
                  <a:pt x="7137" y="4857"/>
                  <a:pt x="7122" y="4863"/>
                </a:cubicBezTo>
                <a:cubicBezTo>
                  <a:pt x="7107" y="4870"/>
                  <a:pt x="7091" y="4875"/>
                  <a:pt x="7075" y="4878"/>
                </a:cubicBezTo>
                <a:cubicBezTo>
                  <a:pt x="7058" y="4881"/>
                  <a:pt x="7042" y="4883"/>
                  <a:pt x="7026" y="4883"/>
                </a:cubicBezTo>
                <a:lnTo>
                  <a:pt x="251" y="4883"/>
                </a:lnTo>
                <a:cubicBezTo>
                  <a:pt x="235" y="4883"/>
                  <a:pt x="218" y="4881"/>
                  <a:pt x="202" y="4878"/>
                </a:cubicBezTo>
                <a:cubicBezTo>
                  <a:pt x="186" y="4875"/>
                  <a:pt x="170" y="4870"/>
                  <a:pt x="155" y="4863"/>
                </a:cubicBezTo>
                <a:cubicBezTo>
                  <a:pt x="140" y="4857"/>
                  <a:pt x="125" y="4849"/>
                  <a:pt x="112" y="4840"/>
                </a:cubicBezTo>
                <a:cubicBezTo>
                  <a:pt x="98" y="4831"/>
                  <a:pt x="85" y="4821"/>
                  <a:pt x="74" y="4809"/>
                </a:cubicBezTo>
                <a:cubicBezTo>
                  <a:pt x="62" y="4797"/>
                  <a:pt x="51" y="4785"/>
                  <a:pt x="42" y="4771"/>
                </a:cubicBezTo>
                <a:cubicBezTo>
                  <a:pt x="33" y="4757"/>
                  <a:pt x="25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2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672840" y="2638080"/>
            <a:ext cx="2578320" cy="53280"/>
          </a:xfrm>
          <a:custGeom>
            <a:avLst/>
            <a:gdLst/>
            <a:ahLst/>
            <a:rect l="0" t="0" r="r" b="b"/>
            <a:pathLst>
              <a:path w="7162" h="148">
                <a:moveTo>
                  <a:pt x="7133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81"/>
                  <a:pt x="16" y="72"/>
                  <a:pt x="26" y="63"/>
                </a:cubicBezTo>
                <a:cubicBezTo>
                  <a:pt x="48" y="43"/>
                  <a:pt x="74" y="27"/>
                  <a:pt x="103" y="17"/>
                </a:cubicBezTo>
                <a:cubicBezTo>
                  <a:pt x="132" y="6"/>
                  <a:pt x="163" y="0"/>
                  <a:pt x="194" y="0"/>
                </a:cubicBezTo>
                <a:lnTo>
                  <a:pt x="6969" y="0"/>
                </a:lnTo>
                <a:cubicBezTo>
                  <a:pt x="7000" y="0"/>
                  <a:pt x="7031" y="6"/>
                  <a:pt x="7060" y="17"/>
                </a:cubicBezTo>
                <a:cubicBezTo>
                  <a:pt x="7089" y="27"/>
                  <a:pt x="7115" y="43"/>
                  <a:pt x="7137" y="63"/>
                </a:cubicBezTo>
                <a:cubicBezTo>
                  <a:pt x="7146" y="72"/>
                  <a:pt x="7155" y="81"/>
                  <a:pt x="7162" y="90"/>
                </a:cubicBezTo>
                <a:lnTo>
                  <a:pt x="7133" y="148"/>
                </a:ln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682200" y="4338360"/>
            <a:ext cx="2559960" cy="43200"/>
          </a:xfrm>
          <a:custGeom>
            <a:avLst/>
            <a:gdLst/>
            <a:ahLst/>
            <a:rect l="0" t="0" r="r" b="b"/>
            <a:pathLst>
              <a:path w="7111" h="120">
                <a:moveTo>
                  <a:pt x="49" y="0"/>
                </a:moveTo>
                <a:lnTo>
                  <a:pt x="7062" y="0"/>
                </a:lnTo>
                <a:lnTo>
                  <a:pt x="7111" y="51"/>
                </a:lnTo>
                <a:cubicBezTo>
                  <a:pt x="7089" y="73"/>
                  <a:pt x="7063" y="90"/>
                  <a:pt x="7034" y="102"/>
                </a:cubicBezTo>
                <a:cubicBezTo>
                  <a:pt x="7005" y="114"/>
                  <a:pt x="6974" y="120"/>
                  <a:pt x="6943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322416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0" y="4639"/>
                </a:moveTo>
                <a:lnTo>
                  <a:pt x="0" y="148"/>
                </a:lnTo>
                <a:lnTo>
                  <a:pt x="75" y="0"/>
                </a:lnTo>
                <a:cubicBezTo>
                  <a:pt x="85" y="13"/>
                  <a:pt x="94" y="28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4517"/>
                </a:lnTo>
                <a:cubicBezTo>
                  <a:pt x="120" y="4549"/>
                  <a:pt x="114" y="4579"/>
                  <a:pt x="102" y="4608"/>
                </a:cubicBezTo>
                <a:cubicBezTo>
                  <a:pt x="89" y="4638"/>
                  <a:pt x="72" y="4663"/>
                  <a:pt x="50" y="4686"/>
                </a:cubicBezTo>
                <a:cubicBezTo>
                  <a:pt x="50" y="4686"/>
                  <a:pt x="49" y="4686"/>
                  <a:pt x="49" y="4687"/>
                </a:cubicBezTo>
                <a:lnTo>
                  <a:pt x="0" y="463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65700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120" y="148"/>
                </a:moveTo>
                <a:lnTo>
                  <a:pt x="120" y="4639"/>
                </a:lnTo>
                <a:lnTo>
                  <a:pt x="72" y="4687"/>
                </a:lnTo>
                <a:cubicBezTo>
                  <a:pt x="72" y="4686"/>
                  <a:pt x="71" y="4686"/>
                  <a:pt x="71" y="4686"/>
                </a:cubicBezTo>
                <a:cubicBezTo>
                  <a:pt x="49" y="4663"/>
                  <a:pt x="31" y="4638"/>
                  <a:pt x="18" y="4608"/>
                </a:cubicBezTo>
                <a:cubicBezTo>
                  <a:pt x="6" y="4579"/>
                  <a:pt x="0" y="4549"/>
                  <a:pt x="0" y="4517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8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788560" y="4722840"/>
            <a:ext cx="6616440" cy="2152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200" b="0">
                <a:solidFill>
                  <a:srgbClr val="AAAAAA"/>
                </a:solidFill>
                <a:latin typeface="Aptos"/>
              </a:rPr>
              <a:t>When salary is the variable being measured, inventing one would contaminate the answer.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828720" y="2810160"/>
            <a:ext cx="12794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ROWS REMOVED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828720" y="2971800"/>
            <a:ext cx="166104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3,998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828720" y="3693600"/>
            <a:ext cx="1744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0.38% — ghost rows +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28720" y="3974760"/>
            <a:ext cx="11311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555555"/>
                </a:solidFill>
                <a:effectLst/>
                <a:uFillTx/>
                <a:latin typeface="Menlo"/>
                <a:ea typeface="Menlo"/>
              </a:rPr>
              <a:t>RANDOM_JOB_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3414600" y="2628720"/>
            <a:ext cx="2610000" cy="1757880"/>
          </a:xfrm>
          <a:custGeom>
            <a:avLst/>
            <a:gdLst/>
            <a:ahLst/>
            <a:rect l="0" t="0" r="r" b="b"/>
            <a:pathLst>
              <a:path w="7250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1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5" y="134"/>
                  <a:pt x="33" y="120"/>
                  <a:pt x="42" y="107"/>
                </a:cubicBezTo>
                <a:cubicBezTo>
                  <a:pt x="51" y="94"/>
                  <a:pt x="62" y="82"/>
                  <a:pt x="73" y="71"/>
                </a:cubicBezTo>
                <a:cubicBezTo>
                  <a:pt x="85" y="60"/>
                  <a:pt x="98" y="50"/>
                  <a:pt x="112" y="41"/>
                </a:cubicBezTo>
                <a:cubicBezTo>
                  <a:pt x="125" y="32"/>
                  <a:pt x="140" y="25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6999" y="0"/>
                </a:lnTo>
                <a:cubicBezTo>
                  <a:pt x="7016" y="0"/>
                  <a:pt x="7032" y="2"/>
                  <a:pt x="7048" y="5"/>
                </a:cubicBezTo>
                <a:cubicBezTo>
                  <a:pt x="7064" y="8"/>
                  <a:pt x="7080" y="12"/>
                  <a:pt x="7095" y="18"/>
                </a:cubicBezTo>
                <a:cubicBezTo>
                  <a:pt x="7110" y="25"/>
                  <a:pt x="7125" y="32"/>
                  <a:pt x="7139" y="41"/>
                </a:cubicBezTo>
                <a:cubicBezTo>
                  <a:pt x="7152" y="50"/>
                  <a:pt x="7165" y="60"/>
                  <a:pt x="7177" y="71"/>
                </a:cubicBezTo>
                <a:cubicBezTo>
                  <a:pt x="7188" y="82"/>
                  <a:pt x="7199" y="94"/>
                  <a:pt x="7208" y="107"/>
                </a:cubicBezTo>
                <a:cubicBezTo>
                  <a:pt x="7217" y="120"/>
                  <a:pt x="7225" y="134"/>
                  <a:pt x="7231" y="148"/>
                </a:cubicBezTo>
                <a:cubicBezTo>
                  <a:pt x="7238" y="162"/>
                  <a:pt x="7242" y="177"/>
                  <a:pt x="7246" y="193"/>
                </a:cubicBezTo>
                <a:cubicBezTo>
                  <a:pt x="7249" y="208"/>
                  <a:pt x="7250" y="223"/>
                  <a:pt x="7250" y="239"/>
                </a:cubicBezTo>
                <a:lnTo>
                  <a:pt x="7250" y="4631"/>
                </a:lnTo>
                <a:cubicBezTo>
                  <a:pt x="7250" y="4648"/>
                  <a:pt x="7249" y="4664"/>
                  <a:pt x="7246" y="4680"/>
                </a:cubicBezTo>
                <a:cubicBezTo>
                  <a:pt x="7242" y="4696"/>
                  <a:pt x="7238" y="4712"/>
                  <a:pt x="7231" y="4727"/>
                </a:cubicBezTo>
                <a:cubicBezTo>
                  <a:pt x="7225" y="4743"/>
                  <a:pt x="7217" y="4757"/>
                  <a:pt x="7208" y="4771"/>
                </a:cubicBezTo>
                <a:cubicBezTo>
                  <a:pt x="7199" y="4785"/>
                  <a:pt x="7188" y="4797"/>
                  <a:pt x="7177" y="4809"/>
                </a:cubicBezTo>
                <a:cubicBezTo>
                  <a:pt x="7165" y="4821"/>
                  <a:pt x="7152" y="4831"/>
                  <a:pt x="7139" y="4840"/>
                </a:cubicBezTo>
                <a:cubicBezTo>
                  <a:pt x="7125" y="4849"/>
                  <a:pt x="7110" y="4857"/>
                  <a:pt x="7095" y="4863"/>
                </a:cubicBezTo>
                <a:cubicBezTo>
                  <a:pt x="7080" y="4870"/>
                  <a:pt x="7064" y="4875"/>
                  <a:pt x="7048" y="4878"/>
                </a:cubicBezTo>
                <a:cubicBezTo>
                  <a:pt x="7032" y="4881"/>
                  <a:pt x="7016" y="4883"/>
                  <a:pt x="6999" y="4883"/>
                </a:cubicBezTo>
                <a:lnTo>
                  <a:pt x="251" y="4883"/>
                </a:lnTo>
                <a:cubicBezTo>
                  <a:pt x="235" y="4883"/>
                  <a:pt x="218" y="4881"/>
                  <a:pt x="202" y="4878"/>
                </a:cubicBezTo>
                <a:cubicBezTo>
                  <a:pt x="186" y="4875"/>
                  <a:pt x="170" y="4870"/>
                  <a:pt x="155" y="4863"/>
                </a:cubicBezTo>
                <a:cubicBezTo>
                  <a:pt x="140" y="4857"/>
                  <a:pt x="125" y="4849"/>
                  <a:pt x="112" y="4840"/>
                </a:cubicBezTo>
                <a:cubicBezTo>
                  <a:pt x="98" y="4831"/>
                  <a:pt x="85" y="4821"/>
                  <a:pt x="73" y="4809"/>
                </a:cubicBezTo>
                <a:cubicBezTo>
                  <a:pt x="62" y="4797"/>
                  <a:pt x="51" y="4785"/>
                  <a:pt x="42" y="4771"/>
                </a:cubicBezTo>
                <a:cubicBezTo>
                  <a:pt x="33" y="4757"/>
                  <a:pt x="25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1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3428640" y="2619360"/>
            <a:ext cx="2581920" cy="51120"/>
          </a:xfrm>
          <a:custGeom>
            <a:avLst/>
            <a:gdLst/>
            <a:ahLst/>
            <a:rect l="0" t="0" r="r" b="b"/>
            <a:pathLst>
              <a:path w="7172" h="142">
                <a:moveTo>
                  <a:pt x="7154" y="142"/>
                </a:moveTo>
                <a:cubicBezTo>
                  <a:pt x="7146" y="133"/>
                  <a:pt x="7138" y="123"/>
                  <a:pt x="7128" y="114"/>
                </a:cubicBezTo>
                <a:cubicBezTo>
                  <a:pt x="7106" y="95"/>
                  <a:pt x="7080" y="79"/>
                  <a:pt x="7051" y="69"/>
                </a:cubicBezTo>
                <a:cubicBezTo>
                  <a:pt x="7022" y="58"/>
                  <a:pt x="6992" y="52"/>
                  <a:pt x="6960" y="52"/>
                </a:cubicBezTo>
                <a:lnTo>
                  <a:pt x="212" y="52"/>
                </a:lnTo>
                <a:cubicBezTo>
                  <a:pt x="181" y="52"/>
                  <a:pt x="150" y="58"/>
                  <a:pt x="121" y="69"/>
                </a:cubicBezTo>
                <a:cubicBezTo>
                  <a:pt x="92" y="79"/>
                  <a:pt x="66" y="95"/>
                  <a:pt x="44" y="114"/>
                </a:cubicBezTo>
                <a:cubicBezTo>
                  <a:pt x="34" y="123"/>
                  <a:pt x="26" y="133"/>
                  <a:pt x="18" y="142"/>
                </a:cubicBezTo>
                <a:lnTo>
                  <a:pt x="0" y="105"/>
                </a:lnTo>
                <a:cubicBezTo>
                  <a:pt x="8" y="95"/>
                  <a:pt x="16" y="86"/>
                  <a:pt x="25" y="77"/>
                </a:cubicBezTo>
                <a:cubicBezTo>
                  <a:pt x="50" y="52"/>
                  <a:pt x="78" y="33"/>
                  <a:pt x="111" y="20"/>
                </a:cubicBezTo>
                <a:cubicBezTo>
                  <a:pt x="143" y="6"/>
                  <a:pt x="177" y="0"/>
                  <a:pt x="212" y="0"/>
                </a:cubicBezTo>
                <a:lnTo>
                  <a:pt x="6960" y="0"/>
                </a:lnTo>
                <a:cubicBezTo>
                  <a:pt x="6995" y="0"/>
                  <a:pt x="7029" y="6"/>
                  <a:pt x="7061" y="20"/>
                </a:cubicBezTo>
                <a:cubicBezTo>
                  <a:pt x="7094" y="33"/>
                  <a:pt x="7122" y="52"/>
                  <a:pt x="7147" y="77"/>
                </a:cubicBezTo>
                <a:cubicBezTo>
                  <a:pt x="7156" y="86"/>
                  <a:pt x="7164" y="95"/>
                  <a:pt x="7172" y="105"/>
                </a:cubicBezTo>
                <a:lnTo>
                  <a:pt x="7154" y="142"/>
                </a:lnTo>
                <a:close/>
              </a:path>
            </a:pathLst>
          </a:custGeom>
          <a:solidFill>
            <a:srgbClr val="22C5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3437640" y="4356360"/>
            <a:ext cx="2563920" cy="34920"/>
          </a:xfrm>
          <a:custGeom>
            <a:avLst/>
            <a:gdLst/>
            <a:ahLst/>
            <a:rect l="0" t="0" r="r" b="b"/>
            <a:pathLst>
              <a:path w="7122" h="97">
                <a:moveTo>
                  <a:pt x="19" y="0"/>
                </a:moveTo>
                <a:cubicBezTo>
                  <a:pt x="41" y="22"/>
                  <a:pt x="67" y="39"/>
                  <a:pt x="96" y="52"/>
                </a:cubicBezTo>
                <a:cubicBezTo>
                  <a:pt x="125" y="64"/>
                  <a:pt x="156" y="70"/>
                  <a:pt x="187" y="70"/>
                </a:cubicBezTo>
                <a:lnTo>
                  <a:pt x="6935" y="70"/>
                </a:lnTo>
                <a:cubicBezTo>
                  <a:pt x="6967" y="70"/>
                  <a:pt x="6997" y="64"/>
                  <a:pt x="7026" y="52"/>
                </a:cubicBezTo>
                <a:cubicBezTo>
                  <a:pt x="7055" y="39"/>
                  <a:pt x="7081" y="22"/>
                  <a:pt x="7103" y="0"/>
                </a:cubicBezTo>
                <a:lnTo>
                  <a:pt x="7122" y="18"/>
                </a:lnTo>
                <a:cubicBezTo>
                  <a:pt x="7097" y="44"/>
                  <a:pt x="7069" y="63"/>
                  <a:pt x="7036" y="77"/>
                </a:cubicBezTo>
                <a:cubicBezTo>
                  <a:pt x="7004" y="90"/>
                  <a:pt x="6970" y="97"/>
                  <a:pt x="6935" y="97"/>
                </a:cubicBezTo>
                <a:lnTo>
                  <a:pt x="187" y="97"/>
                </a:lnTo>
                <a:cubicBezTo>
                  <a:pt x="152" y="97"/>
                  <a:pt x="118" y="90"/>
                  <a:pt x="86" y="77"/>
                </a:cubicBezTo>
                <a:cubicBezTo>
                  <a:pt x="53" y="63"/>
                  <a:pt x="25" y="44"/>
                  <a:pt x="0" y="18"/>
                </a:cubicBezTo>
                <a:lnTo>
                  <a:pt x="1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5994000" y="2656800"/>
            <a:ext cx="35640" cy="1707120"/>
          </a:xfrm>
          <a:custGeom>
            <a:avLst/>
            <a:gdLst/>
            <a:ahLst/>
            <a:rect l="0" t="0" r="r" b="b"/>
            <a:pathLst>
              <a:path w="99" h="4742">
                <a:moveTo>
                  <a:pt x="0" y="4723"/>
                </a:moveTo>
                <a:cubicBezTo>
                  <a:pt x="1" y="4722"/>
                  <a:pt x="1" y="4722"/>
                  <a:pt x="1" y="4722"/>
                </a:cubicBezTo>
                <a:cubicBezTo>
                  <a:pt x="24" y="4699"/>
                  <a:pt x="41" y="4674"/>
                  <a:pt x="53" y="4644"/>
                </a:cubicBezTo>
                <a:cubicBezTo>
                  <a:pt x="65" y="4615"/>
                  <a:pt x="71" y="4585"/>
                  <a:pt x="71" y="4553"/>
                </a:cubicBezTo>
                <a:lnTo>
                  <a:pt x="71" y="160"/>
                </a:lnTo>
                <a:cubicBezTo>
                  <a:pt x="71" y="132"/>
                  <a:pt x="65" y="105"/>
                  <a:pt x="53" y="79"/>
                </a:cubicBezTo>
                <a:cubicBezTo>
                  <a:pt x="46" y="64"/>
                  <a:pt x="37" y="49"/>
                  <a:pt x="26" y="36"/>
                </a:cubicBezTo>
                <a:lnTo>
                  <a:pt x="44" y="0"/>
                </a:lnTo>
                <a:cubicBezTo>
                  <a:pt x="58" y="18"/>
                  <a:pt x="69" y="38"/>
                  <a:pt x="77" y="59"/>
                </a:cubicBezTo>
                <a:cubicBezTo>
                  <a:pt x="92" y="91"/>
                  <a:pt x="99" y="125"/>
                  <a:pt x="99" y="160"/>
                </a:cubicBezTo>
                <a:lnTo>
                  <a:pt x="99" y="4553"/>
                </a:lnTo>
                <a:cubicBezTo>
                  <a:pt x="99" y="4588"/>
                  <a:pt x="92" y="4622"/>
                  <a:pt x="77" y="4654"/>
                </a:cubicBezTo>
                <a:cubicBezTo>
                  <a:pt x="64" y="4687"/>
                  <a:pt x="45" y="4715"/>
                  <a:pt x="20" y="4740"/>
                </a:cubicBezTo>
                <a:cubicBezTo>
                  <a:pt x="20" y="4741"/>
                  <a:pt x="19" y="4741"/>
                  <a:pt x="19" y="4742"/>
                </a:cubicBezTo>
                <a:lnTo>
                  <a:pt x="0" y="4723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3409920" y="2656800"/>
            <a:ext cx="35280" cy="1707120"/>
          </a:xfrm>
          <a:custGeom>
            <a:avLst/>
            <a:gdLst/>
            <a:ahLst/>
            <a:rect l="0" t="0" r="r" b="b"/>
            <a:pathLst>
              <a:path w="98" h="4742">
                <a:moveTo>
                  <a:pt x="71" y="36"/>
                </a:moveTo>
                <a:cubicBezTo>
                  <a:pt x="60" y="49"/>
                  <a:pt x="51" y="64"/>
                  <a:pt x="44" y="79"/>
                </a:cubicBezTo>
                <a:cubicBezTo>
                  <a:pt x="32" y="105"/>
                  <a:pt x="26" y="132"/>
                  <a:pt x="26" y="160"/>
                </a:cubicBezTo>
                <a:lnTo>
                  <a:pt x="26" y="4553"/>
                </a:lnTo>
                <a:cubicBezTo>
                  <a:pt x="26" y="4585"/>
                  <a:pt x="32" y="4615"/>
                  <a:pt x="44" y="4644"/>
                </a:cubicBezTo>
                <a:cubicBezTo>
                  <a:pt x="56" y="4674"/>
                  <a:pt x="73" y="4699"/>
                  <a:pt x="97" y="4722"/>
                </a:cubicBezTo>
                <a:cubicBezTo>
                  <a:pt x="97" y="4722"/>
                  <a:pt x="98" y="4722"/>
                  <a:pt x="98" y="4723"/>
                </a:cubicBezTo>
                <a:lnTo>
                  <a:pt x="78" y="4742"/>
                </a:lnTo>
                <a:cubicBezTo>
                  <a:pt x="78" y="4741"/>
                  <a:pt x="78" y="4741"/>
                  <a:pt x="77" y="4740"/>
                </a:cubicBezTo>
                <a:cubicBezTo>
                  <a:pt x="52" y="4715"/>
                  <a:pt x="33" y="4687"/>
                  <a:pt x="20" y="4654"/>
                </a:cubicBezTo>
                <a:cubicBezTo>
                  <a:pt x="6" y="4622"/>
                  <a:pt x="0" y="4588"/>
                  <a:pt x="0" y="4553"/>
                </a:cubicBezTo>
                <a:lnTo>
                  <a:pt x="0" y="160"/>
                </a:lnTo>
                <a:cubicBezTo>
                  <a:pt x="0" y="125"/>
                  <a:pt x="6" y="91"/>
                  <a:pt x="20" y="59"/>
                </a:cubicBezTo>
                <a:cubicBezTo>
                  <a:pt x="28" y="38"/>
                  <a:pt x="40" y="18"/>
                  <a:pt x="53" y="0"/>
                </a:cubicBezTo>
                <a:lnTo>
                  <a:pt x="71" y="36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962720" y="3950640"/>
            <a:ext cx="4086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tests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3586320" y="2810160"/>
            <a:ext cx="12488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CELLS IMPUTED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3586320" y="2971800"/>
            <a:ext cx="55224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22C55E"/>
                </a:solidFill>
                <a:effectLst/>
                <a:uFillTx/>
                <a:latin typeface="Outfit-Thin_"/>
                <a:ea typeface="Outfit-Thin_"/>
              </a:rPr>
              <a:t>0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6167160" y="2628720"/>
            <a:ext cx="2619720" cy="1757880"/>
          </a:xfrm>
          <a:custGeom>
            <a:avLst/>
            <a:gdLst/>
            <a:ahLst/>
            <a:rect l="0" t="0" r="r" b="b"/>
            <a:pathLst>
              <a:path w="7277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2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6" y="134"/>
                  <a:pt x="33" y="120"/>
                  <a:pt x="43" y="107"/>
                </a:cubicBezTo>
                <a:cubicBezTo>
                  <a:pt x="52" y="94"/>
                  <a:pt x="62" y="82"/>
                  <a:pt x="74" y="71"/>
                </a:cubicBezTo>
                <a:cubicBezTo>
                  <a:pt x="86" y="60"/>
                  <a:pt x="98" y="50"/>
                  <a:pt x="112" y="41"/>
                </a:cubicBezTo>
                <a:cubicBezTo>
                  <a:pt x="126" y="32"/>
                  <a:pt x="140" y="25"/>
                  <a:pt x="155" y="18"/>
                </a:cubicBezTo>
                <a:cubicBezTo>
                  <a:pt x="171" y="12"/>
                  <a:pt x="186" y="8"/>
                  <a:pt x="203" y="5"/>
                </a:cubicBezTo>
                <a:cubicBezTo>
                  <a:pt x="219" y="2"/>
                  <a:pt x="235" y="0"/>
                  <a:pt x="252" y="0"/>
                </a:cubicBezTo>
                <a:lnTo>
                  <a:pt x="7026" y="0"/>
                </a:lnTo>
                <a:cubicBezTo>
                  <a:pt x="7042" y="0"/>
                  <a:pt x="7059" y="2"/>
                  <a:pt x="7075" y="5"/>
                </a:cubicBezTo>
                <a:cubicBezTo>
                  <a:pt x="7091" y="8"/>
                  <a:pt x="7107" y="12"/>
                  <a:pt x="7122" y="18"/>
                </a:cubicBezTo>
                <a:cubicBezTo>
                  <a:pt x="7137" y="25"/>
                  <a:pt x="7152" y="32"/>
                  <a:pt x="7166" y="41"/>
                </a:cubicBezTo>
                <a:cubicBezTo>
                  <a:pt x="7179" y="50"/>
                  <a:pt x="7192" y="60"/>
                  <a:pt x="7204" y="71"/>
                </a:cubicBezTo>
                <a:cubicBezTo>
                  <a:pt x="7215" y="82"/>
                  <a:pt x="7226" y="94"/>
                  <a:pt x="7235" y="107"/>
                </a:cubicBezTo>
                <a:cubicBezTo>
                  <a:pt x="7244" y="120"/>
                  <a:pt x="7252" y="134"/>
                  <a:pt x="7258" y="148"/>
                </a:cubicBezTo>
                <a:cubicBezTo>
                  <a:pt x="7264" y="162"/>
                  <a:pt x="7269" y="177"/>
                  <a:pt x="7272" y="193"/>
                </a:cubicBezTo>
                <a:cubicBezTo>
                  <a:pt x="7276" y="208"/>
                  <a:pt x="7277" y="223"/>
                  <a:pt x="7277" y="239"/>
                </a:cubicBezTo>
                <a:lnTo>
                  <a:pt x="7277" y="4631"/>
                </a:lnTo>
                <a:cubicBezTo>
                  <a:pt x="7277" y="4648"/>
                  <a:pt x="7276" y="4664"/>
                  <a:pt x="7272" y="4680"/>
                </a:cubicBezTo>
                <a:cubicBezTo>
                  <a:pt x="7269" y="4696"/>
                  <a:pt x="7264" y="4712"/>
                  <a:pt x="7258" y="4727"/>
                </a:cubicBezTo>
                <a:cubicBezTo>
                  <a:pt x="7252" y="4743"/>
                  <a:pt x="7244" y="4757"/>
                  <a:pt x="7235" y="4771"/>
                </a:cubicBezTo>
                <a:cubicBezTo>
                  <a:pt x="7226" y="4785"/>
                  <a:pt x="7215" y="4797"/>
                  <a:pt x="7204" y="4809"/>
                </a:cubicBezTo>
                <a:cubicBezTo>
                  <a:pt x="7192" y="4821"/>
                  <a:pt x="7179" y="4831"/>
                  <a:pt x="7166" y="4840"/>
                </a:cubicBezTo>
                <a:cubicBezTo>
                  <a:pt x="7152" y="4849"/>
                  <a:pt x="7137" y="4857"/>
                  <a:pt x="7122" y="4863"/>
                </a:cubicBezTo>
                <a:cubicBezTo>
                  <a:pt x="7107" y="4870"/>
                  <a:pt x="7091" y="4875"/>
                  <a:pt x="7075" y="4878"/>
                </a:cubicBezTo>
                <a:cubicBezTo>
                  <a:pt x="7059" y="4881"/>
                  <a:pt x="7042" y="4883"/>
                  <a:pt x="7026" y="4883"/>
                </a:cubicBezTo>
                <a:lnTo>
                  <a:pt x="252" y="4883"/>
                </a:lnTo>
                <a:cubicBezTo>
                  <a:pt x="235" y="4883"/>
                  <a:pt x="219" y="4881"/>
                  <a:pt x="203" y="4878"/>
                </a:cubicBezTo>
                <a:cubicBezTo>
                  <a:pt x="186" y="4875"/>
                  <a:pt x="171" y="4870"/>
                  <a:pt x="155" y="4863"/>
                </a:cubicBezTo>
                <a:cubicBezTo>
                  <a:pt x="140" y="4857"/>
                  <a:pt x="126" y="4849"/>
                  <a:pt x="112" y="4840"/>
                </a:cubicBezTo>
                <a:cubicBezTo>
                  <a:pt x="98" y="4831"/>
                  <a:pt x="86" y="4821"/>
                  <a:pt x="74" y="4809"/>
                </a:cubicBezTo>
                <a:cubicBezTo>
                  <a:pt x="62" y="4797"/>
                  <a:pt x="52" y="4785"/>
                  <a:pt x="43" y="4771"/>
                </a:cubicBezTo>
                <a:cubicBezTo>
                  <a:pt x="33" y="4757"/>
                  <a:pt x="26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2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6188040" y="2638080"/>
            <a:ext cx="2578320" cy="53280"/>
          </a:xfrm>
          <a:custGeom>
            <a:avLst/>
            <a:gdLst/>
            <a:ahLst/>
            <a:rect l="0" t="0" r="r" b="b"/>
            <a:pathLst>
              <a:path w="7162" h="148">
                <a:moveTo>
                  <a:pt x="7133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7" y="81"/>
                  <a:pt x="16" y="72"/>
                  <a:pt x="25" y="63"/>
                </a:cubicBezTo>
                <a:cubicBezTo>
                  <a:pt x="48" y="43"/>
                  <a:pt x="73" y="27"/>
                  <a:pt x="102" y="17"/>
                </a:cubicBezTo>
                <a:cubicBezTo>
                  <a:pt x="132" y="6"/>
                  <a:pt x="162" y="0"/>
                  <a:pt x="194" y="0"/>
                </a:cubicBezTo>
                <a:lnTo>
                  <a:pt x="6968" y="0"/>
                </a:lnTo>
                <a:cubicBezTo>
                  <a:pt x="7000" y="0"/>
                  <a:pt x="7030" y="6"/>
                  <a:pt x="7059" y="17"/>
                </a:cubicBezTo>
                <a:cubicBezTo>
                  <a:pt x="7088" y="27"/>
                  <a:pt x="7114" y="43"/>
                  <a:pt x="7136" y="63"/>
                </a:cubicBezTo>
                <a:cubicBezTo>
                  <a:pt x="7146" y="72"/>
                  <a:pt x="7154" y="81"/>
                  <a:pt x="7162" y="90"/>
                </a:cubicBezTo>
                <a:lnTo>
                  <a:pt x="7133" y="148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6197040" y="4338360"/>
            <a:ext cx="2559960" cy="43200"/>
          </a:xfrm>
          <a:custGeom>
            <a:avLst/>
            <a:gdLst/>
            <a:ahLst/>
            <a:rect l="0" t="0" r="r" b="b"/>
            <a:pathLst>
              <a:path w="7111" h="120">
                <a:moveTo>
                  <a:pt x="50" y="0"/>
                </a:moveTo>
                <a:lnTo>
                  <a:pt x="7062" y="0"/>
                </a:lnTo>
                <a:lnTo>
                  <a:pt x="7111" y="51"/>
                </a:lnTo>
                <a:cubicBezTo>
                  <a:pt x="7089" y="73"/>
                  <a:pt x="7063" y="90"/>
                  <a:pt x="7034" y="102"/>
                </a:cubicBezTo>
                <a:cubicBezTo>
                  <a:pt x="7005" y="114"/>
                  <a:pt x="6975" y="120"/>
                  <a:pt x="6943" y="120"/>
                </a:cubicBezTo>
                <a:lnTo>
                  <a:pt x="169" y="120"/>
                </a:lnTo>
                <a:cubicBezTo>
                  <a:pt x="137" y="120"/>
                  <a:pt x="107" y="114"/>
                  <a:pt x="77" y="102"/>
                </a:cubicBezTo>
                <a:cubicBezTo>
                  <a:pt x="48" y="90"/>
                  <a:pt x="23" y="73"/>
                  <a:pt x="0" y="51"/>
                </a:cubicBezTo>
                <a:lnTo>
                  <a:pt x="5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873900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0" y="4639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8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4517"/>
                </a:lnTo>
                <a:cubicBezTo>
                  <a:pt x="120" y="4549"/>
                  <a:pt x="114" y="4579"/>
                  <a:pt x="102" y="4608"/>
                </a:cubicBezTo>
                <a:cubicBezTo>
                  <a:pt x="90" y="4638"/>
                  <a:pt x="73" y="4663"/>
                  <a:pt x="49" y="4686"/>
                </a:cubicBezTo>
                <a:cubicBezTo>
                  <a:pt x="49" y="4686"/>
                  <a:pt x="48" y="4686"/>
                  <a:pt x="48" y="4687"/>
                </a:cubicBezTo>
                <a:lnTo>
                  <a:pt x="0" y="463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6171840" y="2669760"/>
            <a:ext cx="43560" cy="1687320"/>
          </a:xfrm>
          <a:custGeom>
            <a:avLst/>
            <a:gdLst/>
            <a:ahLst/>
            <a:rect l="0" t="0" r="r" b="b"/>
            <a:pathLst>
              <a:path w="121" h="4687">
                <a:moveTo>
                  <a:pt x="121" y="148"/>
                </a:moveTo>
                <a:lnTo>
                  <a:pt x="121" y="4639"/>
                </a:lnTo>
                <a:lnTo>
                  <a:pt x="73" y="4687"/>
                </a:lnTo>
                <a:cubicBezTo>
                  <a:pt x="72" y="4686"/>
                  <a:pt x="72" y="4686"/>
                  <a:pt x="71" y="4686"/>
                </a:cubicBezTo>
                <a:cubicBezTo>
                  <a:pt x="48" y="4663"/>
                  <a:pt x="31" y="4638"/>
                  <a:pt x="19" y="4608"/>
                </a:cubicBezTo>
                <a:cubicBezTo>
                  <a:pt x="7" y="4579"/>
                  <a:pt x="0" y="4549"/>
                  <a:pt x="0" y="4517"/>
                </a:cubicBezTo>
                <a:lnTo>
                  <a:pt x="0" y="124"/>
                </a:lnTo>
                <a:cubicBezTo>
                  <a:pt x="0" y="96"/>
                  <a:pt x="7" y="69"/>
                  <a:pt x="19" y="43"/>
                </a:cubicBezTo>
                <a:cubicBezTo>
                  <a:pt x="26" y="28"/>
                  <a:pt x="35" y="13"/>
                  <a:pt x="46" y="0"/>
                </a:cubicBezTo>
                <a:lnTo>
                  <a:pt x="121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3586320" y="3693600"/>
            <a:ext cx="20304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Salary is what we measure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343560" y="2810160"/>
            <a:ext cx="15339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SALARY COVERAGE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343560" y="2971800"/>
            <a:ext cx="184500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99.0%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343560" y="3693600"/>
            <a:ext cx="18316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Quoted alongside every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929440" y="2628720"/>
            <a:ext cx="2610360" cy="1757880"/>
          </a:xfrm>
          <a:custGeom>
            <a:avLst/>
            <a:gdLst/>
            <a:ahLst/>
            <a:rect l="0" t="0" r="r" b="b"/>
            <a:pathLst>
              <a:path w="7251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2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6" y="134"/>
                  <a:pt x="33" y="120"/>
                  <a:pt x="43" y="107"/>
                </a:cubicBezTo>
                <a:cubicBezTo>
                  <a:pt x="52" y="94"/>
                  <a:pt x="62" y="82"/>
                  <a:pt x="74" y="71"/>
                </a:cubicBezTo>
                <a:cubicBezTo>
                  <a:pt x="85" y="60"/>
                  <a:pt x="98" y="50"/>
                  <a:pt x="112" y="41"/>
                </a:cubicBezTo>
                <a:cubicBezTo>
                  <a:pt x="126" y="32"/>
                  <a:pt x="140" y="25"/>
                  <a:pt x="155" y="18"/>
                </a:cubicBezTo>
                <a:cubicBezTo>
                  <a:pt x="171" y="12"/>
                  <a:pt x="186" y="8"/>
                  <a:pt x="202" y="5"/>
                </a:cubicBezTo>
                <a:cubicBezTo>
                  <a:pt x="219" y="2"/>
                  <a:pt x="235" y="0"/>
                  <a:pt x="252" y="0"/>
                </a:cubicBezTo>
                <a:lnTo>
                  <a:pt x="6999" y="0"/>
                </a:lnTo>
                <a:cubicBezTo>
                  <a:pt x="7016" y="0"/>
                  <a:pt x="7032" y="2"/>
                  <a:pt x="7048" y="5"/>
                </a:cubicBezTo>
                <a:cubicBezTo>
                  <a:pt x="7065" y="8"/>
                  <a:pt x="7080" y="12"/>
                  <a:pt x="7096" y="18"/>
                </a:cubicBezTo>
                <a:cubicBezTo>
                  <a:pt x="7111" y="25"/>
                  <a:pt x="7125" y="32"/>
                  <a:pt x="7139" y="41"/>
                </a:cubicBezTo>
                <a:cubicBezTo>
                  <a:pt x="7153" y="50"/>
                  <a:pt x="7165" y="60"/>
                  <a:pt x="7177" y="71"/>
                </a:cubicBezTo>
                <a:cubicBezTo>
                  <a:pt x="7189" y="82"/>
                  <a:pt x="7199" y="94"/>
                  <a:pt x="7208" y="107"/>
                </a:cubicBezTo>
                <a:cubicBezTo>
                  <a:pt x="7218" y="120"/>
                  <a:pt x="7225" y="134"/>
                  <a:pt x="7232" y="148"/>
                </a:cubicBezTo>
                <a:cubicBezTo>
                  <a:pt x="7238" y="162"/>
                  <a:pt x="7243" y="177"/>
                  <a:pt x="7246" y="193"/>
                </a:cubicBezTo>
                <a:cubicBezTo>
                  <a:pt x="7249" y="208"/>
                  <a:pt x="7251" y="223"/>
                  <a:pt x="7251" y="239"/>
                </a:cubicBezTo>
                <a:lnTo>
                  <a:pt x="7251" y="4631"/>
                </a:lnTo>
                <a:cubicBezTo>
                  <a:pt x="7251" y="4648"/>
                  <a:pt x="7249" y="4664"/>
                  <a:pt x="7246" y="4680"/>
                </a:cubicBezTo>
                <a:cubicBezTo>
                  <a:pt x="7243" y="4696"/>
                  <a:pt x="7238" y="4712"/>
                  <a:pt x="7232" y="4727"/>
                </a:cubicBezTo>
                <a:cubicBezTo>
                  <a:pt x="7225" y="4743"/>
                  <a:pt x="7218" y="4757"/>
                  <a:pt x="7208" y="4771"/>
                </a:cubicBezTo>
                <a:cubicBezTo>
                  <a:pt x="7199" y="4785"/>
                  <a:pt x="7189" y="4797"/>
                  <a:pt x="7177" y="4809"/>
                </a:cubicBezTo>
                <a:cubicBezTo>
                  <a:pt x="7165" y="4821"/>
                  <a:pt x="7153" y="4831"/>
                  <a:pt x="7139" y="4840"/>
                </a:cubicBezTo>
                <a:cubicBezTo>
                  <a:pt x="7125" y="4849"/>
                  <a:pt x="7111" y="4857"/>
                  <a:pt x="7096" y="4863"/>
                </a:cubicBezTo>
                <a:cubicBezTo>
                  <a:pt x="7080" y="4870"/>
                  <a:pt x="7065" y="4875"/>
                  <a:pt x="7048" y="4878"/>
                </a:cubicBezTo>
                <a:cubicBezTo>
                  <a:pt x="7032" y="4881"/>
                  <a:pt x="7016" y="4883"/>
                  <a:pt x="6999" y="4883"/>
                </a:cubicBezTo>
                <a:lnTo>
                  <a:pt x="252" y="4883"/>
                </a:lnTo>
                <a:cubicBezTo>
                  <a:pt x="235" y="4883"/>
                  <a:pt x="219" y="4881"/>
                  <a:pt x="202" y="4878"/>
                </a:cubicBezTo>
                <a:cubicBezTo>
                  <a:pt x="186" y="4875"/>
                  <a:pt x="171" y="4870"/>
                  <a:pt x="155" y="4863"/>
                </a:cubicBezTo>
                <a:cubicBezTo>
                  <a:pt x="140" y="4857"/>
                  <a:pt x="126" y="4849"/>
                  <a:pt x="112" y="4840"/>
                </a:cubicBezTo>
                <a:cubicBezTo>
                  <a:pt x="98" y="4831"/>
                  <a:pt x="85" y="4821"/>
                  <a:pt x="74" y="4809"/>
                </a:cubicBezTo>
                <a:cubicBezTo>
                  <a:pt x="62" y="4797"/>
                  <a:pt x="52" y="4785"/>
                  <a:pt x="43" y="4771"/>
                </a:cubicBezTo>
                <a:cubicBezTo>
                  <a:pt x="33" y="4757"/>
                  <a:pt x="26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2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8950320" y="2638080"/>
            <a:ext cx="2568600" cy="53280"/>
          </a:xfrm>
          <a:custGeom>
            <a:avLst/>
            <a:gdLst/>
            <a:ahLst/>
            <a:rect l="0" t="0" r="r" b="b"/>
            <a:pathLst>
              <a:path w="7135" h="148">
                <a:moveTo>
                  <a:pt x="7106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7" y="81"/>
                  <a:pt x="16" y="72"/>
                  <a:pt x="25" y="63"/>
                </a:cubicBezTo>
                <a:cubicBezTo>
                  <a:pt x="47" y="43"/>
                  <a:pt x="73" y="27"/>
                  <a:pt x="102" y="17"/>
                </a:cubicBezTo>
                <a:cubicBezTo>
                  <a:pt x="133" y="6"/>
                  <a:pt x="163" y="0"/>
                  <a:pt x="195" y="0"/>
                </a:cubicBezTo>
                <a:lnTo>
                  <a:pt x="6941" y="0"/>
                </a:lnTo>
                <a:cubicBezTo>
                  <a:pt x="6973" y="0"/>
                  <a:pt x="7003" y="6"/>
                  <a:pt x="7033" y="17"/>
                </a:cubicBezTo>
                <a:cubicBezTo>
                  <a:pt x="7062" y="27"/>
                  <a:pt x="7087" y="43"/>
                  <a:pt x="7110" y="63"/>
                </a:cubicBezTo>
                <a:cubicBezTo>
                  <a:pt x="7119" y="72"/>
                  <a:pt x="7128" y="81"/>
                  <a:pt x="7135" y="90"/>
                </a:cubicBezTo>
                <a:lnTo>
                  <a:pt x="7106" y="148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8959320" y="4338360"/>
            <a:ext cx="2550600" cy="43200"/>
          </a:xfrm>
          <a:custGeom>
            <a:avLst/>
            <a:gdLst/>
            <a:ahLst/>
            <a:rect l="0" t="0" r="r" b="b"/>
            <a:pathLst>
              <a:path w="7085" h="120">
                <a:moveTo>
                  <a:pt x="49" y="0"/>
                </a:moveTo>
                <a:lnTo>
                  <a:pt x="7035" y="0"/>
                </a:lnTo>
                <a:lnTo>
                  <a:pt x="7085" y="51"/>
                </a:lnTo>
                <a:cubicBezTo>
                  <a:pt x="7062" y="73"/>
                  <a:pt x="7037" y="90"/>
                  <a:pt x="7008" y="102"/>
                </a:cubicBezTo>
                <a:cubicBezTo>
                  <a:pt x="6977" y="114"/>
                  <a:pt x="6947" y="120"/>
                  <a:pt x="6915" y="120"/>
                </a:cubicBezTo>
                <a:lnTo>
                  <a:pt x="169" y="120"/>
                </a:lnTo>
                <a:cubicBezTo>
                  <a:pt x="137" y="120"/>
                  <a:pt x="107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11491560" y="2669760"/>
            <a:ext cx="43560" cy="1687320"/>
          </a:xfrm>
          <a:custGeom>
            <a:avLst/>
            <a:gdLst/>
            <a:ahLst/>
            <a:rect l="0" t="0" r="r" b="b"/>
            <a:pathLst>
              <a:path w="121" h="4687">
                <a:moveTo>
                  <a:pt x="0" y="4639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8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4517"/>
                </a:lnTo>
                <a:cubicBezTo>
                  <a:pt x="121" y="4549"/>
                  <a:pt x="114" y="4579"/>
                  <a:pt x="102" y="4608"/>
                </a:cubicBezTo>
                <a:cubicBezTo>
                  <a:pt x="90" y="4638"/>
                  <a:pt x="73" y="4663"/>
                  <a:pt x="51" y="4686"/>
                </a:cubicBezTo>
                <a:cubicBezTo>
                  <a:pt x="50" y="4686"/>
                  <a:pt x="50" y="4686"/>
                  <a:pt x="49" y="4687"/>
                </a:cubicBezTo>
                <a:lnTo>
                  <a:pt x="0" y="463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893412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120" y="148"/>
                </a:moveTo>
                <a:lnTo>
                  <a:pt x="120" y="4639"/>
                </a:lnTo>
                <a:lnTo>
                  <a:pt x="71" y="4687"/>
                </a:lnTo>
                <a:cubicBezTo>
                  <a:pt x="71" y="4686"/>
                  <a:pt x="71" y="4686"/>
                  <a:pt x="70" y="4686"/>
                </a:cubicBezTo>
                <a:cubicBezTo>
                  <a:pt x="48" y="4663"/>
                  <a:pt x="31" y="4638"/>
                  <a:pt x="19" y="4608"/>
                </a:cubicBezTo>
                <a:cubicBezTo>
                  <a:pt x="6" y="4579"/>
                  <a:pt x="0" y="4549"/>
                  <a:pt x="0" y="4517"/>
                </a:cubicBezTo>
                <a:lnTo>
                  <a:pt x="0" y="124"/>
                </a:lnTo>
                <a:cubicBezTo>
                  <a:pt x="0" y="96"/>
                  <a:pt x="6" y="69"/>
                  <a:pt x="19" y="43"/>
                </a:cubicBezTo>
                <a:cubicBezTo>
                  <a:pt x="26" y="28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343560" y="3950640"/>
            <a:ext cx="4370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figure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9101160" y="2810160"/>
            <a:ext cx="6325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REPORT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9101160" y="2971800"/>
            <a:ext cx="135324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auto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9101160" y="3693600"/>
            <a:ext cx="2087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Generated from the live run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180728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4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DECISION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Flag uncertainty. Don't invent salary.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44475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FF6B1A"/>
                </a:solidFill>
                <a:latin typeface="Arial"/>
              </a:rPr>
              <a:t>salary_flag</a:t>
            </a:r>
            <a:r>
              <a:rPr sz="1200" b="0" i="0">
                <a:solidFill>
                  <a:srgbClr val="A0A0A0"/>
                </a:solidFill>
                <a:latin typeface="Arial"/>
              </a:rPr>
              <a:t>  →  undisclosed · outlier · low_stipend · 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01952"/>
            <a:ext cx="5349240" cy="3429000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762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F4444"/>
                </a:solidFill>
                <a:latin typeface="Arial"/>
              </a:rPr>
              <a:t>$1 – $1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3347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F5F5F"/>
                </a:solidFill>
                <a:latin typeface="Arial"/>
              </a:rPr>
              <a:t>Required-field placeholder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80944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5F5F5"/>
                </a:solidFill>
                <a:latin typeface="Arial"/>
              </a:rPr>
              <a:t>1,804 postings. There is no real salary number to preserve at any resolution.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041648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F4444"/>
                </a:solidFill>
                <a:latin typeface="Arial"/>
              </a:rPr>
              <a:t>NULLED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40233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9,577 rows · under 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5902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Same rule at the low end: keep the row, remove only the unusable salary value.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901952"/>
            <a:ext cx="5349240" cy="3429000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217627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6B1A"/>
                </a:solidFill>
                <a:latin typeface="Arial"/>
              </a:rPr>
              <a:t>$150,000 / 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63347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F5F5F"/>
                </a:solidFill>
                <a:latin typeface="Arial"/>
              </a:rPr>
              <a:t>Outlier, but potentially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980944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5F5F5"/>
                </a:solidFill>
                <a:latin typeface="Arial"/>
              </a:rPr>
              <a:t>269 postings. Real C-suite role, or a missing decimal? That depends on the question being asked.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4164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6B1A"/>
                </a:solidFill>
                <a:latin typeface="Arial"/>
              </a:rPr>
              <a:t>FLAGGED, KEPT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40233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analysis filters in 1 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45902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The number stays available for analyses that need it; filters decide when to exclude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5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DECISION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Four 'cleaning' choices that change 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5349240" cy="15727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DATES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0428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Parse → format back → compare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70048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0A0A0"/>
                </a:solidFill>
                <a:latin typeface="Arial"/>
              </a:rPr>
              <a:t>One mismatch and we refuse the conversion. A wrong date is a wrong cohort.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349240" cy="15727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20116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230428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Normalize invisible characters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670048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0A0A0"/>
                </a:solidFill>
                <a:latin typeface="Arial"/>
              </a:rPr>
              <a:t>Titles carried zero-width characters. \s does not match them. 184 rows: one title can silently become two.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767328"/>
            <a:ext cx="5349240" cy="15727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502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DUPLICATES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42816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Flag, don't drop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08576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0A0A0"/>
                </a:solidFill>
                <a:latin typeface="Arial"/>
              </a:rPr>
              <a:t>16,990 of 21,344 same-day groups had different view counts. They are real listings, not duplicates to delete.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67328"/>
            <a:ext cx="5349240" cy="15727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9502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CATEGORIES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4242816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JSON array → explode, not first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608576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0A0A0"/>
                </a:solidFill>
                <a:latin typeface="Arial"/>
              </a:rPr>
              <a:t>43 categories; 37% of postings carry more than one. Keeping only the first would discard 723,000 assignments.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614416"/>
            <a:ext cx="10863072" cy="566928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769864"/>
            <a:ext cx="10332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AAAAAA"/>
                </a:solidFill>
                <a:latin typeface="Aptos"/>
              </a:rPr>
              <a:t>Cleaning is part of the analysis: bad normalization changes cohorts, duplicates and market size.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5C5C"/>
                </a:solidFill>
                <a:latin typeface="Aptos"/>
              </a:rPr>
              <a:t>D E C I S I O N  3   ·   T H E  F I N D I N G  T H A T  S H A P E D  T H E  P R O D U C 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>
                <a:solidFill>
                  <a:srgbClr val="F2F2F2"/>
                </a:solidFill>
                <a:latin typeface="Aptos"/>
              </a:rPr>
              <a:t>Post-June engagement is unmeasured — not 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7315200" cy="3246120"/>
          </a:xfrm>
          <a:prstGeom prst="roundRect">
            <a:avLst/>
          </a:prstGeom>
          <a:solidFill>
            <a:srgbClr val="050505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7510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MEDIAN VIEWS BY POSTING MONTH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78992" y="445312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8952" y="436168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78992" y="396163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58952" y="387019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25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2" y="347014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58952" y="33787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50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78992" y="297865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8952" y="288721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75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78992" y="248716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8952" y="23957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100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5032" y="2487168"/>
            <a:ext cx="3867912" cy="1965960"/>
          </a:xfrm>
          <a:prstGeom prst="rect">
            <a:avLst/>
          </a:prstGeom>
          <a:solidFill>
            <a:srgbClr val="1E0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1078992" y="3076956"/>
            <a:ext cx="685800" cy="157276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64792" y="2978658"/>
            <a:ext cx="731520" cy="98298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96312" y="2978658"/>
            <a:ext cx="758951" cy="471830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55263" y="3450488"/>
            <a:ext cx="420624" cy="963320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75887" y="4413808"/>
            <a:ext cx="1014985" cy="9830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690872" y="4403979"/>
            <a:ext cx="502920" cy="1965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93792" y="4403979"/>
            <a:ext cx="960120" cy="1965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153912" y="4384319"/>
            <a:ext cx="640080" cy="3931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793992" y="4335170"/>
            <a:ext cx="365760" cy="4914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59752" y="4335170"/>
            <a:ext cx="393192" cy="3931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204971" y="3400196"/>
            <a:ext cx="100584" cy="100584"/>
          </a:xfrm>
          <a:prstGeom prst="ellipse">
            <a:avLst/>
          </a:prstGeom>
          <a:solidFill>
            <a:srgbClr val="FF6A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64991" y="3194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6A00"/>
                </a:solidFill>
                <a:latin typeface="Aptos"/>
              </a:rPr>
              <a:t>51</a:t>
            </a:r>
          </a:p>
        </p:txBody>
      </p:sp>
      <p:sp>
        <p:nvSpPr>
          <p:cNvPr id="29" name="Oval 28"/>
          <p:cNvSpPr/>
          <p:nvPr/>
        </p:nvSpPr>
        <p:spPr>
          <a:xfrm>
            <a:off x="3625595" y="4363516"/>
            <a:ext cx="100584" cy="100584"/>
          </a:xfrm>
          <a:prstGeom prst="ellipse">
            <a:avLst/>
          </a:prstGeom>
          <a:solidFill>
            <a:srgbClr val="FF4848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85615" y="41577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4848"/>
                </a:solidFill>
                <a:latin typeface="Aptos"/>
              </a:rPr>
              <a:t>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474720" y="2487168"/>
            <a:ext cx="0" cy="1965960"/>
          </a:xfrm>
          <a:prstGeom prst="line">
            <a:avLst/>
          </a:prstGeom>
          <a:ln w="15240">
            <a:solidFill>
              <a:srgbClr val="FF484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66160" y="2505456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4848"/>
                </a:solidFill>
                <a:latin typeface="Aptos"/>
              </a:rPr>
              <a:t>crawl boundary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Mar 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54095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Jun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19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24144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Dec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2592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May 24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83879" y="1783080"/>
            <a:ext cx="3364992" cy="3246120"/>
          </a:xfrm>
          <a:prstGeom prst="roundRect">
            <a:avLst/>
          </a:prstGeom>
          <a:solidFill>
            <a:srgbClr val="090909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0768" y="199339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THE INTERPRETATION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30768" y="2414016"/>
            <a:ext cx="2788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 b="1">
                <a:solidFill>
                  <a:srgbClr val="F2F2F2"/>
                </a:solidFill>
                <a:latin typeface="Aptos"/>
              </a:rPr>
              <a:t>Unmeasured ≠ low response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8" y="3310128"/>
            <a:ext cx="26517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Aptos"/>
              </a:rPr>
              <a:t>After the crawl boundary, counters are effectively frozen at day zero. Those postings cannot be compared with the earlier cohort.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285232"/>
            <a:ext cx="10908792" cy="804672"/>
          </a:xfrm>
          <a:prstGeom prst="roundRect">
            <a:avLst/>
          </a:prstGeom>
          <a:solidFill>
            <a:srgbClr val="080808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6811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WHY THIS MATTERS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413248"/>
            <a:ext cx="8823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rgbClr val="AAAAAA"/>
                </a:solidFill>
                <a:latin typeface="Aptos"/>
              </a:rPr>
              <a:t>July had ten extra months to accumulate views — and still had fewer. The defensible response cohort must end before the crawl boundary.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67160" y="6428232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282828"/>
                </a:solidFill>
                <a:latin typeface="Aptos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153912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5C5C5C"/>
                </a:solidFill>
                <a:latin typeface="Aptos"/>
              </a:rPr>
              <a:t>EDA SCOPE · 1,044,587 cleaned postings · Mar 2023–May 2024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THE COHORT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Response metrics require two defensible cohorts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801368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1,044,587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837944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CLEANED POSTINGS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2121408"/>
            <a:ext cx="4297680" cy="118872"/>
          </a:xfrm>
          <a:prstGeom prst="round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514600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1,009,709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255117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DEDUPLICATED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834639"/>
            <a:ext cx="4147261" cy="118872"/>
          </a:xfrm>
          <a:prstGeom prst="round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22783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118,749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26440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COUNTERS COMPLETE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3547872"/>
            <a:ext cx="2363724" cy="118872"/>
          </a:xfrm>
          <a:prstGeom prst="round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941064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96,028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3392" y="3977640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30-DAY LISTINGS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4261104"/>
            <a:ext cx="1976932" cy="118872"/>
          </a:xfrm>
          <a:prstGeom prst="round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65429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78,942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93392" y="4690872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FIRST CYCLE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974336"/>
            <a:ext cx="1633118" cy="11887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87451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TWO LAYERS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28232" y="2221992"/>
            <a:ext cx="5074920" cy="1325880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246888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F5F5"/>
                </a:solidFill>
                <a:latin typeface="Arial"/>
              </a:rPr>
              <a:t>Layer 1 — what the market offers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286207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All 1.04M rows · posting-time columns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28232" y="3794760"/>
            <a:ext cx="5074920" cy="1325880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40416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F5F5"/>
                </a:solidFill>
                <a:latin typeface="Arial"/>
              </a:rPr>
              <a:t>Layer 2 — what response it got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4264" y="4434840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96,028 30-day listings → repost risk
78,942 first-cycle listings → views &amp;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7376" y="5468112"/>
            <a:ext cx="49834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AAAAA"/>
                </a:solidFill>
                <a:latin typeface="Aptos"/>
              </a:rPr>
              <a:t>Same Mar–Jun 2023 window. Each outcome uses the smallest cohort that makes the comparison defensible.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8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C5C5C"/>
                </a:solidFill>
                <a:latin typeface="Aptos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One pipeline. One source of truth.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5F5F5"/>
                </a:solidFill>
                <a:latin typeface="Arial"/>
              </a:rPr>
              <a:t>SGJobData.csv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1.05M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5728" y="226771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6B1A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3580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5F5F5"/>
                </a:solidFill>
                <a:latin typeface="Arial"/>
              </a:rPr>
              <a:t>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8376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flag · null · convert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26771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6B1A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892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5F5F5"/>
                </a:solidFill>
                <a:latin typeface="Arial"/>
              </a:rPr>
              <a:t>enrich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48656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derive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226771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6B1A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920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6B1A"/>
                </a:solidFill>
                <a:latin typeface="Arial"/>
              </a:rPr>
              <a:t>DuckDB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936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columnar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226771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6B1A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1948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5F5F5"/>
                </a:solidFill>
                <a:latin typeface="Arial"/>
              </a:rPr>
              <a:t>Streamlit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9215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4 boards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75887"/>
            <a:ext cx="5257800" cy="1536192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93192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ONE IMPLEMENTATION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26110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AAAAA"/>
                </a:solidFill>
                <a:latin typeface="Aptos"/>
              </a:rPr>
              <a:t>Cleaning and enrichment live in tested modules under src/pipeline/.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4718304"/>
            <a:ext cx="459943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AAAAA"/>
                </a:solidFill>
                <a:latin typeface="Aptos"/>
              </a:rPr>
              <a:t>Notebook and dashboard import the same pipeline — so the analysis and product cannot drift apart.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675887"/>
            <a:ext cx="5376672" cy="1536192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93192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WHY DUCKDB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261104"/>
            <a:ext cx="47091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Aggregate a million postings inside a click.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4718304"/>
            <a:ext cx="46451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0A0A0"/>
                </a:solidFill>
                <a:latin typeface="Arial"/>
              </a:rPr>
              <a:t>No 400 MB CSV re-read on every filter change.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9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57" name=""/>
          <p:cNvPicPr/>
          <p:nvPr/>
        </p:nvPicPr>
        <p:blipFill>
          <a:blip r:embed="rId1"/>
          <a:stretch/>
        </p:blipFill>
        <p:spPr>
          <a:xfrm>
            <a:off x="-2880" y="-2880"/>
            <a:ext cx="12197880" cy="68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8" name=""/>
          <p:cNvSpPr/>
          <p:nvPr/>
        </p:nvSpPr>
        <p:spPr>
          <a:xfrm>
            <a:off x="5974200" y="2012040"/>
            <a:ext cx="243360" cy="243360"/>
          </a:xfrm>
          <a:custGeom>
            <a:avLst/>
            <a:gdLst/>
            <a:ahLst/>
            <a:rect l="0" t="0" r="r" b="b"/>
            <a:pathLst>
              <a:path w="676" h="676">
                <a:moveTo>
                  <a:pt x="75" y="0"/>
                </a:moveTo>
                <a:lnTo>
                  <a:pt x="601" y="0"/>
                </a:lnTo>
                <a:cubicBezTo>
                  <a:pt x="611" y="0"/>
                  <a:pt x="621" y="2"/>
                  <a:pt x="630" y="6"/>
                </a:cubicBezTo>
                <a:cubicBezTo>
                  <a:pt x="639" y="9"/>
                  <a:pt x="647" y="15"/>
                  <a:pt x="654" y="22"/>
                </a:cubicBezTo>
                <a:cubicBezTo>
                  <a:pt x="661" y="29"/>
                  <a:pt x="667" y="37"/>
                  <a:pt x="670" y="46"/>
                </a:cubicBezTo>
                <a:cubicBezTo>
                  <a:pt x="674" y="55"/>
                  <a:pt x="676" y="65"/>
                  <a:pt x="676" y="75"/>
                </a:cubicBezTo>
                <a:lnTo>
                  <a:pt x="676" y="601"/>
                </a:lnTo>
                <a:cubicBezTo>
                  <a:pt x="676" y="610"/>
                  <a:pt x="674" y="620"/>
                  <a:pt x="670" y="629"/>
                </a:cubicBezTo>
                <a:cubicBezTo>
                  <a:pt x="667" y="638"/>
                  <a:pt x="661" y="647"/>
                  <a:pt x="654" y="654"/>
                </a:cubicBezTo>
                <a:cubicBezTo>
                  <a:pt x="647" y="661"/>
                  <a:pt x="639" y="666"/>
                  <a:pt x="630" y="670"/>
                </a:cubicBezTo>
                <a:cubicBezTo>
                  <a:pt x="621" y="674"/>
                  <a:pt x="611" y="676"/>
                  <a:pt x="601" y="676"/>
                </a:cubicBezTo>
                <a:lnTo>
                  <a:pt x="75" y="676"/>
                </a:lnTo>
                <a:cubicBezTo>
                  <a:pt x="66" y="676"/>
                  <a:pt x="56" y="674"/>
                  <a:pt x="47" y="670"/>
                </a:cubicBezTo>
                <a:cubicBezTo>
                  <a:pt x="38" y="666"/>
                  <a:pt x="29" y="661"/>
                  <a:pt x="22" y="654"/>
                </a:cubicBezTo>
                <a:cubicBezTo>
                  <a:pt x="15" y="647"/>
                  <a:pt x="10" y="638"/>
                  <a:pt x="6" y="629"/>
                </a:cubicBezTo>
                <a:cubicBezTo>
                  <a:pt x="2" y="620"/>
                  <a:pt x="0" y="610"/>
                  <a:pt x="0" y="601"/>
                </a:cubicBezTo>
                <a:lnTo>
                  <a:pt x="0" y="75"/>
                </a:lnTo>
                <a:cubicBezTo>
                  <a:pt x="0" y="65"/>
                  <a:pt x="2" y="55"/>
                  <a:pt x="6" y="46"/>
                </a:cubicBezTo>
                <a:cubicBezTo>
                  <a:pt x="10" y="37"/>
                  <a:pt x="15" y="29"/>
                  <a:pt x="22" y="22"/>
                </a:cubicBezTo>
                <a:cubicBezTo>
                  <a:pt x="29" y="15"/>
                  <a:pt x="38" y="9"/>
                  <a:pt x="47" y="6"/>
                </a:cubicBezTo>
                <a:cubicBezTo>
                  <a:pt x="56" y="2"/>
                  <a:pt x="66" y="0"/>
                  <a:pt x="75" y="0"/>
                </a:cubicBezTo>
                <a:close/>
              </a:path>
            </a:pathLst>
          </a:custGeom>
          <a:noFill/>
          <a:ln w="15840">
            <a:solidFill>
              <a:srgbClr val="FF6B1A"/>
            </a:solidFill>
            <a:miter/>
          </a:ln>
        </p:spPr>
        <p:txBody>
          <a:bodyPr lIns="7920" tIns="7920" rIns="7920" bIns="792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5974200" y="2093040"/>
            <a:ext cx="243360" cy="162360"/>
          </a:xfrm>
          <a:custGeom>
            <a:avLst/>
            <a:gdLst/>
            <a:ahLst/>
            <a:rect l="0" t="0" r="r" b="b"/>
            <a:pathLst>
              <a:path fill="none" w="676" h="451">
                <a:moveTo>
                  <a:pt x="0" y="0"/>
                </a:moveTo>
                <a:lnTo>
                  <a:pt x="676" y="0"/>
                </a:lnTo>
                <a:moveTo>
                  <a:pt x="225" y="451"/>
                </a:moveTo>
                <a:lnTo>
                  <a:pt x="225" y="0"/>
                </a:lnTo>
              </a:path>
            </a:pathLst>
          </a:custGeom>
          <a:ln w="15840">
            <a:solidFill>
              <a:srgbClr val="FF6B1A"/>
            </a:solidFill>
            <a:miter/>
          </a:ln>
        </p:spPr>
        <p:txBody>
          <a:bodyPr lIns="7920" tIns="7920" rIns="7920" bIns="792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3796560" y="2365920"/>
            <a:ext cx="5687640" cy="1402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83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Live Demo</a:t>
            </a:r>
            <a:endParaRPr lang="en-SG" sz="7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2871720" y="4605120"/>
            <a:ext cx="1286280" cy="276480"/>
          </a:xfrm>
          <a:custGeom>
            <a:avLst/>
            <a:gdLst/>
            <a:ahLst/>
            <a:rect l="0" t="0" r="r" b="b"/>
            <a:pathLst>
              <a:path w="3573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189" y="0"/>
                </a:lnTo>
                <a:cubicBezTo>
                  <a:pt x="3214" y="0"/>
                  <a:pt x="3239" y="3"/>
                  <a:pt x="3264" y="7"/>
                </a:cubicBezTo>
                <a:cubicBezTo>
                  <a:pt x="3288" y="12"/>
                  <a:pt x="3312" y="20"/>
                  <a:pt x="3336" y="29"/>
                </a:cubicBezTo>
                <a:cubicBezTo>
                  <a:pt x="3359" y="39"/>
                  <a:pt x="3381" y="51"/>
                  <a:pt x="3402" y="65"/>
                </a:cubicBezTo>
                <a:cubicBezTo>
                  <a:pt x="3423" y="79"/>
                  <a:pt x="3442" y="95"/>
                  <a:pt x="3460" y="112"/>
                </a:cubicBezTo>
                <a:cubicBezTo>
                  <a:pt x="3478" y="130"/>
                  <a:pt x="3494" y="150"/>
                  <a:pt x="3508" y="171"/>
                </a:cubicBezTo>
                <a:cubicBezTo>
                  <a:pt x="3522" y="192"/>
                  <a:pt x="3534" y="214"/>
                  <a:pt x="3543" y="237"/>
                </a:cubicBezTo>
                <a:cubicBezTo>
                  <a:pt x="3553" y="260"/>
                  <a:pt x="3560" y="284"/>
                  <a:pt x="3565" y="309"/>
                </a:cubicBezTo>
                <a:cubicBezTo>
                  <a:pt x="3570" y="334"/>
                  <a:pt x="3573" y="359"/>
                  <a:pt x="3573" y="384"/>
                </a:cubicBezTo>
                <a:cubicBezTo>
                  <a:pt x="3573" y="409"/>
                  <a:pt x="3570" y="434"/>
                  <a:pt x="3565" y="459"/>
                </a:cubicBezTo>
                <a:cubicBezTo>
                  <a:pt x="3560" y="483"/>
                  <a:pt x="3553" y="507"/>
                  <a:pt x="3543" y="531"/>
                </a:cubicBezTo>
                <a:cubicBezTo>
                  <a:pt x="3534" y="554"/>
                  <a:pt x="3522" y="576"/>
                  <a:pt x="3508" y="597"/>
                </a:cubicBezTo>
                <a:cubicBezTo>
                  <a:pt x="3494" y="618"/>
                  <a:pt x="3478" y="638"/>
                  <a:pt x="3460" y="656"/>
                </a:cubicBezTo>
                <a:cubicBezTo>
                  <a:pt x="3442" y="674"/>
                  <a:pt x="3423" y="690"/>
                  <a:pt x="3402" y="704"/>
                </a:cubicBezTo>
                <a:cubicBezTo>
                  <a:pt x="3381" y="718"/>
                  <a:pt x="3359" y="730"/>
                  <a:pt x="3336" y="739"/>
                </a:cubicBezTo>
                <a:cubicBezTo>
                  <a:pt x="3312" y="749"/>
                  <a:pt x="3288" y="756"/>
                  <a:pt x="3264" y="761"/>
                </a:cubicBezTo>
                <a:cubicBezTo>
                  <a:pt x="3239" y="766"/>
                  <a:pt x="3214" y="768"/>
                  <a:pt x="3189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2871720" y="4605120"/>
            <a:ext cx="1286280" cy="276480"/>
          </a:xfrm>
          <a:custGeom>
            <a:avLst/>
            <a:gdLst/>
            <a:ahLst/>
            <a:rect l="0" t="0" r="r" b="b"/>
            <a:pathLst>
              <a:path w="3573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189" y="0"/>
                </a:lnTo>
                <a:cubicBezTo>
                  <a:pt x="3214" y="0"/>
                  <a:pt x="3239" y="3"/>
                  <a:pt x="3264" y="7"/>
                </a:cubicBezTo>
                <a:cubicBezTo>
                  <a:pt x="3288" y="12"/>
                  <a:pt x="3312" y="20"/>
                  <a:pt x="3336" y="29"/>
                </a:cubicBezTo>
                <a:cubicBezTo>
                  <a:pt x="3359" y="39"/>
                  <a:pt x="3381" y="51"/>
                  <a:pt x="3402" y="65"/>
                </a:cubicBezTo>
                <a:cubicBezTo>
                  <a:pt x="3423" y="79"/>
                  <a:pt x="3442" y="95"/>
                  <a:pt x="3460" y="112"/>
                </a:cubicBezTo>
                <a:cubicBezTo>
                  <a:pt x="3478" y="130"/>
                  <a:pt x="3494" y="150"/>
                  <a:pt x="3508" y="171"/>
                </a:cubicBezTo>
                <a:cubicBezTo>
                  <a:pt x="3522" y="192"/>
                  <a:pt x="3534" y="214"/>
                  <a:pt x="3543" y="237"/>
                </a:cubicBezTo>
                <a:cubicBezTo>
                  <a:pt x="3553" y="260"/>
                  <a:pt x="3560" y="284"/>
                  <a:pt x="3565" y="309"/>
                </a:cubicBezTo>
                <a:cubicBezTo>
                  <a:pt x="3570" y="334"/>
                  <a:pt x="3573" y="359"/>
                  <a:pt x="3573" y="384"/>
                </a:cubicBezTo>
                <a:cubicBezTo>
                  <a:pt x="3573" y="409"/>
                  <a:pt x="3570" y="434"/>
                  <a:pt x="3565" y="459"/>
                </a:cubicBezTo>
                <a:cubicBezTo>
                  <a:pt x="3560" y="483"/>
                  <a:pt x="3553" y="507"/>
                  <a:pt x="3543" y="531"/>
                </a:cubicBezTo>
                <a:cubicBezTo>
                  <a:pt x="3534" y="554"/>
                  <a:pt x="3522" y="576"/>
                  <a:pt x="3508" y="597"/>
                </a:cubicBezTo>
                <a:cubicBezTo>
                  <a:pt x="3494" y="618"/>
                  <a:pt x="3478" y="638"/>
                  <a:pt x="3460" y="656"/>
                </a:cubicBezTo>
                <a:cubicBezTo>
                  <a:pt x="3442" y="674"/>
                  <a:pt x="3423" y="690"/>
                  <a:pt x="3402" y="704"/>
                </a:cubicBezTo>
                <a:cubicBezTo>
                  <a:pt x="3381" y="718"/>
                  <a:pt x="3359" y="730"/>
                  <a:pt x="3336" y="739"/>
                </a:cubicBezTo>
                <a:cubicBezTo>
                  <a:pt x="3312" y="749"/>
                  <a:pt x="3288" y="756"/>
                  <a:pt x="3264" y="761"/>
                </a:cubicBezTo>
                <a:cubicBezTo>
                  <a:pt x="3239" y="766"/>
                  <a:pt x="3214" y="768"/>
                  <a:pt x="3189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4514760" y="3996360"/>
            <a:ext cx="3220200" cy="2624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400" b="0">
                <a:solidFill>
                  <a:srgbClr val="AAAAAA"/>
                </a:solidFill>
                <a:latin typeface="Aptos"/>
              </a:rPr>
              <a:t>Five decisions in one hirer workflow</a:t>
            </a:r>
            <a:endParaRPr lang="en-SG" sz="20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4233600" y="4605120"/>
            <a:ext cx="1267200" cy="276480"/>
          </a:xfrm>
          <a:custGeom>
            <a:avLst/>
            <a:gdLst/>
            <a:ahLst/>
            <a:rect l="0" t="0" r="r" b="b"/>
            <a:pathLst>
              <a:path w="3520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137" y="0"/>
                </a:lnTo>
                <a:cubicBezTo>
                  <a:pt x="3162" y="0"/>
                  <a:pt x="3187" y="3"/>
                  <a:pt x="3211" y="7"/>
                </a:cubicBezTo>
                <a:cubicBezTo>
                  <a:pt x="3236" y="12"/>
                  <a:pt x="3260" y="20"/>
                  <a:pt x="3283" y="29"/>
                </a:cubicBezTo>
                <a:cubicBezTo>
                  <a:pt x="3307" y="39"/>
                  <a:pt x="3329" y="51"/>
                  <a:pt x="3350" y="65"/>
                </a:cubicBezTo>
                <a:cubicBezTo>
                  <a:pt x="3371" y="79"/>
                  <a:pt x="3390" y="95"/>
                  <a:pt x="3408" y="112"/>
                </a:cubicBezTo>
                <a:cubicBezTo>
                  <a:pt x="3426" y="130"/>
                  <a:pt x="3442" y="150"/>
                  <a:pt x="3456" y="171"/>
                </a:cubicBezTo>
                <a:cubicBezTo>
                  <a:pt x="3470" y="192"/>
                  <a:pt x="3481" y="214"/>
                  <a:pt x="3491" y="237"/>
                </a:cubicBezTo>
                <a:cubicBezTo>
                  <a:pt x="3501" y="260"/>
                  <a:pt x="3508" y="284"/>
                  <a:pt x="3513" y="309"/>
                </a:cubicBezTo>
                <a:cubicBezTo>
                  <a:pt x="3518" y="334"/>
                  <a:pt x="3520" y="359"/>
                  <a:pt x="3520" y="384"/>
                </a:cubicBezTo>
                <a:cubicBezTo>
                  <a:pt x="3520" y="409"/>
                  <a:pt x="3518" y="434"/>
                  <a:pt x="3513" y="459"/>
                </a:cubicBezTo>
                <a:cubicBezTo>
                  <a:pt x="3508" y="483"/>
                  <a:pt x="3501" y="507"/>
                  <a:pt x="3491" y="531"/>
                </a:cubicBezTo>
                <a:cubicBezTo>
                  <a:pt x="3481" y="554"/>
                  <a:pt x="3470" y="576"/>
                  <a:pt x="3456" y="597"/>
                </a:cubicBezTo>
                <a:cubicBezTo>
                  <a:pt x="3442" y="618"/>
                  <a:pt x="3426" y="638"/>
                  <a:pt x="3408" y="656"/>
                </a:cubicBezTo>
                <a:cubicBezTo>
                  <a:pt x="3390" y="674"/>
                  <a:pt x="3371" y="690"/>
                  <a:pt x="3350" y="704"/>
                </a:cubicBezTo>
                <a:cubicBezTo>
                  <a:pt x="3329" y="718"/>
                  <a:pt x="3307" y="730"/>
                  <a:pt x="3283" y="739"/>
                </a:cubicBezTo>
                <a:cubicBezTo>
                  <a:pt x="3260" y="749"/>
                  <a:pt x="3236" y="756"/>
                  <a:pt x="3211" y="761"/>
                </a:cubicBezTo>
                <a:cubicBezTo>
                  <a:pt x="3187" y="766"/>
                  <a:pt x="3162" y="768"/>
                  <a:pt x="3137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4233600" y="4605120"/>
            <a:ext cx="1267200" cy="276480"/>
          </a:xfrm>
          <a:custGeom>
            <a:avLst/>
            <a:gdLst/>
            <a:ahLst/>
            <a:rect l="0" t="0" r="r" b="b"/>
            <a:pathLst>
              <a:path w="3520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137" y="0"/>
                </a:lnTo>
                <a:cubicBezTo>
                  <a:pt x="3162" y="0"/>
                  <a:pt x="3187" y="3"/>
                  <a:pt x="3211" y="7"/>
                </a:cubicBezTo>
                <a:cubicBezTo>
                  <a:pt x="3236" y="12"/>
                  <a:pt x="3260" y="20"/>
                  <a:pt x="3283" y="29"/>
                </a:cubicBezTo>
                <a:cubicBezTo>
                  <a:pt x="3307" y="39"/>
                  <a:pt x="3329" y="51"/>
                  <a:pt x="3350" y="65"/>
                </a:cubicBezTo>
                <a:cubicBezTo>
                  <a:pt x="3371" y="79"/>
                  <a:pt x="3390" y="95"/>
                  <a:pt x="3408" y="112"/>
                </a:cubicBezTo>
                <a:cubicBezTo>
                  <a:pt x="3426" y="130"/>
                  <a:pt x="3442" y="150"/>
                  <a:pt x="3456" y="171"/>
                </a:cubicBezTo>
                <a:cubicBezTo>
                  <a:pt x="3470" y="192"/>
                  <a:pt x="3481" y="214"/>
                  <a:pt x="3491" y="237"/>
                </a:cubicBezTo>
                <a:cubicBezTo>
                  <a:pt x="3501" y="260"/>
                  <a:pt x="3508" y="284"/>
                  <a:pt x="3513" y="309"/>
                </a:cubicBezTo>
                <a:cubicBezTo>
                  <a:pt x="3518" y="334"/>
                  <a:pt x="3520" y="359"/>
                  <a:pt x="3520" y="384"/>
                </a:cubicBezTo>
                <a:cubicBezTo>
                  <a:pt x="3520" y="409"/>
                  <a:pt x="3518" y="434"/>
                  <a:pt x="3513" y="459"/>
                </a:cubicBezTo>
                <a:cubicBezTo>
                  <a:pt x="3508" y="483"/>
                  <a:pt x="3501" y="507"/>
                  <a:pt x="3491" y="531"/>
                </a:cubicBezTo>
                <a:cubicBezTo>
                  <a:pt x="3481" y="554"/>
                  <a:pt x="3470" y="576"/>
                  <a:pt x="3456" y="597"/>
                </a:cubicBezTo>
                <a:cubicBezTo>
                  <a:pt x="3442" y="618"/>
                  <a:pt x="3426" y="638"/>
                  <a:pt x="3408" y="656"/>
                </a:cubicBezTo>
                <a:cubicBezTo>
                  <a:pt x="3390" y="674"/>
                  <a:pt x="3371" y="690"/>
                  <a:pt x="3350" y="704"/>
                </a:cubicBezTo>
                <a:cubicBezTo>
                  <a:pt x="3329" y="718"/>
                  <a:pt x="3307" y="730"/>
                  <a:pt x="3283" y="739"/>
                </a:cubicBezTo>
                <a:cubicBezTo>
                  <a:pt x="3260" y="749"/>
                  <a:pt x="3236" y="756"/>
                  <a:pt x="3211" y="761"/>
                </a:cubicBezTo>
                <a:cubicBezTo>
                  <a:pt x="3187" y="766"/>
                  <a:pt x="3162" y="768"/>
                  <a:pt x="3137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3000600" y="4655160"/>
            <a:ext cx="10202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Salary benchmark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5576760" y="4605120"/>
            <a:ext cx="1333800" cy="276480"/>
          </a:xfrm>
          <a:custGeom>
            <a:avLst/>
            <a:gdLst/>
            <a:ahLst/>
            <a:rect l="0" t="0" r="r" b="b"/>
            <a:pathLst>
              <a:path w="370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3321" y="0"/>
                </a:lnTo>
                <a:cubicBezTo>
                  <a:pt x="3347" y="0"/>
                  <a:pt x="3372" y="3"/>
                  <a:pt x="3396" y="7"/>
                </a:cubicBezTo>
                <a:cubicBezTo>
                  <a:pt x="3421" y="12"/>
                  <a:pt x="3445" y="20"/>
                  <a:pt x="3468" y="29"/>
                </a:cubicBezTo>
                <a:cubicBezTo>
                  <a:pt x="3491" y="39"/>
                  <a:pt x="3514" y="51"/>
                  <a:pt x="3535" y="65"/>
                </a:cubicBezTo>
                <a:cubicBezTo>
                  <a:pt x="3555" y="79"/>
                  <a:pt x="3575" y="95"/>
                  <a:pt x="3593" y="112"/>
                </a:cubicBezTo>
                <a:cubicBezTo>
                  <a:pt x="3610" y="130"/>
                  <a:pt x="3626" y="150"/>
                  <a:pt x="3640" y="171"/>
                </a:cubicBezTo>
                <a:cubicBezTo>
                  <a:pt x="3654" y="192"/>
                  <a:pt x="3666" y="214"/>
                  <a:pt x="3676" y="237"/>
                </a:cubicBezTo>
                <a:cubicBezTo>
                  <a:pt x="3685" y="260"/>
                  <a:pt x="3693" y="284"/>
                  <a:pt x="3698" y="309"/>
                </a:cubicBezTo>
                <a:cubicBezTo>
                  <a:pt x="3703" y="334"/>
                  <a:pt x="3705" y="359"/>
                  <a:pt x="3705" y="384"/>
                </a:cubicBezTo>
                <a:cubicBezTo>
                  <a:pt x="3705" y="409"/>
                  <a:pt x="3703" y="434"/>
                  <a:pt x="3698" y="459"/>
                </a:cubicBezTo>
                <a:cubicBezTo>
                  <a:pt x="3693" y="483"/>
                  <a:pt x="3685" y="507"/>
                  <a:pt x="3676" y="531"/>
                </a:cubicBezTo>
                <a:cubicBezTo>
                  <a:pt x="3666" y="554"/>
                  <a:pt x="3654" y="576"/>
                  <a:pt x="3640" y="597"/>
                </a:cubicBezTo>
                <a:cubicBezTo>
                  <a:pt x="3626" y="618"/>
                  <a:pt x="3610" y="638"/>
                  <a:pt x="3593" y="656"/>
                </a:cubicBezTo>
                <a:cubicBezTo>
                  <a:pt x="3575" y="674"/>
                  <a:pt x="3555" y="690"/>
                  <a:pt x="3535" y="704"/>
                </a:cubicBezTo>
                <a:cubicBezTo>
                  <a:pt x="3514" y="718"/>
                  <a:pt x="3491" y="730"/>
                  <a:pt x="3468" y="739"/>
                </a:cubicBezTo>
                <a:cubicBezTo>
                  <a:pt x="3445" y="749"/>
                  <a:pt x="3421" y="756"/>
                  <a:pt x="3396" y="761"/>
                </a:cubicBezTo>
                <a:cubicBezTo>
                  <a:pt x="3372" y="766"/>
                  <a:pt x="3347" y="768"/>
                  <a:pt x="3321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5576760" y="4605120"/>
            <a:ext cx="1333800" cy="276480"/>
          </a:xfrm>
          <a:custGeom>
            <a:avLst/>
            <a:gdLst/>
            <a:ahLst/>
            <a:rect l="0" t="0" r="r" b="b"/>
            <a:pathLst>
              <a:path w="370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3321" y="0"/>
                </a:lnTo>
                <a:cubicBezTo>
                  <a:pt x="3347" y="0"/>
                  <a:pt x="3372" y="3"/>
                  <a:pt x="3396" y="7"/>
                </a:cubicBezTo>
                <a:cubicBezTo>
                  <a:pt x="3421" y="12"/>
                  <a:pt x="3445" y="20"/>
                  <a:pt x="3468" y="29"/>
                </a:cubicBezTo>
                <a:cubicBezTo>
                  <a:pt x="3491" y="39"/>
                  <a:pt x="3514" y="51"/>
                  <a:pt x="3535" y="65"/>
                </a:cubicBezTo>
                <a:cubicBezTo>
                  <a:pt x="3555" y="79"/>
                  <a:pt x="3575" y="95"/>
                  <a:pt x="3593" y="112"/>
                </a:cubicBezTo>
                <a:cubicBezTo>
                  <a:pt x="3610" y="130"/>
                  <a:pt x="3626" y="150"/>
                  <a:pt x="3640" y="171"/>
                </a:cubicBezTo>
                <a:cubicBezTo>
                  <a:pt x="3654" y="192"/>
                  <a:pt x="3666" y="214"/>
                  <a:pt x="3676" y="237"/>
                </a:cubicBezTo>
                <a:cubicBezTo>
                  <a:pt x="3685" y="260"/>
                  <a:pt x="3693" y="284"/>
                  <a:pt x="3698" y="309"/>
                </a:cubicBezTo>
                <a:cubicBezTo>
                  <a:pt x="3703" y="334"/>
                  <a:pt x="3705" y="359"/>
                  <a:pt x="3705" y="384"/>
                </a:cubicBezTo>
                <a:cubicBezTo>
                  <a:pt x="3705" y="409"/>
                  <a:pt x="3703" y="434"/>
                  <a:pt x="3698" y="459"/>
                </a:cubicBezTo>
                <a:cubicBezTo>
                  <a:pt x="3693" y="483"/>
                  <a:pt x="3685" y="507"/>
                  <a:pt x="3676" y="531"/>
                </a:cubicBezTo>
                <a:cubicBezTo>
                  <a:pt x="3666" y="554"/>
                  <a:pt x="3654" y="576"/>
                  <a:pt x="3640" y="597"/>
                </a:cubicBezTo>
                <a:cubicBezTo>
                  <a:pt x="3626" y="618"/>
                  <a:pt x="3610" y="638"/>
                  <a:pt x="3593" y="656"/>
                </a:cubicBezTo>
                <a:cubicBezTo>
                  <a:pt x="3575" y="674"/>
                  <a:pt x="3555" y="690"/>
                  <a:pt x="3535" y="704"/>
                </a:cubicBezTo>
                <a:cubicBezTo>
                  <a:pt x="3514" y="718"/>
                  <a:pt x="3491" y="730"/>
                  <a:pt x="3468" y="739"/>
                </a:cubicBezTo>
                <a:cubicBezTo>
                  <a:pt x="3445" y="749"/>
                  <a:pt x="3421" y="756"/>
                  <a:pt x="3396" y="761"/>
                </a:cubicBezTo>
                <a:cubicBezTo>
                  <a:pt x="3372" y="766"/>
                  <a:pt x="3347" y="768"/>
                  <a:pt x="3321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4361400" y="4655160"/>
            <a:ext cx="10202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Experience norms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6986520" y="4605120"/>
            <a:ext cx="1381320" cy="276480"/>
          </a:xfrm>
          <a:custGeom>
            <a:avLst/>
            <a:gdLst/>
            <a:ahLst/>
            <a:rect l="0" t="0" r="r" b="b"/>
            <a:pathLst>
              <a:path w="3837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453" y="0"/>
                </a:lnTo>
                <a:cubicBezTo>
                  <a:pt x="3479" y="0"/>
                  <a:pt x="3504" y="3"/>
                  <a:pt x="3528" y="7"/>
                </a:cubicBezTo>
                <a:cubicBezTo>
                  <a:pt x="3553" y="12"/>
                  <a:pt x="3577" y="20"/>
                  <a:pt x="3600" y="29"/>
                </a:cubicBezTo>
                <a:cubicBezTo>
                  <a:pt x="3624" y="39"/>
                  <a:pt x="3646" y="51"/>
                  <a:pt x="3667" y="65"/>
                </a:cubicBezTo>
                <a:cubicBezTo>
                  <a:pt x="3688" y="79"/>
                  <a:pt x="3707" y="95"/>
                  <a:pt x="3725" y="112"/>
                </a:cubicBezTo>
                <a:cubicBezTo>
                  <a:pt x="3743" y="130"/>
                  <a:pt x="3758" y="150"/>
                  <a:pt x="3772" y="171"/>
                </a:cubicBezTo>
                <a:cubicBezTo>
                  <a:pt x="3786" y="192"/>
                  <a:pt x="3798" y="214"/>
                  <a:pt x="3808" y="237"/>
                </a:cubicBezTo>
                <a:cubicBezTo>
                  <a:pt x="3818" y="260"/>
                  <a:pt x="3825" y="284"/>
                  <a:pt x="3830" y="309"/>
                </a:cubicBezTo>
                <a:cubicBezTo>
                  <a:pt x="3835" y="334"/>
                  <a:pt x="3837" y="359"/>
                  <a:pt x="3837" y="384"/>
                </a:cubicBezTo>
                <a:cubicBezTo>
                  <a:pt x="3837" y="409"/>
                  <a:pt x="3835" y="434"/>
                  <a:pt x="3830" y="459"/>
                </a:cubicBezTo>
                <a:cubicBezTo>
                  <a:pt x="3825" y="483"/>
                  <a:pt x="3818" y="507"/>
                  <a:pt x="3808" y="531"/>
                </a:cubicBezTo>
                <a:cubicBezTo>
                  <a:pt x="3798" y="554"/>
                  <a:pt x="3786" y="576"/>
                  <a:pt x="3772" y="597"/>
                </a:cubicBezTo>
                <a:cubicBezTo>
                  <a:pt x="3758" y="618"/>
                  <a:pt x="3743" y="638"/>
                  <a:pt x="3725" y="656"/>
                </a:cubicBezTo>
                <a:cubicBezTo>
                  <a:pt x="3707" y="674"/>
                  <a:pt x="3688" y="690"/>
                  <a:pt x="3667" y="704"/>
                </a:cubicBezTo>
                <a:cubicBezTo>
                  <a:pt x="3646" y="718"/>
                  <a:pt x="3624" y="730"/>
                  <a:pt x="3600" y="739"/>
                </a:cubicBezTo>
                <a:cubicBezTo>
                  <a:pt x="3577" y="749"/>
                  <a:pt x="3553" y="756"/>
                  <a:pt x="3528" y="761"/>
                </a:cubicBezTo>
                <a:cubicBezTo>
                  <a:pt x="3504" y="766"/>
                  <a:pt x="3479" y="768"/>
                  <a:pt x="3453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6986520" y="4605120"/>
            <a:ext cx="1381320" cy="276480"/>
          </a:xfrm>
          <a:custGeom>
            <a:avLst/>
            <a:gdLst/>
            <a:ahLst/>
            <a:rect l="0" t="0" r="r" b="b"/>
            <a:pathLst>
              <a:path w="3837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453" y="0"/>
                </a:lnTo>
                <a:cubicBezTo>
                  <a:pt x="3479" y="0"/>
                  <a:pt x="3504" y="3"/>
                  <a:pt x="3528" y="7"/>
                </a:cubicBezTo>
                <a:cubicBezTo>
                  <a:pt x="3553" y="12"/>
                  <a:pt x="3577" y="20"/>
                  <a:pt x="3600" y="29"/>
                </a:cubicBezTo>
                <a:cubicBezTo>
                  <a:pt x="3624" y="39"/>
                  <a:pt x="3646" y="51"/>
                  <a:pt x="3667" y="65"/>
                </a:cubicBezTo>
                <a:cubicBezTo>
                  <a:pt x="3688" y="79"/>
                  <a:pt x="3707" y="95"/>
                  <a:pt x="3725" y="112"/>
                </a:cubicBezTo>
                <a:cubicBezTo>
                  <a:pt x="3743" y="130"/>
                  <a:pt x="3758" y="150"/>
                  <a:pt x="3772" y="171"/>
                </a:cubicBezTo>
                <a:cubicBezTo>
                  <a:pt x="3786" y="192"/>
                  <a:pt x="3798" y="214"/>
                  <a:pt x="3808" y="237"/>
                </a:cubicBezTo>
                <a:cubicBezTo>
                  <a:pt x="3818" y="260"/>
                  <a:pt x="3825" y="284"/>
                  <a:pt x="3830" y="309"/>
                </a:cubicBezTo>
                <a:cubicBezTo>
                  <a:pt x="3835" y="334"/>
                  <a:pt x="3837" y="359"/>
                  <a:pt x="3837" y="384"/>
                </a:cubicBezTo>
                <a:cubicBezTo>
                  <a:pt x="3837" y="409"/>
                  <a:pt x="3835" y="434"/>
                  <a:pt x="3830" y="459"/>
                </a:cubicBezTo>
                <a:cubicBezTo>
                  <a:pt x="3825" y="483"/>
                  <a:pt x="3818" y="507"/>
                  <a:pt x="3808" y="531"/>
                </a:cubicBezTo>
                <a:cubicBezTo>
                  <a:pt x="3798" y="554"/>
                  <a:pt x="3786" y="576"/>
                  <a:pt x="3772" y="597"/>
                </a:cubicBezTo>
                <a:cubicBezTo>
                  <a:pt x="3758" y="618"/>
                  <a:pt x="3743" y="638"/>
                  <a:pt x="3725" y="656"/>
                </a:cubicBezTo>
                <a:cubicBezTo>
                  <a:pt x="3707" y="674"/>
                  <a:pt x="3688" y="690"/>
                  <a:pt x="3667" y="704"/>
                </a:cubicBezTo>
                <a:cubicBezTo>
                  <a:pt x="3646" y="718"/>
                  <a:pt x="3624" y="730"/>
                  <a:pt x="3600" y="739"/>
                </a:cubicBezTo>
                <a:cubicBezTo>
                  <a:pt x="3577" y="749"/>
                  <a:pt x="3553" y="756"/>
                  <a:pt x="3528" y="761"/>
                </a:cubicBezTo>
                <a:cubicBezTo>
                  <a:pt x="3504" y="766"/>
                  <a:pt x="3479" y="768"/>
                  <a:pt x="3453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5703840" y="4655160"/>
            <a:ext cx="107676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Applicant response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8443800" y="4605120"/>
            <a:ext cx="876600" cy="276480"/>
          </a:xfrm>
          <a:custGeom>
            <a:avLst/>
            <a:gdLst/>
            <a:ahLst/>
            <a:rect l="0" t="0" r="r" b="b"/>
            <a:pathLst>
              <a:path w="243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2050" y="0"/>
                </a:lnTo>
                <a:cubicBezTo>
                  <a:pt x="2076" y="0"/>
                  <a:pt x="2100" y="3"/>
                  <a:pt x="2126" y="7"/>
                </a:cubicBezTo>
                <a:cubicBezTo>
                  <a:pt x="2151" y="12"/>
                  <a:pt x="2175" y="20"/>
                  <a:pt x="2198" y="29"/>
                </a:cubicBezTo>
                <a:cubicBezTo>
                  <a:pt x="2221" y="39"/>
                  <a:pt x="2244" y="51"/>
                  <a:pt x="2264" y="65"/>
                </a:cubicBezTo>
                <a:cubicBezTo>
                  <a:pt x="2285" y="79"/>
                  <a:pt x="2305" y="95"/>
                  <a:pt x="2323" y="112"/>
                </a:cubicBezTo>
                <a:cubicBezTo>
                  <a:pt x="2340" y="130"/>
                  <a:pt x="2356" y="150"/>
                  <a:pt x="2370" y="171"/>
                </a:cubicBezTo>
                <a:cubicBezTo>
                  <a:pt x="2384" y="192"/>
                  <a:pt x="2396" y="214"/>
                  <a:pt x="2406" y="237"/>
                </a:cubicBezTo>
                <a:cubicBezTo>
                  <a:pt x="2415" y="260"/>
                  <a:pt x="2423" y="284"/>
                  <a:pt x="2428" y="309"/>
                </a:cubicBezTo>
                <a:cubicBezTo>
                  <a:pt x="2433" y="334"/>
                  <a:pt x="2435" y="359"/>
                  <a:pt x="2435" y="384"/>
                </a:cubicBezTo>
                <a:cubicBezTo>
                  <a:pt x="2435" y="409"/>
                  <a:pt x="2433" y="434"/>
                  <a:pt x="2428" y="459"/>
                </a:cubicBezTo>
                <a:cubicBezTo>
                  <a:pt x="2423" y="483"/>
                  <a:pt x="2415" y="507"/>
                  <a:pt x="2406" y="531"/>
                </a:cubicBezTo>
                <a:cubicBezTo>
                  <a:pt x="2396" y="554"/>
                  <a:pt x="2384" y="576"/>
                  <a:pt x="2370" y="597"/>
                </a:cubicBezTo>
                <a:cubicBezTo>
                  <a:pt x="2356" y="618"/>
                  <a:pt x="2340" y="638"/>
                  <a:pt x="2323" y="656"/>
                </a:cubicBezTo>
                <a:cubicBezTo>
                  <a:pt x="2305" y="674"/>
                  <a:pt x="2285" y="690"/>
                  <a:pt x="2264" y="704"/>
                </a:cubicBezTo>
                <a:cubicBezTo>
                  <a:pt x="2244" y="718"/>
                  <a:pt x="2221" y="730"/>
                  <a:pt x="2198" y="739"/>
                </a:cubicBezTo>
                <a:cubicBezTo>
                  <a:pt x="2175" y="749"/>
                  <a:pt x="2151" y="756"/>
                  <a:pt x="2126" y="761"/>
                </a:cubicBezTo>
                <a:cubicBezTo>
                  <a:pt x="2100" y="766"/>
                  <a:pt x="2076" y="768"/>
                  <a:pt x="2050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F0F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8443800" y="4605120"/>
            <a:ext cx="876600" cy="276480"/>
          </a:xfrm>
          <a:custGeom>
            <a:avLst/>
            <a:gdLst/>
            <a:ahLst/>
            <a:rect l="0" t="0" r="r" b="b"/>
            <a:pathLst>
              <a:path w="243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2050" y="0"/>
                </a:lnTo>
                <a:cubicBezTo>
                  <a:pt x="2076" y="0"/>
                  <a:pt x="2100" y="3"/>
                  <a:pt x="2126" y="7"/>
                </a:cubicBezTo>
                <a:cubicBezTo>
                  <a:pt x="2151" y="12"/>
                  <a:pt x="2175" y="20"/>
                  <a:pt x="2198" y="29"/>
                </a:cubicBezTo>
                <a:cubicBezTo>
                  <a:pt x="2221" y="39"/>
                  <a:pt x="2244" y="51"/>
                  <a:pt x="2264" y="65"/>
                </a:cubicBezTo>
                <a:cubicBezTo>
                  <a:pt x="2285" y="79"/>
                  <a:pt x="2305" y="95"/>
                  <a:pt x="2323" y="112"/>
                </a:cubicBezTo>
                <a:cubicBezTo>
                  <a:pt x="2340" y="130"/>
                  <a:pt x="2356" y="150"/>
                  <a:pt x="2370" y="171"/>
                </a:cubicBezTo>
                <a:cubicBezTo>
                  <a:pt x="2384" y="192"/>
                  <a:pt x="2396" y="214"/>
                  <a:pt x="2406" y="237"/>
                </a:cubicBezTo>
                <a:cubicBezTo>
                  <a:pt x="2415" y="260"/>
                  <a:pt x="2423" y="284"/>
                  <a:pt x="2428" y="309"/>
                </a:cubicBezTo>
                <a:cubicBezTo>
                  <a:pt x="2433" y="334"/>
                  <a:pt x="2435" y="359"/>
                  <a:pt x="2435" y="384"/>
                </a:cubicBezTo>
                <a:cubicBezTo>
                  <a:pt x="2435" y="409"/>
                  <a:pt x="2433" y="434"/>
                  <a:pt x="2428" y="459"/>
                </a:cubicBezTo>
                <a:cubicBezTo>
                  <a:pt x="2423" y="483"/>
                  <a:pt x="2415" y="507"/>
                  <a:pt x="2406" y="531"/>
                </a:cubicBezTo>
                <a:cubicBezTo>
                  <a:pt x="2396" y="554"/>
                  <a:pt x="2384" y="576"/>
                  <a:pt x="2370" y="597"/>
                </a:cubicBezTo>
                <a:cubicBezTo>
                  <a:pt x="2356" y="618"/>
                  <a:pt x="2340" y="638"/>
                  <a:pt x="2323" y="656"/>
                </a:cubicBezTo>
                <a:cubicBezTo>
                  <a:pt x="2305" y="674"/>
                  <a:pt x="2285" y="690"/>
                  <a:pt x="2264" y="704"/>
                </a:cubicBezTo>
                <a:cubicBezTo>
                  <a:pt x="2244" y="718"/>
                  <a:pt x="2221" y="730"/>
                  <a:pt x="2198" y="739"/>
                </a:cubicBezTo>
                <a:cubicBezTo>
                  <a:pt x="2175" y="749"/>
                  <a:pt x="2151" y="756"/>
                  <a:pt x="2126" y="761"/>
                </a:cubicBezTo>
                <a:cubicBezTo>
                  <a:pt x="2100" y="766"/>
                  <a:pt x="2076" y="768"/>
                  <a:pt x="2050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7A4015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7116480" y="4655160"/>
            <a:ext cx="117468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Reach vs conversion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8577000" y="4655160"/>
            <a:ext cx="6332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FF6B1A"/>
                </a:solidFill>
                <a:effectLst/>
                <a:uFillTx/>
                <a:latin typeface="Outfit-Thin_"/>
                <a:ea typeface="Outfit-Thin_"/>
              </a:rPr>
              <a:t>Repost risk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3035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5C5C"/>
                </a:solidFill>
                <a:latin typeface="Aptos"/>
              </a:rPr>
              <a:t>P A Y   &amp;   R E S P O N S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7899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>
                <a:solidFill>
                  <a:srgbClr val="F2F2F2"/>
                </a:solidFill>
                <a:latin typeface="Aptos"/>
              </a:rPr>
              <a:t>Low-pay postings lose twice: less reach, weaker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8988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Entry roles draw just 2 median applications and show a 43.3% application-shortfall rate.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6537960" cy="3401568"/>
          </a:xfrm>
          <a:prstGeom prst="roundRect">
            <a:avLst/>
          </a:prstGeom>
          <a:solidFill>
            <a:srgbClr val="050505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84831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APPLICATIONS · UNDER-FILLED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2084831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5C5C5C"/>
                </a:solidFill>
                <a:latin typeface="Aptos"/>
              </a:rPr>
              <a:t>MEDIAN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208483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5C5C5C"/>
                </a:solidFill>
                <a:latin typeface="Aptos"/>
              </a:rPr>
              <a:t>UNDER-FILLED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7860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Entry &lt; $3k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31720" y="2724912"/>
            <a:ext cx="2743200" cy="0"/>
          </a:xfrm>
          <a:prstGeom prst="line">
            <a:avLst/>
          </a:prstGeom>
          <a:ln w="5080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31720" y="2724912"/>
            <a:ext cx="614476" cy="0"/>
          </a:xfrm>
          <a:prstGeom prst="line">
            <a:avLst/>
          </a:prstGeom>
          <a:ln w="50800">
            <a:solidFill>
              <a:srgbClr val="FF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13248" y="25511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F2F2F2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255117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FF4848"/>
                </a:solidFill>
                <a:latin typeface="Aptos"/>
              </a:rPr>
              <a:t>43.3%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17296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Mid $3–5k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3319272"/>
            <a:ext cx="2743200" cy="0"/>
          </a:xfrm>
          <a:prstGeom prst="line">
            <a:avLst/>
          </a:prstGeom>
          <a:ln w="5080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31720" y="3319272"/>
            <a:ext cx="907084" cy="0"/>
          </a:xfrm>
          <a:prstGeom prst="line">
            <a:avLst/>
          </a:prstGeom>
          <a:ln w="50800">
            <a:solidFill>
              <a:srgbClr val="FF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13248" y="31455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F2F2F2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14553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FFAB00"/>
                </a:solidFill>
                <a:latin typeface="Aptos"/>
              </a:rPr>
              <a:t>31.3%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6732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Senior $5–8k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31720" y="3913632"/>
            <a:ext cx="2743200" cy="0"/>
          </a:xfrm>
          <a:prstGeom prst="line">
            <a:avLst/>
          </a:prstGeom>
          <a:ln w="5080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331720" y="3913632"/>
            <a:ext cx="1550822" cy="0"/>
          </a:xfrm>
          <a:prstGeom prst="line">
            <a:avLst/>
          </a:prstGeom>
          <a:ln w="5080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13248" y="3739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F2F2F2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3328" y="373989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FF6A00"/>
                </a:solidFill>
                <a:latin typeface="Aptos"/>
              </a:rPr>
              <a:t>18.5%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6168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Exec &gt; $8k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31720" y="4507992"/>
            <a:ext cx="2743200" cy="0"/>
          </a:xfrm>
          <a:prstGeom prst="line">
            <a:avLst/>
          </a:prstGeom>
          <a:ln w="5080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31720" y="4507992"/>
            <a:ext cx="2721254" cy="0"/>
          </a:xfrm>
          <a:prstGeom prst="line">
            <a:avLst/>
          </a:prstGeom>
          <a:ln w="50800">
            <a:solidFill>
              <a:srgbClr val="00C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13248" y="43342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F2F2F2"/>
                </a:solidFill>
                <a:latin typeface="Apto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4334255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00C86E"/>
                </a:solidFill>
                <a:latin typeface="Aptos"/>
              </a:rPr>
              <a:t>12.6%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4690872"/>
            <a:ext cx="6062472" cy="411480"/>
          </a:xfrm>
          <a:prstGeom prst="roundRect">
            <a:avLst/>
          </a:prstGeom>
          <a:solidFill>
            <a:srgbClr val="0C0C0C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4773168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rgbClr val="AAAAAA"/>
                </a:solidFill>
                <a:latin typeface="Aptos"/>
              </a:rPr>
              <a:t>Median </a:t>
            </a:r>
            <a:r>
              <a:rPr sz="1200" b="1">
                <a:solidFill>
                  <a:srgbClr val="FF6A00"/>
                </a:solidFill>
                <a:latin typeface="Aptos"/>
              </a:rPr>
              <a:t>3</a:t>
            </a:r>
            <a:r>
              <a:rPr sz="1200" b="0">
                <a:solidFill>
                  <a:srgbClr val="AAAAAA"/>
                </a:solidFill>
                <a:latin typeface="Aptos"/>
              </a:rPr>
              <a:t> applications vs mean </a:t>
            </a:r>
            <a:r>
              <a:rPr sz="1200" b="1">
                <a:solidFill>
                  <a:srgbClr val="FF6A00"/>
                </a:solidFill>
                <a:latin typeface="Aptos"/>
              </a:rPr>
              <a:t>9.6</a:t>
            </a:r>
            <a:r>
              <a:rPr sz="1200" b="0">
                <a:solidFill>
                  <a:srgbClr val="AAAAAA"/>
                </a:solidFill>
                <a:latin typeface="Aptos"/>
              </a:rPr>
              <a:t> — averages set expectations about 3× too high.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20" y="1874519"/>
            <a:ext cx="4187952" cy="3401568"/>
          </a:xfrm>
          <a:prstGeom prst="roundRect">
            <a:avLst/>
          </a:prstGeom>
          <a:solidFill>
            <a:srgbClr val="050505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07808" y="2084831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REACH × CONVERSION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2487168"/>
            <a:ext cx="3429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Aptos"/>
              </a:rPr>
              <a:t>Entry roles get roughly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2834640"/>
            <a:ext cx="2057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rgbClr val="FF6A00"/>
                </a:solidFill>
                <a:latin typeface="Aptos"/>
              </a:rPr>
              <a:t>½ the views
⅓ the conversion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818120" y="3200400"/>
            <a:ext cx="3081528" cy="768096"/>
          </a:xfrm>
          <a:prstGeom prst="line">
            <a:avLst/>
          </a:prstGeom>
          <a:ln w="20320">
            <a:solidFill>
              <a:srgbClr val="FF6A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776972" y="3899915"/>
            <a:ext cx="137160" cy="137160"/>
          </a:xfrm>
          <a:prstGeom prst="ellipse">
            <a:avLst/>
          </a:prstGeom>
          <a:solidFill>
            <a:srgbClr val="FF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831068" y="3131820"/>
            <a:ext cx="137160" cy="137160"/>
          </a:xfrm>
          <a:prstGeom prst="ellipse">
            <a:avLst/>
          </a:prstGeom>
          <a:solidFill>
            <a:srgbClr val="00C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44383" y="4105656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4848"/>
                </a:solidFill>
                <a:latin typeface="Aptos"/>
              </a:rPr>
              <a:t>ENTRY
53 views · 3.2%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40112" y="2761488"/>
            <a:ext cx="1188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0C86E"/>
                </a:solidFill>
                <a:latin typeface="Aptos"/>
              </a:rPr>
              <a:t>EXEC
116 views · 8.9%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07808" y="4608576"/>
            <a:ext cx="3511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>
                <a:solidFill>
                  <a:srgbClr val="F2F2F2"/>
                </a:solidFill>
                <a:latin typeface="Aptos"/>
              </a:rPr>
              <a:t>The gap compounds across both stages — this is not a visibility-only problem.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67160" y="6428232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282828"/>
                </a:solidFill>
                <a:latin typeface="Aptos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989320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5C5C5C"/>
                </a:solidFill>
                <a:latin typeface="Aptos"/>
              </a:rPr>
              <a:t>SCOPE · pay-band subset of first-cycle 30-day postings · N = 78,430 · Mar–Jun 2023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THE HEADLINE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Aggregate data hides a reversal at entry pay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55648"/>
            <a:ext cx="10863072" cy="1307592"/>
          </a:xfrm>
          <a:prstGeom prst="roundRect">
            <a:avLst/>
          </a:prstGeom>
          <a:solidFill>
            <a:srgbClr val="120909"/>
          </a:solidFill>
          <a:ln w="10160">
            <a:solidFill>
              <a:srgbClr val="60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75104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EF4444"/>
                </a:solidFill>
                <a:latin typeface="Arial"/>
              </a:rPr>
              <a:t>WHAT THE WHOLE MARKET SHOWS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6771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5F5F5"/>
                </a:solidFill>
                <a:latin typeface="Arial"/>
              </a:rPr>
              <a:t>18.7%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517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A0A0A0"/>
                </a:solidFill>
                <a:latin typeface="Arial"/>
              </a:rPr>
              <a:t>&lt; 3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286000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EF4444"/>
                </a:solidFill>
                <a:latin typeface="Arial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26771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5F5F5"/>
                </a:solidFill>
                <a:latin typeface="Arial"/>
              </a:rPr>
              <a:t>16.2%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6517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A0A0A0"/>
                </a:solidFill>
                <a:latin typeface="Arial"/>
              </a:rPr>
              <a:t>3+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208" y="2240280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5F5F5"/>
                </a:solidFill>
                <a:latin typeface="Arial"/>
              </a:rPr>
              <a:t>Reads as: raise the experience bar, get fewer reposts.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240280"/>
            <a:ext cx="29169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F4444"/>
                </a:solidFill>
                <a:latin typeface="Arial"/>
              </a:rPr>
              <a:t>True number. Wrong advice.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208" y="2615184"/>
            <a:ext cx="6812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0A0A0"/>
                </a:solidFill>
                <a:latin typeface="Arial"/>
              </a:rPr>
              <a:t>It compares ~$3,000 roles with ~$5,400 roles. The higher-experience group is simply better paid.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342900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6A00"/>
                </a:solidFill>
                <a:latin typeface="Aptos"/>
              </a:rPr>
              <a:t>COMPARE WITHIN PAY BANDS — THE HIRER'S ACTUAL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76732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Entry &lt; $3k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76732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A0A0A0"/>
                </a:solidFill>
                <a:latin typeface="Arial"/>
              </a:rPr>
              <a:t>19.4%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76732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F5F5F"/>
                </a:solidFill>
                <a:latin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37673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24.6%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37673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EF4444"/>
                </a:solidFill>
                <a:latin typeface="Arial"/>
              </a:rPr>
              <a:t>+5.3 pts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849624"/>
            <a:ext cx="12188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427024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Mid $3–5k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2702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A0A0A0"/>
                </a:solidFill>
                <a:latin typeface="Arial"/>
              </a:rPr>
              <a:t>18.4%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427024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F5F5F"/>
                </a:solidFill>
                <a:latin typeface="Arial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42702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18.1%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42702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Arial"/>
              </a:rPr>
              <a:t>−0.3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352544"/>
            <a:ext cx="71597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77316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Senior $5–8k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77316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A0A0A0"/>
                </a:solidFill>
                <a:latin typeface="Arial"/>
              </a:rPr>
              <a:t>17.9%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47731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F5F5F"/>
                </a:solidFill>
                <a:latin typeface="Arial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0832" y="47731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15.5%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47731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Arial"/>
              </a:rPr>
              <a:t>−2.4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855464"/>
            <a:ext cx="927201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52760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Exec &gt; $8k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5276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A0A0A0"/>
                </a:solidFill>
                <a:latin typeface="Arial"/>
              </a:rPr>
              <a:t>15.0%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52760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F5F5F"/>
                </a:solidFill>
                <a:latin typeface="Arial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70832" y="5276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12.1%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80" y="5276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Arial"/>
              </a:rPr>
              <a:t>−2.9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5358383"/>
            <a:ext cx="977493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790688" y="3712463"/>
            <a:ext cx="3730752" cy="18013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19" y="3941063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6A00"/>
                </a:solidFill>
                <a:latin typeface="Aptos"/>
              </a:rPr>
              <a:t>THE REVERSAL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19" y="4160520"/>
            <a:ext cx="321869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6A00"/>
                </a:solidFill>
                <a:latin typeface="Aptos"/>
              </a:rPr>
              <a:t>+5.3 pts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19" y="4681728"/>
            <a:ext cx="321869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F2F2"/>
                </a:solidFill>
                <a:latin typeface="Aptos"/>
              </a:rPr>
              <a:t>reposting when Entry roles (&lt;$3k)
ask for 3+ years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5797296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AAAA"/>
                </a:solidFill>
                <a:latin typeface="Aptos"/>
              </a:rPr>
              <a:t>Heterogeneity is real: Breslow–Day p ≈ 6×10⁻¹². The un-split view does not ship.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19" y="5193792"/>
            <a:ext cx="321869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AAAAA"/>
                </a:solidFill>
                <a:latin typeface="Aptos"/>
              </a:rPr>
              <a:t>OR 1.36 · 95% CI 1.23–1.51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" y="6144768"/>
            <a:ext cx="8869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5C5C5C"/>
                </a:solidFill>
                <a:latin typeface="Aptos"/>
              </a:rPr>
              <a:t>SCOPE · 30-day postings with a pay band · N = 95,289 · Mar–Jun 2023 · association, not causation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CHALLENGES &amp;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Three rules that kept the board honest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783080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5F5F5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9888" y="1783080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2F2"/>
                </a:solidFill>
                <a:latin typeface="Aptos"/>
              </a:rPr>
              <a:t>Know what the data cannot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2176272"/>
            <a:ext cx="9738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0A0A0"/>
                </a:solidFill>
                <a:latin typeface="Arial"/>
              </a:rPr>
              <a:t>Layer two uses 78,942 rows instead of a million because engagement counters must be comparable. That is the difference between a number and a trustworthy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89888" y="2788920"/>
            <a:ext cx="9838944" cy="914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118104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5F5F5F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3118104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2F2"/>
                </a:solidFill>
                <a:latin typeface="Aptos"/>
              </a:rPr>
              <a:t>Delete weak proxies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3511296"/>
            <a:ext cx="9738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0A0A0"/>
                </a:solidFill>
                <a:latin typeface="Arial"/>
              </a:rPr>
              <a:t>skill_count relies on job titles, not descriptions. competitiveness_score barely tracks applications, views or vacancies. A weak proxy is worse than no proxy.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4123944"/>
            <a:ext cx="9838944" cy="914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4453128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5F5F5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4453128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2F2"/>
                </a:solidFill>
                <a:latin typeface="Aptos"/>
              </a:rPr>
              <a:t>Ship the caveat with the chart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46320"/>
            <a:ext cx="9738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AAAAA"/>
                </a:solidFill>
                <a:latin typeface="Aptos"/>
              </a:rPr>
              <a:t>Every chart carries its cohort, sample size and window. The board does not imply causation or claim that a role actually filled.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" y="5815584"/>
            <a:ext cx="5212080" cy="576072"/>
          </a:xfrm>
          <a:prstGeom prst="roundRect">
            <a:avLst/>
          </a:prstGeom>
          <a:solidFill>
            <a:srgbClr val="0C0C0C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971032"/>
            <a:ext cx="4800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80" b="1" i="0">
                <a:solidFill>
                  <a:srgbClr val="F5F5F5"/>
                </a:solidFill>
                <a:latin typeface="Arial"/>
              </a:rPr>
              <a:t>NOT ESTABLISHED — </a:t>
            </a:r>
            <a:r>
              <a:rPr sz="980" b="0" i="0">
                <a:solidFill>
                  <a:srgbClr val="A0A0A0"/>
                </a:solidFill>
                <a:latin typeface="Arial"/>
              </a:rPr>
              <a:t>causation, seasonality (one 4-month window), or whether a role actually filled.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5815584"/>
            <a:ext cx="5431536" cy="576072"/>
          </a:xfrm>
          <a:prstGeom prst="roundRect">
            <a:avLst/>
          </a:prstGeom>
          <a:solidFill>
            <a:srgbClr val="0C0C0C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5971032"/>
            <a:ext cx="49560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80" b="1" i="0">
                <a:solidFill>
                  <a:srgbClr val="FF6B1A"/>
                </a:solidFill>
                <a:latin typeface="Arial"/>
              </a:rPr>
              <a:t>NEXT — </a:t>
            </a:r>
            <a:r>
              <a:rPr sz="980" b="0" i="0">
                <a:solidFill>
                  <a:srgbClr val="A0A0A0"/>
                </a:solidFill>
                <a:latin typeface="Arial"/>
              </a:rPr>
              <a:t>high-volume employers get markedly less engagement per posting (ρ = −0.53).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13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635" name=""/>
          <p:cNvPicPr/>
          <p:nvPr/>
        </p:nvPicPr>
        <p:blipFill>
          <a:blip r:embed="rId1"/>
          <a:stretch/>
        </p:blipFill>
        <p:spPr>
          <a:xfrm>
            <a:off x="-2880" y="-2880"/>
            <a:ext cx="12197880" cy="68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8" name="TextBox 637"/>
          <p:cNvSpPr txBox="1"/>
          <p:nvPr/>
        </p:nvSpPr>
        <p:spPr>
          <a:xfrm>
            <a:off x="822960" y="10058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A00"/>
                </a:solidFill>
                <a:latin typeface="Aptos"/>
              </a:rPr>
              <a:t>B U S I N E S S   T A K E A W A Y</a:t>
            </a:r>
          </a:p>
        </p:txBody>
      </p:sp>
      <p:sp>
        <p:nvSpPr>
          <p:cNvPr id="639" name="TextBox 638"/>
          <p:cNvSpPr txBox="1"/>
          <p:nvPr/>
        </p:nvSpPr>
        <p:spPr>
          <a:xfrm>
            <a:off x="822960" y="13533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F2F2F2"/>
                </a:solidFill>
                <a:latin typeface="Aptos"/>
              </a:rPr>
              <a:t>Before you post, answer three questions.</a:t>
            </a:r>
          </a:p>
        </p:txBody>
      </p:sp>
      <p:sp>
        <p:nvSpPr>
          <p:cNvPr id="640" name="Rounded Rectangle 639"/>
          <p:cNvSpPr/>
          <p:nvPr/>
        </p:nvSpPr>
        <p:spPr>
          <a:xfrm>
            <a:off x="822960" y="2331720"/>
            <a:ext cx="3044952" cy="1965960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TextBox 640"/>
          <p:cNvSpPr txBox="1"/>
          <p:nvPr/>
        </p:nvSpPr>
        <p:spPr>
          <a:xfrm>
            <a:off x="1024128" y="254203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A00"/>
                </a:solidFill>
                <a:latin typeface="Aptos"/>
              </a:rPr>
              <a:t>01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1024128" y="2852928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2F2F2"/>
                </a:solidFill>
                <a:latin typeface="Aptos"/>
              </a:rPr>
              <a:t>Is the pay competitive?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1024128" y="3493008"/>
            <a:ext cx="263347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ptos"/>
              </a:rPr>
              <a:t>Benchmark against comparable roles — not the whole market.</a:t>
            </a:r>
          </a:p>
        </p:txBody>
      </p:sp>
      <p:sp>
        <p:nvSpPr>
          <p:cNvPr id="644" name="Rounded Rectangle 643"/>
          <p:cNvSpPr/>
          <p:nvPr/>
        </p:nvSpPr>
        <p:spPr>
          <a:xfrm>
            <a:off x="4142232" y="2331720"/>
            <a:ext cx="3044952" cy="1965960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TextBox 644"/>
          <p:cNvSpPr txBox="1"/>
          <p:nvPr/>
        </p:nvSpPr>
        <p:spPr>
          <a:xfrm>
            <a:off x="4343400" y="254203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A00"/>
                </a:solidFill>
                <a:latin typeface="Aptos"/>
              </a:rPr>
              <a:t>02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4343400" y="2852928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2F2F2"/>
                </a:solidFill>
                <a:latin typeface="Aptos"/>
              </a:rPr>
              <a:t>Is the experience ask normal?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4343400" y="3493008"/>
            <a:ext cx="263347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ptos"/>
              </a:rPr>
              <a:t>Check what similar employers actually request.</a:t>
            </a:r>
          </a:p>
        </p:txBody>
      </p:sp>
      <p:sp>
        <p:nvSpPr>
          <p:cNvPr id="648" name="Rounded Rectangle 647"/>
          <p:cNvSpPr/>
          <p:nvPr/>
        </p:nvSpPr>
        <p:spPr>
          <a:xfrm>
            <a:off x="7461504" y="2331720"/>
            <a:ext cx="3044952" cy="1965960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TextBox 648"/>
          <p:cNvSpPr txBox="1"/>
          <p:nvPr/>
        </p:nvSpPr>
        <p:spPr>
          <a:xfrm>
            <a:off x="7662672" y="254203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A00"/>
                </a:solidFill>
                <a:latin typeface="Aptos"/>
              </a:rPr>
              <a:t>03</a:t>
            </a:r>
          </a:p>
        </p:txBody>
      </p:sp>
      <p:sp>
        <p:nvSpPr>
          <p:cNvPr id="650" name="TextBox 649"/>
          <p:cNvSpPr txBox="1"/>
          <p:nvPr/>
        </p:nvSpPr>
        <p:spPr>
          <a:xfrm>
            <a:off x="7662672" y="2852928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2F2F2"/>
                </a:solidFill>
                <a:latin typeface="Aptos"/>
              </a:rPr>
              <a:t>What response should I expect?</a:t>
            </a:r>
          </a:p>
        </p:txBody>
      </p:sp>
      <p:sp>
        <p:nvSpPr>
          <p:cNvPr id="651" name="TextBox 650"/>
          <p:cNvSpPr txBox="1"/>
          <p:nvPr/>
        </p:nvSpPr>
        <p:spPr>
          <a:xfrm>
            <a:off x="7662672" y="3493008"/>
            <a:ext cx="263347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ptos"/>
              </a:rPr>
              <a:t>Use only fully observed, comparable postings.</a:t>
            </a:r>
          </a:p>
        </p:txBody>
      </p:sp>
      <p:sp>
        <p:nvSpPr>
          <p:cNvPr id="652" name="Rounded Rectangle 651"/>
          <p:cNvSpPr/>
          <p:nvPr/>
        </p:nvSpPr>
        <p:spPr>
          <a:xfrm>
            <a:off x="822960" y="4645152"/>
            <a:ext cx="9692640" cy="749808"/>
          </a:xfrm>
          <a:prstGeom prst="roundRect">
            <a:avLst/>
          </a:prstGeom>
          <a:solidFill>
            <a:srgbClr val="080808"/>
          </a:solidFill>
          <a:ln w="10160">
            <a:solidFill>
              <a:srgbClr val="372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TextBox 652"/>
          <p:cNvSpPr txBox="1"/>
          <p:nvPr/>
        </p:nvSpPr>
        <p:spPr>
          <a:xfrm>
            <a:off x="1078992" y="4855464"/>
            <a:ext cx="9189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>
                <a:solidFill>
                  <a:srgbClr val="AAAAAA"/>
                </a:solidFill>
                <a:latin typeface="Aptos"/>
              </a:rPr>
              <a:t>Clearest measurable risk zone in this dataset: </a:t>
            </a:r>
            <a:r>
              <a:rPr sz="1500" b="1">
                <a:solidFill>
                  <a:srgbClr val="FF6A00"/>
                </a:solidFill>
                <a:latin typeface="Aptos"/>
              </a:rPr>
              <a:t>low pay + high experience.</a:t>
            </a:r>
          </a:p>
        </p:txBody>
      </p:sp>
      <p:sp>
        <p:nvSpPr>
          <p:cNvPr id="654" name="TextBox 653"/>
          <p:cNvSpPr txBox="1"/>
          <p:nvPr/>
        </p:nvSpPr>
        <p:spPr>
          <a:xfrm>
            <a:off x="822960" y="5705856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F2F2"/>
                </a:solidFill>
                <a:latin typeface="Aptos"/>
              </a:rPr>
              <a:t>One board. One vacancy. Three checks before you post.</a:t>
            </a:r>
          </a:p>
        </p:txBody>
      </p:sp>
      <p:sp>
        <p:nvSpPr>
          <p:cNvPr id="655" name="TextBox 654"/>
          <p:cNvSpPr txBox="1"/>
          <p:nvPr/>
        </p:nvSpPr>
        <p:spPr>
          <a:xfrm>
            <a:off x="9326880" y="5769864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5C5C5C"/>
                </a:solidFill>
                <a:latin typeface="Aptos"/>
              </a:rPr>
              <a:t>THANK YOU — QUESTIONS?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282828"/>
                </a:solidFill>
                <a:latin typeface="Aptos"/>
              </a:rPr>
              <a:t>14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LibreOffice/26.2.5.2$MacOSX_AARCH64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en-SG</dc:language>
  <cp:lastModifiedBy/>
  <cp:revision>0</cp:revision>
  <dc:subject/>
  <dc:title/>
</cp:coreProperties>
</file>